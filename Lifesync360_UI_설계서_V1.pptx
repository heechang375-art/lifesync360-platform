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147308914" r:id="rId2"/>
    <p:sldId id="2147308915" r:id="rId3"/>
    <p:sldId id="2147308916" r:id="rId4"/>
    <p:sldId id="2147308917" r:id="rId5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52"/>
    <p:restoredTop sz="95988"/>
  </p:normalViewPr>
  <p:slideViewPr>
    <p:cSldViewPr snapToGrid="0">
      <p:cViewPr varScale="1">
        <p:scale>
          <a:sx n="82" d="100"/>
          <a:sy n="82" d="100"/>
        </p:scale>
        <p:origin x="100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6D70F1-DC08-9944-BB3E-2C44A5B9F7F6}" type="datetimeFigureOut">
              <a:rPr lang="en-KR" smtClean="0"/>
              <a:t>05/15/2026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DAB2EA-A999-6044-A80A-EA59A3E17B5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2823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53100" y="654050"/>
            <a:ext cx="3136900" cy="1765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5599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53100" y="654050"/>
            <a:ext cx="3136900" cy="1765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863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53100" y="654050"/>
            <a:ext cx="3136900" cy="1765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5837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53100" y="654050"/>
            <a:ext cx="3136900" cy="1765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7704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E5B3F-244A-B1EA-47D5-271C89504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B632A-7C2C-8A57-A57C-3D69C80430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FF39E-6138-D3A6-7B9F-0D23AFB03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F5AC-5852-9746-9DF5-3CE673BBE0CC}" type="datetimeFigureOut">
              <a:rPr lang="en-KR" smtClean="0"/>
              <a:t>05/15/2026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A949D-636F-5A0A-90A1-43B6B3AFF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038F2-139C-26E8-B2AB-D048DB489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DB9F-0C6D-944E-BB83-EF51397367F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1715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541E-4E4F-937F-A8F5-4192793B0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EC633-0CF2-A155-7D32-C8E279CD0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BD1A6-1317-0537-49E6-6917C0C6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F5AC-5852-9746-9DF5-3CE673BBE0CC}" type="datetimeFigureOut">
              <a:rPr lang="en-KR" smtClean="0"/>
              <a:t>05/15/2026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3004F-D508-CBD5-14AF-C8863A928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0E3E4-BF75-C8E3-4D05-2BB274BA1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DB9F-0C6D-944E-BB83-EF51397367F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38344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B318C-7A0F-319B-ADED-A049D43AB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CDE20-B339-A2CD-7450-53C71FDE4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48BEB-82B4-DD22-02D5-4F01F5859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F5AC-5852-9746-9DF5-3CE673BBE0CC}" type="datetimeFigureOut">
              <a:rPr lang="en-KR" smtClean="0"/>
              <a:t>05/15/2026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90060-0A33-CBCB-0E6D-168F1C3F6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16878-00DC-49A4-B05A-E34E44C2D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DB9F-0C6D-944E-BB83-EF51397367F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38648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626D5-8F6F-1174-5CFD-227E0A33A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1FA08-9D8B-69CC-164A-0702CEA130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D8A108-64DE-E7DA-0605-8786821BA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DEC45-83FE-FE6F-AB8E-0866A84BB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F5AC-5852-9746-9DF5-3CE673BBE0CC}" type="datetimeFigureOut">
              <a:rPr lang="en-KR" smtClean="0"/>
              <a:t>05/15/2026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00169-E754-FED8-D75B-46C0D6C0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E0F848-B536-D160-BFA0-1815B1956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DB9F-0C6D-944E-BB83-EF51397367F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281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1D1BC-574A-FA00-475E-ECB469A45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82E08-A143-782D-564E-941558A43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867CE-F973-6611-7A8D-5B1B8E731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7E016B-6442-8914-D23B-4E3DA9344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805478-6DED-A590-A302-1D0701E52A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4A1338-2247-4672-2BD6-2AB5DC8A0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F5AC-5852-9746-9DF5-3CE673BBE0CC}" type="datetimeFigureOut">
              <a:rPr lang="en-KR" smtClean="0"/>
              <a:t>05/15/2026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B3BEAA-EAA3-8E30-F517-4ACDC35B1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CDCCF1-131B-1F1B-037E-508F3CA2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DB9F-0C6D-944E-BB83-EF51397367F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92660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63295-9D25-DD36-BCAE-F016C1ED7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52BB22-632A-C175-FA29-37D690F7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F5AC-5852-9746-9DF5-3CE673BBE0CC}" type="datetimeFigureOut">
              <a:rPr lang="en-KR" smtClean="0"/>
              <a:t>05/15/2026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79000-B1FC-0C2C-49B3-433EFBE44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0A9ACB-F886-0DEB-9670-E839E04A1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DB9F-0C6D-944E-BB83-EF51397367F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42648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053D51-B57F-2754-1CF2-90391435F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F5AC-5852-9746-9DF5-3CE673BBE0CC}" type="datetimeFigureOut">
              <a:rPr lang="en-KR" smtClean="0"/>
              <a:t>05/15/2026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C0ACBE-DBE5-FB0E-EE1D-96703732E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F45B9-3FA3-63A2-A9CE-83FCD1A9A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DB9F-0C6D-944E-BB83-EF51397367F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76915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2BDD-B8D4-9346-C6C7-D210895D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3FBC0-DC32-844B-F99D-796277BDD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5932A-3FA6-1943-C9D4-F7304EB0F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B1E90-F43F-79CC-3199-EA9A3BE8B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F5AC-5852-9746-9DF5-3CE673BBE0CC}" type="datetimeFigureOut">
              <a:rPr lang="en-KR" smtClean="0"/>
              <a:t>05/15/2026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1BDAD-FC05-187A-ED26-8C4867676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823B5-9928-7451-D8CA-E8B5AB22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DB9F-0C6D-944E-BB83-EF51397367F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30253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991D9-399C-2ED4-FCF7-83F08854D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DD8490-5827-868E-0549-2785DAA2F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1DD91A-B4B2-36B1-BA70-F837FFF56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33D70-90C3-AE6A-412C-B3343B418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F5AC-5852-9746-9DF5-3CE673BBE0CC}" type="datetimeFigureOut">
              <a:rPr lang="en-KR" smtClean="0"/>
              <a:t>05/15/2026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B9F4E-1208-9B5E-E519-BAECB7E5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77A97-F3E4-DF86-05EA-FFA1A4BDA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DB9F-0C6D-944E-BB83-EF51397367F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6944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B91E7-D5D6-DD1C-F51F-7314E617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CD9760-48ED-BD7D-4536-55E0C60B1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7C38E-0FFF-305F-89F5-30B0F5338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F5AC-5852-9746-9DF5-3CE673BBE0CC}" type="datetimeFigureOut">
              <a:rPr lang="en-KR" smtClean="0"/>
              <a:t>05/15/2026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EF0DE-149A-31F1-7BD5-87736B25B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E7892-B441-8555-CA10-E7E54AE48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DB9F-0C6D-944E-BB83-EF51397367F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58905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6B2BF7-6A0C-0003-BF51-7F696560E7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3AA23F-3CC6-6CCC-AB30-A7FE5DE61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F3142-BB8F-7763-E9E1-E0930CA60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F5AC-5852-9746-9DF5-3CE673BBE0CC}" type="datetimeFigureOut">
              <a:rPr lang="en-KR" smtClean="0"/>
              <a:t>05/15/2026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7EA22-CE50-7DC8-36E7-0C6F4F9D8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74688-4C7A-78AF-14E7-A19B62457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DB9F-0C6D-944E-BB83-EF51397367F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54139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Short Band: Text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luetexture2.jpg">
            <a:extLst>
              <a:ext uri="{FF2B5EF4-FFF2-40B4-BE49-F238E27FC236}">
                <a16:creationId xmlns:a16="http://schemas.microsoft.com/office/drawing/2014/main" id="{09C16596-3137-C148-89AA-598A3EBA6A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370"/>
            <a:ext cx="12192127" cy="64410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4AC0F6-AB1D-6548-AD7F-A4BD69E342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027E8A-8089-874A-B94B-79D229332F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6FA97E-CE42-2E42-93B1-141C26B207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8172" y="1137695"/>
            <a:ext cx="10975658" cy="507757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B6BD4F-B4B7-3F4B-93E6-87837B318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172" y="2"/>
            <a:ext cx="10975658" cy="6427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98053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467C99-8E8B-6CC0-5A3E-CCBC9E9D3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E623C-23A8-3419-4EB1-A35461DD6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6842B-386A-2369-8736-8BD212969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F4F5AC-5852-9746-9DF5-3CE673BBE0CC}" type="datetimeFigureOut">
              <a:rPr lang="en-KR" smtClean="0"/>
              <a:t>05/15/2026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2E31F-B3EC-3A45-F90D-B001DECC2C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5D7E4-BBF3-C2C0-E5A1-0C3445693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EDB9F-0C6D-944E-BB83-EF51397367F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7156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01E7B178-DDBD-DA4B-92D5-E40227567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172" y="2"/>
            <a:ext cx="10975658" cy="642730"/>
          </a:xfrm>
        </p:spPr>
        <p:txBody>
          <a:bodyPr>
            <a:normAutofit/>
          </a:bodyPr>
          <a:lstStyle/>
          <a:p>
            <a:pPr algn="l"/>
            <a:r>
              <a:rPr lang="en-US" altLang="ko-KR" sz="3000" dirty="0">
                <a:latin typeface="SamsungOneKoreanOTF 700" panose="020B0803030303020204" pitchFamily="34" charset="-127"/>
                <a:ea typeface="SamsungOneKoreanOTF 700" panose="020B0803030303020204" pitchFamily="34" charset="-127"/>
              </a:rPr>
              <a:t>Lifesync 360</a:t>
            </a:r>
            <a:r>
              <a:rPr lang="ko-KR" altLang="en-US" sz="3000" dirty="0">
                <a:latin typeface="SamsungOneKoreanOTF 700" panose="020B0803030303020204" pitchFamily="34" charset="-127"/>
                <a:ea typeface="SamsungOneKoreanOTF 700" panose="020B0803030303020204" pitchFamily="34" charset="-127"/>
              </a:rPr>
              <a:t> 대시보드 </a:t>
            </a:r>
            <a:r>
              <a:rPr lang="en-US" altLang="ko-KR" sz="3000" dirty="0">
                <a:latin typeface="SamsungOneKoreanOTF 700" panose="020B0803030303020204" pitchFamily="34" charset="-127"/>
                <a:ea typeface="SamsungOneKoreanOTF 700" panose="020B0803030303020204" pitchFamily="34" charset="-127"/>
              </a:rPr>
              <a:t>–</a:t>
            </a:r>
            <a:r>
              <a:rPr lang="ko-KR" altLang="en-US" sz="3000" dirty="0">
                <a:latin typeface="SamsungOneKoreanOTF 700" panose="020B0803030303020204" pitchFamily="34" charset="-127"/>
                <a:ea typeface="SamsungOneKoreanOTF 700" panose="020B0803030303020204" pitchFamily="34" charset="-127"/>
              </a:rPr>
              <a:t> 전체 현황</a:t>
            </a:r>
            <a:endParaRPr lang="en-US" sz="3000" dirty="0">
              <a:latin typeface="SamsungOneKoreanOTF 700" panose="020B0803030303020204" pitchFamily="34" charset="-127"/>
              <a:ea typeface="SamsungOneKoreanOTF 700" panose="020B0803030303020204" pitchFamily="34" charset="-127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8A47CA4-75EB-D54E-8DE3-5CF091FD16E9}"/>
              </a:ext>
            </a:extLst>
          </p:cNvPr>
          <p:cNvSpPr/>
          <p:nvPr/>
        </p:nvSpPr>
        <p:spPr>
          <a:xfrm>
            <a:off x="69669" y="1113692"/>
            <a:ext cx="12026537" cy="542533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CF81C7-4056-E842-ADC2-97530AC4C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116994"/>
              </p:ext>
            </p:extLst>
          </p:nvPr>
        </p:nvGraphicFramePr>
        <p:xfrm>
          <a:off x="291662" y="1686950"/>
          <a:ext cx="4303784" cy="2743200"/>
        </p:xfrm>
        <a:graphic>
          <a:graphicData uri="http://schemas.openxmlformats.org/drawingml/2006/table">
            <a:tbl>
              <a:tblPr/>
              <a:tblGrid>
                <a:gridCol w="2151892">
                  <a:extLst>
                    <a:ext uri="{9D8B030D-6E8A-4147-A177-3AD203B41FA5}">
                      <a16:colId xmlns:a16="http://schemas.microsoft.com/office/drawing/2014/main" val="199303242"/>
                    </a:ext>
                  </a:extLst>
                </a:gridCol>
                <a:gridCol w="2151892">
                  <a:extLst>
                    <a:ext uri="{9D8B030D-6E8A-4147-A177-3AD203B41FA5}">
                      <a16:colId xmlns:a16="http://schemas.microsoft.com/office/drawing/2014/main" val="36701945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616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총 고객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200"/>
                        <a:t>100,000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0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추천 이력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200"/>
                        <a:t>1,000,000+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306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행동 로그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200"/>
                        <a:t>10,000,000+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6847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Redis </a:t>
                      </a:r>
                      <a:r>
                        <a:rPr lang="ko-KR" altLang="en-US" sz="1200" dirty="0"/>
                        <a:t>추천 </a:t>
                      </a:r>
                      <a:r>
                        <a:rPr lang="en-US" sz="1200" dirty="0"/>
                        <a:t>Cache </a:t>
                      </a:r>
                      <a:r>
                        <a:rPr lang="ko-KR" altLang="en-US" sz="1200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실시간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0877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추천 </a:t>
                      </a:r>
                      <a:r>
                        <a:rPr lang="en-US" sz="1200"/>
                        <a:t>CTR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클릭률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18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구매 전환율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CVR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4013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200"/>
                        <a:t>AI</a:t>
                      </a:r>
                      <a:r>
                        <a:rPr lang="ko-KR" altLang="en-US" sz="1200"/>
                        <a:t> 추천 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Vetex AI</a:t>
                      </a:r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4418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200"/>
                        <a:t>AWS</a:t>
                      </a:r>
                      <a:r>
                        <a:rPr lang="ko-KR" altLang="en-US" sz="1200"/>
                        <a:t> 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Aurora / Redis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688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200" dirty="0"/>
                        <a:t>GCP</a:t>
                      </a:r>
                      <a:r>
                        <a:rPr lang="ko-KR" altLang="en-US" sz="1200" dirty="0"/>
                        <a:t> 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BigQuery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100075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9D85077A-9768-4A45-A397-E31A436E0FB5}"/>
              </a:ext>
            </a:extLst>
          </p:cNvPr>
          <p:cNvSpPr txBox="1"/>
          <p:nvPr/>
        </p:nvSpPr>
        <p:spPr>
          <a:xfrm>
            <a:off x="291662" y="4884422"/>
            <a:ext cx="31549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200"/>
              <a:t>Executive Dashboard</a:t>
            </a:r>
          </a:p>
          <a:p>
            <a:r>
              <a:rPr lang="en-KR" sz="1200"/>
              <a:t> ├ 추천 현황</a:t>
            </a:r>
          </a:p>
          <a:p>
            <a:r>
              <a:rPr lang="en-KR" sz="1200"/>
              <a:t> ├ 고객 현황</a:t>
            </a:r>
          </a:p>
          <a:p>
            <a:r>
              <a:rPr lang="en-KR" sz="1200"/>
              <a:t> ├ AI 추천 현황</a:t>
            </a:r>
          </a:p>
          <a:p>
            <a:r>
              <a:rPr lang="en-KR" sz="1200"/>
              <a:t> ├ AWS 운영 상태</a:t>
            </a:r>
          </a:p>
          <a:p>
            <a:r>
              <a:rPr lang="en-KR" sz="1200"/>
              <a:t> └ GCP 상태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60CB8F3-E863-504C-88A0-605ED4B233C6}"/>
              </a:ext>
            </a:extLst>
          </p:cNvPr>
          <p:cNvSpPr txBox="1"/>
          <p:nvPr/>
        </p:nvSpPr>
        <p:spPr>
          <a:xfrm>
            <a:off x="296008" y="73605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LifeSync360 </a:t>
            </a:r>
            <a:r>
              <a:rPr lang="ko-KR" altLang="en-US" sz="1400" b="1"/>
              <a:t>전체 현황 요약</a:t>
            </a:r>
            <a:endParaRPr lang="en-KR" sz="1400" b="1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3327761-D44A-304A-8C1C-079610AEE516}"/>
              </a:ext>
            </a:extLst>
          </p:cNvPr>
          <p:cNvSpPr txBox="1"/>
          <p:nvPr/>
        </p:nvSpPr>
        <p:spPr>
          <a:xfrm>
            <a:off x="4911927" y="1259205"/>
            <a:ext cx="262596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/>
              <a:t>S3 </a:t>
            </a:r>
            <a:r>
              <a:rPr lang="ko-KR" altLang="en-US" sz="1300" b="1"/>
              <a:t>데이터 적재 현황</a:t>
            </a:r>
            <a:endParaRPr lang="en-KR" sz="1300" b="1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7D1B327-7F13-6549-848C-B1B834836B6E}"/>
              </a:ext>
            </a:extLst>
          </p:cNvPr>
          <p:cNvSpPr txBox="1"/>
          <p:nvPr/>
        </p:nvSpPr>
        <p:spPr>
          <a:xfrm>
            <a:off x="10016836" y="1686950"/>
            <a:ext cx="188350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200"/>
              <a:t>[ KPI Cards ]</a:t>
            </a:r>
          </a:p>
          <a:p>
            <a:r>
              <a:rPr lang="en-KR" sz="1200"/>
              <a:t>- 총 고객 수</a:t>
            </a:r>
          </a:p>
          <a:p>
            <a:r>
              <a:rPr lang="en-KR" sz="1200"/>
              <a:t>- 총 추천 건수</a:t>
            </a:r>
          </a:p>
          <a:p>
            <a:r>
              <a:rPr lang="en-KR" sz="1200"/>
              <a:t>- 클릭률</a:t>
            </a:r>
          </a:p>
          <a:p>
            <a:r>
              <a:rPr lang="en-KR" sz="1200"/>
              <a:t>- 구매율</a:t>
            </a:r>
          </a:p>
          <a:p>
            <a:endParaRPr lang="en-KR" sz="1200"/>
          </a:p>
          <a:p>
            <a:r>
              <a:rPr lang="en-KR" sz="1200"/>
              <a:t>[ S3 Data Ingestion ]</a:t>
            </a:r>
          </a:p>
          <a:p>
            <a:r>
              <a:rPr lang="en-KR" sz="1200"/>
              <a:t>- Raw Bucket 현황</a:t>
            </a:r>
          </a:p>
          <a:p>
            <a:r>
              <a:rPr lang="en-KR" sz="1200"/>
              <a:t>- 최근 업로드</a:t>
            </a:r>
          </a:p>
          <a:p>
            <a:r>
              <a:rPr lang="en-KR" sz="1200"/>
              <a:t>- IoT 데이터 적재량</a:t>
            </a:r>
          </a:p>
          <a:p>
            <a:endParaRPr lang="en-KR" sz="1200"/>
          </a:p>
          <a:p>
            <a:r>
              <a:rPr lang="en-KR" sz="1200"/>
              <a:t>[ Cloud Status ]</a:t>
            </a:r>
          </a:p>
          <a:p>
            <a:r>
              <a:rPr lang="en-KR" sz="1200"/>
              <a:t>- AWS 상태</a:t>
            </a:r>
          </a:p>
          <a:p>
            <a:r>
              <a:rPr lang="en-KR" sz="1200"/>
              <a:t>- GCP 상태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1A2C6EAD-15A7-F049-A2C6-CF8941B21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321118"/>
              </p:ext>
            </p:extLst>
          </p:nvPr>
        </p:nvGraphicFramePr>
        <p:xfrm>
          <a:off x="4817439" y="1697106"/>
          <a:ext cx="4303784" cy="1645920"/>
        </p:xfrm>
        <a:graphic>
          <a:graphicData uri="http://schemas.openxmlformats.org/drawingml/2006/table">
            <a:tbl>
              <a:tblPr/>
              <a:tblGrid>
                <a:gridCol w="2151892">
                  <a:extLst>
                    <a:ext uri="{9D8B030D-6E8A-4147-A177-3AD203B41FA5}">
                      <a16:colId xmlns:a16="http://schemas.microsoft.com/office/drawing/2014/main" val="3094240221"/>
                    </a:ext>
                  </a:extLst>
                </a:gridCol>
                <a:gridCol w="2151892">
                  <a:extLst>
                    <a:ext uri="{9D8B030D-6E8A-4147-A177-3AD203B41FA5}">
                      <a16:colId xmlns:a16="http://schemas.microsoft.com/office/drawing/2014/main" val="15107864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31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Raw Bucket </a:t>
                      </a:r>
                      <a:r>
                        <a:rPr lang="ko-KR" altLang="en-US" sz="1200"/>
                        <a:t>파일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데이터 적재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9976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오늘 적재 건수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실시간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423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웨어러블 데이터 건수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3887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고객 데이터 적재량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CSV/JSON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906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최근 업로드 파일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실시간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007796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83F211F8-2074-B943-8F3D-50E5474D9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635493"/>
              </p:ext>
            </p:extLst>
          </p:nvPr>
        </p:nvGraphicFramePr>
        <p:xfrm>
          <a:off x="4911927" y="4867275"/>
          <a:ext cx="4209296" cy="1097280"/>
        </p:xfrm>
        <a:graphic>
          <a:graphicData uri="http://schemas.openxmlformats.org/drawingml/2006/table">
            <a:tbl>
              <a:tblPr/>
              <a:tblGrid>
                <a:gridCol w="2104648">
                  <a:extLst>
                    <a:ext uri="{9D8B030D-6E8A-4147-A177-3AD203B41FA5}">
                      <a16:colId xmlns:a16="http://schemas.microsoft.com/office/drawing/2014/main" val="3965424025"/>
                    </a:ext>
                  </a:extLst>
                </a:gridCol>
                <a:gridCol w="2104648">
                  <a:extLst>
                    <a:ext uri="{9D8B030D-6E8A-4147-A177-3AD203B41FA5}">
                      <a16:colId xmlns:a16="http://schemas.microsoft.com/office/drawing/2014/main" val="11476935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41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/api/dashboard/summary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KPI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0357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/api/s3/status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S3 </a:t>
                      </a:r>
                      <a:r>
                        <a:rPr lang="ko-KR" altLang="en-US" sz="1200"/>
                        <a:t>적재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470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/api/cloud/status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AWS/GCP </a:t>
                      </a:r>
                      <a:r>
                        <a:rPr lang="ko-KR" altLang="en-US" sz="1200" dirty="0"/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2702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431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01E7B178-DDBD-DA4B-92D5-E40227567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172" y="2"/>
            <a:ext cx="10975658" cy="642730"/>
          </a:xfrm>
        </p:spPr>
        <p:txBody>
          <a:bodyPr>
            <a:normAutofit/>
          </a:bodyPr>
          <a:lstStyle/>
          <a:p>
            <a:pPr algn="l"/>
            <a:r>
              <a:rPr lang="en-US" altLang="ko-KR" sz="3000" dirty="0">
                <a:latin typeface="SamsungOneKoreanOTF 700" panose="020B0803030303020204" pitchFamily="34" charset="-127"/>
                <a:ea typeface="SamsungOneKoreanOTF 700" panose="020B0803030303020204" pitchFamily="34" charset="-127"/>
              </a:rPr>
              <a:t>Lifesync 360</a:t>
            </a:r>
            <a:r>
              <a:rPr lang="ko-KR" altLang="en-US" sz="3000" dirty="0">
                <a:latin typeface="SamsungOneKoreanOTF 700" panose="020B0803030303020204" pitchFamily="34" charset="-127"/>
                <a:ea typeface="SamsungOneKoreanOTF 700" panose="020B0803030303020204" pitchFamily="34" charset="-127"/>
              </a:rPr>
              <a:t> 대시보드 </a:t>
            </a:r>
            <a:r>
              <a:rPr lang="en-US" altLang="ko-KR" sz="3000" dirty="0">
                <a:latin typeface="SamsungOneKoreanOTF 700" panose="020B0803030303020204" pitchFamily="34" charset="-127"/>
                <a:ea typeface="SamsungOneKoreanOTF 700" panose="020B0803030303020204" pitchFamily="34" charset="-127"/>
              </a:rPr>
              <a:t>–</a:t>
            </a:r>
            <a:r>
              <a:rPr lang="ko-KR" altLang="en-US" sz="3000" dirty="0">
                <a:latin typeface="SamsungOneKoreanOTF 700" panose="020B0803030303020204" pitchFamily="34" charset="-127"/>
                <a:ea typeface="SamsungOneKoreanOTF 700" panose="020B0803030303020204" pitchFamily="34" charset="-127"/>
              </a:rPr>
              <a:t> </a:t>
            </a:r>
            <a:r>
              <a:rPr lang="en-US" altLang="ko-KR" sz="3000" dirty="0">
                <a:latin typeface="SamsungOneKoreanOTF 700" panose="020B0803030303020204" pitchFamily="34" charset="-127"/>
                <a:ea typeface="SamsungOneKoreanOTF 700" panose="020B0803030303020204" pitchFamily="34" charset="-127"/>
              </a:rPr>
              <a:t>Customer 360 </a:t>
            </a:r>
            <a:endParaRPr lang="en-US" sz="3000" dirty="0">
              <a:latin typeface="SamsungOneKoreanOTF 700" panose="020B0803030303020204" pitchFamily="34" charset="-127"/>
              <a:ea typeface="SamsungOneKoreanOTF 700" panose="020B0803030303020204" pitchFamily="34" charset="-127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8A47CA4-75EB-D54E-8DE3-5CF091FD16E9}"/>
              </a:ext>
            </a:extLst>
          </p:cNvPr>
          <p:cNvSpPr/>
          <p:nvPr/>
        </p:nvSpPr>
        <p:spPr>
          <a:xfrm>
            <a:off x="69669" y="1198712"/>
            <a:ext cx="12026537" cy="534031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FB01C5-6BDC-A94F-9CD3-E6704CDC0C82}"/>
              </a:ext>
            </a:extLst>
          </p:cNvPr>
          <p:cNvSpPr txBox="1"/>
          <p:nvPr/>
        </p:nvSpPr>
        <p:spPr>
          <a:xfrm>
            <a:off x="296008" y="73605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/>
              <a:t>고객 통합 프로필 및 추천 현황</a:t>
            </a:r>
            <a:endParaRPr lang="en-KR" sz="14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8312E64-4D97-0E45-AAD2-F648AE60D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993744"/>
              </p:ext>
            </p:extLst>
          </p:nvPr>
        </p:nvGraphicFramePr>
        <p:xfrm>
          <a:off x="394855" y="1599813"/>
          <a:ext cx="5257800" cy="27432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91028941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31966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392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 b="0"/>
                        <a:t>고객 검색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257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 b="0"/>
                        <a:t>고객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VIP/GOLD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0160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 b="0"/>
                        <a:t>추천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AI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252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 b="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Wearable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926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 b="0"/>
                        <a:t>추천 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Redis </a:t>
                      </a:r>
                      <a:r>
                        <a:rPr lang="ko-KR" altLang="en-US" sz="1200" b="0"/>
                        <a:t>기반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507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 b="0"/>
                        <a:t>최근 추천 이력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Aurora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8572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 b="0"/>
                        <a:t>최근 클릭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0"/>
                        <a:t>행동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66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 b="0"/>
                        <a:t>최근 구매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0"/>
                        <a:t>전환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856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 b="0"/>
                        <a:t>교차판매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0" dirty="0"/>
                        <a:t>보험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헬스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93295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EC2B5FA-ACBA-3843-9A98-E0661FD8D8BF}"/>
              </a:ext>
            </a:extLst>
          </p:cNvPr>
          <p:cNvSpPr txBox="1"/>
          <p:nvPr/>
        </p:nvSpPr>
        <p:spPr>
          <a:xfrm>
            <a:off x="394855" y="4549304"/>
            <a:ext cx="367225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b="1"/>
              <a:t>추천 데이터 소스</a:t>
            </a:r>
            <a:endParaRPr lang="en-KR" sz="13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4DE3AC-FB2F-C24E-8C06-15F0506437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601172"/>
              </p:ext>
            </p:extLst>
          </p:nvPr>
        </p:nvGraphicFramePr>
        <p:xfrm>
          <a:off x="394855" y="4973488"/>
          <a:ext cx="4863578" cy="1371600"/>
        </p:xfrm>
        <a:graphic>
          <a:graphicData uri="http://schemas.openxmlformats.org/drawingml/2006/table">
            <a:tbl>
              <a:tblPr/>
              <a:tblGrid>
                <a:gridCol w="2431789">
                  <a:extLst>
                    <a:ext uri="{9D8B030D-6E8A-4147-A177-3AD203B41FA5}">
                      <a16:colId xmlns:a16="http://schemas.microsoft.com/office/drawing/2014/main" val="967707859"/>
                    </a:ext>
                  </a:extLst>
                </a:gridCol>
                <a:gridCol w="2431789">
                  <a:extLst>
                    <a:ext uri="{9D8B030D-6E8A-4147-A177-3AD203B41FA5}">
                      <a16:colId xmlns:a16="http://schemas.microsoft.com/office/drawing/2014/main" val="7089242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데이터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382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고객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Aurora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439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추천 이력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customer_recommend_history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415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Personalized </a:t>
                      </a:r>
                      <a:r>
                        <a:rPr lang="ko-KR" altLang="en-US" sz="1200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Redis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7065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행동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dashboard_log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069308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9F66EDE-AE3F-F240-8494-E4391E8C79A3}"/>
              </a:ext>
            </a:extLst>
          </p:cNvPr>
          <p:cNvSpPr txBox="1"/>
          <p:nvPr/>
        </p:nvSpPr>
        <p:spPr>
          <a:xfrm>
            <a:off x="9045153" y="1599813"/>
            <a:ext cx="27519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200"/>
              <a:t>[ Customer Profile ]</a:t>
            </a:r>
          </a:p>
          <a:p>
            <a:r>
              <a:rPr lang="en-KR" sz="1200"/>
              <a:t>- 고객 ID</a:t>
            </a:r>
          </a:p>
          <a:p>
            <a:r>
              <a:rPr lang="en-KR" sz="1200"/>
              <a:t>- 고객 등급</a:t>
            </a:r>
          </a:p>
          <a:p>
            <a:r>
              <a:rPr lang="en-KR" sz="1200"/>
              <a:t>- 건강 점수</a:t>
            </a:r>
          </a:p>
          <a:p>
            <a:endParaRPr lang="en-KR" sz="1200"/>
          </a:p>
          <a:p>
            <a:r>
              <a:rPr lang="en-KR" sz="1200"/>
              <a:t>[ Personalized Recommendation ]</a:t>
            </a:r>
          </a:p>
          <a:p>
            <a:r>
              <a:rPr lang="en-KR" sz="1200"/>
              <a:t>- PB 예금</a:t>
            </a:r>
          </a:p>
          <a:p>
            <a:r>
              <a:rPr lang="en-KR" sz="1200"/>
              <a:t>- VIP 카드</a:t>
            </a:r>
          </a:p>
          <a:p>
            <a:r>
              <a:rPr lang="en-KR" sz="1200"/>
              <a:t>- 건강검진</a:t>
            </a:r>
          </a:p>
          <a:p>
            <a:endParaRPr lang="en-KR" sz="1200"/>
          </a:p>
          <a:p>
            <a:r>
              <a:rPr lang="en-KR" sz="1200"/>
              <a:t>[ Recent Activity ]</a:t>
            </a:r>
          </a:p>
          <a:p>
            <a:r>
              <a:rPr lang="en-KR" sz="1200"/>
              <a:t>- 클릭</a:t>
            </a:r>
          </a:p>
          <a:p>
            <a:r>
              <a:rPr lang="en-KR" sz="1200"/>
              <a:t>- 구매</a:t>
            </a:r>
          </a:p>
          <a:p>
            <a:r>
              <a:rPr lang="en-KR" sz="1200"/>
              <a:t>- 캠페인 반응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3E034E5-B592-1F41-909D-421683593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958887"/>
              </p:ext>
            </p:extLst>
          </p:nvPr>
        </p:nvGraphicFramePr>
        <p:xfrm>
          <a:off x="6065737" y="4973488"/>
          <a:ext cx="5223164" cy="1371600"/>
        </p:xfrm>
        <a:graphic>
          <a:graphicData uri="http://schemas.openxmlformats.org/drawingml/2006/table">
            <a:tbl>
              <a:tblPr/>
              <a:tblGrid>
                <a:gridCol w="2611582">
                  <a:extLst>
                    <a:ext uri="{9D8B030D-6E8A-4147-A177-3AD203B41FA5}">
                      <a16:colId xmlns:a16="http://schemas.microsoft.com/office/drawing/2014/main" val="2711317536"/>
                    </a:ext>
                  </a:extLst>
                </a:gridCol>
                <a:gridCol w="2611582">
                  <a:extLst>
                    <a:ext uri="{9D8B030D-6E8A-4147-A177-3AD203B41FA5}">
                      <a16:colId xmlns:a16="http://schemas.microsoft.com/office/drawing/2014/main" val="140979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 dirty="0"/>
                        <a:t>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284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/api/customer/profile/{id}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고객 프로필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6818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/api/customer/recommend/{id}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Redis </a:t>
                      </a:r>
                      <a:r>
                        <a:rPr lang="ko-KR" altLang="en-US" sz="1200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042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/api/customer/history/{id}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추천 이력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630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/api/customer/activity/{id}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행동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4205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48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01E7B178-DDBD-DA4B-92D5-E40227567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172" y="2"/>
            <a:ext cx="10975658" cy="642730"/>
          </a:xfrm>
        </p:spPr>
        <p:txBody>
          <a:bodyPr>
            <a:normAutofit/>
          </a:bodyPr>
          <a:lstStyle/>
          <a:p>
            <a:pPr algn="l"/>
            <a:r>
              <a:rPr lang="en-US" altLang="ko-KR" sz="3000" dirty="0">
                <a:latin typeface="SamsungOneKoreanOTF 700" panose="020B0803030303020204" pitchFamily="34" charset="-127"/>
                <a:ea typeface="SamsungOneKoreanOTF 700" panose="020B0803030303020204" pitchFamily="34" charset="-127"/>
              </a:rPr>
              <a:t>Lifesync 360</a:t>
            </a:r>
            <a:r>
              <a:rPr lang="ko-KR" altLang="en-US" sz="3000" dirty="0">
                <a:latin typeface="SamsungOneKoreanOTF 700" panose="020B0803030303020204" pitchFamily="34" charset="-127"/>
                <a:ea typeface="SamsungOneKoreanOTF 700" panose="020B0803030303020204" pitchFamily="34" charset="-127"/>
              </a:rPr>
              <a:t> 대시보드 </a:t>
            </a:r>
            <a:r>
              <a:rPr lang="en-US" altLang="ko-KR" sz="3000" dirty="0">
                <a:latin typeface="SamsungOneKoreanOTF 700" panose="020B0803030303020204" pitchFamily="34" charset="-127"/>
                <a:ea typeface="SamsungOneKoreanOTF 700" panose="020B0803030303020204" pitchFamily="34" charset="-127"/>
              </a:rPr>
              <a:t>–</a:t>
            </a:r>
            <a:r>
              <a:rPr lang="ko-KR" altLang="en-US" sz="3000" dirty="0">
                <a:latin typeface="SamsungOneKoreanOTF 700" panose="020B0803030303020204" pitchFamily="34" charset="-127"/>
                <a:ea typeface="SamsungOneKoreanOTF 700" panose="020B0803030303020204" pitchFamily="34" charset="-127"/>
              </a:rPr>
              <a:t> </a:t>
            </a:r>
            <a:r>
              <a:rPr lang="en-US" altLang="ko-KR" sz="3000" dirty="0">
                <a:latin typeface="SamsungOneKoreanOTF 700" panose="020B0803030303020204" pitchFamily="34" charset="-127"/>
                <a:ea typeface="SamsungOneKoreanOTF 700" panose="020B0803030303020204" pitchFamily="34" charset="-127"/>
              </a:rPr>
              <a:t>AI</a:t>
            </a:r>
            <a:r>
              <a:rPr lang="ko-KR" altLang="en-US" sz="3000" dirty="0">
                <a:latin typeface="SamsungOneKoreanOTF 700" panose="020B0803030303020204" pitchFamily="34" charset="-127"/>
                <a:ea typeface="SamsungOneKoreanOTF 700" panose="020B0803030303020204" pitchFamily="34" charset="-127"/>
              </a:rPr>
              <a:t> 추천 </a:t>
            </a:r>
            <a:endParaRPr lang="en-US" sz="3000" dirty="0">
              <a:latin typeface="SamsungOneKoreanOTF 700" panose="020B0803030303020204" pitchFamily="34" charset="-127"/>
              <a:ea typeface="SamsungOneKoreanOTF 700" panose="020B0803030303020204" pitchFamily="34" charset="-127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8A47CA4-75EB-D54E-8DE3-5CF091FD16E9}"/>
              </a:ext>
            </a:extLst>
          </p:cNvPr>
          <p:cNvSpPr/>
          <p:nvPr/>
        </p:nvSpPr>
        <p:spPr>
          <a:xfrm>
            <a:off x="69669" y="1198712"/>
            <a:ext cx="12026537" cy="534031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FB01C5-6BDC-A94F-9CD3-E6704CDC0C82}"/>
              </a:ext>
            </a:extLst>
          </p:cNvPr>
          <p:cNvSpPr txBox="1"/>
          <p:nvPr/>
        </p:nvSpPr>
        <p:spPr>
          <a:xfrm>
            <a:off x="296008" y="73605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/>
              <a:t>AI </a:t>
            </a:r>
            <a:r>
              <a:rPr lang="ko-KR" altLang="en-US" sz="1400" b="1"/>
              <a:t>추천 성능 및 </a:t>
            </a:r>
            <a:r>
              <a:rPr lang="en-US" altLang="ko-KR" sz="1400" b="1"/>
              <a:t>Personalized </a:t>
            </a:r>
            <a:r>
              <a:rPr lang="ko-KR" altLang="en-US" sz="1400" b="1"/>
              <a:t>추천 </a:t>
            </a:r>
            <a:r>
              <a:rPr lang="en-US" altLang="ko-KR" sz="1400" b="1"/>
              <a:t>(</a:t>
            </a:r>
            <a:r>
              <a:rPr lang="en-US" sz="1400" b="1"/>
              <a:t>BigQuery + Vertex AI </a:t>
            </a:r>
            <a:r>
              <a:rPr lang="ko-KR" altLang="en-US" sz="1400" b="1"/>
              <a:t>기반 추천 분석</a:t>
            </a:r>
            <a:r>
              <a:rPr lang="en-US" altLang="ko-KR" sz="1400" b="1"/>
              <a:t>)</a:t>
            </a:r>
            <a:endParaRPr lang="en-KR" sz="14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BB8AFC-C6E7-7A41-A9EA-939BE9AC1B10}"/>
              </a:ext>
            </a:extLst>
          </p:cNvPr>
          <p:cNvSpPr txBox="1"/>
          <p:nvPr/>
        </p:nvSpPr>
        <p:spPr>
          <a:xfrm>
            <a:off x="296008" y="4535589"/>
            <a:ext cx="367225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/>
              <a:t>BigQuery</a:t>
            </a:r>
            <a:r>
              <a:rPr lang="ko-KR" altLang="en-US" sz="1300" b="1"/>
              <a:t> 분석 </a:t>
            </a:r>
            <a:endParaRPr lang="en-KR" sz="13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D4E21B-FFF1-5C43-8B86-D813A58CEE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890926"/>
              </p:ext>
            </p:extLst>
          </p:nvPr>
        </p:nvGraphicFramePr>
        <p:xfrm>
          <a:off x="296008" y="1656923"/>
          <a:ext cx="5993956" cy="2468880"/>
        </p:xfrm>
        <a:graphic>
          <a:graphicData uri="http://schemas.openxmlformats.org/drawingml/2006/table">
            <a:tbl>
              <a:tblPr/>
              <a:tblGrid>
                <a:gridCol w="2996978">
                  <a:extLst>
                    <a:ext uri="{9D8B030D-6E8A-4147-A177-3AD203B41FA5}">
                      <a16:colId xmlns:a16="http://schemas.microsoft.com/office/drawing/2014/main" val="589136918"/>
                    </a:ext>
                  </a:extLst>
                </a:gridCol>
                <a:gridCol w="2996978">
                  <a:extLst>
                    <a:ext uri="{9D8B030D-6E8A-4147-A177-3AD203B41FA5}">
                      <a16:colId xmlns:a16="http://schemas.microsoft.com/office/drawing/2014/main" val="39148056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088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추천 </a:t>
                      </a:r>
                      <a:r>
                        <a:rPr lang="en-US" sz="1200"/>
                        <a:t>CTR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추천 성과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8368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구매율 </a:t>
                      </a:r>
                      <a:r>
                        <a:rPr lang="en-US" sz="1200"/>
                        <a:t>CVR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전환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4786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상품 </a:t>
                      </a:r>
                      <a:r>
                        <a:rPr lang="en-US" sz="1200"/>
                        <a:t>TOP10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609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카테고리별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금융</a:t>
                      </a:r>
                      <a:r>
                        <a:rPr lang="en-US" altLang="ko-KR" sz="1200"/>
                        <a:t>/</a:t>
                      </a:r>
                      <a:r>
                        <a:rPr lang="ko-KR" altLang="en-US" sz="12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1613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고객등급별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VIP/GOLD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0678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AI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Vertex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16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Feature </a:t>
                      </a:r>
                      <a:r>
                        <a:rPr lang="ko-KR" altLang="en-US" sz="1200"/>
                        <a:t>분포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BigQuery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302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추천 </a:t>
                      </a:r>
                      <a:r>
                        <a:rPr lang="en-US" sz="1200"/>
                        <a:t>Trend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시간 흐름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099045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008C5AF-B442-CC46-A23F-673CB1EB477D}"/>
              </a:ext>
            </a:extLst>
          </p:cNvPr>
          <p:cNvSpPr txBox="1"/>
          <p:nvPr/>
        </p:nvSpPr>
        <p:spPr>
          <a:xfrm>
            <a:off x="9180417" y="1720840"/>
            <a:ext cx="27155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200"/>
              <a:t>[ Recommendation KPI ]</a:t>
            </a:r>
          </a:p>
          <a:p>
            <a:r>
              <a:rPr lang="en-KR" sz="1200"/>
              <a:t>- CTR</a:t>
            </a:r>
          </a:p>
          <a:p>
            <a:r>
              <a:rPr lang="en-KR" sz="1200"/>
              <a:t>- CVR</a:t>
            </a:r>
          </a:p>
          <a:p>
            <a:r>
              <a:rPr lang="en-KR" sz="1200"/>
              <a:t>- Top Products</a:t>
            </a:r>
          </a:p>
          <a:p>
            <a:endParaRPr lang="en-KR" sz="1200"/>
          </a:p>
          <a:p>
            <a:r>
              <a:rPr lang="en-KR" sz="1200"/>
              <a:t>[ BigQuery Analytics ]</a:t>
            </a:r>
          </a:p>
          <a:p>
            <a:r>
              <a:rPr lang="en-KR" sz="1200"/>
              <a:t>- 고객 세그먼트</a:t>
            </a:r>
          </a:p>
          <a:p>
            <a:r>
              <a:rPr lang="en-KR" sz="1200"/>
              <a:t>- 행동 분석</a:t>
            </a:r>
          </a:p>
          <a:p>
            <a:endParaRPr lang="en-KR" sz="1200"/>
          </a:p>
          <a:p>
            <a:r>
              <a:rPr lang="en-KR" sz="1200"/>
              <a:t>[ Vertex AI ]</a:t>
            </a:r>
          </a:p>
          <a:p>
            <a:r>
              <a:rPr lang="en-KR" sz="1200"/>
              <a:t>- Accuracy</a:t>
            </a:r>
          </a:p>
          <a:p>
            <a:r>
              <a:rPr lang="en-KR" sz="1200"/>
              <a:t>- Feature Importance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9F2D34C-5DD2-1946-BEDD-228CFC45A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36266"/>
              </p:ext>
            </p:extLst>
          </p:nvPr>
        </p:nvGraphicFramePr>
        <p:xfrm>
          <a:off x="324432" y="4982856"/>
          <a:ext cx="3250042" cy="1097280"/>
        </p:xfrm>
        <a:graphic>
          <a:graphicData uri="http://schemas.openxmlformats.org/drawingml/2006/table">
            <a:tbl>
              <a:tblPr/>
              <a:tblGrid>
                <a:gridCol w="1625021">
                  <a:extLst>
                    <a:ext uri="{9D8B030D-6E8A-4147-A177-3AD203B41FA5}">
                      <a16:colId xmlns:a16="http://schemas.microsoft.com/office/drawing/2014/main" val="1283411988"/>
                    </a:ext>
                  </a:extLst>
                </a:gridCol>
                <a:gridCol w="1625021">
                  <a:extLst>
                    <a:ext uri="{9D8B030D-6E8A-4147-A177-3AD203B41FA5}">
                      <a16:colId xmlns:a16="http://schemas.microsoft.com/office/drawing/2014/main" val="38313970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628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추천 데이터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8762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행동 로그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CTR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148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고객 세그먼트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493987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D7422A6-CF90-CA42-8FDC-D1FD647ED7A2}"/>
              </a:ext>
            </a:extLst>
          </p:cNvPr>
          <p:cNvSpPr txBox="1"/>
          <p:nvPr/>
        </p:nvSpPr>
        <p:spPr>
          <a:xfrm>
            <a:off x="3709608" y="4535589"/>
            <a:ext cx="367225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/>
              <a:t>Vertex AI</a:t>
            </a:r>
            <a:r>
              <a:rPr lang="ko-KR" altLang="en-US" sz="1300" b="1"/>
              <a:t> 분석 </a:t>
            </a:r>
            <a:endParaRPr lang="en-KR" sz="1300" b="1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4D3329C-7F3E-FF48-8DD8-6D4B89249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881376"/>
              </p:ext>
            </p:extLst>
          </p:nvPr>
        </p:nvGraphicFramePr>
        <p:xfrm>
          <a:off x="3829237" y="4982856"/>
          <a:ext cx="3552626" cy="1097280"/>
        </p:xfrm>
        <a:graphic>
          <a:graphicData uri="http://schemas.openxmlformats.org/drawingml/2006/table">
            <a:tbl>
              <a:tblPr/>
              <a:tblGrid>
                <a:gridCol w="1776313">
                  <a:extLst>
                    <a:ext uri="{9D8B030D-6E8A-4147-A177-3AD203B41FA5}">
                      <a16:colId xmlns:a16="http://schemas.microsoft.com/office/drawing/2014/main" val="2706924367"/>
                    </a:ext>
                  </a:extLst>
                </a:gridCol>
                <a:gridCol w="1776313">
                  <a:extLst>
                    <a:ext uri="{9D8B030D-6E8A-4147-A177-3AD203B41FA5}">
                      <a16:colId xmlns:a16="http://schemas.microsoft.com/office/drawing/2014/main" val="957555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61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추천 모델 </a:t>
                      </a:r>
                      <a:r>
                        <a:rPr lang="en-US" sz="120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정확도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719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AI Score </a:t>
                      </a:r>
                      <a:r>
                        <a:rPr lang="ko-KR" altLang="en-US" sz="1200"/>
                        <a:t>분포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추천 품질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540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Precision/Recall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모델 평가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6135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C5D15B4-4F57-0B48-B636-86AE84246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215577"/>
              </p:ext>
            </p:extLst>
          </p:nvPr>
        </p:nvGraphicFramePr>
        <p:xfrm>
          <a:off x="7890350" y="4958679"/>
          <a:ext cx="4005642" cy="1097280"/>
        </p:xfrm>
        <a:graphic>
          <a:graphicData uri="http://schemas.openxmlformats.org/drawingml/2006/table">
            <a:tbl>
              <a:tblPr/>
              <a:tblGrid>
                <a:gridCol w="2002821">
                  <a:extLst>
                    <a:ext uri="{9D8B030D-6E8A-4147-A177-3AD203B41FA5}">
                      <a16:colId xmlns:a16="http://schemas.microsoft.com/office/drawing/2014/main" val="3756393464"/>
                    </a:ext>
                  </a:extLst>
                </a:gridCol>
                <a:gridCol w="2002821">
                  <a:extLst>
                    <a:ext uri="{9D8B030D-6E8A-4147-A177-3AD203B41FA5}">
                      <a16:colId xmlns:a16="http://schemas.microsoft.com/office/drawing/2014/main" val="23165647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607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/api/ai/recommend-stats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추천 </a:t>
                      </a:r>
                      <a:r>
                        <a:rPr lang="en-US" sz="1200"/>
                        <a:t>KPI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7961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/api/bigquery/analytics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BigQuery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6457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/api/vertex/metrics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Vertex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374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666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01E7B178-DDBD-DA4B-92D5-E40227567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172" y="2"/>
            <a:ext cx="10975658" cy="642730"/>
          </a:xfrm>
        </p:spPr>
        <p:txBody>
          <a:bodyPr>
            <a:normAutofit/>
          </a:bodyPr>
          <a:lstStyle/>
          <a:p>
            <a:pPr algn="l"/>
            <a:r>
              <a:rPr lang="en-US" altLang="ko-KR" sz="3000" dirty="0">
                <a:latin typeface="SamsungOneKoreanOTF 700" panose="020B0803030303020204" pitchFamily="34" charset="-127"/>
                <a:ea typeface="SamsungOneKoreanOTF 700" panose="020B0803030303020204" pitchFamily="34" charset="-127"/>
              </a:rPr>
              <a:t>Lifesync 360</a:t>
            </a:r>
            <a:r>
              <a:rPr lang="ko-KR" altLang="en-US" sz="3000" dirty="0">
                <a:latin typeface="SamsungOneKoreanOTF 700" panose="020B0803030303020204" pitchFamily="34" charset="-127"/>
                <a:ea typeface="SamsungOneKoreanOTF 700" panose="020B0803030303020204" pitchFamily="34" charset="-127"/>
              </a:rPr>
              <a:t> 대시보드 </a:t>
            </a:r>
            <a:r>
              <a:rPr lang="en-US" altLang="ko-KR" sz="3000" dirty="0">
                <a:latin typeface="SamsungOneKoreanOTF 700" panose="020B0803030303020204" pitchFamily="34" charset="-127"/>
                <a:ea typeface="SamsungOneKoreanOTF 700" panose="020B0803030303020204" pitchFamily="34" charset="-127"/>
              </a:rPr>
              <a:t>–</a:t>
            </a:r>
            <a:r>
              <a:rPr lang="ko-KR" altLang="en-US" sz="3000" dirty="0">
                <a:latin typeface="SamsungOneKoreanOTF 700" panose="020B0803030303020204" pitchFamily="34" charset="-127"/>
                <a:ea typeface="SamsungOneKoreanOTF 700" panose="020B0803030303020204" pitchFamily="34" charset="-127"/>
              </a:rPr>
              <a:t> </a:t>
            </a:r>
            <a:r>
              <a:rPr lang="en-US" altLang="ko-KR" sz="3000" dirty="0">
                <a:latin typeface="SamsungOneKoreanOTF 700" panose="020B0803030303020204" pitchFamily="34" charset="-127"/>
                <a:ea typeface="SamsungOneKoreanOTF 700" panose="020B0803030303020204" pitchFamily="34" charset="-127"/>
              </a:rPr>
              <a:t>Network &amp;</a:t>
            </a:r>
            <a:r>
              <a:rPr lang="ko-KR" altLang="en-US" sz="3000" dirty="0">
                <a:latin typeface="SamsungOneKoreanOTF 700" panose="020B0803030303020204" pitchFamily="34" charset="-127"/>
                <a:ea typeface="SamsungOneKoreanOTF 700" panose="020B0803030303020204" pitchFamily="34" charset="-127"/>
              </a:rPr>
              <a:t> </a:t>
            </a:r>
            <a:r>
              <a:rPr lang="en-US" altLang="ko-KR" sz="3000" dirty="0">
                <a:latin typeface="SamsungOneKoreanOTF 700" panose="020B0803030303020204" pitchFamily="34" charset="-127"/>
                <a:ea typeface="SamsungOneKoreanOTF 700" panose="020B0803030303020204" pitchFamily="34" charset="-127"/>
              </a:rPr>
              <a:t>Connectivity</a:t>
            </a:r>
            <a:endParaRPr lang="en-US" sz="3000" dirty="0">
              <a:latin typeface="SamsungOneKoreanOTF 700" panose="020B0803030303020204" pitchFamily="34" charset="-127"/>
              <a:ea typeface="SamsungOneKoreanOTF 700" panose="020B0803030303020204" pitchFamily="34" charset="-127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8A47CA4-75EB-D54E-8DE3-5CF091FD16E9}"/>
              </a:ext>
            </a:extLst>
          </p:cNvPr>
          <p:cNvSpPr/>
          <p:nvPr/>
        </p:nvSpPr>
        <p:spPr>
          <a:xfrm>
            <a:off x="69669" y="1198712"/>
            <a:ext cx="12026537" cy="534031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FB01C5-6BDC-A94F-9CD3-E6704CDC0C82}"/>
              </a:ext>
            </a:extLst>
          </p:cNvPr>
          <p:cNvSpPr txBox="1"/>
          <p:nvPr/>
        </p:nvSpPr>
        <p:spPr>
          <a:xfrm>
            <a:off x="296008" y="736056"/>
            <a:ext cx="11643946" cy="317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/>
              <a:t>멀티 클라우드 </a:t>
            </a:r>
            <a:r>
              <a:rPr lang="en-US" altLang="ko-KR" sz="1400" b="1"/>
              <a:t>&amp;</a:t>
            </a:r>
            <a:r>
              <a:rPr lang="ko-KR" altLang="en-US" sz="1400" b="1"/>
              <a:t> 하이브리드 네트워크 연결 상태</a:t>
            </a:r>
            <a:r>
              <a:rPr lang="en-US" altLang="ko-KR" sz="1400" b="1"/>
              <a:t> (</a:t>
            </a:r>
            <a:r>
              <a:rPr lang="en-US" sz="1400" b="1"/>
              <a:t>AWS + GCP + Local VirtualBox </a:t>
            </a:r>
            <a:r>
              <a:rPr lang="ko-KR" altLang="en-US" sz="1400" b="1"/>
              <a:t>네트워크 및 </a:t>
            </a:r>
            <a:r>
              <a:rPr lang="en-US" sz="1400" b="1"/>
              <a:t>VM </a:t>
            </a:r>
            <a:r>
              <a:rPr lang="ko-KR" altLang="en-US" sz="1400" b="1"/>
              <a:t>상태 시각화</a:t>
            </a:r>
            <a:r>
              <a:rPr lang="en-US" altLang="ko-KR" sz="1400" b="1"/>
              <a:t>)</a:t>
            </a:r>
            <a:endParaRPr lang="en-KR" sz="14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3F7005-0CE2-8F48-AB72-49BD2965E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113239"/>
              </p:ext>
            </p:extLst>
          </p:nvPr>
        </p:nvGraphicFramePr>
        <p:xfrm>
          <a:off x="4849092" y="1670594"/>
          <a:ext cx="2660074" cy="1371600"/>
        </p:xfrm>
        <a:graphic>
          <a:graphicData uri="http://schemas.openxmlformats.org/drawingml/2006/table">
            <a:tbl>
              <a:tblPr/>
              <a:tblGrid>
                <a:gridCol w="1330037">
                  <a:extLst>
                    <a:ext uri="{9D8B030D-6E8A-4147-A177-3AD203B41FA5}">
                      <a16:colId xmlns:a16="http://schemas.microsoft.com/office/drawing/2014/main" val="417705323"/>
                    </a:ext>
                  </a:extLst>
                </a:gridCol>
                <a:gridCol w="1330037">
                  <a:extLst>
                    <a:ext uri="{9D8B030D-6E8A-4147-A177-3AD203B41FA5}">
                      <a16:colId xmlns:a16="http://schemas.microsoft.com/office/drawing/2014/main" val="28334180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789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VM </a:t>
                      </a:r>
                      <a:r>
                        <a:rPr lang="ko-KR" altLang="en-US" sz="1200"/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VM1/VM2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9389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Redis Local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테스트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1901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Local MySQL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테스트 </a:t>
                      </a:r>
                      <a:r>
                        <a:rPr lang="en-US" sz="1200"/>
                        <a:t>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175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Flask/FastAPI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API </a:t>
                      </a:r>
                      <a:r>
                        <a:rPr lang="ko-KR" altLang="en-US" sz="1200" dirty="0"/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1736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0A8943-F32F-0242-A572-F9D24C776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516444"/>
              </p:ext>
            </p:extLst>
          </p:nvPr>
        </p:nvGraphicFramePr>
        <p:xfrm>
          <a:off x="463062" y="1642611"/>
          <a:ext cx="4219774" cy="1920240"/>
        </p:xfrm>
        <a:graphic>
          <a:graphicData uri="http://schemas.openxmlformats.org/drawingml/2006/table">
            <a:tbl>
              <a:tblPr/>
              <a:tblGrid>
                <a:gridCol w="2109887">
                  <a:extLst>
                    <a:ext uri="{9D8B030D-6E8A-4147-A177-3AD203B41FA5}">
                      <a16:colId xmlns:a16="http://schemas.microsoft.com/office/drawing/2014/main" val="3119813154"/>
                    </a:ext>
                  </a:extLst>
                </a:gridCol>
                <a:gridCol w="2109887">
                  <a:extLst>
                    <a:ext uri="{9D8B030D-6E8A-4147-A177-3AD203B41FA5}">
                      <a16:colId xmlns:a16="http://schemas.microsoft.com/office/drawing/2014/main" val="38960347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191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Transit Gateway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AWS </a:t>
                      </a:r>
                      <a:r>
                        <a:rPr lang="ko-KR" altLang="en-US" sz="1200"/>
                        <a:t>연결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5871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Site-to-Site VPN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AWS↔GCP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5295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VPC </a:t>
                      </a:r>
                      <a:r>
                        <a:rPr lang="ko-KR" altLang="en-US" sz="1200"/>
                        <a:t>연결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568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Routing </a:t>
                      </a:r>
                      <a:r>
                        <a:rPr lang="ko-KR" altLang="en-US" sz="1200"/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TGW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9526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VPN Tunnel </a:t>
                      </a:r>
                      <a:r>
                        <a:rPr lang="ko-KR" altLang="en-US" sz="1200"/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UP/DOWN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69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Traffic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네트워크 흐름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40142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3792C85-A921-FE4A-8C2D-39D6DB414164}"/>
              </a:ext>
            </a:extLst>
          </p:cNvPr>
          <p:cNvSpPr txBox="1"/>
          <p:nvPr/>
        </p:nvSpPr>
        <p:spPr>
          <a:xfrm>
            <a:off x="463062" y="3896094"/>
            <a:ext cx="257907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/>
              <a:t>Group VM Dashboard</a:t>
            </a:r>
            <a:endParaRPr lang="en-KR" sz="1300" b="1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67932B1-5316-B945-B8D5-83506D70F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684264"/>
              </p:ext>
            </p:extLst>
          </p:nvPr>
        </p:nvGraphicFramePr>
        <p:xfrm>
          <a:off x="463062" y="4188482"/>
          <a:ext cx="3139858" cy="1371600"/>
        </p:xfrm>
        <a:graphic>
          <a:graphicData uri="http://schemas.openxmlformats.org/drawingml/2006/table">
            <a:tbl>
              <a:tblPr/>
              <a:tblGrid>
                <a:gridCol w="1569929">
                  <a:extLst>
                    <a:ext uri="{9D8B030D-6E8A-4147-A177-3AD203B41FA5}">
                      <a16:colId xmlns:a16="http://schemas.microsoft.com/office/drawing/2014/main" val="253274704"/>
                    </a:ext>
                  </a:extLst>
                </a:gridCol>
                <a:gridCol w="1569929">
                  <a:extLst>
                    <a:ext uri="{9D8B030D-6E8A-4147-A177-3AD203B41FA5}">
                      <a16:colId xmlns:a16="http://schemas.microsoft.com/office/drawing/2014/main" val="2434689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531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VM </a:t>
                      </a:r>
                      <a:r>
                        <a:rPr lang="ko-KR" altLang="en-US" sz="1200"/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Running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9313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CPU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사용률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3083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Memory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사용량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7141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추천 </a:t>
                      </a:r>
                      <a:r>
                        <a:rPr lang="en-US" sz="1200"/>
                        <a:t>API </a:t>
                      </a:r>
                      <a:r>
                        <a:rPr lang="ko-KR" altLang="en-US" sz="1200"/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29600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11B08F9-D7D5-5F47-9275-0637C3FF70D3}"/>
              </a:ext>
            </a:extLst>
          </p:cNvPr>
          <p:cNvSpPr txBox="1"/>
          <p:nvPr/>
        </p:nvSpPr>
        <p:spPr>
          <a:xfrm>
            <a:off x="4078647" y="3896094"/>
            <a:ext cx="262596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/>
              <a:t>Wearable VM Dashboard</a:t>
            </a:r>
            <a:endParaRPr lang="en-KR" sz="1300" b="1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CBD4FED-B9F2-6646-9B84-0EF01B75D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835501"/>
              </p:ext>
            </p:extLst>
          </p:nvPr>
        </p:nvGraphicFramePr>
        <p:xfrm>
          <a:off x="4078645" y="4333995"/>
          <a:ext cx="3396274" cy="1920240"/>
        </p:xfrm>
        <a:graphic>
          <a:graphicData uri="http://schemas.openxmlformats.org/drawingml/2006/table">
            <a:tbl>
              <a:tblPr/>
              <a:tblGrid>
                <a:gridCol w="1698137">
                  <a:extLst>
                    <a:ext uri="{9D8B030D-6E8A-4147-A177-3AD203B41FA5}">
                      <a16:colId xmlns:a16="http://schemas.microsoft.com/office/drawing/2014/main" val="3588573328"/>
                    </a:ext>
                  </a:extLst>
                </a:gridCol>
                <a:gridCol w="1698137">
                  <a:extLst>
                    <a:ext uri="{9D8B030D-6E8A-4147-A177-3AD203B41FA5}">
                      <a16:colId xmlns:a16="http://schemas.microsoft.com/office/drawing/2014/main" val="408319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905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심박수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실시간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2525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혈압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실시간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0635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산소포화도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실시간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4019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운동량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실시간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0120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이상 이벤트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Alert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949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데이터 송신 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952630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FF861C4-DEAD-DD43-AA97-81261B3CA93E}"/>
              </a:ext>
            </a:extLst>
          </p:cNvPr>
          <p:cNvSpPr txBox="1"/>
          <p:nvPr/>
        </p:nvSpPr>
        <p:spPr>
          <a:xfrm>
            <a:off x="4766213" y="1288575"/>
            <a:ext cx="339627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/>
              <a:t>Legacy System Dashboard</a:t>
            </a:r>
            <a:endParaRPr lang="en-KR" sz="13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43A385-658C-CA43-A9C0-7FA0D8410FB4}"/>
              </a:ext>
            </a:extLst>
          </p:cNvPr>
          <p:cNvSpPr txBox="1"/>
          <p:nvPr/>
        </p:nvSpPr>
        <p:spPr>
          <a:xfrm>
            <a:off x="9814974" y="1519739"/>
            <a:ext cx="19139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200"/>
              <a:t>[ AWS Connectivity ]</a:t>
            </a:r>
          </a:p>
          <a:p>
            <a:r>
              <a:rPr lang="en-KR" sz="1200"/>
              <a:t>- Transit Gateway</a:t>
            </a:r>
          </a:p>
          <a:p>
            <a:r>
              <a:rPr lang="en-KR" sz="1200"/>
              <a:t>- VPN Tunnel</a:t>
            </a:r>
          </a:p>
          <a:p>
            <a:endParaRPr lang="en-KR" sz="1200"/>
          </a:p>
          <a:p>
            <a:r>
              <a:rPr lang="en-KR" sz="1200"/>
              <a:t>[ VM Status ]</a:t>
            </a:r>
          </a:p>
          <a:p>
            <a:r>
              <a:rPr lang="en-KR" sz="1200"/>
              <a:t>- Group VM</a:t>
            </a:r>
          </a:p>
          <a:p>
            <a:r>
              <a:rPr lang="en-KR" sz="1200"/>
              <a:t>- Wearable VM</a:t>
            </a:r>
          </a:p>
          <a:p>
            <a:endParaRPr lang="en-KR" sz="1200"/>
          </a:p>
          <a:p>
            <a:r>
              <a:rPr lang="en-KR" sz="1200"/>
              <a:t>[ Local Lab ]</a:t>
            </a:r>
          </a:p>
          <a:p>
            <a:r>
              <a:rPr lang="en-KR" sz="1200"/>
              <a:t>- VirtualBox</a:t>
            </a:r>
          </a:p>
          <a:p>
            <a:r>
              <a:rPr lang="en-KR" sz="1200"/>
              <a:t>- Docker</a:t>
            </a:r>
          </a:p>
          <a:p>
            <a:r>
              <a:rPr lang="en-KR" sz="1200"/>
              <a:t>- Kubernetes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3AB975-E7B3-C745-A938-BFB1FD537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180080"/>
              </p:ext>
            </p:extLst>
          </p:nvPr>
        </p:nvGraphicFramePr>
        <p:xfrm>
          <a:off x="8049802" y="4310695"/>
          <a:ext cx="3776118" cy="1645920"/>
        </p:xfrm>
        <a:graphic>
          <a:graphicData uri="http://schemas.openxmlformats.org/drawingml/2006/table">
            <a:tbl>
              <a:tblPr/>
              <a:tblGrid>
                <a:gridCol w="1888059">
                  <a:extLst>
                    <a:ext uri="{9D8B030D-6E8A-4147-A177-3AD203B41FA5}">
                      <a16:colId xmlns:a16="http://schemas.microsoft.com/office/drawing/2014/main" val="2669837740"/>
                    </a:ext>
                  </a:extLst>
                </a:gridCol>
                <a:gridCol w="1888059">
                  <a:extLst>
                    <a:ext uri="{9D8B030D-6E8A-4147-A177-3AD203B41FA5}">
                      <a16:colId xmlns:a16="http://schemas.microsoft.com/office/drawing/2014/main" val="440316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845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/api/network/tgw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TGW </a:t>
                      </a:r>
                      <a:r>
                        <a:rPr lang="ko-KR" altLang="en-US" sz="1200"/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443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/api/network/vpn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VPN </a:t>
                      </a:r>
                      <a:r>
                        <a:rPr lang="ko-KR" altLang="en-US" sz="1200"/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7109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/api/vm/group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Group VM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92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/api/vm/wearable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Wearable VM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337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/api/local/status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VirtualBox </a:t>
                      </a:r>
                      <a:r>
                        <a:rPr lang="ko-KR" altLang="en-US" sz="1200" dirty="0"/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275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970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5953</TotalTime>
  <Words>655</Words>
  <Application>Microsoft Office PowerPoint</Application>
  <PresentationFormat>와이드스크린</PresentationFormat>
  <Paragraphs>255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SamsungOneKoreanOTF 700</vt:lpstr>
      <vt:lpstr>Arial</vt:lpstr>
      <vt:lpstr>Calibri</vt:lpstr>
      <vt:lpstr>Calibri Light</vt:lpstr>
      <vt:lpstr>Office Theme</vt:lpstr>
      <vt:lpstr>Lifesync 360 대시보드 – 전체 현황</vt:lpstr>
      <vt:lpstr>Lifesync 360 대시보드 – Customer 360 </vt:lpstr>
      <vt:lpstr>Lifesync 360 대시보드 – AI 추천 </vt:lpstr>
      <vt:lpstr>Lifesync 360 대시보드 – Network &amp; Connectivity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서비스별 워크플로우</dc:title>
  <dc:creator>Calvin Heo</dc:creator>
  <cp:lastModifiedBy>campus3 S026</cp:lastModifiedBy>
  <cp:revision>212</cp:revision>
  <dcterms:created xsi:type="dcterms:W3CDTF">2023-09-08T07:40:16Z</dcterms:created>
  <dcterms:modified xsi:type="dcterms:W3CDTF">2026-05-15T09:26:18Z</dcterms:modified>
</cp:coreProperties>
</file>