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</p:sldIdLst>
  <p:sldSz cy="6858000" cx="12192000"/>
  <p:notesSz cx="6858000" cy="9144000"/>
  <p:embeddedFontLst>
    <p:embeddedFont>
      <p:font typeface="Roboto"/>
      <p:regular r:id="rId105"/>
      <p:bold r:id="rId106"/>
      <p:italic r:id="rId107"/>
      <p:boldItalic r:id="rId108"/>
    </p:embeddedFont>
    <p:embeddedFont>
      <p:font typeface="Helvetica Neue"/>
      <p:regular r:id="rId109"/>
      <p:bold r:id="rId110"/>
      <p:italic r:id="rId111"/>
      <p:boldItalic r:id="rId112"/>
    </p:embeddedFont>
    <p:embeddedFont>
      <p:font typeface="Open Sans"/>
      <p:regular r:id="rId113"/>
      <p:bold r:id="rId114"/>
      <p:italic r:id="rId115"/>
      <p:boldItalic r:id="rId1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7" roundtripDataSignature="AMtx7mizNICqdZHxmyFgK0aByPzVfIG+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FB2459-1CD8-4063-B149-143C933E28A6}">
  <a:tblStyle styleId="{41FB2459-1CD8-4063-B149-143C933E28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font" Target="fonts/Roboto-italic.fntdata"/><Relationship Id="rId106" Type="http://schemas.openxmlformats.org/officeDocument/2006/relationships/font" Target="fonts/Roboto-bold.fntdata"/><Relationship Id="rId105" Type="http://schemas.openxmlformats.org/officeDocument/2006/relationships/font" Target="fonts/Roboto-regular.fntdata"/><Relationship Id="rId104" Type="http://schemas.openxmlformats.org/officeDocument/2006/relationships/slide" Target="slides/slide99.xml"/><Relationship Id="rId109" Type="http://schemas.openxmlformats.org/officeDocument/2006/relationships/font" Target="fonts/HelveticaNeue-regular.fntdata"/><Relationship Id="rId108" Type="http://schemas.openxmlformats.org/officeDocument/2006/relationships/font" Target="fonts/Roboto-boldItalic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7" Type="http://customschemas.google.com/relationships/presentationmetadata" Target="metadata"/><Relationship Id="rId116" Type="http://schemas.openxmlformats.org/officeDocument/2006/relationships/font" Target="fonts/OpenSans-boldItalic.fntdata"/><Relationship Id="rId115" Type="http://schemas.openxmlformats.org/officeDocument/2006/relationships/font" Target="fonts/OpenSans-italic.fntdata"/><Relationship Id="rId15" Type="http://schemas.openxmlformats.org/officeDocument/2006/relationships/slide" Target="slides/slide10.xml"/><Relationship Id="rId110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OpenSans-bold.fntdata"/><Relationship Id="rId18" Type="http://schemas.openxmlformats.org/officeDocument/2006/relationships/slide" Target="slides/slide13.xml"/><Relationship Id="rId113" Type="http://schemas.openxmlformats.org/officeDocument/2006/relationships/font" Target="fonts/OpenSans-regular.fntdata"/><Relationship Id="rId112" Type="http://schemas.openxmlformats.org/officeDocument/2006/relationships/font" Target="fonts/HelveticaNeue-boldItalic.fntdata"/><Relationship Id="rId111" Type="http://schemas.openxmlformats.org/officeDocument/2006/relationships/font" Target="fonts/HelveticaNeue-italic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2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5" name="Google Shape;925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2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2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6" name="Google Shape;1226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3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4" name="Google Shape;1344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3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8" name="Google Shape;1358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0" name="Google Shape;1370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3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7" name="Google Shape;1377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3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2" name="Google Shape;1392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3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8" name="Google Shape;1408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3" name="Google Shape;1423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3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6" name="Google Shape;1436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9" name="Google Shape;1449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9" name="Google Shape;1459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4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7" name="Google Shape;1467;p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4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5" name="Google Shape;1475;p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p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4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5" name="Google Shape;1545;p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4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4" name="Google Shape;1604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4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5" name="Google Shape;1665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4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5" name="Google Shape;1725;p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4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5" name="Google Shape;1785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2" name="Google Shape;1842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4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5" name="Google Shape;1935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5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8" name="Google Shape;1988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p5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1" name="Google Shape;2041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5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8" name="Google Shape;2098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5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3" name="Google Shape;2153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5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8" name="Google Shape;2208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5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4" name="Google Shape;2264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5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8" name="Google Shape;2318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p5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2" name="Google Shape;2372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p5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0" name="Google Shape;2450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5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3" name="Google Shape;2533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p6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2" name="Google Shape;2612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0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p6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2" name="Google Shape;2692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2" name="Shape 2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3" name="Google Shape;2773;p6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4" name="Google Shape;2774;p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6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Google Shape;2827;p6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8" name="Google Shape;2828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7" name="Shape 2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8" name="Google Shape;2878;p6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9" name="Google Shape;2879;p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6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7" name="Google Shape;2937;p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5" name="Shape 2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6" name="Google Shape;2996;p6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7" name="Google Shape;2997;p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0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p6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2" name="Google Shape;3012;p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6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3" name="Google Shape;3023;p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2" name="Shape 3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3" name="Google Shape;3043;p6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4" name="Google Shape;3044;p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3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p7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5" name="Google Shape;3065;p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9" name="Shape 3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Google Shape;3080;p7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1" name="Google Shape;3081;p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7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6" name="Google Shape;3096;p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7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0" name="Google Shape;3110;p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2" name="Shape 3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" name="Google Shape;3123;p7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4" name="Google Shape;3124;p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6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p7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8" name="Google Shape;3148;p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7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5" name="Google Shape;3165;p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p7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4" name="Google Shape;3184;p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2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p7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4" name="Google Shape;3204;p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7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2" name="Google Shape;3222;p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8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3" name="Google Shape;3243;p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1" name="Shape 3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Google Shape;3262;p8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3" name="Google Shape;3263;p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3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8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5" name="Google Shape;3285;p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8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5" name="Google Shape;3305;p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8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0" name="Google Shape;3320;p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2" name="Shape 3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3" name="Google Shape;3393;p8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4" name="Google Shape;3394;p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8" name="Shape 3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" name="Google Shape;3409;p8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0" name="Google Shape;3410;p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9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p8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1" name="Google Shape;3431;p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p8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2" name="Google Shape;3452;p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1" name="Shape 3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2" name="Google Shape;3472;p8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3" name="Google Shape;3473;p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7" name="Shape 3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8" name="Google Shape;3488;p9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9" name="Google Shape;3489;p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2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3" name="Google Shape;3503;p9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4" name="Google Shape;3504;p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8" name="Shape 3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9" name="Google Shape;3519;p9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0" name="Google Shape;3520;p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4" name="Shape 3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p9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6" name="Google Shape;3536;p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0" name="Shape 3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1" name="Google Shape;3551;p9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2" name="Google Shape;3552;p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6" name="Shape 3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7" name="Google Shape;3567;p9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8" name="Google Shape;3568;p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7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p9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9" name="Google Shape;3589;p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4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9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6" name="Google Shape;3606;p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1" name="Shape 3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2" name="Google Shape;3622;p9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3" name="Google Shape;3623;p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5" name="Shape 3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" name="Google Shape;3676;p9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7" name="Google Shape;3677;p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4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p10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6" name="Google Shape;3726;p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8" name="Shape 3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9" name="Google Shape;3739;p10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0" name="Google Shape;3740;p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0" name="Shape 3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1" name="Google Shape;3751;p10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2" name="Google Shape;3752;p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4" name="Shape 3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Google Shape;3765;p10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6" name="Google Shape;3766;p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9" name="Shape 3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0" name="Google Shape;3780;p10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1" name="Google Shape;3781;p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2" name="Shape 3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" name="Google Shape;3793;p10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4" name="Google Shape;3794;p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5" name="Shape 3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6" name="Google Shape;3806;p106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7" name="Google Shape;3807;p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9" name="Shape 3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Google Shape;3820;p107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1" name="Google Shape;3821;p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4" name="Shape 3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5" name="Google Shape;3835;p108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6" name="Google Shape;3836;p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9" name="Shape 3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" name="Google Shape;3850;p109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1" name="Google Shape;3851;p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4" name="Shape 3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5" name="Google Shape;3865;p110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6" name="Google Shape;3866;p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0" name="Shape 3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1" name="Google Shape;3881;p111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2" name="Google Shape;3882;p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5" name="Shape 3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6" name="Google Shape;3896;p112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7" name="Google Shape;3897;p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7" name="Shape 3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8" name="Google Shape;3928;p113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9" name="Google Shape;3929;p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p114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1" name="Google Shape;3941;p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4" name="Shape 3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" name="Google Shape;3995;p115:notes"/>
          <p:cNvSpPr/>
          <p:nvPr>
            <p:ph idx="2" type="sldImg"/>
          </p:nvPr>
        </p:nvSpPr>
        <p:spPr>
          <a:xfrm>
            <a:off x="5753100" y="654050"/>
            <a:ext cx="3136900" cy="1765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6" name="Google Shape;3996;p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hort Band: Text and Bullets" showMasterSp="0">
  <p:cSld name="Content Short Band: Text and Bulle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40" Type="http://schemas.openxmlformats.org/officeDocument/2006/relationships/image" Target="../media/image33.png"/><Relationship Id="rId20" Type="http://schemas.openxmlformats.org/officeDocument/2006/relationships/image" Target="../media/image35.png"/><Relationship Id="rId42" Type="http://schemas.openxmlformats.org/officeDocument/2006/relationships/image" Target="../media/image34.png"/><Relationship Id="rId41" Type="http://schemas.openxmlformats.org/officeDocument/2006/relationships/image" Target="../media/image32.png"/><Relationship Id="rId22" Type="http://schemas.openxmlformats.org/officeDocument/2006/relationships/image" Target="../media/image60.png"/><Relationship Id="rId21" Type="http://schemas.openxmlformats.org/officeDocument/2006/relationships/image" Target="../media/image21.png"/><Relationship Id="rId43" Type="http://schemas.openxmlformats.org/officeDocument/2006/relationships/image" Target="../media/image38.png"/><Relationship Id="rId24" Type="http://schemas.openxmlformats.org/officeDocument/2006/relationships/image" Target="../media/image18.png"/><Relationship Id="rId23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jpg"/><Relationship Id="rId4" Type="http://schemas.openxmlformats.org/officeDocument/2006/relationships/image" Target="../media/image12.png"/><Relationship Id="rId9" Type="http://schemas.openxmlformats.org/officeDocument/2006/relationships/image" Target="../media/image2.png"/><Relationship Id="rId26" Type="http://schemas.openxmlformats.org/officeDocument/2006/relationships/image" Target="../media/image17.png"/><Relationship Id="rId25" Type="http://schemas.openxmlformats.org/officeDocument/2006/relationships/image" Target="../media/image19.png"/><Relationship Id="rId28" Type="http://schemas.openxmlformats.org/officeDocument/2006/relationships/image" Target="../media/image25.png"/><Relationship Id="rId27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29" Type="http://schemas.openxmlformats.org/officeDocument/2006/relationships/image" Target="../media/image23.png"/><Relationship Id="rId7" Type="http://schemas.openxmlformats.org/officeDocument/2006/relationships/image" Target="../media/image3.png"/><Relationship Id="rId8" Type="http://schemas.openxmlformats.org/officeDocument/2006/relationships/image" Target="../media/image8.png"/><Relationship Id="rId31" Type="http://schemas.openxmlformats.org/officeDocument/2006/relationships/image" Target="../media/image26.png"/><Relationship Id="rId30" Type="http://schemas.openxmlformats.org/officeDocument/2006/relationships/image" Target="../media/image37.png"/><Relationship Id="rId11" Type="http://schemas.openxmlformats.org/officeDocument/2006/relationships/image" Target="../media/image9.png"/><Relationship Id="rId33" Type="http://schemas.openxmlformats.org/officeDocument/2006/relationships/image" Target="../media/image44.png"/><Relationship Id="rId10" Type="http://schemas.openxmlformats.org/officeDocument/2006/relationships/image" Target="../media/image4.png"/><Relationship Id="rId32" Type="http://schemas.openxmlformats.org/officeDocument/2006/relationships/image" Target="../media/image28.png"/><Relationship Id="rId13" Type="http://schemas.openxmlformats.org/officeDocument/2006/relationships/image" Target="../media/image13.png"/><Relationship Id="rId35" Type="http://schemas.openxmlformats.org/officeDocument/2006/relationships/image" Target="../media/image52.png"/><Relationship Id="rId12" Type="http://schemas.openxmlformats.org/officeDocument/2006/relationships/image" Target="../media/image1.png"/><Relationship Id="rId34" Type="http://schemas.openxmlformats.org/officeDocument/2006/relationships/image" Target="../media/image27.png"/><Relationship Id="rId15" Type="http://schemas.openxmlformats.org/officeDocument/2006/relationships/image" Target="../media/image10.png"/><Relationship Id="rId37" Type="http://schemas.openxmlformats.org/officeDocument/2006/relationships/image" Target="../media/image30.png"/><Relationship Id="rId14" Type="http://schemas.openxmlformats.org/officeDocument/2006/relationships/image" Target="../media/image11.png"/><Relationship Id="rId36" Type="http://schemas.openxmlformats.org/officeDocument/2006/relationships/image" Target="../media/image29.png"/><Relationship Id="rId17" Type="http://schemas.openxmlformats.org/officeDocument/2006/relationships/image" Target="../media/image5.png"/><Relationship Id="rId39" Type="http://schemas.openxmlformats.org/officeDocument/2006/relationships/image" Target="../media/image47.png"/><Relationship Id="rId16" Type="http://schemas.openxmlformats.org/officeDocument/2006/relationships/image" Target="../media/image6.png"/><Relationship Id="rId38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40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49.png"/><Relationship Id="rId21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png"/><Relationship Id="rId4" Type="http://schemas.openxmlformats.org/officeDocument/2006/relationships/image" Target="../media/image56.png"/><Relationship Id="rId9" Type="http://schemas.openxmlformats.org/officeDocument/2006/relationships/image" Target="../media/image39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22.jpg"/><Relationship Id="rId11" Type="http://schemas.openxmlformats.org/officeDocument/2006/relationships/image" Target="../media/image45.png"/><Relationship Id="rId10" Type="http://schemas.openxmlformats.org/officeDocument/2006/relationships/image" Target="../media/image48.png"/><Relationship Id="rId13" Type="http://schemas.openxmlformats.org/officeDocument/2006/relationships/image" Target="../media/image54.png"/><Relationship Id="rId12" Type="http://schemas.openxmlformats.org/officeDocument/2006/relationships/image" Target="../media/image42.png"/><Relationship Id="rId15" Type="http://schemas.openxmlformats.org/officeDocument/2006/relationships/image" Target="../media/image41.png"/><Relationship Id="rId14" Type="http://schemas.openxmlformats.org/officeDocument/2006/relationships/image" Target="../media/image61.png"/><Relationship Id="rId17" Type="http://schemas.openxmlformats.org/officeDocument/2006/relationships/image" Target="../media/image43.png"/><Relationship Id="rId16" Type="http://schemas.openxmlformats.org/officeDocument/2006/relationships/image" Target="../media/image59.png"/><Relationship Id="rId19" Type="http://schemas.openxmlformats.org/officeDocument/2006/relationships/image" Target="../media/image46.png"/><Relationship Id="rId18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5.png"/><Relationship Id="rId22" Type="http://schemas.openxmlformats.org/officeDocument/2006/relationships/image" Target="../media/image38.png"/><Relationship Id="rId21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4.png"/><Relationship Id="rId11" Type="http://schemas.openxmlformats.org/officeDocument/2006/relationships/image" Target="../media/image19.png"/><Relationship Id="rId10" Type="http://schemas.openxmlformats.org/officeDocument/2006/relationships/image" Target="../media/image1.png"/><Relationship Id="rId13" Type="http://schemas.openxmlformats.org/officeDocument/2006/relationships/image" Target="../media/image22.jpg"/><Relationship Id="rId12" Type="http://schemas.openxmlformats.org/officeDocument/2006/relationships/image" Target="../media/image17.png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7" Type="http://schemas.openxmlformats.org/officeDocument/2006/relationships/image" Target="../media/image36.png"/><Relationship Id="rId16" Type="http://schemas.openxmlformats.org/officeDocument/2006/relationships/image" Target="../media/image51.png"/><Relationship Id="rId19" Type="http://schemas.openxmlformats.org/officeDocument/2006/relationships/image" Target="../media/image33.png"/><Relationship Id="rId18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3.png"/><Relationship Id="rId22" Type="http://schemas.openxmlformats.org/officeDocument/2006/relationships/image" Target="../media/image34.png"/><Relationship Id="rId21" Type="http://schemas.openxmlformats.org/officeDocument/2006/relationships/image" Target="../media/image62.png"/><Relationship Id="rId23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57.png"/><Relationship Id="rId9" Type="http://schemas.openxmlformats.org/officeDocument/2006/relationships/image" Target="../media/image2.png"/><Relationship Id="rId5" Type="http://schemas.openxmlformats.org/officeDocument/2006/relationships/image" Target="../media/image55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11" Type="http://schemas.openxmlformats.org/officeDocument/2006/relationships/image" Target="../media/image9.png"/><Relationship Id="rId10" Type="http://schemas.openxmlformats.org/officeDocument/2006/relationships/image" Target="../media/image4.png"/><Relationship Id="rId13" Type="http://schemas.openxmlformats.org/officeDocument/2006/relationships/image" Target="../media/image19.png"/><Relationship Id="rId12" Type="http://schemas.openxmlformats.org/officeDocument/2006/relationships/image" Target="../media/image1.png"/><Relationship Id="rId15" Type="http://schemas.openxmlformats.org/officeDocument/2006/relationships/image" Target="../media/image18.png"/><Relationship Id="rId14" Type="http://schemas.openxmlformats.org/officeDocument/2006/relationships/image" Target="../media/image26.png"/><Relationship Id="rId17" Type="http://schemas.openxmlformats.org/officeDocument/2006/relationships/image" Target="../media/image29.png"/><Relationship Id="rId16" Type="http://schemas.openxmlformats.org/officeDocument/2006/relationships/image" Target="../media/image20.png"/><Relationship Id="rId19" Type="http://schemas.openxmlformats.org/officeDocument/2006/relationships/image" Target="../media/image13.png"/><Relationship Id="rId1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22" Type="http://schemas.openxmlformats.org/officeDocument/2006/relationships/image" Target="../media/image62.png"/><Relationship Id="rId21" Type="http://schemas.openxmlformats.org/officeDocument/2006/relationships/image" Target="../media/image53.png"/><Relationship Id="rId24" Type="http://schemas.openxmlformats.org/officeDocument/2006/relationships/image" Target="../media/image13.png"/><Relationship Id="rId23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40.png"/><Relationship Id="rId26" Type="http://schemas.openxmlformats.org/officeDocument/2006/relationships/image" Target="../media/image10.png"/><Relationship Id="rId25" Type="http://schemas.openxmlformats.org/officeDocument/2006/relationships/image" Target="../media/image11.png"/><Relationship Id="rId28" Type="http://schemas.openxmlformats.org/officeDocument/2006/relationships/image" Target="../media/image21.png"/><Relationship Id="rId27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11" Type="http://schemas.openxmlformats.org/officeDocument/2006/relationships/image" Target="../media/image50.png"/><Relationship Id="rId10" Type="http://schemas.openxmlformats.org/officeDocument/2006/relationships/image" Target="../media/image60.png"/><Relationship Id="rId13" Type="http://schemas.openxmlformats.org/officeDocument/2006/relationships/image" Target="../media/image20.png"/><Relationship Id="rId12" Type="http://schemas.openxmlformats.org/officeDocument/2006/relationships/image" Target="../media/image22.jpg"/><Relationship Id="rId15" Type="http://schemas.openxmlformats.org/officeDocument/2006/relationships/image" Target="../media/image37.png"/><Relationship Id="rId14" Type="http://schemas.openxmlformats.org/officeDocument/2006/relationships/image" Target="../media/image1.png"/><Relationship Id="rId17" Type="http://schemas.openxmlformats.org/officeDocument/2006/relationships/image" Target="../media/image28.png"/><Relationship Id="rId16" Type="http://schemas.openxmlformats.org/officeDocument/2006/relationships/image" Target="../media/image26.png"/><Relationship Id="rId19" Type="http://schemas.openxmlformats.org/officeDocument/2006/relationships/image" Target="../media/image58.png"/><Relationship Id="rId18" Type="http://schemas.openxmlformats.org/officeDocument/2006/relationships/image" Target="../media/image57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55.png"/><Relationship Id="rId22" Type="http://schemas.openxmlformats.org/officeDocument/2006/relationships/image" Target="../media/image13.png"/><Relationship Id="rId21" Type="http://schemas.openxmlformats.org/officeDocument/2006/relationships/image" Target="../media/image29.png"/><Relationship Id="rId24" Type="http://schemas.openxmlformats.org/officeDocument/2006/relationships/image" Target="../media/image40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22.jpg"/><Relationship Id="rId26" Type="http://schemas.openxmlformats.org/officeDocument/2006/relationships/image" Target="../media/image37.png"/><Relationship Id="rId25" Type="http://schemas.openxmlformats.org/officeDocument/2006/relationships/image" Target="../media/image50.png"/><Relationship Id="rId28" Type="http://schemas.openxmlformats.org/officeDocument/2006/relationships/image" Target="../media/image6.png"/><Relationship Id="rId27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2.png"/><Relationship Id="rId13" Type="http://schemas.openxmlformats.org/officeDocument/2006/relationships/image" Target="../media/image4.png"/><Relationship Id="rId12" Type="http://schemas.openxmlformats.org/officeDocument/2006/relationships/image" Target="../media/image60.png"/><Relationship Id="rId15" Type="http://schemas.openxmlformats.org/officeDocument/2006/relationships/image" Target="../media/image57.png"/><Relationship Id="rId14" Type="http://schemas.openxmlformats.org/officeDocument/2006/relationships/image" Target="../media/image26.png"/><Relationship Id="rId17" Type="http://schemas.openxmlformats.org/officeDocument/2006/relationships/image" Target="../media/image18.png"/><Relationship Id="rId16" Type="http://schemas.openxmlformats.org/officeDocument/2006/relationships/image" Target="../media/image58.png"/><Relationship Id="rId19" Type="http://schemas.openxmlformats.org/officeDocument/2006/relationships/image" Target="../media/image62.png"/><Relationship Id="rId18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22" Type="http://schemas.openxmlformats.org/officeDocument/2006/relationships/image" Target="../media/image13.png"/><Relationship Id="rId21" Type="http://schemas.openxmlformats.org/officeDocument/2006/relationships/image" Target="../media/image21.png"/><Relationship Id="rId24" Type="http://schemas.openxmlformats.org/officeDocument/2006/relationships/image" Target="../media/image40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Relationship Id="rId26" Type="http://schemas.openxmlformats.org/officeDocument/2006/relationships/image" Target="../media/image37.png"/><Relationship Id="rId25" Type="http://schemas.openxmlformats.org/officeDocument/2006/relationships/image" Target="../media/image50.png"/><Relationship Id="rId28" Type="http://schemas.openxmlformats.org/officeDocument/2006/relationships/image" Target="../media/image6.png"/><Relationship Id="rId27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2.jpg"/><Relationship Id="rId8" Type="http://schemas.openxmlformats.org/officeDocument/2006/relationships/image" Target="../media/image2.png"/><Relationship Id="rId11" Type="http://schemas.openxmlformats.org/officeDocument/2006/relationships/image" Target="../media/image60.png"/><Relationship Id="rId10" Type="http://schemas.openxmlformats.org/officeDocument/2006/relationships/image" Target="../media/image20.png"/><Relationship Id="rId13" Type="http://schemas.openxmlformats.org/officeDocument/2006/relationships/image" Target="../media/image26.png"/><Relationship Id="rId12" Type="http://schemas.openxmlformats.org/officeDocument/2006/relationships/image" Target="../media/image4.png"/><Relationship Id="rId15" Type="http://schemas.openxmlformats.org/officeDocument/2006/relationships/image" Target="../media/image58.png"/><Relationship Id="rId14" Type="http://schemas.openxmlformats.org/officeDocument/2006/relationships/image" Target="../media/image57.png"/><Relationship Id="rId17" Type="http://schemas.openxmlformats.org/officeDocument/2006/relationships/image" Target="../media/image53.png"/><Relationship Id="rId16" Type="http://schemas.openxmlformats.org/officeDocument/2006/relationships/image" Target="../media/image18.png"/><Relationship Id="rId19" Type="http://schemas.openxmlformats.org/officeDocument/2006/relationships/image" Target="../media/image55.png"/><Relationship Id="rId18" Type="http://schemas.openxmlformats.org/officeDocument/2006/relationships/image" Target="../media/image6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55.png"/><Relationship Id="rId8" Type="http://schemas.openxmlformats.org/officeDocument/2006/relationships/image" Target="../media/image31.png"/><Relationship Id="rId11" Type="http://schemas.openxmlformats.org/officeDocument/2006/relationships/image" Target="../media/image60.png"/><Relationship Id="rId10" Type="http://schemas.openxmlformats.org/officeDocument/2006/relationships/image" Target="../media/image1.png"/><Relationship Id="rId13" Type="http://schemas.openxmlformats.org/officeDocument/2006/relationships/image" Target="../media/image34.png"/><Relationship Id="rId12" Type="http://schemas.openxmlformats.org/officeDocument/2006/relationships/image" Target="../media/image30.png"/><Relationship Id="rId15" Type="http://schemas.openxmlformats.org/officeDocument/2006/relationships/image" Target="../media/image17.png"/><Relationship Id="rId14" Type="http://schemas.openxmlformats.org/officeDocument/2006/relationships/image" Target="../media/image20.png"/><Relationship Id="rId16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22" Type="http://schemas.openxmlformats.org/officeDocument/2006/relationships/image" Target="../media/image55.png"/><Relationship Id="rId21" Type="http://schemas.openxmlformats.org/officeDocument/2006/relationships/image" Target="../media/image62.png"/><Relationship Id="rId24" Type="http://schemas.openxmlformats.org/officeDocument/2006/relationships/image" Target="../media/image21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26" Type="http://schemas.openxmlformats.org/officeDocument/2006/relationships/image" Target="../media/image13.png"/><Relationship Id="rId25" Type="http://schemas.openxmlformats.org/officeDocument/2006/relationships/image" Target="../media/image63.png"/><Relationship Id="rId28" Type="http://schemas.openxmlformats.org/officeDocument/2006/relationships/image" Target="../media/image6.png"/><Relationship Id="rId27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png"/><Relationship Id="rId11" Type="http://schemas.openxmlformats.org/officeDocument/2006/relationships/image" Target="../media/image60.png"/><Relationship Id="rId10" Type="http://schemas.openxmlformats.org/officeDocument/2006/relationships/image" Target="../media/image40.png"/><Relationship Id="rId13" Type="http://schemas.openxmlformats.org/officeDocument/2006/relationships/image" Target="../media/image22.jpg"/><Relationship Id="rId12" Type="http://schemas.openxmlformats.org/officeDocument/2006/relationships/image" Target="../media/image50.png"/><Relationship Id="rId15" Type="http://schemas.openxmlformats.org/officeDocument/2006/relationships/image" Target="../media/image20.png"/><Relationship Id="rId14" Type="http://schemas.openxmlformats.org/officeDocument/2006/relationships/image" Target="../media/image1.png"/><Relationship Id="rId17" Type="http://schemas.openxmlformats.org/officeDocument/2006/relationships/image" Target="../media/image26.png"/><Relationship Id="rId16" Type="http://schemas.openxmlformats.org/officeDocument/2006/relationships/image" Target="../media/image37.png"/><Relationship Id="rId19" Type="http://schemas.openxmlformats.org/officeDocument/2006/relationships/image" Target="../media/image58.png"/><Relationship Id="rId18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1.png"/><Relationship Id="rId21" Type="http://schemas.openxmlformats.org/officeDocument/2006/relationships/image" Target="../media/image35.png"/><Relationship Id="rId24" Type="http://schemas.openxmlformats.org/officeDocument/2006/relationships/image" Target="../media/image40.png"/><Relationship Id="rId2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2.png"/><Relationship Id="rId26" Type="http://schemas.openxmlformats.org/officeDocument/2006/relationships/image" Target="../media/image37.png"/><Relationship Id="rId25" Type="http://schemas.openxmlformats.org/officeDocument/2006/relationships/image" Target="../media/image50.png"/><Relationship Id="rId28" Type="http://schemas.openxmlformats.org/officeDocument/2006/relationships/image" Target="../media/image6.png"/><Relationship Id="rId27" Type="http://schemas.openxmlformats.org/officeDocument/2006/relationships/image" Target="../media/image11.png"/><Relationship Id="rId5" Type="http://schemas.openxmlformats.org/officeDocument/2006/relationships/image" Target="../media/image22.jpg"/><Relationship Id="rId6" Type="http://schemas.openxmlformats.org/officeDocument/2006/relationships/image" Target="../media/image20.png"/><Relationship Id="rId7" Type="http://schemas.openxmlformats.org/officeDocument/2006/relationships/image" Target="../media/image60.png"/><Relationship Id="rId8" Type="http://schemas.openxmlformats.org/officeDocument/2006/relationships/image" Target="../media/image8.png"/><Relationship Id="rId11" Type="http://schemas.openxmlformats.org/officeDocument/2006/relationships/image" Target="../media/image26.png"/><Relationship Id="rId10" Type="http://schemas.openxmlformats.org/officeDocument/2006/relationships/image" Target="../media/image4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5" Type="http://schemas.openxmlformats.org/officeDocument/2006/relationships/image" Target="../media/image62.png"/><Relationship Id="rId14" Type="http://schemas.openxmlformats.org/officeDocument/2006/relationships/image" Target="../media/image18.png"/><Relationship Id="rId17" Type="http://schemas.openxmlformats.org/officeDocument/2006/relationships/image" Target="../media/image29.png"/><Relationship Id="rId16" Type="http://schemas.openxmlformats.org/officeDocument/2006/relationships/image" Target="../media/image55.png"/><Relationship Id="rId19" Type="http://schemas.openxmlformats.org/officeDocument/2006/relationships/image" Target="../media/image13.png"/><Relationship Id="rId18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11" Type="http://schemas.openxmlformats.org/officeDocument/2006/relationships/image" Target="../media/image22.jpg"/><Relationship Id="rId10" Type="http://schemas.openxmlformats.org/officeDocument/2006/relationships/image" Target="../media/image35.png"/><Relationship Id="rId13" Type="http://schemas.openxmlformats.org/officeDocument/2006/relationships/image" Target="../media/image36.png"/><Relationship Id="rId12" Type="http://schemas.openxmlformats.org/officeDocument/2006/relationships/image" Target="../media/image52.png"/><Relationship Id="rId15" Type="http://schemas.openxmlformats.org/officeDocument/2006/relationships/image" Target="../media/image54.png"/><Relationship Id="rId14" Type="http://schemas.openxmlformats.org/officeDocument/2006/relationships/image" Target="../media/image56.png"/><Relationship Id="rId17" Type="http://schemas.openxmlformats.org/officeDocument/2006/relationships/image" Target="../media/image48.png"/><Relationship Id="rId16" Type="http://schemas.openxmlformats.org/officeDocument/2006/relationships/image" Target="../media/image61.png"/><Relationship Id="rId19" Type="http://schemas.openxmlformats.org/officeDocument/2006/relationships/image" Target="../media/image34.png"/><Relationship Id="rId18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6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40.png"/><Relationship Id="rId11" Type="http://schemas.openxmlformats.org/officeDocument/2006/relationships/image" Target="../media/image1.png"/><Relationship Id="rId10" Type="http://schemas.openxmlformats.org/officeDocument/2006/relationships/image" Target="../media/image50.png"/><Relationship Id="rId13" Type="http://schemas.openxmlformats.org/officeDocument/2006/relationships/image" Target="../media/image3.png"/><Relationship Id="rId12" Type="http://schemas.openxmlformats.org/officeDocument/2006/relationships/image" Target="../media/image37.png"/><Relationship Id="rId15" Type="http://schemas.openxmlformats.org/officeDocument/2006/relationships/image" Target="../media/image6.png"/><Relationship Id="rId14" Type="http://schemas.openxmlformats.org/officeDocument/2006/relationships/image" Target="../media/image11.png"/><Relationship Id="rId17" Type="http://schemas.openxmlformats.org/officeDocument/2006/relationships/image" Target="../media/image34.png"/><Relationship Id="rId16" Type="http://schemas.openxmlformats.org/officeDocument/2006/relationships/image" Target="../media/image21.png"/><Relationship Id="rId18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11" Type="http://schemas.openxmlformats.org/officeDocument/2006/relationships/image" Target="../media/image50.png"/><Relationship Id="rId10" Type="http://schemas.openxmlformats.org/officeDocument/2006/relationships/image" Target="../media/image60.png"/><Relationship Id="rId13" Type="http://schemas.openxmlformats.org/officeDocument/2006/relationships/image" Target="../media/image37.png"/><Relationship Id="rId12" Type="http://schemas.openxmlformats.org/officeDocument/2006/relationships/image" Target="../media/image1.png"/><Relationship Id="rId15" Type="http://schemas.openxmlformats.org/officeDocument/2006/relationships/image" Target="../media/image6.png"/><Relationship Id="rId14" Type="http://schemas.openxmlformats.org/officeDocument/2006/relationships/image" Target="../media/image11.png"/><Relationship Id="rId17" Type="http://schemas.openxmlformats.org/officeDocument/2006/relationships/image" Target="../media/image34.png"/><Relationship Id="rId16" Type="http://schemas.openxmlformats.org/officeDocument/2006/relationships/image" Target="../media/image21.png"/><Relationship Id="rId18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11" Type="http://schemas.openxmlformats.org/officeDocument/2006/relationships/image" Target="../media/image50.png"/><Relationship Id="rId10" Type="http://schemas.openxmlformats.org/officeDocument/2006/relationships/image" Target="../media/image60.png"/><Relationship Id="rId13" Type="http://schemas.openxmlformats.org/officeDocument/2006/relationships/image" Target="../media/image37.png"/><Relationship Id="rId12" Type="http://schemas.openxmlformats.org/officeDocument/2006/relationships/image" Target="../media/image1.png"/><Relationship Id="rId15" Type="http://schemas.openxmlformats.org/officeDocument/2006/relationships/image" Target="../media/image6.png"/><Relationship Id="rId14" Type="http://schemas.openxmlformats.org/officeDocument/2006/relationships/image" Target="../media/image11.png"/><Relationship Id="rId17" Type="http://schemas.openxmlformats.org/officeDocument/2006/relationships/image" Target="../media/image34.png"/><Relationship Id="rId16" Type="http://schemas.openxmlformats.org/officeDocument/2006/relationships/image" Target="../media/image21.png"/><Relationship Id="rId18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11" Type="http://schemas.openxmlformats.org/officeDocument/2006/relationships/image" Target="../media/image50.png"/><Relationship Id="rId10" Type="http://schemas.openxmlformats.org/officeDocument/2006/relationships/image" Target="../media/image60.png"/><Relationship Id="rId13" Type="http://schemas.openxmlformats.org/officeDocument/2006/relationships/image" Target="../media/image37.png"/><Relationship Id="rId12" Type="http://schemas.openxmlformats.org/officeDocument/2006/relationships/image" Target="../media/image1.png"/><Relationship Id="rId15" Type="http://schemas.openxmlformats.org/officeDocument/2006/relationships/image" Target="../media/image6.png"/><Relationship Id="rId14" Type="http://schemas.openxmlformats.org/officeDocument/2006/relationships/image" Target="../media/image11.png"/><Relationship Id="rId17" Type="http://schemas.openxmlformats.org/officeDocument/2006/relationships/image" Target="../media/image34.png"/><Relationship Id="rId16" Type="http://schemas.openxmlformats.org/officeDocument/2006/relationships/image" Target="../media/image21.png"/><Relationship Id="rId18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11" Type="http://schemas.openxmlformats.org/officeDocument/2006/relationships/image" Target="../media/image50.png"/><Relationship Id="rId10" Type="http://schemas.openxmlformats.org/officeDocument/2006/relationships/image" Target="../media/image60.png"/><Relationship Id="rId13" Type="http://schemas.openxmlformats.org/officeDocument/2006/relationships/image" Target="../media/image37.png"/><Relationship Id="rId12" Type="http://schemas.openxmlformats.org/officeDocument/2006/relationships/image" Target="../media/image1.png"/><Relationship Id="rId15" Type="http://schemas.openxmlformats.org/officeDocument/2006/relationships/image" Target="../media/image6.png"/><Relationship Id="rId14" Type="http://schemas.openxmlformats.org/officeDocument/2006/relationships/image" Target="../media/image11.png"/><Relationship Id="rId17" Type="http://schemas.openxmlformats.org/officeDocument/2006/relationships/image" Target="../media/image34.png"/><Relationship Id="rId16" Type="http://schemas.openxmlformats.org/officeDocument/2006/relationships/image" Target="../media/image21.png"/><Relationship Id="rId18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11" Type="http://schemas.openxmlformats.org/officeDocument/2006/relationships/image" Target="../media/image50.png"/><Relationship Id="rId10" Type="http://schemas.openxmlformats.org/officeDocument/2006/relationships/image" Target="../media/image60.png"/><Relationship Id="rId13" Type="http://schemas.openxmlformats.org/officeDocument/2006/relationships/image" Target="../media/image37.png"/><Relationship Id="rId12" Type="http://schemas.openxmlformats.org/officeDocument/2006/relationships/image" Target="../media/image1.png"/><Relationship Id="rId15" Type="http://schemas.openxmlformats.org/officeDocument/2006/relationships/image" Target="../media/image6.png"/><Relationship Id="rId14" Type="http://schemas.openxmlformats.org/officeDocument/2006/relationships/image" Target="../media/image11.png"/><Relationship Id="rId17" Type="http://schemas.openxmlformats.org/officeDocument/2006/relationships/image" Target="../media/image34.png"/><Relationship Id="rId16" Type="http://schemas.openxmlformats.org/officeDocument/2006/relationships/image" Target="../media/image21.png"/><Relationship Id="rId18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5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11" Type="http://schemas.openxmlformats.org/officeDocument/2006/relationships/image" Target="../media/image22.jpg"/><Relationship Id="rId10" Type="http://schemas.openxmlformats.org/officeDocument/2006/relationships/image" Target="../media/image52.png"/><Relationship Id="rId13" Type="http://schemas.openxmlformats.org/officeDocument/2006/relationships/image" Target="../media/image38.png"/><Relationship Id="rId12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6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5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11" Type="http://schemas.openxmlformats.org/officeDocument/2006/relationships/image" Target="../media/image22.jpg"/><Relationship Id="rId10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5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11" Type="http://schemas.openxmlformats.org/officeDocument/2006/relationships/image" Target="../media/image22.jpg"/><Relationship Id="rId10" Type="http://schemas.openxmlformats.org/officeDocument/2006/relationships/image" Target="../media/image5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5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11" Type="http://schemas.openxmlformats.org/officeDocument/2006/relationships/image" Target="../media/image22.jpg"/><Relationship Id="rId10" Type="http://schemas.openxmlformats.org/officeDocument/2006/relationships/image" Target="../media/image5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5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11" Type="http://schemas.openxmlformats.org/officeDocument/2006/relationships/image" Target="../media/image22.jpg"/><Relationship Id="rId10" Type="http://schemas.openxmlformats.org/officeDocument/2006/relationships/image" Target="../media/image5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65.png"/><Relationship Id="rId5" Type="http://schemas.openxmlformats.org/officeDocument/2006/relationships/image" Target="../media/image60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Relationship Id="rId11" Type="http://schemas.openxmlformats.org/officeDocument/2006/relationships/image" Target="../media/image22.jpg"/><Relationship Id="rId10" Type="http://schemas.openxmlformats.org/officeDocument/2006/relationships/image" Target="../media/image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52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35.png"/><Relationship Id="rId8" Type="http://schemas.openxmlformats.org/officeDocument/2006/relationships/image" Target="../media/image21.png"/><Relationship Id="rId10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52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35.png"/><Relationship Id="rId8" Type="http://schemas.openxmlformats.org/officeDocument/2006/relationships/image" Target="../media/image21.png"/><Relationship Id="rId10" Type="http://schemas.openxmlformats.org/officeDocument/2006/relationships/image" Target="../media/image6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52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35.png"/><Relationship Id="rId8" Type="http://schemas.openxmlformats.org/officeDocument/2006/relationships/image" Target="../media/image21.png"/><Relationship Id="rId10" Type="http://schemas.openxmlformats.org/officeDocument/2006/relationships/image" Target="../media/image6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9" Type="http://schemas.openxmlformats.org/officeDocument/2006/relationships/image" Target="../media/image52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35.png"/><Relationship Id="rId8" Type="http://schemas.openxmlformats.org/officeDocument/2006/relationships/image" Target="../media/image21.png"/><Relationship Id="rId10" Type="http://schemas.openxmlformats.org/officeDocument/2006/relationships/image" Target="../media/image6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6.png"/><Relationship Id="rId4" Type="http://schemas.openxmlformats.org/officeDocument/2006/relationships/image" Target="../media/image48.png"/><Relationship Id="rId9" Type="http://schemas.openxmlformats.org/officeDocument/2006/relationships/image" Target="../media/image1.png"/><Relationship Id="rId5" Type="http://schemas.openxmlformats.org/officeDocument/2006/relationships/image" Target="../media/image56.png"/><Relationship Id="rId6" Type="http://schemas.openxmlformats.org/officeDocument/2006/relationships/image" Target="../media/image54.png"/><Relationship Id="rId7" Type="http://schemas.openxmlformats.org/officeDocument/2006/relationships/image" Target="../media/image61.png"/><Relationship Id="rId8" Type="http://schemas.openxmlformats.org/officeDocument/2006/relationships/image" Target="../media/image8.png"/><Relationship Id="rId11" Type="http://schemas.openxmlformats.org/officeDocument/2006/relationships/image" Target="../media/image15.png"/><Relationship Id="rId10" Type="http://schemas.openxmlformats.org/officeDocument/2006/relationships/image" Target="../media/image13.png"/><Relationship Id="rId13" Type="http://schemas.openxmlformats.org/officeDocument/2006/relationships/image" Target="../media/image21.png"/><Relationship Id="rId12" Type="http://schemas.openxmlformats.org/officeDocument/2006/relationships/image" Target="../media/image35.png"/><Relationship Id="rId15" Type="http://schemas.openxmlformats.org/officeDocument/2006/relationships/image" Target="../media/image60.png"/><Relationship Id="rId14" Type="http://schemas.openxmlformats.org/officeDocument/2006/relationships/image" Target="../media/image5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6.png"/><Relationship Id="rId4" Type="http://schemas.openxmlformats.org/officeDocument/2006/relationships/image" Target="../media/image61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Relationship Id="rId11" Type="http://schemas.openxmlformats.org/officeDocument/2006/relationships/image" Target="../media/image21.png"/><Relationship Id="rId10" Type="http://schemas.openxmlformats.org/officeDocument/2006/relationships/image" Target="../media/image47.png"/><Relationship Id="rId13" Type="http://schemas.openxmlformats.org/officeDocument/2006/relationships/image" Target="../media/image59.png"/><Relationship Id="rId12" Type="http://schemas.openxmlformats.org/officeDocument/2006/relationships/image" Target="../media/image4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6.png"/><Relationship Id="rId4" Type="http://schemas.openxmlformats.org/officeDocument/2006/relationships/image" Target="../media/image61.png"/><Relationship Id="rId9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Relationship Id="rId11" Type="http://schemas.openxmlformats.org/officeDocument/2006/relationships/image" Target="../media/image21.png"/><Relationship Id="rId10" Type="http://schemas.openxmlformats.org/officeDocument/2006/relationships/image" Target="../media/image47.png"/><Relationship Id="rId13" Type="http://schemas.openxmlformats.org/officeDocument/2006/relationships/image" Target="../media/image59.png"/><Relationship Id="rId12" Type="http://schemas.openxmlformats.org/officeDocument/2006/relationships/image" Target="../media/image4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6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40.png"/><Relationship Id="rId11" Type="http://schemas.openxmlformats.org/officeDocument/2006/relationships/image" Target="../media/image1.png"/><Relationship Id="rId10" Type="http://schemas.openxmlformats.org/officeDocument/2006/relationships/image" Target="../media/image50.png"/><Relationship Id="rId13" Type="http://schemas.openxmlformats.org/officeDocument/2006/relationships/image" Target="../media/image11.png"/><Relationship Id="rId12" Type="http://schemas.openxmlformats.org/officeDocument/2006/relationships/image" Target="../media/image37.png"/><Relationship Id="rId15" Type="http://schemas.openxmlformats.org/officeDocument/2006/relationships/image" Target="../media/image6.png"/><Relationship Id="rId14" Type="http://schemas.openxmlformats.org/officeDocument/2006/relationships/image" Target="../media/image10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60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40.png"/><Relationship Id="rId11" Type="http://schemas.openxmlformats.org/officeDocument/2006/relationships/image" Target="../media/image1.png"/><Relationship Id="rId10" Type="http://schemas.openxmlformats.org/officeDocument/2006/relationships/image" Target="../media/image50.png"/><Relationship Id="rId13" Type="http://schemas.openxmlformats.org/officeDocument/2006/relationships/image" Target="../media/image11.png"/><Relationship Id="rId12" Type="http://schemas.openxmlformats.org/officeDocument/2006/relationships/image" Target="../media/image37.png"/><Relationship Id="rId15" Type="http://schemas.openxmlformats.org/officeDocument/2006/relationships/image" Target="../media/image6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4550215" y="3429000"/>
            <a:ext cx="384950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Lifesync 360, ㅇㅇㅇㅇㅇㅇ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1123056" y="1408618"/>
            <a:ext cx="10241279" cy="1035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60F18"/>
                </a:solidFill>
                <a:latin typeface="Arial"/>
                <a:ea typeface="Arial"/>
                <a:cs typeface="Arial"/>
                <a:sym typeface="Arial"/>
              </a:rPr>
              <a:t>아키텍처 구성도 &amp; 프로세스</a:t>
            </a:r>
            <a:endParaRPr b="1" i="0" sz="3500" u="none" cap="none" strike="noStrike">
              <a:solidFill>
                <a:srgbClr val="060F1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하이브리드 + 멀티 클라우드 네트워크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253008" y="1134942"/>
            <a:ext cx="2917993" cy="4986521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69669" y="717384"/>
            <a:ext cx="12026537" cy="5821639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897745" y="4260166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319252" y="1507311"/>
            <a:ext cx="5630778" cy="2552542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345131" y="1273762"/>
            <a:ext cx="5581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329089" y="765610"/>
            <a:ext cx="1795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Cloud (Hub)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6305538" y="1128637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1411146" y="4934811"/>
            <a:ext cx="1679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 Gateway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3009001" y="2919940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2522402" y="3594585"/>
            <a:ext cx="16714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Site-to-Site VPN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10884476" y="2221864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10750803" y="2880467"/>
            <a:ext cx="10498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923215" y="1748421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VPC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037767" y="2321406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551168" y="2996051"/>
            <a:ext cx="14184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Service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5977128" y="2159849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716771" y="2832153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VPN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542208" y="2191311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8238455" y="2933679"/>
            <a:ext cx="16474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Service 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"/>
          <p:cNvCxnSpPr>
            <a:stCxn id="116" idx="0"/>
            <a:endCxn id="122" idx="0"/>
          </p:cNvCxnSpPr>
          <p:nvPr/>
        </p:nvCxnSpPr>
        <p:spPr>
          <a:xfrm flipH="1">
            <a:off x="1063569" y="2996051"/>
            <a:ext cx="196800" cy="12213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3" name="Google Shape;123;p1"/>
          <p:cNvCxnSpPr>
            <a:stCxn id="104" idx="3"/>
            <a:endCxn id="110" idx="1"/>
          </p:cNvCxnSpPr>
          <p:nvPr/>
        </p:nvCxnSpPr>
        <p:spPr>
          <a:xfrm flipH="1" rot="10800000">
            <a:off x="2603597" y="3220063"/>
            <a:ext cx="405300" cy="13401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4" name="Google Shape;124;p1"/>
          <p:cNvCxnSpPr>
            <a:stCxn id="117" idx="3"/>
            <a:endCxn id="119" idx="1"/>
          </p:cNvCxnSpPr>
          <p:nvPr/>
        </p:nvCxnSpPr>
        <p:spPr>
          <a:xfrm>
            <a:off x="6682980" y="2459846"/>
            <a:ext cx="1859100" cy="315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1"/>
          <p:cNvCxnSpPr>
            <a:stCxn id="119" idx="3"/>
            <a:endCxn id="112" idx="1"/>
          </p:cNvCxnSpPr>
          <p:nvPr/>
        </p:nvCxnSpPr>
        <p:spPr>
          <a:xfrm>
            <a:off x="9248060" y="2491308"/>
            <a:ext cx="1636500" cy="30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블루 클라우드 로고 디자인 아이콘 벡터, 구름 아이콘, 표지 그림, 파란색 아이콘 PNG, 일러스트 및 벡터 에 대한 무료 다운로드 -  Pngtree" id="126" name="Google Shape;1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8514" y="2445193"/>
            <a:ext cx="1549485" cy="15494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7" name="Google Shape;127;p1"/>
          <p:cNvCxnSpPr>
            <a:endCxn id="117" idx="1"/>
          </p:cNvCxnSpPr>
          <p:nvPr/>
        </p:nvCxnSpPr>
        <p:spPr>
          <a:xfrm flipH="1" rot="10800000">
            <a:off x="5210628" y="2459846"/>
            <a:ext cx="766500" cy="741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8" name="Google Shape;128;p1"/>
          <p:cNvSpPr txBox="1"/>
          <p:nvPr/>
        </p:nvSpPr>
        <p:spPr>
          <a:xfrm>
            <a:off x="4076287" y="3620319"/>
            <a:ext cx="15056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/>
          <p:nvPr/>
        </p:nvSpPr>
        <p:spPr>
          <a:xfrm>
            <a:off x="7946099" y="1715534"/>
            <a:ext cx="3885439" cy="1953303"/>
          </a:xfrm>
          <a:prstGeom prst="rect">
            <a:avLst/>
          </a:prstGeom>
          <a:noFill/>
          <a:ln cap="flat" cmpd="sng" w="15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076054" y="2159849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6847781" y="2832153"/>
            <a:ext cx="14133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(BGP)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9757076" y="2191311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9728580" y="2880467"/>
            <a:ext cx="8515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>
            <a:stCxn id="110" idx="3"/>
          </p:cNvCxnSpPr>
          <p:nvPr/>
        </p:nvCxnSpPr>
        <p:spPr>
          <a:xfrm>
            <a:off x="3714853" y="3219937"/>
            <a:ext cx="7044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" name="Google Shape;135;p1"/>
          <p:cNvSpPr/>
          <p:nvPr/>
        </p:nvSpPr>
        <p:spPr>
          <a:xfrm>
            <a:off x="381129" y="1313303"/>
            <a:ext cx="1918208" cy="3113313"/>
          </a:xfrm>
          <a:prstGeom prst="rect">
            <a:avLst/>
          </a:prstGeom>
          <a:noFill/>
          <a:ln cap="flat" cmpd="sng" w="158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710505" y="4217254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320158" y="4891899"/>
            <a:ext cx="12863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1"/>
          <p:cNvCxnSpPr>
            <a:endCxn id="104" idx="1"/>
          </p:cNvCxnSpPr>
          <p:nvPr/>
        </p:nvCxnSpPr>
        <p:spPr>
          <a:xfrm>
            <a:off x="1391345" y="4560163"/>
            <a:ext cx="506400" cy="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8" name="Google Shape;138;p1"/>
          <p:cNvSpPr txBox="1"/>
          <p:nvPr/>
        </p:nvSpPr>
        <p:spPr>
          <a:xfrm>
            <a:off x="9583859" y="3692394"/>
            <a:ext cx="2512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Google Access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477776" y="1664419"/>
            <a:ext cx="1660252" cy="1659048"/>
          </a:xfrm>
          <a:prstGeom prst="rect">
            <a:avLst/>
          </a:prstGeom>
          <a:noFill/>
          <a:ln cap="flat" cmpd="sng" w="1587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551168" y="1747638"/>
            <a:ext cx="847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6321828" y="3415995"/>
            <a:ext cx="2235305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bigquery.googleapis.com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PSC Endpoint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6319252" y="4717999"/>
            <a:ext cx="5630778" cy="1526937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6319252" y="4311595"/>
            <a:ext cx="253392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Legacy System (Local)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6827189" y="5076565"/>
            <a:ext cx="705852" cy="59999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"/>
          <p:cNvSpPr txBox="1"/>
          <p:nvPr/>
        </p:nvSpPr>
        <p:spPr>
          <a:xfrm>
            <a:off x="6422623" y="5738968"/>
            <a:ext cx="152347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VPN Gateway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1"/>
          <p:cNvCxnSpPr>
            <a:endCxn id="144" idx="1"/>
          </p:cNvCxnSpPr>
          <p:nvPr/>
        </p:nvCxnSpPr>
        <p:spPr>
          <a:xfrm>
            <a:off x="5210489" y="3478462"/>
            <a:ext cx="1616700" cy="18981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블루 클라우드 로고 디자인 아이콘 벡터, 구름 아이콘, 표지 그림, 파란색 아이콘 PNG, 일러스트 및 벡터 에 대한 무료 다운로드 -  Pngtree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4553" y="5515635"/>
            <a:ext cx="622249" cy="622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루 클라우드 로고 디자인 아이콘 벡터, 구름 아이콘, 표지 그림, 파란색 아이콘 PNG, 일러스트 및 벡터 에 대한 무료 다운로드 -  Pngtree" id="152" name="Google Shape;15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4764" y="49334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5398422" y="53712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608100" y="12601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AWS Cloud 아키텍처 구성도 (Hybrid + Multi Cloud)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1709531" y="5045831"/>
            <a:ext cx="3707555" cy="1488235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160" name="Google Shape;160;p19"/>
          <p:cNvGrpSpPr/>
          <p:nvPr/>
        </p:nvGrpSpPr>
        <p:grpSpPr>
          <a:xfrm>
            <a:off x="1613914" y="1120563"/>
            <a:ext cx="10285800" cy="5562507"/>
            <a:chOff x="4215621" y="1197870"/>
            <a:chExt cx="10285800" cy="5870100"/>
          </a:xfrm>
        </p:grpSpPr>
        <p:sp>
          <p:nvSpPr>
            <p:cNvPr descr="Region group" id="161" name="Google Shape;161;p19"/>
            <p:cNvSpPr/>
            <p:nvPr/>
          </p:nvSpPr>
          <p:spPr>
            <a:xfrm>
              <a:off x="4215621" y="1197870"/>
              <a:ext cx="10285800" cy="5870100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162" name="Google Shape;162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WS Transit Gateway service icon." id="163" name="Google Shape;16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53958" y="3516262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6859980" y="3958939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1711125" y="2413588"/>
            <a:ext cx="4823020" cy="211366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66" name="Google Shape;16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99766" y="241358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1829332" y="2899632"/>
            <a:ext cx="152267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68" name="Google Shape;16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27898" y="289798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69" name="Google Shape;16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55344" y="32261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1316926" y="367313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 gateway resource icon for the Amazon VPC service.&#10;" id="171" name="Google Shape;171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3957" y="22327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9285456" y="266657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19"/>
          <p:cNvCxnSpPr>
            <a:stCxn id="165" idx="3"/>
            <a:endCxn id="163" idx="1"/>
          </p:cNvCxnSpPr>
          <p:nvPr/>
        </p:nvCxnSpPr>
        <p:spPr>
          <a:xfrm>
            <a:off x="6534145" y="3470418"/>
            <a:ext cx="619800" cy="26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74" name="Google Shape;174;p19"/>
          <p:cNvCxnSpPr>
            <a:stCxn id="164" idx="0"/>
            <a:endCxn id="175" idx="0"/>
          </p:cNvCxnSpPr>
          <p:nvPr/>
        </p:nvCxnSpPr>
        <p:spPr>
          <a:xfrm flipH="1">
            <a:off x="7074630" y="3958939"/>
            <a:ext cx="305100" cy="566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6" name="Google Shape;176;p19"/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8044131" y="5159864"/>
            <a:ext cx="3727890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78" name="Google Shape;1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51768" y="516994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8140086" y="5573948"/>
            <a:ext cx="16959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80" name="Google Shape;180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55941" y="5577217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19"/>
          <p:cNvCxnSpPr>
            <a:stCxn id="177" idx="1"/>
            <a:endCxn id="163" idx="3"/>
          </p:cNvCxnSpPr>
          <p:nvPr/>
        </p:nvCxnSpPr>
        <p:spPr>
          <a:xfrm rot="10800000">
            <a:off x="7601031" y="3739814"/>
            <a:ext cx="443100" cy="216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82" name="Google Shape;182;p19"/>
          <p:cNvCxnSpPr>
            <a:stCxn id="163" idx="0"/>
          </p:cNvCxnSpPr>
          <p:nvPr/>
        </p:nvCxnSpPr>
        <p:spPr>
          <a:xfrm rot="10800000">
            <a:off x="7057645" y="3301162"/>
            <a:ext cx="319800" cy="21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Simple Storage Service (Amazon S3) service icon." id="183" name="Google Shape;183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197851" y="468595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8332022" y="470713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urora service icon." id="185" name="Google Shape;185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15624" y="3279746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967654" y="3644046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DynamoDB service icon." id="187" name="Google Shape;187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090691" y="1826855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893619" y="2087973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89" name="Google Shape;189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822852" y="3279746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487229" y="3647287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plication Load Balancer resource icon for the Elastic Load Balancing service." id="191" name="Google Shape;191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645562" y="33702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>
            <a:stCxn id="193" idx="3"/>
          </p:cNvCxnSpPr>
          <p:nvPr/>
        </p:nvCxnSpPr>
        <p:spPr>
          <a:xfrm>
            <a:off x="2377648" y="3598839"/>
            <a:ext cx="286800" cy="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93" name="Google Shape;193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927373" y="3373702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1843770" y="3865861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2226579" y="38256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9883945" y="5560366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97" name="Google Shape;197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883945" y="556848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198" name="Google Shape;198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990736" y="605346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10392380" y="610845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200" name="Google Shape;200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817561" y="6053221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11085532" y="6080836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202" name="Google Shape;202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759690" y="608798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083973" y="612076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04" name="Google Shape;204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149455" y="3142239"/>
            <a:ext cx="296354" cy="3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4360465" y="315213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19"/>
          <p:cNvCxnSpPr/>
          <p:nvPr/>
        </p:nvCxnSpPr>
        <p:spPr>
          <a:xfrm>
            <a:off x="3077072" y="3600381"/>
            <a:ext cx="350612" cy="2737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7" name="Google Shape;207;p19"/>
          <p:cNvSpPr txBox="1"/>
          <p:nvPr/>
        </p:nvSpPr>
        <p:spPr>
          <a:xfrm>
            <a:off x="4249418" y="5965661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2549336" y="5990366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3269158" y="3517310"/>
            <a:ext cx="953298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10" name="Google Shape;210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149455" y="3644795"/>
            <a:ext cx="311698" cy="3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360465" y="3654689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3623541" y="3091507"/>
            <a:ext cx="1346572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213" name="Google Shape;213;p1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3525798" y="3195091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odePipeline service icon." id="214" name="Google Shape;214;p1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154745" y="117350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 txBox="1"/>
          <p:nvPr/>
        </p:nvSpPr>
        <p:spPr>
          <a:xfrm>
            <a:off x="5774175" y="1479760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Route 53 service icon." id="216" name="Google Shape;216;p1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8837700" y="1344188"/>
            <a:ext cx="2946938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19" name="Google Shape;2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31644" y="13438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9901801" y="4247225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(자동화 관리)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ite-to-Site VPN service icon." id="175" name="Google Shape;175;p1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840406" y="4525671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9"/>
          <p:cNvSpPr txBox="1"/>
          <p:nvPr/>
        </p:nvSpPr>
        <p:spPr>
          <a:xfrm>
            <a:off x="6416279" y="496411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9"/>
          <p:cNvSpPr txBox="1"/>
          <p:nvPr/>
        </p:nvSpPr>
        <p:spPr>
          <a:xfrm>
            <a:off x="5550047" y="6007079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9"/>
          <p:cNvCxnSpPr>
            <a:stCxn id="175" idx="2"/>
          </p:cNvCxnSpPr>
          <p:nvPr/>
        </p:nvCxnSpPr>
        <p:spPr>
          <a:xfrm flipH="1">
            <a:off x="5866980" y="4920689"/>
            <a:ext cx="1207500" cy="937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4" name="Google Shape;224;p19"/>
          <p:cNvSpPr/>
          <p:nvPr/>
        </p:nvSpPr>
        <p:spPr>
          <a:xfrm>
            <a:off x="8931476" y="1812949"/>
            <a:ext cx="11301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25" name="Google Shape;22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30042" y="181130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10105248" y="1797625"/>
            <a:ext cx="1602284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27" name="Google Shape;227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15969" y="18108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odeCommit service icon." id="228" name="Google Shape;228;p1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4776260" y="1167988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9"/>
          <p:cNvSpPr txBox="1"/>
          <p:nvPr/>
        </p:nvSpPr>
        <p:spPr>
          <a:xfrm>
            <a:off x="4383056" y="1455327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30" name="Google Shape;230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509701" y="217781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10738282" y="212950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32" name="Google Shape;232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7406217" y="220753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7706414" y="2159876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p19"/>
          <p:cNvCxnSpPr>
            <a:stCxn id="218" idx="1"/>
            <a:endCxn id="163" idx="0"/>
          </p:cNvCxnSpPr>
          <p:nvPr/>
        </p:nvCxnSpPr>
        <p:spPr>
          <a:xfrm flipH="1">
            <a:off x="7377300" y="2040488"/>
            <a:ext cx="1460400" cy="147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35" name="Google Shape;235;p19"/>
          <p:cNvSpPr/>
          <p:nvPr/>
        </p:nvSpPr>
        <p:spPr>
          <a:xfrm>
            <a:off x="6821866" y="1344188"/>
            <a:ext cx="1769179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36" name="Google Shape;23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7230" y="135553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/>
          <p:nvPr/>
        </p:nvSpPr>
        <p:spPr>
          <a:xfrm>
            <a:off x="6931398" y="1812949"/>
            <a:ext cx="1557451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38" name="Google Shape;23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35796" y="1840491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239" name="Google Shape;23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82325" y="19751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9"/>
          <p:cNvSpPr txBox="1"/>
          <p:nvPr/>
        </p:nvSpPr>
        <p:spPr>
          <a:xfrm>
            <a:off x="6710070" y="234405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net gateway resource icon for the Amazon VPC service.&#10;" id="241" name="Google Shape;24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31392" y="22935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8890482" y="235807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434928" y="2742733"/>
            <a:ext cx="1586268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44" name="Google Shape;24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49597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loudFormation service icon." id="245" name="Google Shape;245;p1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715152" y="1581730"/>
            <a:ext cx="353969" cy="29790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9"/>
          <p:cNvSpPr txBox="1"/>
          <p:nvPr/>
        </p:nvSpPr>
        <p:spPr>
          <a:xfrm>
            <a:off x="1877141" y="157163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CloudWatch service icon." id="247" name="Google Shape;247;p19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3031517" y="1455327"/>
            <a:ext cx="326283" cy="31838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/>
          <p:nvPr/>
        </p:nvSpPr>
        <p:spPr>
          <a:xfrm>
            <a:off x="2693837" y="1769216"/>
            <a:ext cx="100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CloudWatch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Auto Scaling service icon." id="249" name="Google Shape;249;p1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3497741" y="3828633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3133739" y="4172037"/>
            <a:ext cx="1199229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251" name="Google Shape;251;p1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440214" y="745147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4677457" y="823903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Registry (Amazon ECR) Service icon." id="253" name="Google Shape;253;p19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432397" y="1187491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 txBox="1"/>
          <p:nvPr/>
        </p:nvSpPr>
        <p:spPr>
          <a:xfrm>
            <a:off x="5105261" y="1555179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19"/>
          <p:cNvCxnSpPr>
            <a:stCxn id="239" idx="2"/>
            <a:endCxn id="256" idx="0"/>
          </p:cNvCxnSpPr>
          <p:nvPr/>
        </p:nvCxnSpPr>
        <p:spPr>
          <a:xfrm flipH="1">
            <a:off x="6167725" y="2432356"/>
            <a:ext cx="643200" cy="259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57" name="Google Shape;257;p19"/>
          <p:cNvSpPr txBox="1"/>
          <p:nvPr/>
        </p:nvSpPr>
        <p:spPr>
          <a:xfrm>
            <a:off x="6502885" y="61685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6075358" y="5029331"/>
            <a:ext cx="184500" cy="192900"/>
          </a:xfrm>
          <a:prstGeom prst="diamond">
            <a:avLst/>
          </a:prstGeom>
          <a:solidFill>
            <a:srgbClr val="833C0B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9"/>
          <p:cNvCxnSpPr>
            <a:stCxn id="256" idx="3"/>
          </p:cNvCxnSpPr>
          <p:nvPr/>
        </p:nvCxnSpPr>
        <p:spPr>
          <a:xfrm flipH="1">
            <a:off x="5810758" y="5125781"/>
            <a:ext cx="449100" cy="66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59" name="Google Shape;259;p19"/>
          <p:cNvCxnSpPr/>
          <p:nvPr/>
        </p:nvCxnSpPr>
        <p:spPr>
          <a:xfrm>
            <a:off x="5781014" y="5958217"/>
            <a:ext cx="903927" cy="3522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60" name="Google Shape;260;p19"/>
          <p:cNvSpPr txBox="1"/>
          <p:nvPr/>
        </p:nvSpPr>
        <p:spPr>
          <a:xfrm>
            <a:off x="6007726" y="5643246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9"/>
          <p:cNvCxnSpPr>
            <a:endCxn id="202" idx="1"/>
          </p:cNvCxnSpPr>
          <p:nvPr/>
        </p:nvCxnSpPr>
        <p:spPr>
          <a:xfrm>
            <a:off x="7939790" y="6154428"/>
            <a:ext cx="819900" cy="13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62" name="Google Shape;262;p19"/>
          <p:cNvCxnSpPr/>
          <p:nvPr/>
        </p:nvCxnSpPr>
        <p:spPr>
          <a:xfrm flipH="1" rot="10800000">
            <a:off x="7214772" y="6040708"/>
            <a:ext cx="340200" cy="22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63" name="Google Shape;263;p19"/>
          <p:cNvCxnSpPr>
            <a:stCxn id="203" idx="1"/>
            <a:endCxn id="183" idx="1"/>
          </p:cNvCxnSpPr>
          <p:nvPr/>
        </p:nvCxnSpPr>
        <p:spPr>
          <a:xfrm flipH="1" rot="10800000">
            <a:off x="9083973" y="4888818"/>
            <a:ext cx="114000" cy="140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64" name="Google Shape;264;p19"/>
          <p:cNvCxnSpPr>
            <a:endCxn id="198" idx="0"/>
          </p:cNvCxnSpPr>
          <p:nvPr/>
        </p:nvCxnSpPr>
        <p:spPr>
          <a:xfrm>
            <a:off x="9614973" y="5055662"/>
            <a:ext cx="597300" cy="9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cxnSp>
        <p:nvCxnSpPr>
          <p:cNvPr id="265" name="Google Shape;265;p19"/>
          <p:cNvCxnSpPr>
            <a:stCxn id="158" idx="3"/>
          </p:cNvCxnSpPr>
          <p:nvPr/>
        </p:nvCxnSpPr>
        <p:spPr>
          <a:xfrm>
            <a:off x="806851" y="2792117"/>
            <a:ext cx="676500" cy="54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EventBridge service icon." id="266" name="Google Shape;266;p19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3610436" y="1673246"/>
            <a:ext cx="318401" cy="3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 txBox="1"/>
          <p:nvPr/>
        </p:nvSpPr>
        <p:spPr>
          <a:xfrm>
            <a:off x="3775655" y="1643689"/>
            <a:ext cx="109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EventBridge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Notification Service (Amazon SNS) service icon." id="268" name="Google Shape;268;p19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5124037" y="1911883"/>
            <a:ext cx="310571" cy="31057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5429753" y="1890581"/>
            <a:ext cx="63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Kinesis Data Streams service icon." id="270" name="Google Shape;270;p19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590922" y="5888549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7237489" y="6250128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19"/>
          <p:cNvCxnSpPr/>
          <p:nvPr/>
        </p:nvCxnSpPr>
        <p:spPr>
          <a:xfrm flipH="1">
            <a:off x="5547958" y="5927451"/>
            <a:ext cx="18524" cy="578305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273" name="Google Shape;273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57875" y="467379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9"/>
          <p:cNvSpPr txBox="1"/>
          <p:nvPr/>
        </p:nvSpPr>
        <p:spPr>
          <a:xfrm>
            <a:off x="9692651" y="508587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9"/>
          <p:cNvCxnSpPr>
            <a:stCxn id="273" idx="3"/>
            <a:endCxn id="200" idx="0"/>
          </p:cNvCxnSpPr>
          <p:nvPr/>
        </p:nvCxnSpPr>
        <p:spPr>
          <a:xfrm>
            <a:off x="10363890" y="4876800"/>
            <a:ext cx="658200" cy="11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276" name="Google Shape;27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001829" y="466252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/>
          <p:nvPr/>
        </p:nvSpPr>
        <p:spPr>
          <a:xfrm>
            <a:off x="11204380" y="474131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19"/>
          <p:cNvCxnSpPr>
            <a:endCxn id="200" idx="0"/>
          </p:cNvCxnSpPr>
          <p:nvPr/>
        </p:nvCxnSpPr>
        <p:spPr>
          <a:xfrm flipH="1">
            <a:off x="11022029" y="5029321"/>
            <a:ext cx="182700" cy="10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79" name="Google Shape;279;p19"/>
          <p:cNvCxnSpPr>
            <a:stCxn id="273" idx="2"/>
          </p:cNvCxnSpPr>
          <p:nvPr/>
        </p:nvCxnSpPr>
        <p:spPr>
          <a:xfrm>
            <a:off x="10160883" y="5079807"/>
            <a:ext cx="50100" cy="97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pic>
        <p:nvPicPr>
          <p:cNvPr descr="AWS Secrets Manager service icon." id="280" name="Google Shape;280;p19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3614907" y="2007806"/>
            <a:ext cx="306167" cy="2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3855600" y="2010621"/>
            <a:ext cx="11396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Secrets Manager</a:t>
            </a:r>
            <a:endParaRPr/>
          </a:p>
        </p:txBody>
      </p:sp>
      <p:pic>
        <p:nvPicPr>
          <p:cNvPr descr="AWS Systems Manager service icon." id="282" name="Google Shape;282;p19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733753" y="2007966"/>
            <a:ext cx="289800" cy="2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9"/>
          <p:cNvSpPr txBox="1"/>
          <p:nvPr/>
        </p:nvSpPr>
        <p:spPr>
          <a:xfrm>
            <a:off x="1835284" y="2024324"/>
            <a:ext cx="11394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Systems Manager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1628248" y="5985422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sible 아이콘" id="285" name="Google Shape;285;p19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10060268" y="3848386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/>
          <p:nvPr/>
        </p:nvSpPr>
        <p:spPr>
          <a:xfrm>
            <a:off x="8699435" y="3056840"/>
            <a:ext cx="3096032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87" name="Google Shape;28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10504" y="305650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/>
          <p:nvPr/>
        </p:nvSpPr>
        <p:spPr>
          <a:xfrm>
            <a:off x="9984531" y="3470924"/>
            <a:ext cx="1706586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89" name="Google Shape;28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984530" y="34740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90" name="Google Shape;290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584703" y="3781864"/>
            <a:ext cx="321687" cy="31260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9"/>
          <p:cNvSpPr txBox="1"/>
          <p:nvPr/>
        </p:nvSpPr>
        <p:spPr>
          <a:xfrm>
            <a:off x="10819173" y="3756322"/>
            <a:ext cx="9585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Control Node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9"/>
          <p:cNvCxnSpPr>
            <a:stCxn id="286" idx="1"/>
            <a:endCxn id="163" idx="3"/>
          </p:cNvCxnSpPr>
          <p:nvPr/>
        </p:nvCxnSpPr>
        <p:spPr>
          <a:xfrm rot="10800000">
            <a:off x="7600835" y="3739790"/>
            <a:ext cx="1098600" cy="5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API Gateway service icon." id="293" name="Google Shape;293;p19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6767836" y="3133942"/>
            <a:ext cx="310321" cy="31032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9"/>
          <p:cNvSpPr txBox="1"/>
          <p:nvPr/>
        </p:nvSpPr>
        <p:spPr>
          <a:xfrm>
            <a:off x="7007006" y="2991821"/>
            <a:ext cx="938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</p:txBody>
      </p:sp>
      <p:pic>
        <p:nvPicPr>
          <p:cNvPr descr="AWS Lambda service icon." id="295" name="Google Shape;295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415465" y="4216708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9"/>
          <p:cNvSpPr txBox="1"/>
          <p:nvPr/>
        </p:nvSpPr>
        <p:spPr>
          <a:xfrm>
            <a:off x="5684475" y="419007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9"/>
          <p:cNvCxnSpPr>
            <a:stCxn id="296" idx="1"/>
            <a:endCxn id="293" idx="2"/>
          </p:cNvCxnSpPr>
          <p:nvPr/>
        </p:nvCxnSpPr>
        <p:spPr>
          <a:xfrm flipH="1" rot="10800000">
            <a:off x="5684475" y="3444129"/>
            <a:ext cx="1238400" cy="91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Command Line Interface (AWS CLI) service icon." id="298" name="Google Shape;298;p19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482825" y="4011780"/>
            <a:ext cx="343783" cy="34378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9"/>
          <p:cNvSpPr txBox="1"/>
          <p:nvPr/>
        </p:nvSpPr>
        <p:spPr>
          <a:xfrm>
            <a:off x="269766" y="4384998"/>
            <a:ext cx="76989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CLI</a:t>
            </a:r>
            <a:endParaRPr/>
          </a:p>
        </p:txBody>
      </p:sp>
      <p:cxnSp>
        <p:nvCxnSpPr>
          <p:cNvPr id="300" name="Google Shape;300;p19"/>
          <p:cNvCxnSpPr/>
          <p:nvPr/>
        </p:nvCxnSpPr>
        <p:spPr>
          <a:xfrm flipH="1" rot="10800000">
            <a:off x="829109" y="4124912"/>
            <a:ext cx="638908" cy="5211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Simple Storage Service (Amazon S3) service icon." id="301" name="Google Shape;301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99783" y="1195914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3908001" y="1169974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5056874" y="2742733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304" name="Google Shape;30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071543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5" name="Google Shape;305;p19"/>
          <p:cNvCxnSpPr/>
          <p:nvPr/>
        </p:nvCxnSpPr>
        <p:spPr>
          <a:xfrm>
            <a:off x="1699766" y="4634693"/>
            <a:ext cx="4834379" cy="0"/>
          </a:xfrm>
          <a:prstGeom prst="straightConnector1">
            <a:avLst/>
          </a:prstGeom>
          <a:noFill/>
          <a:ln cap="flat" cmpd="sng" w="15875">
            <a:solidFill>
              <a:srgbClr val="00A4A6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06" name="Google Shape;306;p19"/>
          <p:cNvCxnSpPr/>
          <p:nvPr/>
        </p:nvCxnSpPr>
        <p:spPr>
          <a:xfrm>
            <a:off x="6572501" y="4615547"/>
            <a:ext cx="22923" cy="2024217"/>
          </a:xfrm>
          <a:prstGeom prst="straightConnector1">
            <a:avLst/>
          </a:prstGeom>
          <a:noFill/>
          <a:ln cap="flat" cmpd="sng" w="15875">
            <a:solidFill>
              <a:srgbClr val="00A4A6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07" name="Google Shape;307;p19"/>
          <p:cNvGrpSpPr/>
          <p:nvPr/>
        </p:nvGrpSpPr>
        <p:grpSpPr>
          <a:xfrm>
            <a:off x="1366572" y="4741313"/>
            <a:ext cx="5047106" cy="2053143"/>
            <a:chOff x="1366572" y="4741313"/>
            <a:chExt cx="5047106" cy="2053143"/>
          </a:xfrm>
        </p:grpSpPr>
        <p:pic>
          <p:nvPicPr>
            <p:cNvPr id="308" name="Google Shape;308;p19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1366573" y="6569266"/>
              <a:ext cx="5047104" cy="225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19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 rot="5400000">
              <a:off x="525654" y="5582231"/>
              <a:ext cx="2002415" cy="3205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VirtualBox macOS BigSur - free Icon PNG, SVG" id="310" name="Google Shape;310;p1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871457" y="5402350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311" name="Google Shape;311;p1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3197665" y="5402350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312" name="Google Shape;312;p1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4488368" y="5402350"/>
            <a:ext cx="562105" cy="5621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p19"/>
          <p:cNvCxnSpPr/>
          <p:nvPr/>
        </p:nvCxnSpPr>
        <p:spPr>
          <a:xfrm flipH="1" rot="10800000">
            <a:off x="5655437" y="5354806"/>
            <a:ext cx="166008" cy="424064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14" name="Google Shape;314;p19"/>
          <p:cNvCxnSpPr/>
          <p:nvPr/>
        </p:nvCxnSpPr>
        <p:spPr>
          <a:xfrm>
            <a:off x="5390965" y="5121878"/>
            <a:ext cx="366757" cy="76686"/>
          </a:xfrm>
          <a:prstGeom prst="straightConnector1">
            <a:avLst/>
          </a:prstGeom>
          <a:noFill/>
          <a:ln cap="flat" cmpd="sng" w="19050">
            <a:solidFill>
              <a:srgbClr val="00B05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id="315" name="Google Shape;315;p19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1748170" y="5056697"/>
            <a:ext cx="358405" cy="3678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19"/>
          <p:cNvCxnSpPr/>
          <p:nvPr/>
        </p:nvCxnSpPr>
        <p:spPr>
          <a:xfrm>
            <a:off x="1494710" y="4746197"/>
            <a:ext cx="4921569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7" name="Google Shape;317;p19"/>
          <p:cNvCxnSpPr/>
          <p:nvPr/>
        </p:nvCxnSpPr>
        <p:spPr>
          <a:xfrm>
            <a:off x="6428568" y="4756893"/>
            <a:ext cx="0" cy="1986831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8" name="Google Shape;318;p19"/>
          <p:cNvSpPr txBox="1"/>
          <p:nvPr/>
        </p:nvSpPr>
        <p:spPr>
          <a:xfrm>
            <a:off x="5169402" y="6534393"/>
            <a:ext cx="85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 gateway resource icon for the Amazon VPC service.&#10;" id="319" name="Google Shape;31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40353" y="392841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9"/>
          <p:cNvSpPr txBox="1"/>
          <p:nvPr/>
        </p:nvSpPr>
        <p:spPr>
          <a:xfrm>
            <a:off x="9141852" y="4362203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8787872" y="3508576"/>
            <a:ext cx="11301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322" name="Google Shape;32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86438" y="3506932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323" name="Google Shape;32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87788" y="398918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9"/>
          <p:cNvSpPr txBox="1"/>
          <p:nvPr/>
        </p:nvSpPr>
        <p:spPr>
          <a:xfrm>
            <a:off x="8746878" y="405370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325" name="Google Shape;325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584703" y="4116180"/>
            <a:ext cx="321687" cy="31260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/>
        </p:nvSpPr>
        <p:spPr>
          <a:xfrm>
            <a:off x="10819173" y="4172832"/>
            <a:ext cx="958500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/>
          <p:nvPr/>
        </p:nvSpPr>
        <p:spPr>
          <a:xfrm>
            <a:off x="2084474" y="952500"/>
            <a:ext cx="10010186" cy="5651500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2329099" y="1374374"/>
            <a:ext cx="9597395" cy="5001025"/>
          </a:xfrm>
          <a:prstGeom prst="roundRect">
            <a:avLst>
              <a:gd fmla="val 827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 txBox="1"/>
          <p:nvPr>
            <p:ph type="title"/>
          </p:nvPr>
        </p:nvSpPr>
        <p:spPr>
          <a:xfrm>
            <a:off x="651036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GCP Cloud 아키텍처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20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2138836" y="964515"/>
            <a:ext cx="1309579" cy="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0"/>
          <p:cNvSpPr txBox="1"/>
          <p:nvPr/>
        </p:nvSpPr>
        <p:spPr>
          <a:xfrm>
            <a:off x="2329099" y="141145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Region</a:t>
            </a:r>
            <a:endParaRPr b="0" i="0" sz="9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6" name="Google Shape;336;p20"/>
          <p:cNvGrpSpPr/>
          <p:nvPr/>
        </p:nvGrpSpPr>
        <p:grpSpPr>
          <a:xfrm>
            <a:off x="4082275" y="2281780"/>
            <a:ext cx="820995" cy="424443"/>
            <a:chOff x="-1296834" y="-949801"/>
            <a:chExt cx="615746" cy="280714"/>
          </a:xfrm>
        </p:grpSpPr>
        <p:sp>
          <p:nvSpPr>
            <p:cNvPr id="337" name="Google Shape;337;p20"/>
            <p:cNvSpPr/>
            <p:nvPr/>
          </p:nvSpPr>
          <p:spPr>
            <a:xfrm>
              <a:off x="-1296834" y="-949801"/>
              <a:ext cx="615746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5"/>
                </a:schemeClr>
              </a:outerShdw>
            </a:effectLst>
          </p:spPr>
          <p:txBody>
            <a:bodyPr anchorCtr="0" anchor="ctr" bIns="121900" lIns="390125" spcFirstLastPara="1" rIns="60925" wrap="square" tIns="10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b="0" i="0" sz="9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8" name="Google Shape;338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244126" y="-911045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39" name="Google Shape;339;p20"/>
          <p:cNvCxnSpPr/>
          <p:nvPr/>
        </p:nvCxnSpPr>
        <p:spPr>
          <a:xfrm>
            <a:off x="3263597" y="4799248"/>
            <a:ext cx="648836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pic>
        <p:nvPicPr>
          <p:cNvPr descr="Amazon Simple Storage Service (Amazon S3) service icon." id="340" name="Google Shape;34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936" y="119288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0"/>
          <p:cNvSpPr txBox="1"/>
          <p:nvPr/>
        </p:nvSpPr>
        <p:spPr>
          <a:xfrm>
            <a:off x="282452" y="86820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20"/>
          <p:cNvCxnSpPr/>
          <p:nvPr/>
        </p:nvCxnSpPr>
        <p:spPr>
          <a:xfrm>
            <a:off x="792902" y="1623849"/>
            <a:ext cx="0" cy="71250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WS Transit Gateway service icon." id="343" name="Google Shape;34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936" y="2361304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0"/>
          <p:cNvSpPr txBox="1"/>
          <p:nvPr/>
        </p:nvSpPr>
        <p:spPr>
          <a:xfrm>
            <a:off x="318958" y="2803981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ite-to-Site VPN service icon." id="345" name="Google Shape;34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9" y="354558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0"/>
          <p:cNvSpPr txBox="1"/>
          <p:nvPr/>
        </p:nvSpPr>
        <p:spPr>
          <a:xfrm>
            <a:off x="193102" y="3984029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20"/>
          <p:cNvCxnSpPr/>
          <p:nvPr/>
        </p:nvCxnSpPr>
        <p:spPr>
          <a:xfrm>
            <a:off x="792902" y="2833085"/>
            <a:ext cx="0" cy="71250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블루 클라우드 로고 디자인 아이콘 벡터, 구름 아이콘, 표지 그림, 파란색 아이콘 PNG, 일러스트 및 벡터 에 대한 무료 다운로드 -  Pngtree" id="348" name="Google Shape;34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6465" y="4470829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0"/>
          <p:cNvSpPr txBox="1"/>
          <p:nvPr/>
        </p:nvSpPr>
        <p:spPr>
          <a:xfrm>
            <a:off x="515109" y="492237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20"/>
          <p:cNvCxnSpPr/>
          <p:nvPr/>
        </p:nvCxnSpPr>
        <p:spPr>
          <a:xfrm>
            <a:off x="792902" y="3940606"/>
            <a:ext cx="0" cy="71250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51" name="Google Shape;351;p20"/>
          <p:cNvSpPr/>
          <p:nvPr/>
        </p:nvSpPr>
        <p:spPr>
          <a:xfrm>
            <a:off x="2382707" y="4585048"/>
            <a:ext cx="934498" cy="4284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2" name="Google Shape;35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83342" y="4640975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3" name="Google Shape;353;p20"/>
          <p:cNvCxnSpPr>
            <a:stCxn id="351" idx="1"/>
          </p:cNvCxnSpPr>
          <p:nvPr/>
        </p:nvCxnSpPr>
        <p:spPr>
          <a:xfrm rot="10800000">
            <a:off x="903707" y="4799248"/>
            <a:ext cx="1479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54" name="Google Shape;354;p20"/>
          <p:cNvSpPr txBox="1"/>
          <p:nvPr/>
        </p:nvSpPr>
        <p:spPr>
          <a:xfrm>
            <a:off x="3908920" y="3678480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24693" y="3322607"/>
            <a:ext cx="389175" cy="3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0"/>
          <p:cNvSpPr/>
          <p:nvPr/>
        </p:nvSpPr>
        <p:spPr>
          <a:xfrm>
            <a:off x="4019737" y="4592023"/>
            <a:ext cx="934497" cy="4284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7" name="Google Shape;35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082276" y="4660711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8" name="Google Shape;358;p20"/>
          <p:cNvCxnSpPr>
            <a:endCxn id="354" idx="2"/>
          </p:cNvCxnSpPr>
          <p:nvPr/>
        </p:nvCxnSpPr>
        <p:spPr>
          <a:xfrm flipH="1" rot="10800000">
            <a:off x="4501617" y="4075255"/>
            <a:ext cx="6000" cy="5328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59" name="Google Shape;359;p20"/>
          <p:cNvSpPr/>
          <p:nvPr/>
        </p:nvSpPr>
        <p:spPr>
          <a:xfrm>
            <a:off x="5758267" y="2293935"/>
            <a:ext cx="1007259" cy="412288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5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0" name="Google Shape;36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36979" y="2354125"/>
            <a:ext cx="205922" cy="27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20"/>
          <p:cNvCxnSpPr/>
          <p:nvPr/>
        </p:nvCxnSpPr>
        <p:spPr>
          <a:xfrm>
            <a:off x="4943518" y="2485048"/>
            <a:ext cx="648836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2" name="Google Shape;362;p20"/>
          <p:cNvCxnSpPr>
            <a:stCxn id="363" idx="1"/>
            <a:endCxn id="356" idx="3"/>
          </p:cNvCxnSpPr>
          <p:nvPr/>
        </p:nvCxnSpPr>
        <p:spPr>
          <a:xfrm rot="10800000">
            <a:off x="4954333" y="4806306"/>
            <a:ext cx="2720100" cy="10443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4" name="Google Shape;364;p20"/>
          <p:cNvSpPr/>
          <p:nvPr/>
        </p:nvSpPr>
        <p:spPr>
          <a:xfrm>
            <a:off x="7516415" y="3950135"/>
            <a:ext cx="1078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5" name="Google Shape;365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62164" y="4010590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0"/>
          <p:cNvSpPr txBox="1"/>
          <p:nvPr/>
        </p:nvSpPr>
        <p:spPr>
          <a:xfrm>
            <a:off x="8465055" y="4420968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Vertex AI Job 완료</a:t>
            </a:r>
            <a:endParaRPr b="0" i="0" sz="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7" name="Google Shape;367;p20"/>
          <p:cNvCxnSpPr/>
          <p:nvPr/>
        </p:nvCxnSpPr>
        <p:spPr>
          <a:xfrm flipH="1" rot="10800000">
            <a:off x="4501734" y="2733198"/>
            <a:ext cx="5883" cy="53288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8" name="Google Shape;368;p20"/>
          <p:cNvCxnSpPr/>
          <p:nvPr/>
        </p:nvCxnSpPr>
        <p:spPr>
          <a:xfrm>
            <a:off x="6760998" y="2485048"/>
            <a:ext cx="648836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grpSp>
        <p:nvGrpSpPr>
          <p:cNvPr id="369" name="Google Shape;369;p20"/>
          <p:cNvGrpSpPr/>
          <p:nvPr/>
        </p:nvGrpSpPr>
        <p:grpSpPr>
          <a:xfrm>
            <a:off x="7480527" y="1948281"/>
            <a:ext cx="3817013" cy="1360527"/>
            <a:chOff x="2178018" y="1054758"/>
            <a:chExt cx="1220580" cy="637517"/>
          </a:xfrm>
        </p:grpSpPr>
        <p:sp>
          <p:nvSpPr>
            <p:cNvPr id="370" name="Google Shape;370;p20"/>
            <p:cNvSpPr/>
            <p:nvPr/>
          </p:nvSpPr>
          <p:spPr>
            <a:xfrm>
              <a:off x="2178037" y="1054764"/>
              <a:ext cx="1220561" cy="637511"/>
            </a:xfrm>
            <a:prstGeom prst="roundRect">
              <a:avLst>
                <a:gd fmla="val 827" name="adj"/>
              </a:avLst>
            </a:prstGeom>
            <a:solidFill>
              <a:srgbClr val="FFF3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0"/>
            <p:cNvSpPr txBox="1"/>
            <p:nvPr/>
          </p:nvSpPr>
          <p:spPr>
            <a:xfrm>
              <a:off x="2178018" y="1054758"/>
              <a:ext cx="11394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ts val="750"/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Processing</a:t>
              </a:r>
              <a:endParaRPr b="0" i="0" sz="6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72" name="Google Shape;372;p20"/>
          <p:cNvSpPr/>
          <p:nvPr/>
        </p:nvSpPr>
        <p:spPr>
          <a:xfrm>
            <a:off x="7474036" y="2290888"/>
            <a:ext cx="1007259" cy="438441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5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3" name="Google Shape;373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70463" y="239135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20"/>
          <p:cNvCxnSpPr/>
          <p:nvPr/>
        </p:nvCxnSpPr>
        <p:spPr>
          <a:xfrm>
            <a:off x="8033214" y="3308808"/>
            <a:ext cx="0" cy="624107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75" name="Google Shape;375;p20"/>
          <p:cNvSpPr/>
          <p:nvPr/>
        </p:nvSpPr>
        <p:spPr>
          <a:xfrm>
            <a:off x="9243451" y="3966844"/>
            <a:ext cx="1151790" cy="382226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5"/>
              </a:scheme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750"/>
              <a:buFont typeface="Roboto"/>
              <a:buNone/>
            </a:pPr>
            <a:r>
              <a:rPr b="0" i="0" lang="en-US" sz="75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Result table</a:t>
            </a:r>
            <a:br>
              <a:rPr b="0" i="0" lang="en-US" sz="7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7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7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6" name="Google Shape;376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30639" y="4057307"/>
            <a:ext cx="201300" cy="2012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20"/>
          <p:cNvCxnSpPr/>
          <p:nvPr/>
        </p:nvCxnSpPr>
        <p:spPr>
          <a:xfrm>
            <a:off x="8594615" y="4132750"/>
            <a:ext cx="648836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pic>
        <p:nvPicPr>
          <p:cNvPr id="378" name="Google Shape;378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513919" y="4873504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0"/>
          <p:cNvSpPr txBox="1"/>
          <p:nvPr/>
        </p:nvSpPr>
        <p:spPr>
          <a:xfrm>
            <a:off x="8296024" y="5257732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b="1" i="0" sz="900" u="none" cap="none" strike="noStrike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0" name="Google Shape;380;p20"/>
          <p:cNvCxnSpPr>
            <a:endCxn id="363" idx="0"/>
          </p:cNvCxnSpPr>
          <p:nvPr/>
        </p:nvCxnSpPr>
        <p:spPr>
          <a:xfrm flipH="1">
            <a:off x="8175747" y="5189406"/>
            <a:ext cx="418800" cy="470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81" name="Google Shape;381;p20"/>
          <p:cNvSpPr txBox="1"/>
          <p:nvPr/>
        </p:nvSpPr>
        <p:spPr>
          <a:xfrm>
            <a:off x="9152844" y="4873415"/>
            <a:ext cx="910965" cy="3200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Job State Event</a:t>
            </a:r>
            <a:endParaRPr/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(완료 이벤트 발생)</a:t>
            </a:r>
            <a:endParaRPr b="0" i="0" sz="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7674433" y="5659506"/>
            <a:ext cx="1002627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96852" y="5742857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20"/>
          <p:cNvCxnSpPr/>
          <p:nvPr/>
        </p:nvCxnSpPr>
        <p:spPr>
          <a:xfrm rot="10800000">
            <a:off x="6513010" y="4144955"/>
            <a:ext cx="2093149" cy="840421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pic>
        <p:nvPicPr>
          <p:cNvPr descr="Lambda service icon." id="384" name="Google Shape;384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489785" y="1068394"/>
            <a:ext cx="398567" cy="398567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0"/>
          <p:cNvSpPr txBox="1"/>
          <p:nvPr/>
        </p:nvSpPr>
        <p:spPr>
          <a:xfrm>
            <a:off x="1258279" y="1470987"/>
            <a:ext cx="90394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Lambda</a:t>
            </a:r>
            <a:endParaRPr/>
          </a:p>
        </p:txBody>
      </p:sp>
      <p:pic>
        <p:nvPicPr>
          <p:cNvPr descr="Amazon API Gateway service icon." id="386" name="Google Shape;386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486974" y="2361304"/>
            <a:ext cx="402599" cy="40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0"/>
          <p:cNvSpPr txBox="1"/>
          <p:nvPr/>
        </p:nvSpPr>
        <p:spPr>
          <a:xfrm>
            <a:off x="1214117" y="2766836"/>
            <a:ext cx="938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</p:txBody>
      </p:sp>
      <p:cxnSp>
        <p:nvCxnSpPr>
          <p:cNvPr id="388" name="Google Shape;388;p20"/>
          <p:cNvCxnSpPr/>
          <p:nvPr/>
        </p:nvCxnSpPr>
        <p:spPr>
          <a:xfrm rot="10800000">
            <a:off x="1077072" y="2567184"/>
            <a:ext cx="40309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89" name="Google Shape;389;p20"/>
          <p:cNvCxnSpPr/>
          <p:nvPr/>
        </p:nvCxnSpPr>
        <p:spPr>
          <a:xfrm>
            <a:off x="1708354" y="1642275"/>
            <a:ext cx="0" cy="71250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90" name="Google Shape;390;p20"/>
          <p:cNvSpPr txBox="1"/>
          <p:nvPr/>
        </p:nvSpPr>
        <p:spPr>
          <a:xfrm>
            <a:off x="6662380" y="5231874"/>
            <a:ext cx="1162656" cy="229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AWS Private API 호출</a:t>
            </a:r>
            <a:endParaRPr b="0" i="0" sz="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5584225" y="3521907"/>
            <a:ext cx="1800799" cy="229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Vertex AI Batch Prediction Job 실행</a:t>
            </a:r>
            <a:endParaRPr b="0" i="0" sz="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9394160" y="3743760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Roboto"/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예측 결과 저장</a:t>
            </a:r>
            <a:endParaRPr b="0" i="0" sz="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2023098" y="5815571"/>
            <a:ext cx="2301595" cy="38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Storage Transfer Service가</a:t>
            </a:r>
            <a:endParaRPr/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AWS Access Key 또는 IAM Role 기반으로 읽음</a:t>
            </a:r>
            <a:endParaRPr/>
          </a:p>
        </p:txBody>
      </p:sp>
      <p:sp>
        <p:nvSpPr>
          <p:cNvPr id="394" name="Google Shape;394;p20"/>
          <p:cNvSpPr/>
          <p:nvPr/>
        </p:nvSpPr>
        <p:spPr>
          <a:xfrm>
            <a:off x="2449600" y="2281780"/>
            <a:ext cx="934498" cy="4284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Secret Manager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5" name="Google Shape;395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477354" y="2342313"/>
            <a:ext cx="326453" cy="3264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" name="Google Shape;396;p20"/>
          <p:cNvCxnSpPr>
            <a:endCxn id="355" idx="1"/>
          </p:cNvCxnSpPr>
          <p:nvPr/>
        </p:nvCxnSpPr>
        <p:spPr>
          <a:xfrm>
            <a:off x="3384193" y="2480695"/>
            <a:ext cx="940500" cy="1036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97" name="Google Shape;397;p20"/>
          <p:cNvSpPr txBox="1"/>
          <p:nvPr/>
        </p:nvSpPr>
        <p:spPr>
          <a:xfrm>
            <a:off x="2410552" y="2788436"/>
            <a:ext cx="1226674" cy="681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AWS IAM User</a:t>
            </a:r>
            <a:endParaRPr/>
          </a:p>
          <a:p>
            <a:pPr indent="0" lvl="0" marL="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: gcp-transfer-user</a:t>
            </a:r>
            <a:endParaRPr/>
          </a:p>
          <a:p>
            <a:pPr indent="-171450" lvl="0" marL="17145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Access Key ID</a:t>
            </a:r>
            <a:endParaRPr/>
          </a:p>
          <a:p>
            <a:pPr indent="-171450" lvl="0" marL="171450" marR="0" rtl="0" algn="l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800"/>
              <a:buFont typeface="Arial"/>
              <a:buChar char="-"/>
            </a:pPr>
            <a:r>
              <a:rPr b="0" i="0" lang="en-US" sz="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Secret Access Key</a:t>
            </a:r>
            <a:endParaRPr b="0" i="0" sz="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Scheduler resource icon for the Amazon EventBridge service." id="398" name="Google Shape;398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665251" y="3675428"/>
            <a:ext cx="285428" cy="28542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0"/>
          <p:cNvSpPr txBox="1"/>
          <p:nvPr/>
        </p:nvSpPr>
        <p:spPr>
          <a:xfrm>
            <a:off x="3238531" y="3955980"/>
            <a:ext cx="119552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(Transfer Job)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5 minutes</a:t>
            </a:r>
            <a:endParaRPr/>
          </a:p>
        </p:txBody>
      </p:sp>
      <p:pic>
        <p:nvPicPr>
          <p:cNvPr descr="Terraform Icon | Unofficial 2FA Entry Icons For Open Source ..." id="400" name="Google Shape;400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70093" y="55853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0"/>
          <p:cNvSpPr txBox="1"/>
          <p:nvPr/>
        </p:nvSpPr>
        <p:spPr>
          <a:xfrm>
            <a:off x="296275" y="6070760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20"/>
          <p:cNvCxnSpPr/>
          <p:nvPr/>
        </p:nvCxnSpPr>
        <p:spPr>
          <a:xfrm flipH="1" rot="10800000">
            <a:off x="911641" y="5189262"/>
            <a:ext cx="1223613" cy="624213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03" name="Google Shape;403;p20"/>
          <p:cNvSpPr txBox="1"/>
          <p:nvPr/>
        </p:nvSpPr>
        <p:spPr>
          <a:xfrm>
            <a:off x="3509791" y="1002138"/>
            <a:ext cx="1563866" cy="26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Google Cloud Project</a:t>
            </a:r>
            <a:endParaRPr b="0" i="0" sz="9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20"/>
          <p:cNvSpPr txBox="1"/>
          <p:nvPr/>
        </p:nvSpPr>
        <p:spPr>
          <a:xfrm>
            <a:off x="8644859" y="2070309"/>
            <a:ext cx="214089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customer360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dynamic_score_mart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v_user_dashboard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8127846" y="3327886"/>
            <a:ext cx="10782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확률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 확률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반응률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점수</a:t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5991144" y="3758877"/>
            <a:ext cx="1002627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7" name="Google Shape;407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13563" y="3842228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8" name="Google Shape;408;p20"/>
          <p:cNvCxnSpPr/>
          <p:nvPr/>
        </p:nvCxnSpPr>
        <p:spPr>
          <a:xfrm>
            <a:off x="6982671" y="3922818"/>
            <a:ext cx="523173" cy="205854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09" name="Google Shape;409;p20"/>
          <p:cNvCxnSpPr/>
          <p:nvPr/>
        </p:nvCxnSpPr>
        <p:spPr>
          <a:xfrm flipH="1">
            <a:off x="8876783" y="4347219"/>
            <a:ext cx="1038535" cy="659887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"/>
          <p:cNvSpPr txBox="1"/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인프라 구축 프로세스 (AWS + GCP)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415" name="Google Shape;4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1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417" name="Google Shape;417;p21"/>
          <p:cNvGrpSpPr/>
          <p:nvPr/>
        </p:nvGrpSpPr>
        <p:grpSpPr>
          <a:xfrm>
            <a:off x="1613914" y="1120563"/>
            <a:ext cx="5441995" cy="5556583"/>
            <a:chOff x="4215621" y="1197870"/>
            <a:chExt cx="4012057" cy="5863848"/>
          </a:xfrm>
        </p:grpSpPr>
        <p:sp>
          <p:nvSpPr>
            <p:cNvPr descr="Region group" id="418" name="Google Shape;418;p21"/>
            <p:cNvSpPr/>
            <p:nvPr/>
          </p:nvSpPr>
          <p:spPr>
            <a:xfrm>
              <a:off x="4215621" y="1197870"/>
              <a:ext cx="4012057" cy="5863848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419" name="Google Shape;41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WS Transit Gateway service icon." id="420" name="Google Shape;4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9443" y="3687430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1"/>
          <p:cNvSpPr txBox="1"/>
          <p:nvPr/>
        </p:nvSpPr>
        <p:spPr>
          <a:xfrm>
            <a:off x="6086866" y="409784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1680738" y="2669526"/>
            <a:ext cx="1887665" cy="2760293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423" name="Google Shape;4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0739" y="266560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1"/>
          <p:cNvSpPr/>
          <p:nvPr/>
        </p:nvSpPr>
        <p:spPr>
          <a:xfrm>
            <a:off x="1798944" y="3164327"/>
            <a:ext cx="1719300" cy="602843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425" name="Google Shape;42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7510" y="31626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426" name="Google Shape;42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12696" y="318183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1"/>
          <p:cNvSpPr txBox="1"/>
          <p:nvPr/>
        </p:nvSpPr>
        <p:spPr>
          <a:xfrm>
            <a:off x="1260396" y="3650855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 gateway resource icon for the Amazon VPC service.&#10;" id="428" name="Google Shape;42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06788" y="207280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1"/>
          <p:cNvSpPr txBox="1"/>
          <p:nvPr/>
        </p:nvSpPr>
        <p:spPr>
          <a:xfrm>
            <a:off x="4741256" y="2532643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p21"/>
          <p:cNvCxnSpPr/>
          <p:nvPr/>
        </p:nvCxnSpPr>
        <p:spPr>
          <a:xfrm flipH="1" rot="10800000">
            <a:off x="3506902" y="3846428"/>
            <a:ext cx="2809062" cy="9590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31" name="Google Shape;431;p21"/>
          <p:cNvCxnSpPr>
            <a:stCxn id="421" idx="0"/>
            <a:endCxn id="432" idx="0"/>
          </p:cNvCxnSpPr>
          <p:nvPr/>
        </p:nvCxnSpPr>
        <p:spPr>
          <a:xfrm flipH="1">
            <a:off x="6595816" y="4097845"/>
            <a:ext cx="10800" cy="356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3" name="Google Shape;433;p21"/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1720759" y="5510432"/>
            <a:ext cx="3573035" cy="1040681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435" name="Google Shape;4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20759" y="55211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vate subnet group icon. " id="436" name="Google Shape;43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13651" y="59277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1"/>
          <p:cNvSpPr/>
          <p:nvPr/>
        </p:nvSpPr>
        <p:spPr>
          <a:xfrm>
            <a:off x="1819122" y="4603368"/>
            <a:ext cx="1665933" cy="687379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438" name="Google Shape;43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19122" y="4618561"/>
            <a:ext cx="381000" cy="296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9" name="Google Shape;439;p21"/>
          <p:cNvCxnSpPr>
            <a:stCxn id="440" idx="3"/>
            <a:endCxn id="420" idx="1"/>
          </p:cNvCxnSpPr>
          <p:nvPr/>
        </p:nvCxnSpPr>
        <p:spPr>
          <a:xfrm flipH="1" rot="10800000">
            <a:off x="5595834" y="3910991"/>
            <a:ext cx="783600" cy="79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41" name="Google Shape;441;p21"/>
          <p:cNvSpPr/>
          <p:nvPr/>
        </p:nvSpPr>
        <p:spPr>
          <a:xfrm>
            <a:off x="3625155" y="5910934"/>
            <a:ext cx="1591364" cy="564527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442" name="Google Shape;44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11431" y="59189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Route 53 service icon." id="443" name="Google Shape;44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1"/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4390828" y="1201511"/>
            <a:ext cx="2513445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446" name="Google Shape;44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0828" y="12011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Site-to-Site VPN service icon." id="432" name="Google Shape;432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61891" y="4454635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1"/>
          <p:cNvSpPr txBox="1"/>
          <p:nvPr/>
        </p:nvSpPr>
        <p:spPr>
          <a:xfrm>
            <a:off x="5937764" y="4893076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448" name="Google Shape;448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23310" y="4411731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1"/>
          <p:cNvSpPr txBox="1"/>
          <p:nvPr/>
        </p:nvSpPr>
        <p:spPr>
          <a:xfrm>
            <a:off x="7420752" y="4835510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21"/>
          <p:cNvCxnSpPr>
            <a:stCxn id="432" idx="3"/>
          </p:cNvCxnSpPr>
          <p:nvPr/>
        </p:nvCxnSpPr>
        <p:spPr>
          <a:xfrm>
            <a:off x="6830040" y="4652144"/>
            <a:ext cx="654000" cy="68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1" name="Google Shape;451;p21"/>
          <p:cNvSpPr/>
          <p:nvPr/>
        </p:nvSpPr>
        <p:spPr>
          <a:xfrm>
            <a:off x="4454307" y="1652967"/>
            <a:ext cx="11301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452" name="Google Shape;45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52873" y="1651323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1"/>
          <p:cNvSpPr/>
          <p:nvPr/>
        </p:nvSpPr>
        <p:spPr>
          <a:xfrm>
            <a:off x="5679162" y="1654948"/>
            <a:ext cx="114800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454" name="Google Shape;454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97866" y="1668628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21"/>
          <p:cNvCxnSpPr>
            <a:endCxn id="420" idx="0"/>
          </p:cNvCxnSpPr>
          <p:nvPr/>
        </p:nvCxnSpPr>
        <p:spPr>
          <a:xfrm>
            <a:off x="6345830" y="2625130"/>
            <a:ext cx="257100" cy="106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56" name="Google Shape;456;p21"/>
          <p:cNvSpPr/>
          <p:nvPr/>
        </p:nvSpPr>
        <p:spPr>
          <a:xfrm>
            <a:off x="3824194" y="2679070"/>
            <a:ext cx="1722839" cy="114987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457" name="Google Shape;45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25102" y="2689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1"/>
          <p:cNvSpPr/>
          <p:nvPr/>
        </p:nvSpPr>
        <p:spPr>
          <a:xfrm>
            <a:off x="4161678" y="3102698"/>
            <a:ext cx="1275960" cy="600005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459" name="Google Shape;4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66076" y="3130240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460" name="Google Shape;46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75264" y="339717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1"/>
          <p:cNvSpPr txBox="1"/>
          <p:nvPr/>
        </p:nvSpPr>
        <p:spPr>
          <a:xfrm>
            <a:off x="3419198" y="314680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net gateway resource icon for the Amazon VPC service.&#10;" id="462" name="Google Shape;46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39298" y="21324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1"/>
          <p:cNvSpPr txBox="1"/>
          <p:nvPr/>
        </p:nvSpPr>
        <p:spPr>
          <a:xfrm>
            <a:off x="4413313" y="219809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1839348" y="3831021"/>
            <a:ext cx="1668600" cy="69055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465" name="Google Shape;46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54017" y="385007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loudFormation service icon." id="466" name="Google Shape;466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805768" y="1620325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1"/>
          <p:cNvSpPr txBox="1"/>
          <p:nvPr/>
        </p:nvSpPr>
        <p:spPr>
          <a:xfrm>
            <a:off x="2039632" y="164640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468" name="Google Shape;468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1"/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erraform Icon | Unofficial 2FA Entry Icons For Open Source ..." id="470" name="Google Shape;470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44250" y="50320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1"/>
          <p:cNvSpPr txBox="1"/>
          <p:nvPr/>
        </p:nvSpPr>
        <p:spPr>
          <a:xfrm>
            <a:off x="269415" y="5589537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1"/>
          <p:cNvSpPr txBox="1"/>
          <p:nvPr/>
        </p:nvSpPr>
        <p:spPr>
          <a:xfrm>
            <a:off x="5782036" y="5978436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6118822" y="5839729"/>
            <a:ext cx="184500" cy="192900"/>
          </a:xfrm>
          <a:prstGeom prst="diamond">
            <a:avLst/>
          </a:prstGeom>
          <a:solidFill>
            <a:srgbClr val="833C0B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1"/>
          <p:cNvCxnSpPr>
            <a:stCxn id="449" idx="0"/>
            <a:endCxn id="473" idx="3"/>
          </p:cNvCxnSpPr>
          <p:nvPr/>
        </p:nvCxnSpPr>
        <p:spPr>
          <a:xfrm flipH="1">
            <a:off x="6303402" y="4835510"/>
            <a:ext cx="1401300" cy="1100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75" name="Google Shape;475;p21"/>
          <p:cNvSpPr txBox="1"/>
          <p:nvPr/>
        </p:nvSpPr>
        <p:spPr>
          <a:xfrm>
            <a:off x="7617397" y="4310785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21"/>
          <p:cNvCxnSpPr>
            <a:stCxn id="441" idx="3"/>
            <a:endCxn id="473" idx="1"/>
          </p:cNvCxnSpPr>
          <p:nvPr/>
        </p:nvCxnSpPr>
        <p:spPr>
          <a:xfrm flipH="1" rot="10800000">
            <a:off x="5216519" y="5936098"/>
            <a:ext cx="902400" cy="25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40" name="Google Shape;440;p21"/>
          <p:cNvSpPr/>
          <p:nvPr/>
        </p:nvSpPr>
        <p:spPr>
          <a:xfrm>
            <a:off x="3624497" y="4019732"/>
            <a:ext cx="1971337" cy="1371317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477" name="Google Shape;47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3844" y="40292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1"/>
          <p:cNvSpPr/>
          <p:nvPr/>
        </p:nvSpPr>
        <p:spPr>
          <a:xfrm>
            <a:off x="3744726" y="4883955"/>
            <a:ext cx="1666409" cy="422596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479" name="Google Shape;47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58484" y="489247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1"/>
          <p:cNvSpPr/>
          <p:nvPr/>
        </p:nvSpPr>
        <p:spPr>
          <a:xfrm>
            <a:off x="1797796" y="5924516"/>
            <a:ext cx="1695900" cy="550945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8638037" y="3361390"/>
            <a:ext cx="3292069" cy="3315756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8858286" y="3705807"/>
            <a:ext cx="2954678" cy="2789860"/>
          </a:xfrm>
          <a:prstGeom prst="roundRect">
            <a:avLst>
              <a:gd fmla="val 827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21"/>
          <p:cNvPicPr preferRelativeResize="0"/>
          <p:nvPr/>
        </p:nvPicPr>
        <p:blipFill rotWithShape="1">
          <a:blip r:embed="rId17">
            <a:alphaModFix/>
          </a:blip>
          <a:srcRect b="-59116" l="-6931" r="-5592" t="-49479"/>
          <a:stretch/>
        </p:blipFill>
        <p:spPr>
          <a:xfrm>
            <a:off x="8672815" y="3379766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1"/>
          <p:cNvSpPr txBox="1"/>
          <p:nvPr/>
        </p:nvSpPr>
        <p:spPr>
          <a:xfrm>
            <a:off x="8845794" y="3674394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b="0" i="0" sz="9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5" name="Google Shape;485;p21"/>
          <p:cNvCxnSpPr>
            <a:stCxn id="434" idx="3"/>
          </p:cNvCxnSpPr>
          <p:nvPr/>
        </p:nvCxnSpPr>
        <p:spPr>
          <a:xfrm flipH="1" rot="10800000">
            <a:off x="5293794" y="4032173"/>
            <a:ext cx="1081500" cy="199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486" name="Google Shape;486;p21"/>
          <p:cNvCxnSpPr/>
          <p:nvPr/>
        </p:nvCxnSpPr>
        <p:spPr>
          <a:xfrm>
            <a:off x="9446710" y="5147195"/>
            <a:ext cx="480395" cy="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87" name="Google Shape;487;p21"/>
          <p:cNvSpPr/>
          <p:nvPr/>
        </p:nvSpPr>
        <p:spPr>
          <a:xfrm>
            <a:off x="8486599" y="4932995"/>
            <a:ext cx="934498" cy="4284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8" name="Google Shape;488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587234" y="4988922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9" name="Google Shape;489;p21"/>
          <p:cNvCxnSpPr>
            <a:endCxn id="487" idx="1"/>
          </p:cNvCxnSpPr>
          <p:nvPr/>
        </p:nvCxnSpPr>
        <p:spPr>
          <a:xfrm>
            <a:off x="7829599" y="4716695"/>
            <a:ext cx="657000" cy="43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Command Line Interface (AWS CLI) service icon." id="490" name="Google Shape;490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9712" y="1842627"/>
            <a:ext cx="343783" cy="34378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1"/>
          <p:cNvSpPr txBox="1"/>
          <p:nvPr/>
        </p:nvSpPr>
        <p:spPr>
          <a:xfrm>
            <a:off x="246653" y="2215845"/>
            <a:ext cx="7698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및 서비스 관리)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p21"/>
          <p:cNvCxnSpPr>
            <a:stCxn id="490" idx="3"/>
            <a:endCxn id="466" idx="1"/>
          </p:cNvCxnSpPr>
          <p:nvPr/>
        </p:nvCxnSpPr>
        <p:spPr>
          <a:xfrm flipH="1" rot="10800000">
            <a:off x="803495" y="1805119"/>
            <a:ext cx="1002300" cy="209400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93" name="Google Shape;493;p21"/>
          <p:cNvCxnSpPr/>
          <p:nvPr/>
        </p:nvCxnSpPr>
        <p:spPr>
          <a:xfrm>
            <a:off x="803495" y="5261244"/>
            <a:ext cx="7834542" cy="397146"/>
          </a:xfrm>
          <a:prstGeom prst="straightConnector1">
            <a:avLst/>
          </a:prstGeom>
          <a:noFill/>
          <a:ln cap="flat" cmpd="sng" w="25400">
            <a:solidFill>
              <a:schemeClr val="accent6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grpSp>
        <p:nvGrpSpPr>
          <p:cNvPr id="494" name="Google Shape;494;p21"/>
          <p:cNvGrpSpPr/>
          <p:nvPr/>
        </p:nvGrpSpPr>
        <p:grpSpPr>
          <a:xfrm>
            <a:off x="10202994" y="3968429"/>
            <a:ext cx="1566830" cy="2430055"/>
            <a:chOff x="2178032" y="1054764"/>
            <a:chExt cx="1230625" cy="637511"/>
          </a:xfrm>
        </p:grpSpPr>
        <p:sp>
          <p:nvSpPr>
            <p:cNvPr id="495" name="Google Shape;495;p21"/>
            <p:cNvSpPr/>
            <p:nvPr/>
          </p:nvSpPr>
          <p:spPr>
            <a:xfrm>
              <a:off x="2178036" y="1054764"/>
              <a:ext cx="1230621" cy="637511"/>
            </a:xfrm>
            <a:prstGeom prst="roundRect">
              <a:avLst>
                <a:gd fmla="val 827" name="adj"/>
              </a:avLst>
            </a:prstGeom>
            <a:solidFill>
              <a:srgbClr val="ECEF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1"/>
            <p:cNvSpPr txBox="1"/>
            <p:nvPr/>
          </p:nvSpPr>
          <p:spPr>
            <a:xfrm>
              <a:off x="2178032" y="1054765"/>
              <a:ext cx="1035156" cy="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ts val="750"/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Region (asia-northeast3)</a:t>
              </a:r>
              <a:endParaRPr b="0" i="0" sz="600" u="none" cap="none" strike="noStrik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7" name="Google Shape;497;p21"/>
          <p:cNvGrpSpPr/>
          <p:nvPr/>
        </p:nvGrpSpPr>
        <p:grpSpPr>
          <a:xfrm>
            <a:off x="10284801" y="4259266"/>
            <a:ext cx="1378282" cy="1200440"/>
            <a:chOff x="2628329" y="1054764"/>
            <a:chExt cx="736421" cy="204256"/>
          </a:xfrm>
        </p:grpSpPr>
        <p:sp>
          <p:nvSpPr>
            <p:cNvPr id="498" name="Google Shape;498;p21"/>
            <p:cNvSpPr/>
            <p:nvPr/>
          </p:nvSpPr>
          <p:spPr>
            <a:xfrm>
              <a:off x="2628329" y="1054764"/>
              <a:ext cx="736421" cy="204256"/>
            </a:xfrm>
            <a:prstGeom prst="roundRect">
              <a:avLst>
                <a:gd fmla="val 827" name="adj"/>
              </a:avLst>
            </a:prstGeom>
            <a:solidFill>
              <a:srgbClr val="EDE7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1"/>
            <p:cNvSpPr txBox="1"/>
            <p:nvPr/>
          </p:nvSpPr>
          <p:spPr>
            <a:xfrm>
              <a:off x="2637068" y="1062622"/>
              <a:ext cx="704190" cy="534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0" wrap="square" tIns="64000">
              <a:noAutofit/>
            </a:bodyPr>
            <a:lstStyle/>
            <a:p>
              <a:pPr indent="0" lvl="0" marL="0" marR="0" rtl="0" algn="l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SzPts val="750"/>
                <a:buFont typeface="Roboto"/>
                <a:buNone/>
              </a:pPr>
              <a:r>
                <a:rPr b="0" i="0" lang="en-US" sz="750" u="none" cap="none" strike="noStrik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 (Regional)</a:t>
              </a:r>
              <a:endParaRPr b="0" i="0" sz="600" u="none" cap="none" strike="noStrik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0" name="Google Shape;500;p21"/>
          <p:cNvSpPr/>
          <p:nvPr/>
        </p:nvSpPr>
        <p:spPr>
          <a:xfrm>
            <a:off x="9927105" y="4932995"/>
            <a:ext cx="934497" cy="4284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1" name="Google Shape;501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980109" y="5012492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2" name="Google Shape;502;p21"/>
          <p:cNvCxnSpPr>
            <a:endCxn id="475" idx="1"/>
          </p:cNvCxnSpPr>
          <p:nvPr/>
        </p:nvCxnSpPr>
        <p:spPr>
          <a:xfrm>
            <a:off x="5539597" y="3236335"/>
            <a:ext cx="2077800" cy="1189800"/>
          </a:xfrm>
          <a:prstGeom prst="bentConnector3">
            <a:avLst>
              <a:gd fmla="val 99596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503" name="Google Shape;503;p21"/>
          <p:cNvSpPr/>
          <p:nvPr/>
        </p:nvSpPr>
        <p:spPr>
          <a:xfrm>
            <a:off x="8159379" y="1113104"/>
            <a:ext cx="3707555" cy="1488235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1"/>
          <p:cNvSpPr txBox="1"/>
          <p:nvPr/>
        </p:nvSpPr>
        <p:spPr>
          <a:xfrm>
            <a:off x="10699266" y="2032934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1"/>
          <p:cNvSpPr txBox="1"/>
          <p:nvPr/>
        </p:nvSpPr>
        <p:spPr>
          <a:xfrm>
            <a:off x="8999184" y="2057639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8078096" y="2052695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507" name="Google Shape;507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321305" y="1469623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508" name="Google Shape;508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647513" y="1469623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509" name="Google Shape;509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0938216" y="1469623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208005" y="1124622"/>
            <a:ext cx="358405" cy="367878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21"/>
          <p:cNvSpPr/>
          <p:nvPr/>
        </p:nvSpPr>
        <p:spPr>
          <a:xfrm>
            <a:off x="3748657" y="4430299"/>
            <a:ext cx="1695739" cy="4046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512" name="Google Shape;51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47223" y="4428654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2"/>
          <p:cNvSpPr txBox="1"/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 파이프라인 프로세스 (전체)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mmand Line Interface (AWS CLI) service icon." id="519" name="Google Shape;5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455" y="3947285"/>
            <a:ext cx="343783" cy="34378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2"/>
          <p:cNvSpPr txBox="1"/>
          <p:nvPr/>
        </p:nvSpPr>
        <p:spPr>
          <a:xfrm>
            <a:off x="268396" y="4320503"/>
            <a:ext cx="7698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및 서비스 관리)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1" name="Google Shape;5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26" y="1614147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2"/>
          <p:cNvSpPr txBox="1"/>
          <p:nvPr/>
        </p:nvSpPr>
        <p:spPr>
          <a:xfrm>
            <a:off x="266289" y="1978812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564" y="2572339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2"/>
          <p:cNvSpPr txBox="1"/>
          <p:nvPr/>
        </p:nvSpPr>
        <p:spPr>
          <a:xfrm>
            <a:off x="272671" y="3062519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" name="Google Shape;525;p22"/>
          <p:cNvCxnSpPr>
            <a:stCxn id="523" idx="0"/>
            <a:endCxn id="522" idx="0"/>
          </p:cNvCxnSpPr>
          <p:nvPr/>
        </p:nvCxnSpPr>
        <p:spPr>
          <a:xfrm rot="10800000">
            <a:off x="624105" y="1978939"/>
            <a:ext cx="34200" cy="593400"/>
          </a:xfrm>
          <a:prstGeom prst="straightConnector1">
            <a:avLst/>
          </a:prstGeom>
          <a:noFill/>
          <a:ln cap="flat" cmpd="sng" w="25400">
            <a:solidFill>
              <a:srgbClr val="C55A11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26" name="Google Shape;526;p22"/>
          <p:cNvCxnSpPr>
            <a:stCxn id="527" idx="1"/>
            <a:endCxn id="521" idx="3"/>
          </p:cNvCxnSpPr>
          <p:nvPr/>
        </p:nvCxnSpPr>
        <p:spPr>
          <a:xfrm rot="10800000">
            <a:off x="801221" y="1785865"/>
            <a:ext cx="1132200" cy="2676900"/>
          </a:xfrm>
          <a:prstGeom prst="straightConnector1">
            <a:avLst/>
          </a:prstGeom>
          <a:noFill/>
          <a:ln cap="flat" cmpd="sng" w="25400">
            <a:solidFill>
              <a:srgbClr val="C55A11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AWS Cloud group icon with AWS logo." id="528" name="Google Shape;5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gion group" id="529" name="Google Shape;529;p22"/>
          <p:cNvSpPr/>
          <p:nvPr/>
        </p:nvSpPr>
        <p:spPr>
          <a:xfrm>
            <a:off x="1613914" y="1243862"/>
            <a:ext cx="10285794" cy="3592311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Platform Zone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gion group icon." id="530" name="Google Shape;5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3914" y="1237719"/>
            <a:ext cx="381000" cy="361036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2"/>
          <p:cNvSpPr/>
          <p:nvPr/>
        </p:nvSpPr>
        <p:spPr>
          <a:xfrm>
            <a:off x="1720173" y="1854441"/>
            <a:ext cx="3796423" cy="205479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532" name="Google Shape;53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20174" y="185051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22"/>
          <p:cNvSpPr/>
          <p:nvPr/>
        </p:nvSpPr>
        <p:spPr>
          <a:xfrm>
            <a:off x="1838379" y="2349241"/>
            <a:ext cx="1719300" cy="602843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534" name="Google Shape;53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36945" y="23475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535" name="Google Shape;53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52131" y="23667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 gateway resource icon for the Amazon VPC service.&#10;" id="536" name="Google Shape;536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01874" y="28317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2"/>
          <p:cNvSpPr txBox="1"/>
          <p:nvPr/>
        </p:nvSpPr>
        <p:spPr>
          <a:xfrm>
            <a:off x="8605618" y="328898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cap="flat" cmpd="sng" w="15875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6213250" y="3664613"/>
            <a:ext cx="3573035" cy="1040681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540" name="Google Shape;54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3250" y="3675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vate subnet group icon. " id="541" name="Google Shape;541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06142" y="40819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2"/>
          <p:cNvSpPr/>
          <p:nvPr/>
        </p:nvSpPr>
        <p:spPr>
          <a:xfrm>
            <a:off x="8117646" y="4065115"/>
            <a:ext cx="1591364" cy="564527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543" name="Google Shape;543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03922" y="4073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Route 53 service icon." id="544" name="Google Shape;544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2"/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8285914" y="1960495"/>
            <a:ext cx="2513445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8349393" y="2411951"/>
            <a:ext cx="11301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548" name="Google Shape;548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7959" y="241030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2"/>
          <p:cNvSpPr/>
          <p:nvPr/>
        </p:nvSpPr>
        <p:spPr>
          <a:xfrm>
            <a:off x="9574248" y="2413932"/>
            <a:ext cx="114800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550" name="Google Shape;550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92952" y="2427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2"/>
          <p:cNvSpPr/>
          <p:nvPr/>
        </p:nvSpPr>
        <p:spPr>
          <a:xfrm>
            <a:off x="6220591" y="1970653"/>
            <a:ext cx="1722839" cy="1360282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552" name="Google Shape;55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1499" y="19811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22"/>
          <p:cNvSpPr/>
          <p:nvPr/>
        </p:nvSpPr>
        <p:spPr>
          <a:xfrm>
            <a:off x="6558075" y="2394281"/>
            <a:ext cx="1275960" cy="600005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554" name="Google Shape;55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48322" y="2389224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555" name="Google Shape;55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03897" y="27902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2"/>
          <p:cNvSpPr txBox="1"/>
          <p:nvPr/>
        </p:nvSpPr>
        <p:spPr>
          <a:xfrm>
            <a:off x="5878107" y="322038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net gateway resource icon for the Amazon VPC service.&#10;" id="557" name="Google Shape;55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34384" y="28914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2"/>
          <p:cNvSpPr txBox="1"/>
          <p:nvPr/>
        </p:nvSpPr>
        <p:spPr>
          <a:xfrm>
            <a:off x="8308399" y="2957081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1878783" y="3015935"/>
            <a:ext cx="1668600" cy="69055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560" name="Google Shape;560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893452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Identity and Access Management (IAM) service icon." id="561" name="Google Shape;561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2"/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9918068" y="3429001"/>
            <a:ext cx="1815520" cy="1291406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564" name="Google Shape;56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18068" y="343405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2"/>
          <p:cNvSpPr/>
          <p:nvPr/>
        </p:nvSpPr>
        <p:spPr>
          <a:xfrm>
            <a:off x="10056410" y="4332304"/>
            <a:ext cx="1593730" cy="349841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566" name="Google Shape;566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56410" y="4343203"/>
            <a:ext cx="381000" cy="33894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2"/>
          <p:cNvSpPr/>
          <p:nvPr/>
        </p:nvSpPr>
        <p:spPr>
          <a:xfrm>
            <a:off x="6290287" y="4078697"/>
            <a:ext cx="1695900" cy="550945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22"/>
          <p:cNvCxnSpPr>
            <a:stCxn id="569" idx="3"/>
            <a:endCxn id="527" idx="1"/>
          </p:cNvCxnSpPr>
          <p:nvPr/>
        </p:nvCxnSpPr>
        <p:spPr>
          <a:xfrm flipH="1" rot="10800000">
            <a:off x="884046" y="4462685"/>
            <a:ext cx="1049400" cy="1254000"/>
          </a:xfrm>
          <a:prstGeom prst="straightConnector1">
            <a:avLst/>
          </a:prstGeom>
          <a:noFill/>
          <a:ln cap="flat" cmpd="sng" w="25400">
            <a:solidFill>
              <a:srgbClr val="2F5496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AWS CodePipeline service icon." id="570" name="Google Shape;570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89488" y="432005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2"/>
          <p:cNvSpPr txBox="1"/>
          <p:nvPr/>
        </p:nvSpPr>
        <p:spPr>
          <a:xfrm>
            <a:off x="3356225" y="4310329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Commit service icon." id="527" name="Google Shape;527;p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933421" y="4320503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2"/>
          <p:cNvSpPr txBox="1"/>
          <p:nvPr/>
        </p:nvSpPr>
        <p:spPr>
          <a:xfrm>
            <a:off x="2197528" y="4305851"/>
            <a:ext cx="784118" cy="3434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ecrets Manager service icon." id="573" name="Google Shape;573;p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667386" y="1389198"/>
            <a:ext cx="306167" cy="292639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22"/>
          <p:cNvSpPr txBox="1"/>
          <p:nvPr/>
        </p:nvSpPr>
        <p:spPr>
          <a:xfrm>
            <a:off x="6825076" y="1378689"/>
            <a:ext cx="11396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Secrets Manager</a:t>
            </a:r>
            <a:endParaRPr/>
          </a:p>
        </p:txBody>
      </p:sp>
      <p:pic>
        <p:nvPicPr>
          <p:cNvPr descr="AWS Systems Manager service icon." id="575" name="Google Shape;575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950630" y="1385608"/>
            <a:ext cx="289800" cy="2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2"/>
          <p:cNvSpPr txBox="1"/>
          <p:nvPr/>
        </p:nvSpPr>
        <p:spPr>
          <a:xfrm>
            <a:off x="8109849" y="1363026"/>
            <a:ext cx="11394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Systems Manager</a:t>
            </a:r>
            <a:endParaRPr/>
          </a:p>
        </p:txBody>
      </p:sp>
      <p:pic>
        <p:nvPicPr>
          <p:cNvPr descr="Amazon Simple Storage Service (Amazon S3) service icon." id="577" name="Google Shape;577;p2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417924" y="3996503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2"/>
          <p:cNvSpPr txBox="1"/>
          <p:nvPr/>
        </p:nvSpPr>
        <p:spPr>
          <a:xfrm>
            <a:off x="4526142" y="397056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Deploy service icon." id="579" name="Google Shape;579;p2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490722" y="1396189"/>
            <a:ext cx="291353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2"/>
          <p:cNvSpPr txBox="1"/>
          <p:nvPr/>
        </p:nvSpPr>
        <p:spPr>
          <a:xfrm>
            <a:off x="5770053" y="1370808"/>
            <a:ext cx="7459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CodeDeploy</a:t>
            </a:r>
            <a:endParaRPr/>
          </a:p>
        </p:txBody>
      </p:sp>
      <p:pic>
        <p:nvPicPr>
          <p:cNvPr descr="AWS CodeBuild service icon." id="581" name="Google Shape;581;p2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396667" y="4331843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2"/>
          <p:cNvSpPr txBox="1"/>
          <p:nvPr/>
        </p:nvSpPr>
        <p:spPr>
          <a:xfrm>
            <a:off x="4604794" y="4338320"/>
            <a:ext cx="8873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CodeBuild</a:t>
            </a:r>
            <a:endParaRPr/>
          </a:p>
        </p:txBody>
      </p:sp>
      <p:sp>
        <p:nvSpPr>
          <p:cNvPr id="583" name="Google Shape;583;p22"/>
          <p:cNvSpPr/>
          <p:nvPr/>
        </p:nvSpPr>
        <p:spPr>
          <a:xfrm>
            <a:off x="3659795" y="3015935"/>
            <a:ext cx="1668600" cy="69055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584" name="Google Shape;584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74464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22"/>
          <p:cNvSpPr txBox="1"/>
          <p:nvPr/>
        </p:nvSpPr>
        <p:spPr>
          <a:xfrm>
            <a:off x="1314532" y="274861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2278811" y="5046505"/>
            <a:ext cx="3707555" cy="1346889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2"/>
          <p:cNvSpPr txBox="1"/>
          <p:nvPr/>
        </p:nvSpPr>
        <p:spPr>
          <a:xfrm>
            <a:off x="4818698" y="5966335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2"/>
          <p:cNvSpPr txBox="1"/>
          <p:nvPr/>
        </p:nvSpPr>
        <p:spPr>
          <a:xfrm>
            <a:off x="3118616" y="5991040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2"/>
          <p:cNvSpPr txBox="1"/>
          <p:nvPr/>
        </p:nvSpPr>
        <p:spPr>
          <a:xfrm>
            <a:off x="2197528" y="598609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590" name="Google Shape;590;p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440737" y="5403024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591" name="Google Shape;591;p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766945" y="5403024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592" name="Google Shape;592;p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057648" y="5403024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564" y="5490944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2"/>
          <p:cNvSpPr txBox="1"/>
          <p:nvPr/>
        </p:nvSpPr>
        <p:spPr>
          <a:xfrm>
            <a:off x="272671" y="5981124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22"/>
          <p:cNvCxnSpPr>
            <a:stCxn id="527" idx="2"/>
            <a:endCxn id="570" idx="2"/>
          </p:cNvCxnSpPr>
          <p:nvPr/>
        </p:nvCxnSpPr>
        <p:spPr>
          <a:xfrm flipH="1" rot="-5400000">
            <a:off x="2697433" y="3983277"/>
            <a:ext cx="25500" cy="1269000"/>
          </a:xfrm>
          <a:prstGeom prst="bentConnector3">
            <a:avLst>
              <a:gd fmla="val 995927" name="adj1"/>
            </a:avLst>
          </a:prstGeom>
          <a:noFill/>
          <a:ln cap="flat" cmpd="sng" w="25400">
            <a:solidFill>
              <a:srgbClr val="C55A11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5" name="Google Shape;595;p22"/>
          <p:cNvCxnSpPr/>
          <p:nvPr/>
        </p:nvCxnSpPr>
        <p:spPr>
          <a:xfrm>
            <a:off x="3402710" y="4630388"/>
            <a:ext cx="1207200" cy="11700"/>
          </a:xfrm>
          <a:prstGeom prst="bentConnector3">
            <a:avLst>
              <a:gd fmla="val 0" name="adj1"/>
            </a:avLst>
          </a:prstGeom>
          <a:noFill/>
          <a:ln cap="flat" cmpd="sng" w="25400">
            <a:solidFill>
              <a:srgbClr val="C55A11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6" name="Google Shape;596;p22"/>
          <p:cNvCxnSpPr/>
          <p:nvPr/>
        </p:nvCxnSpPr>
        <p:spPr>
          <a:xfrm rot="-5400000">
            <a:off x="3700921" y="2772809"/>
            <a:ext cx="2931900" cy="950700"/>
          </a:xfrm>
          <a:prstGeom prst="bentConnector3">
            <a:avLst>
              <a:gd fmla="val -1" name="adj1"/>
            </a:avLst>
          </a:prstGeom>
          <a:noFill/>
          <a:ln cap="flat" cmpd="sng" w="25400">
            <a:solidFill>
              <a:srgbClr val="C55A11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7" name="Google Shape;597;p22"/>
          <p:cNvCxnSpPr>
            <a:endCxn id="563" idx="2"/>
          </p:cNvCxnSpPr>
          <p:nvPr/>
        </p:nvCxnSpPr>
        <p:spPr>
          <a:xfrm>
            <a:off x="1933528" y="4616607"/>
            <a:ext cx="8892300" cy="103800"/>
          </a:xfrm>
          <a:prstGeom prst="bentConnector4">
            <a:avLst>
              <a:gd fmla="val 44895" name="adj1"/>
              <a:gd fmla="val 320232" name="adj2"/>
            </a:avLst>
          </a:prstGeom>
          <a:noFill/>
          <a:ln cap="flat" cmpd="sng" w="25400">
            <a:solidFill>
              <a:srgbClr val="2F5496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8" name="Google Shape;598;p22"/>
          <p:cNvCxnSpPr>
            <a:stCxn id="586" idx="2"/>
            <a:endCxn id="563" idx="2"/>
          </p:cNvCxnSpPr>
          <p:nvPr/>
        </p:nvCxnSpPr>
        <p:spPr>
          <a:xfrm rot="-5400000">
            <a:off x="6642689" y="2210194"/>
            <a:ext cx="1673100" cy="6693300"/>
          </a:xfrm>
          <a:prstGeom prst="bentConnector3">
            <a:avLst>
              <a:gd fmla="val -13663" name="adj1"/>
            </a:avLst>
          </a:prstGeom>
          <a:noFill/>
          <a:ln cap="flat" cmpd="sng" w="25400">
            <a:solidFill>
              <a:srgbClr val="2F5496"/>
            </a:solidFill>
            <a:prstDash val="solid"/>
            <a:round/>
            <a:headEnd len="med" w="med" type="stealth"/>
            <a:tailEnd len="med" w="med" type="stealth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599" name="Google Shape;599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2308956" y="5059915"/>
            <a:ext cx="358405" cy="36787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2"/>
          <p:cNvSpPr/>
          <p:nvPr/>
        </p:nvSpPr>
        <p:spPr>
          <a:xfrm>
            <a:off x="10073608" y="3924364"/>
            <a:ext cx="1554157" cy="372892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601" name="Google Shape;60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63855" y="3919306"/>
            <a:ext cx="381000" cy="3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 파이프라인 프로세스 – LifeSync 360 Service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607" name="Google Shape;6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3"/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609" name="Google Shape;609;p23"/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descr="Region group" id="610" name="Google Shape;610;p23"/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611" name="Google Shape;611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2" name="Google Shape;612;p23"/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613" name="Google Shape;61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3"/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615" name="Google Shape;61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616" name="Google Shape;61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23"/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plication Load Balancer resource icon for the Elastic Load Balancing service." id="618" name="Google Shape;61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9" name="Google Shape;619;p23"/>
          <p:cNvCxnSpPr>
            <a:stCxn id="620" idx="3"/>
            <a:endCxn id="618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620" name="Google Shape;62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3"/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3"/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623" name="Google Shape;623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23"/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5" name="Google Shape;625;p23"/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6" name="Google Shape;626;p23"/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627" name="Google Shape;627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23"/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3"/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630" name="Google Shape;630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루 클라우드 로고 디자인 아이콘 벡터, 구름 아이콘, 표지 그림, 파란색 아이콘 PNG, 일러스트 및 벡터 에 대한 무료 다운로드 -  Pngtree" id="631" name="Google Shape;631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3"/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Commit service icon." id="633" name="Google Shape;633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76344" y="5187671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3"/>
          <p:cNvSpPr txBox="1"/>
          <p:nvPr/>
        </p:nvSpPr>
        <p:spPr>
          <a:xfrm>
            <a:off x="4083140" y="5475010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635" name="Google Shape;63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3"/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638" name="Google Shape;6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3"/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640" name="Google Shape;64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641" name="Google Shape;64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23"/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644" name="Google Shape;644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645" name="Google Shape;645;p2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3"/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647" name="Google Shape;647;p2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23"/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Registry (Amazon ECR) Service icon." id="649" name="Google Shape;649;p2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047178" y="4569542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23"/>
          <p:cNvSpPr txBox="1"/>
          <p:nvPr/>
        </p:nvSpPr>
        <p:spPr>
          <a:xfrm>
            <a:off x="6720042" y="4937230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2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999290" y="1844576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23"/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3" name="Google Shape;653;p2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523289" y="1818344"/>
            <a:ext cx="397735" cy="39773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23"/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외부망 개발 = GitHub Enterprise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내부망 운영 = CodeCommit</a:t>
            </a:r>
            <a:endParaRPr/>
          </a:p>
        </p:txBody>
      </p:sp>
      <p:sp>
        <p:nvSpPr>
          <p:cNvPr id="656" name="Google Shape;656;p23"/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7" name="Google Shape;657;p23"/>
          <p:cNvCxnSpPr>
            <a:stCxn id="654" idx="2"/>
          </p:cNvCxnSpPr>
          <p:nvPr/>
        </p:nvCxnSpPr>
        <p:spPr>
          <a:xfrm>
            <a:off x="2775789" y="2547755"/>
            <a:ext cx="223800" cy="110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CodePipeline service icon." id="658" name="Google Shape;658;p2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338065" y="5187670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23"/>
          <p:cNvSpPr txBox="1"/>
          <p:nvPr/>
        </p:nvSpPr>
        <p:spPr>
          <a:xfrm>
            <a:off x="4917473" y="5467176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Deploy service icon." id="660" name="Google Shape;660;p2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777206" y="3667419"/>
            <a:ext cx="291353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3"/>
          <p:cNvSpPr txBox="1"/>
          <p:nvPr/>
        </p:nvSpPr>
        <p:spPr>
          <a:xfrm>
            <a:off x="6557570" y="3974095"/>
            <a:ext cx="7459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CodeDeploy</a:t>
            </a:r>
            <a:endParaRPr/>
          </a:p>
        </p:txBody>
      </p:sp>
      <p:cxnSp>
        <p:nvCxnSpPr>
          <p:cNvPr id="662" name="Google Shape;662;p23"/>
          <p:cNvCxnSpPr>
            <a:stCxn id="633" idx="3"/>
            <a:endCxn id="658" idx="1"/>
          </p:cNvCxnSpPr>
          <p:nvPr/>
        </p:nvCxnSpPr>
        <p:spPr>
          <a:xfrm flipH="1" rot="10800000">
            <a:off x="4760868" y="5327533"/>
            <a:ext cx="577200" cy="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63" name="Google Shape;663;p23"/>
          <p:cNvCxnSpPr/>
          <p:nvPr/>
        </p:nvCxnSpPr>
        <p:spPr>
          <a:xfrm flipH="1" rot="10800000">
            <a:off x="5612576" y="5327423"/>
            <a:ext cx="577197" cy="251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64" name="Google Shape;664;p23"/>
          <p:cNvCxnSpPr>
            <a:stCxn id="660" idx="0"/>
            <a:endCxn id="630" idx="2"/>
          </p:cNvCxnSpPr>
          <p:nvPr/>
        </p:nvCxnSpPr>
        <p:spPr>
          <a:xfrm rot="10800000">
            <a:off x="6346583" y="2723319"/>
            <a:ext cx="576300" cy="944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5" name="Google Shape;665;p23"/>
          <p:cNvSpPr txBox="1"/>
          <p:nvPr/>
        </p:nvSpPr>
        <p:spPr>
          <a:xfrm>
            <a:off x="1464852" y="1623322"/>
            <a:ext cx="133684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ECS Service Repo</a:t>
            </a:r>
            <a:endParaRPr/>
          </a:p>
        </p:txBody>
      </p:sp>
      <p:cxnSp>
        <p:nvCxnSpPr>
          <p:cNvPr id="666" name="Google Shape;666;p23"/>
          <p:cNvCxnSpPr>
            <a:stCxn id="632" idx="0"/>
            <a:endCxn id="633" idx="1"/>
          </p:cNvCxnSpPr>
          <p:nvPr/>
        </p:nvCxnSpPr>
        <p:spPr>
          <a:xfrm>
            <a:off x="2991968" y="3733373"/>
            <a:ext cx="1484400" cy="159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7" name="Google Shape;667;p23"/>
          <p:cNvSpPr txBox="1"/>
          <p:nvPr/>
        </p:nvSpPr>
        <p:spPr>
          <a:xfrm>
            <a:off x="4767650" y="5845326"/>
            <a:ext cx="138253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Pipeline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3"/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Unit Test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Security Scan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Docker Build Test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Build service icon." id="669" name="Google Shape;669;p2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263122" y="5171319"/>
            <a:ext cx="345022" cy="345022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23"/>
          <p:cNvSpPr txBox="1"/>
          <p:nvPr/>
        </p:nvSpPr>
        <p:spPr>
          <a:xfrm>
            <a:off x="6019901" y="5533023"/>
            <a:ext cx="8873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CodeBuild</a:t>
            </a:r>
            <a:endParaRPr/>
          </a:p>
        </p:txBody>
      </p:sp>
      <p:cxnSp>
        <p:nvCxnSpPr>
          <p:cNvPr id="671" name="Google Shape;671;p23"/>
          <p:cNvCxnSpPr>
            <a:stCxn id="649" idx="0"/>
            <a:endCxn id="661" idx="0"/>
          </p:cNvCxnSpPr>
          <p:nvPr/>
        </p:nvCxnSpPr>
        <p:spPr>
          <a:xfrm rot="10800000">
            <a:off x="6930544" y="3974042"/>
            <a:ext cx="271800" cy="595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72" name="Google Shape;672;p23"/>
          <p:cNvCxnSpPr>
            <a:stCxn id="669" idx="3"/>
            <a:endCxn id="650" idx="0"/>
          </p:cNvCxnSpPr>
          <p:nvPr/>
        </p:nvCxnSpPr>
        <p:spPr>
          <a:xfrm flipH="1" rot="10800000">
            <a:off x="6608144" y="4937330"/>
            <a:ext cx="596100" cy="406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3" name="Google Shape;673;p23"/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4" name="Google Shape;674;p2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967746" y="3277322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23"/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23"/>
          <p:cNvCxnSpPr>
            <a:stCxn id="674" idx="0"/>
            <a:endCxn id="652" idx="0"/>
          </p:cNvCxnSpPr>
          <p:nvPr/>
        </p:nvCxnSpPr>
        <p:spPr>
          <a:xfrm rot="10800000">
            <a:off x="2165887" y="2209322"/>
            <a:ext cx="27600" cy="106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7" name="Google Shape;677;p23"/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445519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592643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3"/>
          <p:cNvSpPr/>
          <p:nvPr/>
        </p:nvSpPr>
        <p:spPr>
          <a:xfrm>
            <a:off x="7440170" y="460237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7139842" y="367304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3"/>
          <p:cNvSpPr/>
          <p:nvPr/>
        </p:nvSpPr>
        <p:spPr>
          <a:xfrm>
            <a:off x="6553489" y="24300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3"/>
          <p:cNvSpPr txBox="1"/>
          <p:nvPr/>
        </p:nvSpPr>
        <p:spPr>
          <a:xfrm>
            <a:off x="10026216" y="1529880"/>
            <a:ext cx="1747012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1.Deveoper Push -&gt; GitHub Repo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GitHub Actions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Test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Scan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Test</a:t>
            </a:r>
            <a:endParaRPr/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테스트 통과 시, GitHub Action 자동 승인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CodeCommit Mirror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CodePipeline -&gt; CodeBuild -&gt; Docker Build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Amazon ECR Push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AWS CodeDeploy -&gt; ECS Rolling Deploy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ALB 연결</a:t>
            </a:r>
            <a:endParaRPr/>
          </a:p>
        </p:txBody>
      </p:sp>
      <p:sp>
        <p:nvSpPr>
          <p:cNvPr id="684" name="Google Shape;684;p23"/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3"/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 승인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3"/>
          <p:cNvSpPr txBox="1"/>
          <p:nvPr/>
        </p:nvSpPr>
        <p:spPr>
          <a:xfrm>
            <a:off x="-13938" y="1330595"/>
            <a:ext cx="1893066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lifesync360-service-repo/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backend/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auth/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 ├── user-register-api.py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 ├── user-login-api.py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 └── user-consent-api.py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dashboard/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 └── lifesync360_ECS_Main.py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requirements.txt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└── config.py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frontend/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register/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 └── user-register.html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login/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 └── user-login.html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consent/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│ └── user-consent.html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└── dashboard/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└── main.html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docker/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Dockerfile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nginx.conf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└── supervisord.conf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deploy/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appspec.yml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buildspec.yml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├── taskdef.json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└── deploy.sh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3"/>
          <p:cNvSpPr txBox="1"/>
          <p:nvPr/>
        </p:nvSpPr>
        <p:spPr>
          <a:xfrm>
            <a:off x="7046387" y="5642705"/>
            <a:ext cx="30627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s3-script-bucket ← 코드 전용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s3-artifact-bucket ← CI/CD 산출물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688" name="Google Shape;688;p2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154907" y="5232195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3"/>
          <p:cNvSpPr txBox="1"/>
          <p:nvPr/>
        </p:nvSpPr>
        <p:spPr>
          <a:xfrm>
            <a:off x="7431390" y="528798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urora service icon." id="690" name="Google Shape;690;p2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08060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23"/>
          <p:cNvSpPr txBox="1"/>
          <p:nvPr/>
        </p:nvSpPr>
        <p:spPr>
          <a:xfrm>
            <a:off x="783263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DynamoDB service icon." id="692" name="Google Shape;692;p2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125266" y="1240196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23"/>
          <p:cNvSpPr txBox="1"/>
          <p:nvPr/>
        </p:nvSpPr>
        <p:spPr>
          <a:xfrm>
            <a:off x="7392161" y="1206214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694" name="Google Shape;694;p2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68783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3"/>
          <p:cNvSpPr txBox="1"/>
          <p:nvPr/>
        </p:nvSpPr>
        <p:spPr>
          <a:xfrm>
            <a:off x="835220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696" name="Google Shape;696;p2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30520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3"/>
          <p:cNvSpPr txBox="1"/>
          <p:nvPr/>
        </p:nvSpPr>
        <p:spPr>
          <a:xfrm>
            <a:off x="857421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3"/>
          <p:cNvSpPr/>
          <p:nvPr/>
        </p:nvSpPr>
        <p:spPr>
          <a:xfrm>
            <a:off x="7921852" y="1924379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699" name="Google Shape;699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93652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 파이프라인 프로세스 – Wearable EC2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705" name="Google Shape;7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24"/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707" name="Google Shape;707;p24"/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descr="Region group" id="708" name="Google Shape;708;p24"/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709" name="Google Shape;709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NAT gateway resource icon for the Amazon VPC service.&#10;" id="710" name="Google Shape;71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0514" y="44599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24"/>
          <p:cNvSpPr txBox="1"/>
          <p:nvPr/>
        </p:nvSpPr>
        <p:spPr>
          <a:xfrm>
            <a:off x="9014258" y="491713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4"/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714" name="Google Shape;71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24"/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716" name="Google Shape;71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717" name="Google Shape;717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4"/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4"/>
          <p:cNvSpPr/>
          <p:nvPr/>
        </p:nvSpPr>
        <p:spPr>
          <a:xfrm>
            <a:off x="8651407" y="3571341"/>
            <a:ext cx="30939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720" name="Google Shape;7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59576" y="35723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루 클라우드 로고 디자인 아이콘 벡터, 구름 아이콘, 표지 그림, 파란색 아이콘 PNG, 일러스트 및 벡터 에 대한 무료 다운로드 -  Pngtree" id="721" name="Google Shape;721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4"/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4"/>
          <p:cNvSpPr/>
          <p:nvPr/>
        </p:nvSpPr>
        <p:spPr>
          <a:xfrm>
            <a:off x="8758033" y="4040102"/>
            <a:ext cx="11301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724" name="Google Shape;724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756599" y="4038458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4"/>
          <p:cNvSpPr/>
          <p:nvPr/>
        </p:nvSpPr>
        <p:spPr>
          <a:xfrm>
            <a:off x="9969601" y="4024778"/>
            <a:ext cx="1698600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726" name="Google Shape;726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53276" y="40280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odeCommit service icon." id="727" name="Google Shape;727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24"/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729" name="Google Shape;729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70370" y="440497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24"/>
          <p:cNvSpPr txBox="1"/>
          <p:nvPr/>
        </p:nvSpPr>
        <p:spPr>
          <a:xfrm>
            <a:off x="10698951" y="4356654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731" name="Google Shape;731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24"/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4"/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734" name="Google Shape;73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24"/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736" name="Google Shape;73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737" name="Google Shape;737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24"/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net gateway resource icon for the Amazon VPC service.&#10;" id="739" name="Google Shape;739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43024" y="451955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24"/>
          <p:cNvSpPr txBox="1"/>
          <p:nvPr/>
        </p:nvSpPr>
        <p:spPr>
          <a:xfrm>
            <a:off x="8305325" y="491760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741" name="Google Shape;741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4"/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3" name="Google Shape;743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999290" y="1844576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4"/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523289" y="1818344"/>
            <a:ext cx="397735" cy="39773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24"/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4"/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외부망 개발 = GitHub Enterprise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내부망 운영 = CodeCommit</a:t>
            </a:r>
            <a:endParaRPr/>
          </a:p>
        </p:txBody>
      </p:sp>
      <p:cxnSp>
        <p:nvCxnSpPr>
          <p:cNvPr id="748" name="Google Shape;748;p24"/>
          <p:cNvCxnSpPr>
            <a:stCxn id="746" idx="2"/>
          </p:cNvCxnSpPr>
          <p:nvPr/>
        </p:nvCxnSpPr>
        <p:spPr>
          <a:xfrm>
            <a:off x="2775789" y="2547755"/>
            <a:ext cx="223800" cy="110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CodePipeline service icon." id="749" name="Google Shape;749;p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24"/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Deploy service icon." id="751" name="Google Shape;751;p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24"/>
          <p:cNvSpPr txBox="1"/>
          <p:nvPr/>
        </p:nvSpPr>
        <p:spPr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CodeDeploy</a:t>
            </a:r>
            <a:endParaRPr/>
          </a:p>
        </p:txBody>
      </p:sp>
      <p:cxnSp>
        <p:nvCxnSpPr>
          <p:cNvPr id="753" name="Google Shape;753;p24"/>
          <p:cNvCxnSpPr>
            <a:stCxn id="727" idx="3"/>
            <a:endCxn id="749" idx="1"/>
          </p:cNvCxnSpPr>
          <p:nvPr/>
        </p:nvCxnSpPr>
        <p:spPr>
          <a:xfrm flipH="1" rot="10800000">
            <a:off x="4732327" y="5763674"/>
            <a:ext cx="577200" cy="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4" name="Google Shape;754;p24"/>
          <p:cNvCxnSpPr/>
          <p:nvPr/>
        </p:nvCxnSpPr>
        <p:spPr>
          <a:xfrm flipH="1" rot="10800000">
            <a:off x="5584035" y="5763564"/>
            <a:ext cx="577197" cy="251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5" name="Google Shape;755;p24"/>
          <p:cNvCxnSpPr>
            <a:stCxn id="751" idx="1"/>
            <a:endCxn id="732" idx="1"/>
          </p:cNvCxnSpPr>
          <p:nvPr/>
        </p:nvCxnSpPr>
        <p:spPr>
          <a:xfrm rot="10800000">
            <a:off x="5264005" y="4737269"/>
            <a:ext cx="1557000" cy="73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6" name="Google Shape;756;p24"/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wearalbe-agent Repo</a:t>
            </a:r>
            <a:endParaRPr/>
          </a:p>
        </p:txBody>
      </p:sp>
      <p:cxnSp>
        <p:nvCxnSpPr>
          <p:cNvPr id="757" name="Google Shape;757;p24"/>
          <p:cNvCxnSpPr>
            <a:stCxn id="722" idx="0"/>
            <a:endCxn id="727" idx="1"/>
          </p:cNvCxnSpPr>
          <p:nvPr/>
        </p:nvCxnSpPr>
        <p:spPr>
          <a:xfrm>
            <a:off x="2991968" y="3733373"/>
            <a:ext cx="1455900" cy="203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8" name="Google Shape;758;p24"/>
          <p:cNvSpPr txBox="1"/>
          <p:nvPr/>
        </p:nvSpPr>
        <p:spPr>
          <a:xfrm>
            <a:off x="4832969" y="6208022"/>
            <a:ext cx="138253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 Pipeline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4"/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Unit Test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Security Scan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Docker Build Test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Build service icon." id="760" name="Google Shape;760;p2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4"/>
          <p:cNvSpPr txBox="1"/>
          <p:nvPr/>
        </p:nvSpPr>
        <p:spPr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CodeBuild</a:t>
            </a:r>
            <a:endParaRPr/>
          </a:p>
        </p:txBody>
      </p:sp>
      <p:cxnSp>
        <p:nvCxnSpPr>
          <p:cNvPr id="762" name="Google Shape;762;p24"/>
          <p:cNvCxnSpPr>
            <a:stCxn id="760" idx="3"/>
            <a:endCxn id="752" idx="0"/>
          </p:cNvCxnSpPr>
          <p:nvPr/>
        </p:nvCxnSpPr>
        <p:spPr>
          <a:xfrm flipH="1" rot="10800000">
            <a:off x="6579603" y="4975371"/>
            <a:ext cx="394800" cy="804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3" name="Google Shape;763;p24"/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2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967746" y="3277322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24"/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24"/>
          <p:cNvCxnSpPr>
            <a:stCxn id="764" idx="0"/>
            <a:endCxn id="744" idx="0"/>
          </p:cNvCxnSpPr>
          <p:nvPr/>
        </p:nvCxnSpPr>
        <p:spPr>
          <a:xfrm rot="10800000">
            <a:off x="2165887" y="2209322"/>
            <a:ext cx="27600" cy="106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7" name="Google Shape;767;p24"/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4"/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4"/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4"/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5093042" y="496606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4"/>
          <p:cNvSpPr txBox="1"/>
          <p:nvPr/>
        </p:nvSpPr>
        <p:spPr>
          <a:xfrm>
            <a:off x="21075" y="3091084"/>
            <a:ext cx="1863434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1.Deveoper Push -&gt; GitHub Repo -&gt; wearable-agent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GitHub Actions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Test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Scan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Test</a:t>
            </a:r>
            <a:endParaRPr/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테스트 통과시, GitHub Action 자동 승인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CodeCommit Mirror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CodePipeline -&gt; CodeBuild -&gt; 배포 bundle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AWS CodeDeploy -&gt; EC2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애플리케이션 재기동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systemctl restart wearable-agent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4"/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 승인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4"/>
          <p:cNvSpPr txBox="1"/>
          <p:nvPr/>
        </p:nvSpPr>
        <p:spPr>
          <a:xfrm>
            <a:off x="64349" y="798896"/>
            <a:ext cx="1715019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wearable-agent/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appspec.yml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wearable_sender.py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requirements.txt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├── .env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└── scripts/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└── restart.sh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ecrets Manager service icon." id="776" name="Google Shape;776;p2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4"/>
          <p:cNvSpPr txBox="1"/>
          <p:nvPr/>
        </p:nvSpPr>
        <p:spPr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Secrets Manager</a:t>
            </a:r>
            <a:endParaRPr/>
          </a:p>
        </p:txBody>
      </p:sp>
      <p:pic>
        <p:nvPicPr>
          <p:cNvPr descr="Amazon Simple Storage Service (Amazon S3) service icon." id="778" name="Google Shape;778;p2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24"/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780" name="Google Shape;7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24"/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782" name="Google Shape;782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783" name="Google Shape;783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784" name="Google Shape;784;p2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5" name="Google Shape;785;p24"/>
          <p:cNvCxnSpPr>
            <a:stCxn id="786" idx="3"/>
            <a:endCxn id="784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786" name="Google Shape;786;p2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4"/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4"/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789" name="Google Shape;789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24"/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1" name="Google Shape;791;p24"/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2" name="Google Shape;792;p24"/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793" name="Google Shape;793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4"/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4"/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796" name="Google Shape;796;p2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24"/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798" name="Google Shape;79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799" name="Google Shape;799;p2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24"/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4"/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urora service icon." id="802" name="Google Shape;802;p2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24"/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804" name="Google Shape;804;p2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24"/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806" name="Google Shape;806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24"/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808" name="Google Shape;80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24"/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4"/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 파이프라인 프로세스 – Group VM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816" name="Google Shape;8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25"/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818" name="Google Shape;818;p25"/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descr="Region group" id="819" name="Google Shape;819;p25"/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820" name="Google Shape;82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NAT gateway resource icon for the Amazon VPC service.&#10;" id="821" name="Google Shape;82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2443" y="44593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5"/>
          <p:cNvSpPr txBox="1"/>
          <p:nvPr/>
        </p:nvSpPr>
        <p:spPr>
          <a:xfrm>
            <a:off x="9026187" y="4916598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5"/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5"/>
          <p:cNvSpPr/>
          <p:nvPr/>
        </p:nvSpPr>
        <p:spPr>
          <a:xfrm>
            <a:off x="8663336" y="3570802"/>
            <a:ext cx="30939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825" name="Google Shape;82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71505" y="35718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루 클라우드 로고 디자인 아이콘 벡터, 구름 아이콘, 표지 그림, 파란색 아이콘 PNG, 일러스트 및 벡터 에 대한 무료 다운로드 -  Pngtree" id="826" name="Google Shape;82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5"/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5"/>
          <p:cNvSpPr/>
          <p:nvPr/>
        </p:nvSpPr>
        <p:spPr>
          <a:xfrm>
            <a:off x="8769962" y="4039563"/>
            <a:ext cx="11301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829" name="Google Shape;82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8528" y="4037919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25"/>
          <p:cNvSpPr/>
          <p:nvPr/>
        </p:nvSpPr>
        <p:spPr>
          <a:xfrm>
            <a:off x="9981530" y="4024239"/>
            <a:ext cx="1698600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831" name="Google Shape;83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65205" y="40275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odeCommit service icon." id="832" name="Google Shape;83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25"/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834" name="Google Shape;834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82299" y="4404431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25"/>
          <p:cNvSpPr txBox="1"/>
          <p:nvPr/>
        </p:nvSpPr>
        <p:spPr>
          <a:xfrm>
            <a:off x="10710880" y="4356115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836" name="Google Shape;836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25"/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5"/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839" name="Google Shape;83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25"/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841" name="Google Shape;841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842" name="Google Shape;842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25"/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net gateway resource icon for the Amazon VPC service.&#10;" id="844" name="Google Shape;844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54953" y="451901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25"/>
          <p:cNvSpPr txBox="1"/>
          <p:nvPr/>
        </p:nvSpPr>
        <p:spPr>
          <a:xfrm>
            <a:off x="8317254" y="491706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846" name="Google Shape;846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25"/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99290" y="1844576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25"/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0" name="Google Shape;850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523289" y="1818344"/>
            <a:ext cx="397735" cy="397735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25"/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5"/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외부망 개발 = GitHub Enterprise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내부망 운영 = CodeCommit</a:t>
            </a:r>
            <a:endParaRPr/>
          </a:p>
        </p:txBody>
      </p:sp>
      <p:cxnSp>
        <p:nvCxnSpPr>
          <p:cNvPr id="853" name="Google Shape;853;p25"/>
          <p:cNvCxnSpPr>
            <a:stCxn id="851" idx="2"/>
          </p:cNvCxnSpPr>
          <p:nvPr/>
        </p:nvCxnSpPr>
        <p:spPr>
          <a:xfrm>
            <a:off x="2775789" y="2547755"/>
            <a:ext cx="223800" cy="110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CodePipeline service icon." id="854" name="Google Shape;854;p2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25"/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Deploy service icon." id="856" name="Google Shape;856;p2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25"/>
          <p:cNvSpPr txBox="1"/>
          <p:nvPr/>
        </p:nvSpPr>
        <p:spPr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CodeDeploy</a:t>
            </a:r>
            <a:endParaRPr/>
          </a:p>
        </p:txBody>
      </p:sp>
      <p:cxnSp>
        <p:nvCxnSpPr>
          <p:cNvPr id="858" name="Google Shape;858;p25"/>
          <p:cNvCxnSpPr>
            <a:stCxn id="832" idx="3"/>
            <a:endCxn id="854" idx="1"/>
          </p:cNvCxnSpPr>
          <p:nvPr/>
        </p:nvCxnSpPr>
        <p:spPr>
          <a:xfrm flipH="1" rot="10800000">
            <a:off x="4732327" y="5763674"/>
            <a:ext cx="577200" cy="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59" name="Google Shape;859;p25"/>
          <p:cNvCxnSpPr/>
          <p:nvPr/>
        </p:nvCxnSpPr>
        <p:spPr>
          <a:xfrm flipH="1" rot="10800000">
            <a:off x="5584035" y="5763564"/>
            <a:ext cx="577197" cy="251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0" name="Google Shape;860;p25"/>
          <p:cNvCxnSpPr>
            <a:stCxn id="856" idx="3"/>
            <a:endCxn id="834" idx="1"/>
          </p:cNvCxnSpPr>
          <p:nvPr/>
        </p:nvCxnSpPr>
        <p:spPr>
          <a:xfrm flipH="1" rot="10800000">
            <a:off x="7112358" y="4603169"/>
            <a:ext cx="3369900" cy="207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1" name="Google Shape;861;p25"/>
          <p:cNvSpPr txBox="1"/>
          <p:nvPr/>
        </p:nvSpPr>
        <p:spPr>
          <a:xfrm>
            <a:off x="1407316" y="1466845"/>
            <a:ext cx="1537716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groupvm-simulator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</a:t>
            </a:r>
            <a:endParaRPr/>
          </a:p>
        </p:txBody>
      </p:sp>
      <p:cxnSp>
        <p:nvCxnSpPr>
          <p:cNvPr id="862" name="Google Shape;862;p25"/>
          <p:cNvCxnSpPr>
            <a:stCxn id="827" idx="0"/>
            <a:endCxn id="832" idx="1"/>
          </p:cNvCxnSpPr>
          <p:nvPr/>
        </p:nvCxnSpPr>
        <p:spPr>
          <a:xfrm>
            <a:off x="2991968" y="3733373"/>
            <a:ext cx="1455900" cy="203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3" name="Google Shape;863;p25"/>
          <p:cNvSpPr txBox="1"/>
          <p:nvPr/>
        </p:nvSpPr>
        <p:spPr>
          <a:xfrm>
            <a:off x="4796117" y="6265732"/>
            <a:ext cx="138253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groupvm Pipeline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5"/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Unit Test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Security Scan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Docker Build Test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Build service icon." id="865" name="Google Shape;865;p2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25"/>
          <p:cNvSpPr txBox="1"/>
          <p:nvPr/>
        </p:nvSpPr>
        <p:spPr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CodeBuild</a:t>
            </a:r>
            <a:endParaRPr/>
          </a:p>
        </p:txBody>
      </p:sp>
      <p:cxnSp>
        <p:nvCxnSpPr>
          <p:cNvPr id="867" name="Google Shape;867;p25"/>
          <p:cNvCxnSpPr>
            <a:stCxn id="865" idx="3"/>
            <a:endCxn id="857" idx="0"/>
          </p:cNvCxnSpPr>
          <p:nvPr/>
        </p:nvCxnSpPr>
        <p:spPr>
          <a:xfrm flipH="1" rot="10800000">
            <a:off x="6579603" y="4975371"/>
            <a:ext cx="394800" cy="804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8" name="Google Shape;868;p25"/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9" name="Google Shape;869;p2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967746" y="3277322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25"/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1" name="Google Shape;871;p25"/>
          <p:cNvCxnSpPr>
            <a:stCxn id="869" idx="0"/>
            <a:endCxn id="849" idx="0"/>
          </p:cNvCxnSpPr>
          <p:nvPr/>
        </p:nvCxnSpPr>
        <p:spPr>
          <a:xfrm rot="10800000">
            <a:off x="2165887" y="2209322"/>
            <a:ext cx="27600" cy="106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2" name="Google Shape;872;p25"/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5"/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5"/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5"/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5"/>
          <p:cNvSpPr/>
          <p:nvPr/>
        </p:nvSpPr>
        <p:spPr>
          <a:xfrm>
            <a:off x="10116051" y="4675931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5"/>
          <p:cNvSpPr txBox="1"/>
          <p:nvPr/>
        </p:nvSpPr>
        <p:spPr>
          <a:xfrm>
            <a:off x="35764" y="3475072"/>
            <a:ext cx="1863434" cy="300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1.Deveoper Push -&gt; GitHub Repo -&gt; groupvm-simulator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GitHub Actions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Test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Scan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Test</a:t>
            </a:r>
            <a:endParaRPr/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테스트 통과시, GitHub Action 자동 승인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CodeCommit Mirror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CodePipeline -&gt; CodeBuild -&gt; 배포 bundle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AWS CodeDeploy -&gt; EC2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애플리케이션 재기동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systemctl restart group-agent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5"/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5"/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 승인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ecrets Manager service icon." id="880" name="Google Shape;880;p2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25"/>
          <p:cNvSpPr txBox="1"/>
          <p:nvPr/>
        </p:nvSpPr>
        <p:spPr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Secrets Manager</a:t>
            </a:r>
            <a:endParaRPr/>
          </a:p>
        </p:txBody>
      </p:sp>
      <p:sp>
        <p:nvSpPr>
          <p:cNvPr id="882" name="Google Shape;882;p25"/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883" name="Google Shape;88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25"/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885" name="Google Shape;88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886" name="Google Shape;886;p2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25"/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25"/>
          <p:cNvSpPr txBox="1"/>
          <p:nvPr/>
        </p:nvSpPr>
        <p:spPr>
          <a:xfrm>
            <a:off x="63586" y="1900248"/>
            <a:ext cx="166023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배포 파일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insurance_online_sender.py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securities_sender.py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hospital_sender.py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healthcare_sender.py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batch_export.py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api_collector.py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5"/>
          <p:cNvSpPr txBox="1"/>
          <p:nvPr/>
        </p:nvSpPr>
        <p:spPr>
          <a:xfrm>
            <a:off x="45544" y="735274"/>
            <a:ext cx="174035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역할 :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금융사 데이터 시뮬레이션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병원 데이터 생성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배치 파일 생성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Kinesis/API 전송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온프렘 연동 데이터 중계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890" name="Google Shape;890;p2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25"/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892" name="Google Shape;89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25"/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894" name="Google Shape;89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895" name="Google Shape;895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896" name="Google Shape;896;p2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7" name="Google Shape;897;p25"/>
          <p:cNvCxnSpPr>
            <a:stCxn id="898" idx="3"/>
            <a:endCxn id="896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898" name="Google Shape;898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25"/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5"/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901" name="Google Shape;901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25"/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3" name="Google Shape;903;p25"/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4" name="Google Shape;904;p25"/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905" name="Google Shape;905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25"/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5"/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908" name="Google Shape;908;p2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25"/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910" name="Google Shape;91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911" name="Google Shape;911;p2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25"/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5"/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urora service icon." id="914" name="Google Shape;914;p2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25"/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916" name="Google Shape;916;p2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25"/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918" name="Google Shape;918;p2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25"/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920" name="Google Shape;92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25"/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5"/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블루 클라우드 로고 디자인 아이콘 벡터, 구름 아이콘, 표지 그림, 파란색 아이콘 PNG, 일러스트 및 벡터 에 대한 무료 다운로드 -  Pngtree" id="927" name="Google Shape;92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1782" y="34279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2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 파이프라인 프로세스 – Legacy System (Local VM)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929" name="Google Shape;92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1178" y="722515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6"/>
          <p:cNvSpPr/>
          <p:nvPr/>
        </p:nvSpPr>
        <p:spPr>
          <a:xfrm>
            <a:off x="1849028" y="1180533"/>
            <a:ext cx="720000" cy="3284213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931" name="Google Shape;931;p26"/>
          <p:cNvGrpSpPr/>
          <p:nvPr/>
        </p:nvGrpSpPr>
        <p:grpSpPr>
          <a:xfrm>
            <a:off x="7880769" y="1175296"/>
            <a:ext cx="4018945" cy="5507774"/>
            <a:chOff x="10482476" y="1255629"/>
            <a:chExt cx="4018945" cy="5812341"/>
          </a:xfrm>
        </p:grpSpPr>
        <p:sp>
          <p:nvSpPr>
            <p:cNvPr descr="Region group" id="932" name="Google Shape;932;p26"/>
            <p:cNvSpPr/>
            <p:nvPr/>
          </p:nvSpPr>
          <p:spPr>
            <a:xfrm>
              <a:off x="10497713" y="1255629"/>
              <a:ext cx="4003708" cy="5812341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933" name="Google Shape;93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482476" y="12611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4" name="Google Shape;934;p26"/>
          <p:cNvSpPr/>
          <p:nvPr/>
        </p:nvSpPr>
        <p:spPr>
          <a:xfrm>
            <a:off x="6772538" y="739524"/>
            <a:ext cx="5267171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935" name="Google Shape;9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1782" y="418305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26"/>
          <p:cNvSpPr txBox="1"/>
          <p:nvPr/>
        </p:nvSpPr>
        <p:spPr>
          <a:xfrm>
            <a:off x="2929604" y="456989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937" name="Google Shape;93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9087" y="746275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26"/>
          <p:cNvSpPr txBox="1"/>
          <p:nvPr/>
        </p:nvSpPr>
        <p:spPr>
          <a:xfrm>
            <a:off x="8566330" y="825031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6"/>
          <p:cNvSpPr txBox="1"/>
          <p:nvPr/>
        </p:nvSpPr>
        <p:spPr>
          <a:xfrm>
            <a:off x="9284080" y="707491"/>
            <a:ext cx="27669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내부망 운영 = CodeCommit</a:t>
            </a:r>
            <a:endParaRPr/>
          </a:p>
        </p:txBody>
      </p:sp>
      <p:sp>
        <p:nvSpPr>
          <p:cNvPr id="940" name="Google Shape;940;p26"/>
          <p:cNvSpPr txBox="1"/>
          <p:nvPr/>
        </p:nvSpPr>
        <p:spPr>
          <a:xfrm>
            <a:off x="6720529" y="3191194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legacy-system Repo</a:t>
            </a:r>
            <a:endParaRPr/>
          </a:p>
        </p:txBody>
      </p:sp>
      <p:sp>
        <p:nvSpPr>
          <p:cNvPr id="941" name="Google Shape;941;p26"/>
          <p:cNvSpPr/>
          <p:nvPr/>
        </p:nvSpPr>
        <p:spPr>
          <a:xfrm>
            <a:off x="2493472" y="373810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2" name="Google Shape;94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67746" y="3277322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26"/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6"/>
          <p:cNvSpPr txBox="1"/>
          <p:nvPr/>
        </p:nvSpPr>
        <p:spPr>
          <a:xfrm>
            <a:off x="33007" y="2541845"/>
            <a:ext cx="186343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1.Deveoper Push -&gt;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CodeCommit Repo -&gt;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legacy-system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Legacy System (VM) -&gt; Cron Job or System timer 실행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Ansible pull (내부 저장소에서 최신 Playbook / 구성파일 동기화)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4.Ansible Playbook 실행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MySQL / Tokenization / API 대상 배포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systemctl restart 각 서비스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6"/>
          <p:cNvSpPr txBox="1"/>
          <p:nvPr/>
        </p:nvSpPr>
        <p:spPr>
          <a:xfrm>
            <a:off x="113226" y="836975"/>
            <a:ext cx="1489165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legacy-system/</a:t>
            </a:r>
            <a:b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ansible/</a:t>
            </a:r>
            <a:b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mysql/</a:t>
            </a:r>
            <a:b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tokenization/</a:t>
            </a:r>
            <a:b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private-api/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nsible 아이콘" id="946" name="Google Shape;94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10921" y="2411191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26"/>
          <p:cNvSpPr/>
          <p:nvPr/>
        </p:nvSpPr>
        <p:spPr>
          <a:xfrm>
            <a:off x="9674420" y="1619644"/>
            <a:ext cx="2066201" cy="1854385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Management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948" name="Google Shape;948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3649" y="161891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26"/>
          <p:cNvSpPr/>
          <p:nvPr/>
        </p:nvSpPr>
        <p:spPr>
          <a:xfrm>
            <a:off x="9835183" y="2033729"/>
            <a:ext cx="1856563" cy="137286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950" name="Google Shape;950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35183" y="20368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951" name="Google Shape;951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46527" y="24222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26"/>
          <p:cNvSpPr txBox="1"/>
          <p:nvPr/>
        </p:nvSpPr>
        <p:spPr>
          <a:xfrm>
            <a:off x="10736376" y="2459453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Control Node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26"/>
          <p:cNvSpPr/>
          <p:nvPr/>
        </p:nvSpPr>
        <p:spPr>
          <a:xfrm>
            <a:off x="8542932" y="27121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26"/>
          <p:cNvSpPr txBox="1"/>
          <p:nvPr/>
        </p:nvSpPr>
        <p:spPr>
          <a:xfrm>
            <a:off x="2962044" y="2735885"/>
            <a:ext cx="10903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schema.sql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migration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backup script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 tuning</a:t>
            </a:r>
            <a:endParaRPr/>
          </a:p>
        </p:txBody>
      </p:sp>
      <p:sp>
        <p:nvSpPr>
          <p:cNvPr id="955" name="Google Shape;955;p26"/>
          <p:cNvSpPr txBox="1"/>
          <p:nvPr/>
        </p:nvSpPr>
        <p:spPr>
          <a:xfrm>
            <a:off x="4168673" y="2752036"/>
            <a:ext cx="1062144" cy="415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token_service.py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masking rules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config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26"/>
          <p:cNvSpPr txBox="1"/>
          <p:nvPr/>
        </p:nvSpPr>
        <p:spPr>
          <a:xfrm>
            <a:off x="5448743" y="2720595"/>
            <a:ext cx="12454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/ Flask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config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Nginx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7" name="Google Shape;957;p26"/>
          <p:cNvCxnSpPr>
            <a:endCxn id="958" idx="1"/>
          </p:cNvCxnSpPr>
          <p:nvPr/>
        </p:nvCxnSpPr>
        <p:spPr>
          <a:xfrm flipH="1" rot="10800000">
            <a:off x="3247992" y="4271717"/>
            <a:ext cx="3837300" cy="12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59" name="Google Shape;959;p26"/>
          <p:cNvCxnSpPr/>
          <p:nvPr/>
        </p:nvCxnSpPr>
        <p:spPr>
          <a:xfrm flipH="1">
            <a:off x="3324904" y="1821287"/>
            <a:ext cx="2722474" cy="188446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0" name="Google Shape;960;p26"/>
          <p:cNvCxnSpPr/>
          <p:nvPr/>
        </p:nvCxnSpPr>
        <p:spPr>
          <a:xfrm flipH="1">
            <a:off x="7537886" y="2744405"/>
            <a:ext cx="2460627" cy="1662177"/>
          </a:xfrm>
          <a:prstGeom prst="straightConnector1">
            <a:avLst/>
          </a:prstGeom>
          <a:noFill/>
          <a:ln cap="flat" cmpd="sng" w="19050">
            <a:solidFill>
              <a:srgbClr val="5481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1" name="Google Shape;961;p26"/>
          <p:cNvCxnSpPr/>
          <p:nvPr/>
        </p:nvCxnSpPr>
        <p:spPr>
          <a:xfrm flipH="1">
            <a:off x="3324904" y="4385530"/>
            <a:ext cx="3749030" cy="120614"/>
          </a:xfrm>
          <a:prstGeom prst="straightConnector1">
            <a:avLst/>
          </a:prstGeom>
          <a:noFill/>
          <a:ln cap="flat" cmpd="sng" w="19050">
            <a:solidFill>
              <a:srgbClr val="5481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2" name="Google Shape;962;p26"/>
          <p:cNvSpPr/>
          <p:nvPr/>
        </p:nvSpPr>
        <p:spPr>
          <a:xfrm>
            <a:off x="9381713" y="314252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6"/>
          <p:cNvSpPr txBox="1"/>
          <p:nvPr/>
        </p:nvSpPr>
        <p:spPr>
          <a:xfrm>
            <a:off x="8317887" y="3758554"/>
            <a:ext cx="965944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 over SSH (VPN)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ystems Manager service icon." id="964" name="Google Shape;964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80634" y="3929308"/>
            <a:ext cx="289800" cy="2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26"/>
          <p:cNvSpPr txBox="1"/>
          <p:nvPr/>
        </p:nvSpPr>
        <p:spPr>
          <a:xfrm>
            <a:off x="9158447" y="4224987"/>
            <a:ext cx="11394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Systems Manager</a:t>
            </a:r>
            <a:endParaRPr/>
          </a:p>
        </p:txBody>
      </p:sp>
      <p:sp>
        <p:nvSpPr>
          <p:cNvPr id="966" name="Google Shape;966;p26"/>
          <p:cNvSpPr/>
          <p:nvPr/>
        </p:nvSpPr>
        <p:spPr>
          <a:xfrm>
            <a:off x="2804983" y="1179423"/>
            <a:ext cx="3707555" cy="1488235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26"/>
          <p:cNvSpPr txBox="1"/>
          <p:nvPr/>
        </p:nvSpPr>
        <p:spPr>
          <a:xfrm>
            <a:off x="5344870" y="2099253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26"/>
          <p:cNvSpPr txBox="1"/>
          <p:nvPr/>
        </p:nvSpPr>
        <p:spPr>
          <a:xfrm>
            <a:off x="3644788" y="2123958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6"/>
          <p:cNvSpPr txBox="1"/>
          <p:nvPr/>
        </p:nvSpPr>
        <p:spPr>
          <a:xfrm>
            <a:off x="2723700" y="2119014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970" name="Google Shape;970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966909" y="153594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971" name="Google Shape;971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293117" y="153594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972" name="Google Shape;972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83820" y="153594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odeCommit service icon." id="973" name="Google Shape;973;p2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49358" y="3474030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26"/>
          <p:cNvSpPr txBox="1"/>
          <p:nvPr/>
        </p:nvSpPr>
        <p:spPr>
          <a:xfrm>
            <a:off x="6756154" y="3761369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ite-to-Site VPN service icon." id="958" name="Google Shape;958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85292" y="407420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26"/>
          <p:cNvSpPr txBox="1"/>
          <p:nvPr/>
        </p:nvSpPr>
        <p:spPr>
          <a:xfrm>
            <a:off x="6613222" y="451085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" name="Google Shape;976;p26"/>
          <p:cNvCxnSpPr>
            <a:stCxn id="958" idx="0"/>
            <a:endCxn id="974" idx="0"/>
          </p:cNvCxnSpPr>
          <p:nvPr/>
        </p:nvCxnSpPr>
        <p:spPr>
          <a:xfrm rot="10800000">
            <a:off x="7301666" y="3761308"/>
            <a:ext cx="17700" cy="312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7" name="Google Shape;977;p26"/>
          <p:cNvSpPr txBox="1"/>
          <p:nvPr/>
        </p:nvSpPr>
        <p:spPr>
          <a:xfrm>
            <a:off x="4951060" y="3682842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8" name="Google Shape;978;p26"/>
          <p:cNvCxnSpPr>
            <a:stCxn id="958" idx="3"/>
            <a:endCxn id="946" idx="1"/>
          </p:cNvCxnSpPr>
          <p:nvPr/>
        </p:nvCxnSpPr>
        <p:spPr>
          <a:xfrm flipH="1" rot="10800000">
            <a:off x="7553441" y="2638517"/>
            <a:ext cx="2357400" cy="1633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79" name="Google Shape;979;p26"/>
          <p:cNvCxnSpPr>
            <a:stCxn id="946" idx="1"/>
            <a:endCxn id="973" idx="3"/>
          </p:cNvCxnSpPr>
          <p:nvPr/>
        </p:nvCxnSpPr>
        <p:spPr>
          <a:xfrm flipH="1">
            <a:off x="7433821" y="2638410"/>
            <a:ext cx="2477100" cy="97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0" name="Google Shape;980;p26"/>
          <p:cNvCxnSpPr>
            <a:endCxn id="970" idx="2"/>
          </p:cNvCxnSpPr>
          <p:nvPr/>
        </p:nvCxnSpPr>
        <p:spPr>
          <a:xfrm flipH="1" rot="10800000">
            <a:off x="3154062" y="2098047"/>
            <a:ext cx="93900" cy="1580100"/>
          </a:xfrm>
          <a:prstGeom prst="straightConnector1">
            <a:avLst/>
          </a:prstGeom>
          <a:noFill/>
          <a:ln cap="flat" cmpd="sng" w="19050">
            <a:solidFill>
              <a:srgbClr val="5481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1" name="Google Shape;981;p26"/>
          <p:cNvCxnSpPr>
            <a:endCxn id="971" idx="1"/>
          </p:cNvCxnSpPr>
          <p:nvPr/>
        </p:nvCxnSpPr>
        <p:spPr>
          <a:xfrm flipH="1" rot="10800000">
            <a:off x="3187317" y="1816995"/>
            <a:ext cx="1105800" cy="1861200"/>
          </a:xfrm>
          <a:prstGeom prst="straightConnector1">
            <a:avLst/>
          </a:prstGeom>
          <a:noFill/>
          <a:ln cap="flat" cmpd="sng" w="19050">
            <a:solidFill>
              <a:srgbClr val="5481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2" name="Google Shape;982;p26"/>
          <p:cNvCxnSpPr>
            <a:endCxn id="972" idx="1"/>
          </p:cNvCxnSpPr>
          <p:nvPr/>
        </p:nvCxnSpPr>
        <p:spPr>
          <a:xfrm flipH="1" rot="10800000">
            <a:off x="3271120" y="1816995"/>
            <a:ext cx="2312700" cy="1861200"/>
          </a:xfrm>
          <a:prstGeom prst="straightConnector1">
            <a:avLst/>
          </a:prstGeom>
          <a:noFill/>
          <a:ln cap="flat" cmpd="sng" w="19050">
            <a:solidFill>
              <a:srgbClr val="5481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3" name="Google Shape;983;p26"/>
          <p:cNvSpPr/>
          <p:nvPr/>
        </p:nvSpPr>
        <p:spPr>
          <a:xfrm>
            <a:off x="6136942" y="183485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26"/>
          <p:cNvSpPr/>
          <p:nvPr/>
        </p:nvSpPr>
        <p:spPr>
          <a:xfrm>
            <a:off x="2701259" y="295960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26"/>
          <p:cNvSpPr txBox="1"/>
          <p:nvPr/>
        </p:nvSpPr>
        <p:spPr>
          <a:xfrm>
            <a:off x="2785440" y="38657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6" name="Google Shape;986;p26"/>
          <p:cNvCxnSpPr>
            <a:stCxn id="942" idx="0"/>
          </p:cNvCxnSpPr>
          <p:nvPr/>
        </p:nvCxnSpPr>
        <p:spPr>
          <a:xfrm>
            <a:off x="2193487" y="3277322"/>
            <a:ext cx="945300" cy="43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7" name="Google Shape;987;p26"/>
          <p:cNvCxnSpPr/>
          <p:nvPr/>
        </p:nvCxnSpPr>
        <p:spPr>
          <a:xfrm rot="10800000">
            <a:off x="3138517" y="3828482"/>
            <a:ext cx="0" cy="617355"/>
          </a:xfrm>
          <a:prstGeom prst="straightConnector1">
            <a:avLst/>
          </a:prstGeom>
          <a:noFill/>
          <a:ln cap="flat" cmpd="sng" w="19050">
            <a:solidFill>
              <a:srgbClr val="54813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8" name="Google Shape;988;p26"/>
          <p:cNvCxnSpPr/>
          <p:nvPr/>
        </p:nvCxnSpPr>
        <p:spPr>
          <a:xfrm>
            <a:off x="3228210" y="3858361"/>
            <a:ext cx="14312" cy="54245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989" name="Google Shape;989;p2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837695" y="1196869"/>
            <a:ext cx="358405" cy="3678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990" name="Google Shape;990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46527" y="293722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26"/>
          <p:cNvSpPr txBox="1"/>
          <p:nvPr/>
        </p:nvSpPr>
        <p:spPr>
          <a:xfrm>
            <a:off x="10723673" y="305213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2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 파이프라인 프로세스 – Data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997" name="Google Shape;99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27"/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999" name="Google Shape;999;p27"/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descr="Region group" id="1000" name="Google Shape;1000;p27"/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1001" name="Google Shape;100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VPC group icon. " id="1002" name="Google Shape;100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27"/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004" name="Google Shape;100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005" name="Google Shape;100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 gateway resource icon for the Amazon VPC service.&#10;" id="1006" name="Google Shape;100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22443" y="44350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27"/>
          <p:cNvSpPr txBox="1"/>
          <p:nvPr/>
        </p:nvSpPr>
        <p:spPr>
          <a:xfrm>
            <a:off x="9026187" y="4892214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7"/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plication Load Balancer resource icon for the Elastic Load Balancing service." id="1009" name="Google Shape;1009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0" name="Google Shape;1010;p27"/>
          <p:cNvCxnSpPr>
            <a:stCxn id="1011" idx="3"/>
            <a:endCxn id="1009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011" name="Google Shape;1011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27"/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7"/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014" name="Google Shape;1014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27"/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6" name="Google Shape;1016;p27"/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17" name="Google Shape;1017;p27"/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018" name="Google Shape;1018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27"/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7"/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021" name="Google Shape;1021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27"/>
          <p:cNvSpPr/>
          <p:nvPr/>
        </p:nvSpPr>
        <p:spPr>
          <a:xfrm>
            <a:off x="8663336" y="3546418"/>
            <a:ext cx="30939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023" name="Google Shape;102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71505" y="35474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블루 클라우드 로고 디자인 아이콘 벡터, 구름 아이콘, 표지 그림, 파란색 아이콘 PNG, 일러스트 및 벡터 에 대한 무료 다운로드 -  Pngtree" id="1024" name="Google Shape;1024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27"/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27"/>
          <p:cNvSpPr/>
          <p:nvPr/>
        </p:nvSpPr>
        <p:spPr>
          <a:xfrm>
            <a:off x="8769962" y="4015179"/>
            <a:ext cx="11301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027" name="Google Shape;102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8528" y="401353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27"/>
          <p:cNvSpPr/>
          <p:nvPr/>
        </p:nvSpPr>
        <p:spPr>
          <a:xfrm>
            <a:off x="9981530" y="3999855"/>
            <a:ext cx="1698600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029" name="Google Shape;1029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965205" y="40031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CodeCommit service icon." id="1030" name="Google Shape;1030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7"/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032" name="Google Shape;1032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482299" y="43800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27"/>
          <p:cNvSpPr txBox="1"/>
          <p:nvPr/>
        </p:nvSpPr>
        <p:spPr>
          <a:xfrm>
            <a:off x="10710880" y="433173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034" name="Google Shape;1034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27"/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7"/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037" name="Google Shape;103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27"/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039" name="Google Shape;103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040" name="Google Shape;104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27"/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net gateway resource icon for the Amazon VPC service.&#10;" id="1042" name="Google Shape;104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4953" y="449463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27"/>
          <p:cNvSpPr txBox="1"/>
          <p:nvPr/>
        </p:nvSpPr>
        <p:spPr>
          <a:xfrm>
            <a:off x="8316418" y="4917212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7"/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045" name="Google Shape;1045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046" name="Google Shape;1046;p2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7"/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1048" name="Google Shape;1048;p2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27"/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0" name="Google Shape;1050;p2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999290" y="1844576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27"/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2" name="Google Shape;1052;p2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523289" y="1818344"/>
            <a:ext cx="397735" cy="397735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27"/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7"/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외부망 개발 = GitHub Enterprise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내부망 운영 = CodeCommit</a:t>
            </a:r>
            <a:endParaRPr/>
          </a:p>
        </p:txBody>
      </p:sp>
      <p:sp>
        <p:nvSpPr>
          <p:cNvPr id="1055" name="Google Shape;1055;p27"/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6" name="Google Shape;1056;p27"/>
          <p:cNvCxnSpPr>
            <a:stCxn id="1053" idx="2"/>
          </p:cNvCxnSpPr>
          <p:nvPr/>
        </p:nvCxnSpPr>
        <p:spPr>
          <a:xfrm>
            <a:off x="2775789" y="2547755"/>
            <a:ext cx="223800" cy="110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CodePipeline service icon." id="1057" name="Google Shape;1057;p2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27"/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9" name="Google Shape;1059;p27"/>
          <p:cNvCxnSpPr>
            <a:stCxn id="1030" idx="3"/>
            <a:endCxn id="1057" idx="1"/>
          </p:cNvCxnSpPr>
          <p:nvPr/>
        </p:nvCxnSpPr>
        <p:spPr>
          <a:xfrm flipH="1" rot="10800000">
            <a:off x="4732327" y="5763674"/>
            <a:ext cx="577200" cy="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0" name="Google Shape;1060;p27"/>
          <p:cNvCxnSpPr/>
          <p:nvPr/>
        </p:nvCxnSpPr>
        <p:spPr>
          <a:xfrm flipH="1" rot="10800000">
            <a:off x="5584035" y="5763564"/>
            <a:ext cx="577197" cy="251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1" name="Google Shape;1061;p27"/>
          <p:cNvCxnSpPr>
            <a:stCxn id="1062" idx="3"/>
          </p:cNvCxnSpPr>
          <p:nvPr/>
        </p:nvCxnSpPr>
        <p:spPr>
          <a:xfrm>
            <a:off x="6579603" y="5779971"/>
            <a:ext cx="3934200" cy="49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3" name="Google Shape;1063;p27"/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 Repo</a:t>
            </a:r>
            <a:endParaRPr/>
          </a:p>
        </p:txBody>
      </p:sp>
      <p:cxnSp>
        <p:nvCxnSpPr>
          <p:cNvPr id="1064" name="Google Shape;1064;p27"/>
          <p:cNvCxnSpPr>
            <a:stCxn id="1025" idx="0"/>
            <a:endCxn id="1030" idx="1"/>
          </p:cNvCxnSpPr>
          <p:nvPr/>
        </p:nvCxnSpPr>
        <p:spPr>
          <a:xfrm>
            <a:off x="2991968" y="3733373"/>
            <a:ext cx="1455900" cy="203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5" name="Google Shape;1065;p27"/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Pipeline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27"/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Unit Test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Security Scan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Docker Build Test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Build service icon." id="1062" name="Google Shape;1062;p2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27"/>
          <p:cNvSpPr txBox="1"/>
          <p:nvPr/>
        </p:nvSpPr>
        <p:spPr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CodeBuild</a:t>
            </a:r>
            <a:endParaRPr/>
          </a:p>
        </p:txBody>
      </p:sp>
      <p:sp>
        <p:nvSpPr>
          <p:cNvPr id="1068" name="Google Shape;1068;p27"/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9" name="Google Shape;1069;p2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967746" y="3277322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27"/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1" name="Google Shape;1071;p27"/>
          <p:cNvCxnSpPr>
            <a:stCxn id="1069" idx="0"/>
            <a:endCxn id="1051" idx="0"/>
          </p:cNvCxnSpPr>
          <p:nvPr/>
        </p:nvCxnSpPr>
        <p:spPr>
          <a:xfrm rot="10800000">
            <a:off x="2165887" y="2209322"/>
            <a:ext cx="27600" cy="106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72" name="Google Shape;1072;p27"/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7"/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7"/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27"/>
          <p:cNvSpPr/>
          <p:nvPr/>
        </p:nvSpPr>
        <p:spPr>
          <a:xfrm>
            <a:off x="8272555" y="610367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7"/>
          <p:cNvSpPr txBox="1"/>
          <p:nvPr/>
        </p:nvSpPr>
        <p:spPr>
          <a:xfrm>
            <a:off x="44928" y="2151800"/>
            <a:ext cx="186343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1.Deveoper Push -&gt; GitHub Repo -&gt; wearable-agent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GitHub Actions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Test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Scan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Test</a:t>
            </a:r>
            <a:endParaRPr/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테스트 통과시, GitHub Action 자동 승인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CodeCommit Mirror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CodePipeline -&gt; CodeBuild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aws lamda 명령어 실행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Lambda 배포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7"/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7"/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 승인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7"/>
          <p:cNvSpPr txBox="1"/>
          <p:nvPr/>
        </p:nvSpPr>
        <p:spPr>
          <a:xfrm>
            <a:off x="64349" y="798896"/>
            <a:ext cx="14891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lifesync-data-platform/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lambda/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├ ingest.py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└ router.py</a:t>
            </a:r>
            <a:endParaRPr/>
          </a:p>
        </p:txBody>
      </p:sp>
      <p:pic>
        <p:nvPicPr>
          <p:cNvPr descr="AWS Secrets Manager service icon." id="1080" name="Google Shape;1080;p2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27"/>
          <p:cNvSpPr txBox="1"/>
          <p:nvPr/>
        </p:nvSpPr>
        <p:spPr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Secrets Manager</a:t>
            </a:r>
            <a:endParaRPr/>
          </a:p>
        </p:txBody>
      </p:sp>
      <p:sp>
        <p:nvSpPr>
          <p:cNvPr id="1082" name="Google Shape;1082;p27"/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083" name="Google Shape;108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27"/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085" name="Google Shape;1085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1086" name="Google Shape;1086;p2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27"/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27"/>
          <p:cNvSpPr/>
          <p:nvPr/>
        </p:nvSpPr>
        <p:spPr>
          <a:xfrm>
            <a:off x="9945290" y="62935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27"/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lifesync-data-prod</a:t>
            </a:r>
            <a:endParaRPr/>
          </a:p>
        </p:txBody>
      </p:sp>
      <p:pic>
        <p:nvPicPr>
          <p:cNvPr descr="Lambda function resource icon for the AWS Lambda service icon." id="1090" name="Google Shape;1090;p2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8913003" y="564120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27"/>
          <p:cNvSpPr txBox="1"/>
          <p:nvPr/>
        </p:nvSpPr>
        <p:spPr>
          <a:xfrm>
            <a:off x="8452077" y="6120632"/>
            <a:ext cx="1362074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 function</a:t>
            </a:r>
            <a:endParaRPr/>
          </a:p>
        </p:txBody>
      </p:sp>
      <p:sp>
        <p:nvSpPr>
          <p:cNvPr id="1092" name="Google Shape;1092;p27"/>
          <p:cNvSpPr txBox="1"/>
          <p:nvPr/>
        </p:nvSpPr>
        <p:spPr>
          <a:xfrm>
            <a:off x="6511742" y="4740623"/>
            <a:ext cx="213734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version: 0.2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build: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commands: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zip function.zip lambda_ingest.py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- aws lambda update-function-code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--function-name lifesync-ingest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--zip-file fileb://function.zip</a:t>
            </a:r>
            <a:endParaRPr/>
          </a:p>
        </p:txBody>
      </p:sp>
      <p:sp>
        <p:nvSpPr>
          <p:cNvPr id="1093" name="Google Shape;1093;p27"/>
          <p:cNvSpPr txBox="1"/>
          <p:nvPr/>
        </p:nvSpPr>
        <p:spPr>
          <a:xfrm>
            <a:off x="6204045" y="6274112"/>
            <a:ext cx="117247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 lambda_ingest.zip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 lambda_router.zip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27"/>
          <p:cNvSpPr txBox="1"/>
          <p:nvPr/>
        </p:nvSpPr>
        <p:spPr>
          <a:xfrm>
            <a:off x="7754725" y="6332485"/>
            <a:ext cx="180769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lambda update-function-code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1095" name="Google Shape;1095;p2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655467" y="5207930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27"/>
          <p:cNvSpPr txBox="1"/>
          <p:nvPr/>
        </p:nvSpPr>
        <p:spPr>
          <a:xfrm>
            <a:off x="5826431" y="5214887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urora service icon." id="1097" name="Google Shape;1097;p2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27"/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099" name="Google Shape;1099;p2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27"/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101" name="Google Shape;1101;p2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27"/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103" name="Google Shape;1103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27"/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7"/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2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 파이프라인 프로세스 – Data (Glue, EMR)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loud group icon with AWS logo." id="1111" name="Google Shape;111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28"/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descr="Region group." id="1113" name="Google Shape;1113;p28"/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descr="Region group" id="1114" name="Google Shape;1114;p28"/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cap="flat" cmpd="sng" w="15875">
              <a:solidFill>
                <a:srgbClr val="00A4A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t" bIns="45700" lIns="502900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Region group icon." id="1115" name="Google Shape;1115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6" name="Google Shape;1116;p28"/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1117" name="Google Shape;111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28"/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Commit service icon." id="1119" name="Google Shape;111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28"/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121" name="Google Shape;112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28"/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8"/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124" name="Google Shape;1124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28"/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126" name="Google Shape;1126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127" name="Google Shape;1127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28"/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Identity and Access Management (IAM) service icon." id="1129" name="Google Shape;1129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1130" name="Google Shape;1130;p28"/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1" name="Google Shape;1131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999290" y="1844576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28"/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3" name="Google Shape;1133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23289" y="1818344"/>
            <a:ext cx="397735" cy="397735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28"/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28"/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외부망 개발 = GitHub Enterprise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내부망 운영 = CodeCommit</a:t>
            </a:r>
            <a:endParaRPr/>
          </a:p>
        </p:txBody>
      </p:sp>
      <p:cxnSp>
        <p:nvCxnSpPr>
          <p:cNvPr id="1136" name="Google Shape;1136;p28"/>
          <p:cNvCxnSpPr>
            <a:stCxn id="1134" idx="2"/>
          </p:cNvCxnSpPr>
          <p:nvPr/>
        </p:nvCxnSpPr>
        <p:spPr>
          <a:xfrm>
            <a:off x="2775789" y="2547755"/>
            <a:ext cx="223800" cy="110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CodePipeline service icon." id="1137" name="Google Shape;1137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28"/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9" name="Google Shape;1139;p28"/>
          <p:cNvCxnSpPr>
            <a:stCxn id="1119" idx="3"/>
            <a:endCxn id="1137" idx="1"/>
          </p:cNvCxnSpPr>
          <p:nvPr/>
        </p:nvCxnSpPr>
        <p:spPr>
          <a:xfrm flipH="1" rot="10800000">
            <a:off x="4732327" y="5763674"/>
            <a:ext cx="577200" cy="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40" name="Google Shape;1140;p28"/>
          <p:cNvCxnSpPr/>
          <p:nvPr/>
        </p:nvCxnSpPr>
        <p:spPr>
          <a:xfrm flipH="1" rot="10800000">
            <a:off x="5584035" y="5763564"/>
            <a:ext cx="577197" cy="251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1" name="Google Shape;1141;p28"/>
          <p:cNvSpPr txBox="1"/>
          <p:nvPr/>
        </p:nvSpPr>
        <p:spPr>
          <a:xfrm>
            <a:off x="1247077" y="1603680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Lifesync-data-prod Repo</a:t>
            </a:r>
            <a:endParaRPr/>
          </a:p>
        </p:txBody>
      </p:sp>
      <p:cxnSp>
        <p:nvCxnSpPr>
          <p:cNvPr id="1142" name="Google Shape;1142;p28"/>
          <p:cNvCxnSpPr>
            <a:stCxn id="1118" idx="0"/>
            <a:endCxn id="1119" idx="1"/>
          </p:cNvCxnSpPr>
          <p:nvPr/>
        </p:nvCxnSpPr>
        <p:spPr>
          <a:xfrm>
            <a:off x="2991968" y="3733373"/>
            <a:ext cx="1455900" cy="203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3" name="Google Shape;1143;p28"/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glue_emr Pipeline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28"/>
          <p:cNvSpPr txBox="1"/>
          <p:nvPr/>
        </p:nvSpPr>
        <p:spPr>
          <a:xfrm>
            <a:off x="2937737" y="1637649"/>
            <a:ext cx="11914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Unit Test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Security Scan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Docker Build Test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CodeBuild service icon." id="1145" name="Google Shape;1145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28"/>
          <p:cNvSpPr txBox="1"/>
          <p:nvPr/>
        </p:nvSpPr>
        <p:spPr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CodeBuild</a:t>
            </a:r>
            <a:endParaRPr/>
          </a:p>
        </p:txBody>
      </p:sp>
      <p:sp>
        <p:nvSpPr>
          <p:cNvPr id="1147" name="Google Shape;1147;p28"/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8" name="Google Shape;1148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967746" y="3277322"/>
            <a:ext cx="451482" cy="451482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28"/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0" name="Google Shape;1150;p28"/>
          <p:cNvCxnSpPr>
            <a:stCxn id="1148" idx="0"/>
            <a:endCxn id="1132" idx="0"/>
          </p:cNvCxnSpPr>
          <p:nvPr/>
        </p:nvCxnSpPr>
        <p:spPr>
          <a:xfrm rot="10800000">
            <a:off x="2165887" y="2209322"/>
            <a:ext cx="27600" cy="106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51" name="Google Shape;1151;p28"/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8"/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28"/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8"/>
          <p:cNvSpPr/>
          <p:nvPr/>
        </p:nvSpPr>
        <p:spPr>
          <a:xfrm>
            <a:off x="8740325" y="54462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28"/>
          <p:cNvSpPr txBox="1"/>
          <p:nvPr/>
        </p:nvSpPr>
        <p:spPr>
          <a:xfrm>
            <a:off x="43404" y="3040560"/>
            <a:ext cx="1863434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1.Deveoper Push -&gt; GitHub Repo -&gt; wearable-agent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GitHub Actions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Test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Scan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 Build Test</a:t>
            </a:r>
            <a:endParaRPr/>
          </a:p>
          <a:p>
            <a:pPr indent="-1143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테스트 통과시, GitHub Action 자동 승인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CodeCommit Mirror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CodePipeline -&gt; CodeBuild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S3 Script Bucket 업로드     (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s3-script-bucket)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glue/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emr/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Deploy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Glue Job Update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- EMR Serverless 최신 반영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Scheduler 실행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28"/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8"/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자동 승인 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Secrets Manager service icon." id="1158" name="Google Shape;1158;p2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28"/>
          <p:cNvSpPr txBox="1"/>
          <p:nvPr/>
        </p:nvSpPr>
        <p:spPr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Secrets Manager</a:t>
            </a:r>
            <a:endParaRPr/>
          </a:p>
        </p:txBody>
      </p:sp>
      <p:sp>
        <p:nvSpPr>
          <p:cNvPr id="1160" name="Google Shape;1160;p28"/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lifesync-data-prod</a:t>
            </a:r>
            <a:endParaRPr/>
          </a:p>
        </p:txBody>
      </p:sp>
      <p:sp>
        <p:nvSpPr>
          <p:cNvPr id="1161" name="Google Shape;1161;p28"/>
          <p:cNvSpPr/>
          <p:nvPr/>
        </p:nvSpPr>
        <p:spPr>
          <a:xfrm>
            <a:off x="8038998" y="3940995"/>
            <a:ext cx="3727890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162" name="Google Shape;116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6635" y="395107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28"/>
          <p:cNvSpPr/>
          <p:nvPr/>
        </p:nvSpPr>
        <p:spPr>
          <a:xfrm>
            <a:off x="8134953" y="4355079"/>
            <a:ext cx="16959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164" name="Google Shape;1164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150808" y="43583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Simple Storage Service (Amazon S3) service icon." id="1165" name="Google Shape;1165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192718" y="3467084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28"/>
          <p:cNvSpPr txBox="1"/>
          <p:nvPr/>
        </p:nvSpPr>
        <p:spPr>
          <a:xfrm>
            <a:off x="8396903" y="3611510"/>
            <a:ext cx="902209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8"/>
          <p:cNvSpPr/>
          <p:nvPr/>
        </p:nvSpPr>
        <p:spPr>
          <a:xfrm>
            <a:off x="9878812" y="4341497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168" name="Google Shape;1168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878812" y="4349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1169" name="Google Shape;1169;p2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985603" y="4834593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28"/>
          <p:cNvSpPr txBox="1"/>
          <p:nvPr/>
        </p:nvSpPr>
        <p:spPr>
          <a:xfrm>
            <a:off x="10387247" y="4889584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1171" name="Google Shape;1171;p2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0812428" y="4834352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28"/>
          <p:cNvSpPr txBox="1"/>
          <p:nvPr/>
        </p:nvSpPr>
        <p:spPr>
          <a:xfrm>
            <a:off x="11080399" y="4861967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173" name="Google Shape;1173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754557" y="4869119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28"/>
          <p:cNvSpPr txBox="1"/>
          <p:nvPr/>
        </p:nvSpPr>
        <p:spPr>
          <a:xfrm>
            <a:off x="9078840" y="490189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5" name="Google Shape;1175;p28"/>
          <p:cNvCxnSpPr>
            <a:stCxn id="1174" idx="1"/>
            <a:endCxn id="1165" idx="1"/>
          </p:cNvCxnSpPr>
          <p:nvPr/>
        </p:nvCxnSpPr>
        <p:spPr>
          <a:xfrm flipH="1" rot="10800000">
            <a:off x="9078840" y="3669949"/>
            <a:ext cx="114000" cy="140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176" name="Google Shape;1176;p28"/>
          <p:cNvCxnSpPr>
            <a:endCxn id="1169" idx="0"/>
          </p:cNvCxnSpPr>
          <p:nvPr/>
        </p:nvCxnSpPr>
        <p:spPr>
          <a:xfrm>
            <a:off x="9609840" y="3836793"/>
            <a:ext cx="597300" cy="9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pic>
        <p:nvPicPr>
          <p:cNvPr descr="Amazon Simple Storage Service (Amazon S3) service icon." id="1177" name="Google Shape;1177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952742" y="345492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28"/>
          <p:cNvSpPr txBox="1"/>
          <p:nvPr/>
        </p:nvSpPr>
        <p:spPr>
          <a:xfrm>
            <a:off x="9687518" y="3867006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9" name="Google Shape;1179;p28"/>
          <p:cNvCxnSpPr>
            <a:stCxn id="1177" idx="3"/>
            <a:endCxn id="1171" idx="0"/>
          </p:cNvCxnSpPr>
          <p:nvPr/>
        </p:nvCxnSpPr>
        <p:spPr>
          <a:xfrm>
            <a:off x="10358757" y="3657931"/>
            <a:ext cx="658200" cy="11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1180" name="Google Shape;1180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996696" y="3443653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1" name="Google Shape;1181;p28"/>
          <p:cNvCxnSpPr>
            <a:endCxn id="1171" idx="0"/>
          </p:cNvCxnSpPr>
          <p:nvPr/>
        </p:nvCxnSpPr>
        <p:spPr>
          <a:xfrm flipH="1">
            <a:off x="11016896" y="3810452"/>
            <a:ext cx="182700" cy="1023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182" name="Google Shape;1182;p28"/>
          <p:cNvCxnSpPr>
            <a:stCxn id="1177" idx="2"/>
          </p:cNvCxnSpPr>
          <p:nvPr/>
        </p:nvCxnSpPr>
        <p:spPr>
          <a:xfrm>
            <a:off x="10155750" y="3860938"/>
            <a:ext cx="50100" cy="97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183" name="Google Shape;1183;p28"/>
          <p:cNvCxnSpPr>
            <a:stCxn id="1145" idx="3"/>
            <a:endCxn id="1169" idx="2"/>
          </p:cNvCxnSpPr>
          <p:nvPr/>
        </p:nvCxnSpPr>
        <p:spPr>
          <a:xfrm flipH="1" rot="10800000">
            <a:off x="6579603" y="5277771"/>
            <a:ext cx="3627600" cy="5022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4" name="Google Shape;1184;p28"/>
          <p:cNvCxnSpPr>
            <a:endCxn id="1171" idx="2"/>
          </p:cNvCxnSpPr>
          <p:nvPr/>
        </p:nvCxnSpPr>
        <p:spPr>
          <a:xfrm flipH="1" rot="10800000">
            <a:off x="6559196" y="5258915"/>
            <a:ext cx="4457700" cy="6309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85" name="Google Shape;1185;p28"/>
          <p:cNvSpPr txBox="1"/>
          <p:nvPr/>
        </p:nvSpPr>
        <p:spPr>
          <a:xfrm>
            <a:off x="7833" y="818850"/>
            <a:ext cx="185825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lifesync-data-prod/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glue/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└ lifesync-glue-etl-processed.py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emr/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 customer360.py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 score_mart.py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 health_mart.py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 ai_feature_table.py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├ vip_mart.py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│   └ recommendation.py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buildspec.yml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└ deploy.sh</a:t>
            </a:r>
            <a:endParaRPr/>
          </a:p>
        </p:txBody>
      </p:sp>
      <p:sp>
        <p:nvSpPr>
          <p:cNvPr id="1186" name="Google Shape;1186;p28"/>
          <p:cNvSpPr txBox="1"/>
          <p:nvPr/>
        </p:nvSpPr>
        <p:spPr>
          <a:xfrm>
            <a:off x="6385157" y="4979592"/>
            <a:ext cx="166113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Glue Python Script S3 업로드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EMR PySpark Script S3 업로드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버전 태깅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Artifact 생성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28"/>
          <p:cNvSpPr txBox="1"/>
          <p:nvPr/>
        </p:nvSpPr>
        <p:spPr>
          <a:xfrm>
            <a:off x="6614553" y="6281736"/>
            <a:ext cx="197668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s3-script-bucket ← 코드 전용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s3-artifact-bucket ← CI/CD 산출물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28"/>
          <p:cNvSpPr txBox="1"/>
          <p:nvPr/>
        </p:nvSpPr>
        <p:spPr>
          <a:xfrm>
            <a:off x="9952742" y="6104163"/>
            <a:ext cx="17772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EMR Serverless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최신 PySpark 파일 업로드 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start-job-run 시 해당 경로 지정</a:t>
            </a:r>
            <a:endParaRPr/>
          </a:p>
        </p:txBody>
      </p:sp>
      <p:sp>
        <p:nvSpPr>
          <p:cNvPr id="1189" name="Google Shape;1189;p28"/>
          <p:cNvSpPr txBox="1"/>
          <p:nvPr/>
        </p:nvSpPr>
        <p:spPr>
          <a:xfrm>
            <a:off x="9034946" y="5476354"/>
            <a:ext cx="111199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glue update-job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1190" name="Google Shape;1190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822824" y="5930623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28"/>
          <p:cNvSpPr txBox="1"/>
          <p:nvPr/>
        </p:nvSpPr>
        <p:spPr>
          <a:xfrm>
            <a:off x="6993788" y="593758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28"/>
          <p:cNvSpPr txBox="1"/>
          <p:nvPr/>
        </p:nvSpPr>
        <p:spPr>
          <a:xfrm>
            <a:off x="1803376" y="5196594"/>
            <a:ext cx="210030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commands: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echo Update Glue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aws glue update-job --job-name lifesync-etl --job-update file://glue-update.json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echo Test EMR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aws emr-serverless start-job-run \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--application-id $APP_ID \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--execution-role-arn $ROLE_ARN \</a:t>
            </a:r>
            <a:b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--job-driver file://emr-job.json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193" name="Google Shape;119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28"/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195" name="Google Shape;1195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196" name="Google Shape;1196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1197" name="Google Shape;1197;p2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8" name="Google Shape;1198;p28"/>
          <p:cNvCxnSpPr>
            <a:stCxn id="1199" idx="3"/>
            <a:endCxn id="1197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199" name="Google Shape;1199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28"/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8"/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202" name="Google Shape;120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28"/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4" name="Google Shape;1204;p28"/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05" name="Google Shape;1205;p28"/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206" name="Google Shape;120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28"/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8"/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209" name="Google Shape;1209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28"/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211" name="Google Shape;1211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212" name="Google Shape;1212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28"/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urora service icon." id="1214" name="Google Shape;1214;p2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28"/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216" name="Google Shape;1216;p2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28"/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218" name="Google Shape;1218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28"/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220" name="Google Shape;1220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28"/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28"/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8"/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2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파이프라인 (전체)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9"/>
          <p:cNvSpPr/>
          <p:nvPr/>
        </p:nvSpPr>
        <p:spPr>
          <a:xfrm>
            <a:off x="3007186" y="10169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230" name="Google Shape;12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5355" y="101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29"/>
          <p:cNvSpPr/>
          <p:nvPr/>
        </p:nvSpPr>
        <p:spPr>
          <a:xfrm>
            <a:off x="3114948" y="14704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232" name="Google Shape;123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6494" y="14857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233" name="Google Shape;123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86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29"/>
          <p:cNvSpPr txBox="1"/>
          <p:nvPr/>
        </p:nvSpPr>
        <p:spPr>
          <a:xfrm>
            <a:off x="3302553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235" name="Google Shape;123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6633" y="18803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29"/>
          <p:cNvSpPr txBox="1"/>
          <p:nvPr/>
        </p:nvSpPr>
        <p:spPr>
          <a:xfrm>
            <a:off x="1766830" y="18326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29"/>
          <p:cNvSpPr/>
          <p:nvPr/>
        </p:nvSpPr>
        <p:spPr>
          <a:xfrm>
            <a:off x="654330" y="10169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238" name="Google Shape;123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396" y="10166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29"/>
          <p:cNvSpPr/>
          <p:nvPr/>
        </p:nvSpPr>
        <p:spPr>
          <a:xfrm>
            <a:off x="991814" y="14857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240" name="Google Shape;124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6212" y="15132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241" name="Google Shape;124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530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242" name="Google Shape;124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03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243" name="Google Shape;124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628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244" name="Google Shape;124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297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245" name="Google Shape;124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496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246" name="Google Shape;124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6897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29"/>
          <p:cNvSpPr txBox="1"/>
          <p:nvPr/>
        </p:nvSpPr>
        <p:spPr>
          <a:xfrm>
            <a:off x="38210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9"/>
          <p:cNvSpPr txBox="1"/>
          <p:nvPr/>
        </p:nvSpPr>
        <p:spPr>
          <a:xfrm>
            <a:off x="43198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9"/>
          <p:cNvSpPr txBox="1"/>
          <p:nvPr/>
        </p:nvSpPr>
        <p:spPr>
          <a:xfrm>
            <a:off x="484688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9"/>
          <p:cNvSpPr txBox="1"/>
          <p:nvPr/>
        </p:nvSpPr>
        <p:spPr>
          <a:xfrm>
            <a:off x="5352529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9"/>
          <p:cNvSpPr txBox="1"/>
          <p:nvPr/>
        </p:nvSpPr>
        <p:spPr>
          <a:xfrm>
            <a:off x="584242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9"/>
          <p:cNvSpPr txBox="1"/>
          <p:nvPr/>
        </p:nvSpPr>
        <p:spPr>
          <a:xfrm>
            <a:off x="6334263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9"/>
          <p:cNvSpPr txBox="1"/>
          <p:nvPr/>
        </p:nvSpPr>
        <p:spPr>
          <a:xfrm>
            <a:off x="3202844" y="5043462"/>
            <a:ext cx="1958025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실명정보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매핑정보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마스킹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Tokenization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대표 ID 생성</a:t>
            </a:r>
            <a:endParaRPr/>
          </a:p>
        </p:txBody>
      </p:sp>
      <p:pic>
        <p:nvPicPr>
          <p:cNvPr descr="Amazon Simple Storage Service (Amazon S3) service icon." id="1254" name="Google Shape;125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1944" y="36432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29"/>
          <p:cNvSpPr txBox="1"/>
          <p:nvPr/>
        </p:nvSpPr>
        <p:spPr>
          <a:xfrm>
            <a:off x="4996115" y="36644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lifesync-raw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9"/>
          <p:cNvSpPr txBox="1"/>
          <p:nvPr/>
        </p:nvSpPr>
        <p:spPr>
          <a:xfrm>
            <a:off x="553798" y="3126209"/>
            <a:ext cx="28592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마스터 테이블 (master_customer)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매핑 테이블 (customer_identity_map)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개인정보 원본 테이블(customer_pii_secure)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Matching_audit_log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분석용 고객 테이블 (customer_360_profile)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동의 여부 (consent)</a:t>
            </a:r>
            <a:endParaRPr/>
          </a:p>
        </p:txBody>
      </p:sp>
      <p:sp>
        <p:nvSpPr>
          <p:cNvPr id="1257" name="Google Shape;1257;p29"/>
          <p:cNvSpPr txBox="1"/>
          <p:nvPr/>
        </p:nvSpPr>
        <p:spPr>
          <a:xfrm>
            <a:off x="4789220" y="4095223"/>
            <a:ext cx="27395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lifesync-raw에는 원천 데이터를 적재하고,</a:t>
            </a:r>
            <a:b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동의 대상군만 선별하여 processed/curated 영역에서 활용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29"/>
          <p:cNvSpPr txBox="1"/>
          <p:nvPr/>
        </p:nvSpPr>
        <p:spPr>
          <a:xfrm>
            <a:off x="3252548" y="5910746"/>
            <a:ext cx="24104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계열사 고객번호 유지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중앙 Global ID 신규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9" name="Google Shape;1259;p29"/>
          <p:cNvCxnSpPr>
            <a:stCxn id="1241" idx="2"/>
          </p:cNvCxnSpPr>
          <p:nvPr/>
        </p:nvCxnSpPr>
        <p:spPr>
          <a:xfrm>
            <a:off x="3804191" y="2260844"/>
            <a:ext cx="774300" cy="913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Lambda service icon." id="1260" name="Google Shape;1260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7677" y="31415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29"/>
          <p:cNvSpPr txBox="1"/>
          <p:nvPr/>
        </p:nvSpPr>
        <p:spPr>
          <a:xfrm>
            <a:off x="4434521" y="35288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2" name="Google Shape;1262;p29"/>
          <p:cNvCxnSpPr/>
          <p:nvPr/>
        </p:nvCxnSpPr>
        <p:spPr>
          <a:xfrm>
            <a:off x="4924756" y="3351155"/>
            <a:ext cx="995794" cy="2732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3" name="Google Shape;1263;p29"/>
          <p:cNvCxnSpPr>
            <a:stCxn id="1264" idx="2"/>
            <a:endCxn id="1265" idx="2"/>
          </p:cNvCxnSpPr>
          <p:nvPr/>
        </p:nvCxnSpPr>
        <p:spPr>
          <a:xfrm flipH="1" rot="5400000">
            <a:off x="1875847" y="5099933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66" name="Google Shape;1266;p29"/>
          <p:cNvSpPr/>
          <p:nvPr/>
        </p:nvSpPr>
        <p:spPr>
          <a:xfrm>
            <a:off x="3042428" y="19879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29"/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29"/>
          <p:cNvSpPr/>
          <p:nvPr/>
        </p:nvSpPr>
        <p:spPr>
          <a:xfrm>
            <a:off x="5332436" y="31582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29"/>
          <p:cNvSpPr txBox="1"/>
          <p:nvPr/>
        </p:nvSpPr>
        <p:spPr>
          <a:xfrm>
            <a:off x="6281623" y="3442790"/>
            <a:ext cx="103047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적재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29"/>
          <p:cNvSpPr txBox="1"/>
          <p:nvPr/>
        </p:nvSpPr>
        <p:spPr>
          <a:xfrm>
            <a:off x="0" y="5031170"/>
            <a:ext cx="6684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ID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29"/>
          <p:cNvSpPr/>
          <p:nvPr/>
        </p:nvSpPr>
        <p:spPr>
          <a:xfrm>
            <a:off x="6314475" y="36634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72" name="Google Shape;1272;p29"/>
          <p:cNvGraphicFramePr/>
          <p:nvPr/>
        </p:nvGraphicFramePr>
        <p:xfrm>
          <a:off x="7563147" y="793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723400"/>
                <a:gridCol w="1715500"/>
              </a:tblGrid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00:00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계열사 업무 마감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00:10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계열사 Raw 생성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00:20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그룹 Raw 저장소 업로드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Glue ETL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02:00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EMR Customer360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03:00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Transfer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03:25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BigQuery Load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04:00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Vertex AI Predict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04:30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Result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05:00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Dashboard 조회 정보 반영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05:30</a:t>
                      </a:r>
                      <a:endParaRPr sz="9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Dashboard 호출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3" name="Google Shape;1273;p29"/>
          <p:cNvSpPr/>
          <p:nvPr/>
        </p:nvSpPr>
        <p:spPr>
          <a:xfrm>
            <a:off x="6647691" y="4841562"/>
            <a:ext cx="3727890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274" name="Google Shape;12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5328" y="485164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29"/>
          <p:cNvSpPr/>
          <p:nvPr/>
        </p:nvSpPr>
        <p:spPr>
          <a:xfrm>
            <a:off x="6743646" y="5255646"/>
            <a:ext cx="16959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276" name="Google Shape;127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9501" y="5258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29"/>
          <p:cNvSpPr/>
          <p:nvPr/>
        </p:nvSpPr>
        <p:spPr>
          <a:xfrm>
            <a:off x="8487505" y="5242064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278" name="Google Shape;127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7505" y="52501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1279" name="Google Shape;1279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94296" y="5735160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29"/>
          <p:cNvSpPr txBox="1"/>
          <p:nvPr/>
        </p:nvSpPr>
        <p:spPr>
          <a:xfrm>
            <a:off x="8995940" y="5790151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1281" name="Google Shape;1281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1121" y="5734919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29"/>
          <p:cNvSpPr txBox="1"/>
          <p:nvPr/>
        </p:nvSpPr>
        <p:spPr>
          <a:xfrm>
            <a:off x="9689092" y="5762534"/>
            <a:ext cx="77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283" name="Google Shape;128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63250" y="57696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29"/>
          <p:cNvSpPr txBox="1"/>
          <p:nvPr/>
        </p:nvSpPr>
        <p:spPr>
          <a:xfrm>
            <a:off x="7687533" y="58024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1285" name="Google Shape;1285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01821" y="46498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6" name="Google Shape;1286;p29"/>
          <p:cNvSpPr txBox="1"/>
          <p:nvPr/>
        </p:nvSpPr>
        <p:spPr>
          <a:xfrm>
            <a:off x="5175816" y="48519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7" name="Google Shape;1287;p29"/>
          <p:cNvCxnSpPr/>
          <p:nvPr/>
        </p:nvCxnSpPr>
        <p:spPr>
          <a:xfrm>
            <a:off x="1780709" y="2234859"/>
            <a:ext cx="3034181" cy="2709239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8" name="Google Shape;1288;p29"/>
          <p:cNvCxnSpPr>
            <a:endCxn id="1279" idx="0"/>
          </p:cNvCxnSpPr>
          <p:nvPr/>
        </p:nvCxnSpPr>
        <p:spPr>
          <a:xfrm>
            <a:off x="6339033" y="3985560"/>
            <a:ext cx="2476800" cy="174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pic>
        <p:nvPicPr>
          <p:cNvPr descr="Amazon Kinesis Data Streams service icon." id="1289" name="Google Shape;1289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92342" y="56822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90" name="Google Shape;1290;p29"/>
          <p:cNvSpPr txBox="1"/>
          <p:nvPr/>
        </p:nvSpPr>
        <p:spPr>
          <a:xfrm>
            <a:off x="5538909" y="60437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1291" name="Google Shape;129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8175" y="380255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29"/>
          <p:cNvSpPr txBox="1"/>
          <p:nvPr/>
        </p:nvSpPr>
        <p:spPr>
          <a:xfrm>
            <a:off x="8102951" y="421464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3" name="Google Shape;1293;p29"/>
          <p:cNvCxnSpPr>
            <a:stCxn id="1291" idx="3"/>
            <a:endCxn id="1281" idx="0"/>
          </p:cNvCxnSpPr>
          <p:nvPr/>
        </p:nvCxnSpPr>
        <p:spPr>
          <a:xfrm>
            <a:off x="8774190" y="4005565"/>
            <a:ext cx="851400" cy="172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1294" name="Google Shape;129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16918" y="3816044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5" name="Google Shape;1295;p29"/>
          <p:cNvCxnSpPr>
            <a:stCxn id="1296" idx="2"/>
            <a:endCxn id="1281" idx="0"/>
          </p:cNvCxnSpPr>
          <p:nvPr/>
        </p:nvCxnSpPr>
        <p:spPr>
          <a:xfrm flipH="1">
            <a:off x="9625636" y="4569983"/>
            <a:ext cx="208800" cy="116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297" name="Google Shape;1297;p29"/>
          <p:cNvCxnSpPr>
            <a:stCxn id="1291" idx="2"/>
          </p:cNvCxnSpPr>
          <p:nvPr/>
        </p:nvCxnSpPr>
        <p:spPr>
          <a:xfrm>
            <a:off x="8571183" y="4208572"/>
            <a:ext cx="50100" cy="97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1298" name="Google Shape;1298;p29"/>
          <p:cNvCxnSpPr>
            <a:endCxn id="1299" idx="0"/>
          </p:cNvCxnSpPr>
          <p:nvPr/>
        </p:nvCxnSpPr>
        <p:spPr>
          <a:xfrm>
            <a:off x="4939262" y="5027098"/>
            <a:ext cx="233100" cy="47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9" name="Google Shape;1299;p29"/>
          <p:cNvSpPr txBox="1"/>
          <p:nvPr/>
        </p:nvSpPr>
        <p:spPr>
          <a:xfrm>
            <a:off x="4716962" y="55052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0" name="Google Shape;1300;p29"/>
          <p:cNvCxnSpPr>
            <a:endCxn id="1289" idx="1"/>
          </p:cNvCxnSpPr>
          <p:nvPr/>
        </p:nvCxnSpPr>
        <p:spPr>
          <a:xfrm>
            <a:off x="5572542" y="5762683"/>
            <a:ext cx="319800" cy="9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1" name="Google Shape;1301;p29"/>
          <p:cNvCxnSpPr>
            <a:stCxn id="1289" idx="3"/>
            <a:endCxn id="1283" idx="1"/>
          </p:cNvCxnSpPr>
          <p:nvPr/>
        </p:nvCxnSpPr>
        <p:spPr>
          <a:xfrm>
            <a:off x="6241107" y="5856583"/>
            <a:ext cx="1122000" cy="117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02" name="Google Shape;1302;p29"/>
          <p:cNvCxnSpPr>
            <a:stCxn id="1283" idx="0"/>
            <a:endCxn id="1254" idx="2"/>
          </p:cNvCxnSpPr>
          <p:nvPr/>
        </p:nvCxnSpPr>
        <p:spPr>
          <a:xfrm rot="10800000">
            <a:off x="6064990" y="4049186"/>
            <a:ext cx="1502100" cy="172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6" name="Google Shape;1296;p29"/>
          <p:cNvSpPr txBox="1"/>
          <p:nvPr/>
        </p:nvSpPr>
        <p:spPr>
          <a:xfrm>
            <a:off x="9323986" y="423128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29"/>
          <p:cNvSpPr/>
          <p:nvPr/>
        </p:nvSpPr>
        <p:spPr>
          <a:xfrm>
            <a:off x="10561565" y="2015744"/>
            <a:ext cx="1537834" cy="4264334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4" name="Google Shape;1304;p29"/>
          <p:cNvPicPr preferRelativeResize="0"/>
          <p:nvPr/>
        </p:nvPicPr>
        <p:blipFill rotWithShape="1">
          <a:blip r:embed="rId13">
            <a:alphaModFix/>
          </a:blip>
          <a:srcRect b="-59116" l="-6931" r="-5592" t="-49479"/>
          <a:stretch/>
        </p:blipFill>
        <p:spPr>
          <a:xfrm>
            <a:off x="10594109" y="2061955"/>
            <a:ext cx="755735" cy="395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5" name="Google Shape;1305;p29"/>
          <p:cNvGrpSpPr/>
          <p:nvPr/>
        </p:nvGrpSpPr>
        <p:grpSpPr>
          <a:xfrm>
            <a:off x="10908974" y="3752035"/>
            <a:ext cx="820995" cy="424443"/>
            <a:chOff x="-1027300" y="1480022"/>
            <a:chExt cx="615746" cy="280714"/>
          </a:xfrm>
        </p:grpSpPr>
        <p:sp>
          <p:nvSpPr>
            <p:cNvPr id="1306" name="Google Shape;1306;p29"/>
            <p:cNvSpPr/>
            <p:nvPr/>
          </p:nvSpPr>
          <p:spPr>
            <a:xfrm>
              <a:off x="-1027300" y="1480022"/>
              <a:ext cx="615746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5"/>
                </a:schemeClr>
              </a:outerShdw>
            </a:effectLst>
          </p:spPr>
          <p:txBody>
            <a:bodyPr anchorCtr="0" anchor="ctr" bIns="121900" lIns="390125" spcFirstLastPara="1" rIns="60925" wrap="square" tIns="10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b="0" i="0" sz="9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307" name="Google Shape;1307;p2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-979687" y="1510583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8" name="Google Shape;1308;p29"/>
          <p:cNvSpPr/>
          <p:nvPr/>
        </p:nvSpPr>
        <p:spPr>
          <a:xfrm>
            <a:off x="10792757" y="5656719"/>
            <a:ext cx="1078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9" name="Google Shape;1309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838506" y="5717174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29"/>
          <p:cNvSpPr/>
          <p:nvPr/>
        </p:nvSpPr>
        <p:spPr>
          <a:xfrm>
            <a:off x="10822244" y="4679687"/>
            <a:ext cx="1007259" cy="438441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5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1" name="Google Shape;1311;p2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918671" y="4780153"/>
            <a:ext cx="242325" cy="2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29"/>
          <p:cNvSpPr txBox="1"/>
          <p:nvPr/>
        </p:nvSpPr>
        <p:spPr>
          <a:xfrm>
            <a:off x="10693733" y="2884215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3" name="Google Shape;1313;p2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1150691" y="2503845"/>
            <a:ext cx="389175" cy="38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4" name="Google Shape;1314;p29"/>
          <p:cNvCxnSpPr>
            <a:stCxn id="1294" idx="0"/>
            <a:endCxn id="1313" idx="1"/>
          </p:cNvCxnSpPr>
          <p:nvPr/>
        </p:nvCxnSpPr>
        <p:spPr>
          <a:xfrm flipH="1" rot="10800000">
            <a:off x="9819926" y="2698544"/>
            <a:ext cx="1330800" cy="1117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15" name="Google Shape;1315;p29"/>
          <p:cNvCxnSpPr>
            <a:endCxn id="1310" idx="0"/>
          </p:cNvCxnSpPr>
          <p:nvPr/>
        </p:nvCxnSpPr>
        <p:spPr>
          <a:xfrm flipH="1">
            <a:off x="11325874" y="4203287"/>
            <a:ext cx="6000" cy="476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16" name="Google Shape;1316;p29"/>
          <p:cNvCxnSpPr/>
          <p:nvPr/>
        </p:nvCxnSpPr>
        <p:spPr>
          <a:xfrm flipH="1">
            <a:off x="11325874" y="3248853"/>
            <a:ext cx="5984" cy="476356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317" name="Google Shape;1317;p29"/>
          <p:cNvCxnSpPr/>
          <p:nvPr/>
        </p:nvCxnSpPr>
        <p:spPr>
          <a:xfrm flipH="1">
            <a:off x="11325874" y="5146464"/>
            <a:ext cx="5984" cy="476356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318" name="Google Shape;1318;p29"/>
          <p:cNvSpPr txBox="1"/>
          <p:nvPr/>
        </p:nvSpPr>
        <p:spPr>
          <a:xfrm>
            <a:off x="8487469" y="6288527"/>
            <a:ext cx="693152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Cron Job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29"/>
          <p:cNvSpPr txBox="1"/>
          <p:nvPr/>
        </p:nvSpPr>
        <p:spPr>
          <a:xfrm>
            <a:off x="1313581" y="2518002"/>
            <a:ext cx="9918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(초당 수백회)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29"/>
          <p:cNvSpPr/>
          <p:nvPr/>
        </p:nvSpPr>
        <p:spPr>
          <a:xfrm>
            <a:off x="1253687" y="24185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29"/>
          <p:cNvSpPr/>
          <p:nvPr/>
        </p:nvSpPr>
        <p:spPr>
          <a:xfrm>
            <a:off x="5278326" y="58715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29"/>
          <p:cNvSpPr/>
          <p:nvPr/>
        </p:nvSpPr>
        <p:spPr>
          <a:xfrm>
            <a:off x="7018309" y="60233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29"/>
          <p:cNvSpPr/>
          <p:nvPr/>
        </p:nvSpPr>
        <p:spPr>
          <a:xfrm>
            <a:off x="4450764" y="50689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29"/>
          <p:cNvSpPr/>
          <p:nvPr/>
        </p:nvSpPr>
        <p:spPr>
          <a:xfrm>
            <a:off x="8273093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29"/>
          <p:cNvSpPr/>
          <p:nvPr/>
        </p:nvSpPr>
        <p:spPr>
          <a:xfrm>
            <a:off x="9569782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29"/>
          <p:cNvSpPr/>
          <p:nvPr/>
        </p:nvSpPr>
        <p:spPr>
          <a:xfrm>
            <a:off x="10685390" y="317778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29"/>
          <p:cNvSpPr/>
          <p:nvPr/>
        </p:nvSpPr>
        <p:spPr>
          <a:xfrm>
            <a:off x="10598170" y="40023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29"/>
          <p:cNvSpPr/>
          <p:nvPr/>
        </p:nvSpPr>
        <p:spPr>
          <a:xfrm>
            <a:off x="10598170" y="480673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29"/>
          <p:cNvSpPr/>
          <p:nvPr/>
        </p:nvSpPr>
        <p:spPr>
          <a:xfrm>
            <a:off x="10598170" y="57600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0" name="Google Shape;1330;p2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349568" y="1950948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1331" name="Google Shape;1331;p29"/>
          <p:cNvSpPr txBox="1"/>
          <p:nvPr/>
        </p:nvSpPr>
        <p:spPr>
          <a:xfrm>
            <a:off x="2548690" y="2418379"/>
            <a:ext cx="1253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시, MySQL 저장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00:20 JSON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29"/>
          <p:cNvSpPr/>
          <p:nvPr/>
        </p:nvSpPr>
        <p:spPr>
          <a:xfrm>
            <a:off x="6612609" y="38140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29"/>
          <p:cNvSpPr/>
          <p:nvPr/>
        </p:nvSpPr>
        <p:spPr>
          <a:xfrm>
            <a:off x="3934370" y="27217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29"/>
          <p:cNvSpPr txBox="1"/>
          <p:nvPr/>
        </p:nvSpPr>
        <p:spPr>
          <a:xfrm>
            <a:off x="4221880" y="2681579"/>
            <a:ext cx="1568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은행 원천 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(Batch Job)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5" name="Google Shape;1335;p29"/>
          <p:cNvSpPr txBox="1"/>
          <p:nvPr/>
        </p:nvSpPr>
        <p:spPr>
          <a:xfrm>
            <a:off x="6344469" y="638226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6" name="Google Shape;1336;p29"/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9"/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29"/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29"/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338" name="Google Shape;1338;p2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00326" y="4969126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339" name="Google Shape;1339;p2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576869" y="4961011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340" name="Google Shape;1340;p2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371491" y="4956031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2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82603" y="4596214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3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30"/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On-prem 데이터 (MySQL)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8" name="Google Shape;1348;p30"/>
          <p:cNvSpPr txBox="1"/>
          <p:nvPr/>
        </p:nvSpPr>
        <p:spPr>
          <a:xfrm>
            <a:off x="282911" y="1546209"/>
            <a:ext cx="3549502" cy="27696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= 플랫폼 회원 계정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9" name="Google Shape;1349;p30"/>
          <p:cNvGraphicFramePr/>
          <p:nvPr/>
        </p:nvGraphicFramePr>
        <p:xfrm>
          <a:off x="282910" y="1989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74750"/>
                <a:gridCol w="177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user_id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ls_user_id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플랫폼 회원번호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대표 고객ID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login_email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로그인 이메일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password_hash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암호화 비밀번호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mobile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휴대폰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user_status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 / LOCK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consent_completed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동의 완료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created_dt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last_login_dt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최근 로그인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0" name="Google Shape;1350;p30"/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master_customer = 그룹 대표 고객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1" name="Google Shape;1351;p30"/>
          <p:cNvGraphicFramePr/>
          <p:nvPr/>
        </p:nvGraphicFramePr>
        <p:xfrm>
          <a:off x="4305223" y="1989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74750"/>
                <a:gridCol w="177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customer_status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/ NORMAL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개인/법인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first_created_dt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최초 생성일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last_updated_dt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수정일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2" name="Google Shape;1352;p30"/>
          <p:cNvSpPr txBox="1"/>
          <p:nvPr/>
        </p:nvSpPr>
        <p:spPr>
          <a:xfrm>
            <a:off x="4305223" y="4147833"/>
            <a:ext cx="3549502" cy="27699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customer_identity_map = 계열사 고객번호 연결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3" name="Google Shape;1353;p30"/>
          <p:cNvGraphicFramePr/>
          <p:nvPr/>
        </p:nvGraphicFramePr>
        <p:xfrm>
          <a:off x="4305223" y="45811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74750"/>
                <a:gridCol w="177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대표 고객ID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domain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BANK/CARD 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source_customer_id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고객번호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match_type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EXACT/FUZZY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Y/N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4" name="Google Shape;1354;p30"/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customer_pii_secure = 개인정보 원본 보안 저장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5" name="Google Shape;1355;p30"/>
          <p:cNvGraphicFramePr/>
          <p:nvPr/>
        </p:nvGraphicFramePr>
        <p:xfrm>
          <a:off x="8327535" y="19894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90775"/>
                <a:gridCol w="17907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pii_token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대표ID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customer_name_enc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이름 암호화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rrn_enc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주민번호 암호화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mobile_enc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휴대폰 암호화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email_enc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이메일 암호화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address_enc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주소 암호화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3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31"/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On-prem 데이터 (MySQL)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31"/>
          <p:cNvSpPr txBox="1"/>
          <p:nvPr/>
        </p:nvSpPr>
        <p:spPr>
          <a:xfrm>
            <a:off x="282911" y="1546209"/>
            <a:ext cx="3549502" cy="27699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matching_audit_log = 가입/매칭 이력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31"/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customer_360_profile = 분석/추천 프로필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31"/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consent = 데이터 활용 동의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5" name="Google Shape;1365;p31"/>
          <p:cNvGraphicFramePr/>
          <p:nvPr/>
        </p:nvGraphicFramePr>
        <p:xfrm>
          <a:off x="274468" y="20780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74750"/>
                <a:gridCol w="177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audit_id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request_id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요청ID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ls_user_id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회원ID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matched_global_customer_id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연결된 GID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match_rule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사용 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match_score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MATCH / NEW_CREATE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request_dt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6" name="Google Shape;1366;p31"/>
          <p:cNvGraphicFramePr/>
          <p:nvPr/>
        </p:nvGraphicFramePr>
        <p:xfrm>
          <a:off x="4305008" y="2078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74750"/>
                <a:gridCol w="177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gender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age_band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region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SEOUL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income_grade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asset_grade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wearable_flag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risk_score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위험점수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finance_score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종합점수(추가권장)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7" name="Google Shape;1367;p31"/>
          <p:cNvGraphicFramePr/>
          <p:nvPr/>
        </p:nvGraphicFramePr>
        <p:xfrm>
          <a:off x="8335547" y="20780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74750"/>
                <a:gridCol w="177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global_customer_id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domain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Y/N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consent_version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v1.0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동의일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revoke_dt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철회일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구조 – On-prem ERD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32"/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On-prem 데이터 (MySQL)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4" name="Google Shape;137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452282"/>
            <a:ext cx="9753600" cy="522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33"/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company_master = 그룹사 정보 관리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33"/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DB 데이터 (Aurora)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2" name="Google Shape;1382;p33"/>
          <p:cNvGraphicFramePr/>
          <p:nvPr/>
        </p:nvGraphicFramePr>
        <p:xfrm>
          <a:off x="417380" y="3743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48250"/>
                <a:gridCol w="1648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회사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은행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증권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HLT01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3" name="Google Shape;1383;p33"/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category_master = 상품 종류 분류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4" name="Google Shape;1384;p33"/>
          <p:cNvGraphicFramePr/>
          <p:nvPr/>
        </p:nvGraphicFramePr>
        <p:xfrm>
          <a:off x="417380" y="18067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48250"/>
                <a:gridCol w="1648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회사 코드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회사명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BANK/CARD 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사용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5" name="Google Shape;1385;p33"/>
          <p:cNvGraphicFramePr/>
          <p:nvPr/>
        </p:nvGraphicFramePr>
        <p:xfrm>
          <a:off x="4084550" y="37436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178475"/>
                <a:gridCol w="1178475"/>
                <a:gridCol w="11784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category_id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6" name="Google Shape;1386;p33"/>
          <p:cNvGraphicFramePr/>
          <p:nvPr/>
        </p:nvGraphicFramePr>
        <p:xfrm>
          <a:off x="4084550" y="1829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67725"/>
                <a:gridCol w="1767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카테고리 고유번호(PK)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시스템 코드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카테고리명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사용 여부(Y/N)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created_at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생성일시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7" name="Google Shape;1387;p33"/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product_master = 상품/서비스 목록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8" name="Google Shape;1388;p33"/>
          <p:cNvGraphicFramePr/>
          <p:nvPr/>
        </p:nvGraphicFramePr>
        <p:xfrm>
          <a:off x="7953164" y="1829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67725"/>
                <a:gridCol w="1767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어느 그룹사 상품인지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카테고리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상품코드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target_grade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VIP/GOLD 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min_score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최소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max_score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risk_level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LOW/MID/HIGH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priority_rank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우선순위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사용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9" name="Google Shape;1389;p33"/>
          <p:cNvGraphicFramePr/>
          <p:nvPr/>
        </p:nvGraphicFramePr>
        <p:xfrm>
          <a:off x="7953163" y="52308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39950"/>
                <a:gridCol w="643600"/>
                <a:gridCol w="604900"/>
                <a:gridCol w="8862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product_name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프리미엄 정기예금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은행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Black Signature 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글로벌 ETF 포트폴리오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증권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프리미엄 건강보험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건강검진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3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5" name="Google Shape;1395;p34"/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product_option = 상품 세부 옵션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34"/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recommend_rule = 추천 규칙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34"/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cross_sell_rule = 교차판매 룰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8" name="Google Shape;1398;p34"/>
          <p:cNvGraphicFramePr/>
          <p:nvPr/>
        </p:nvGraphicFramePr>
        <p:xfrm>
          <a:off x="417380" y="1776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48250"/>
                <a:gridCol w="1648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option_id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option_name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option_value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9" name="Google Shape;1399;p34"/>
          <p:cNvGraphicFramePr/>
          <p:nvPr/>
        </p:nvGraphicFramePr>
        <p:xfrm>
          <a:off x="417380" y="34135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098825"/>
                <a:gridCol w="1098825"/>
                <a:gridCol w="1098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상품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옵션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3.5%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연회비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20만원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혜택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공항라운지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0" name="Google Shape;1400;p34"/>
          <p:cNvGraphicFramePr/>
          <p:nvPr/>
        </p:nvGraphicFramePr>
        <p:xfrm>
          <a:off x="4084549" y="1776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67725"/>
                <a:gridCol w="1767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target_grade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대상 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action_code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코드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min_score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최소점수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max_score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최대점수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카테고리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1" name="Google Shape;1401;p34"/>
          <p:cNvGraphicFramePr/>
          <p:nvPr/>
        </p:nvGraphicFramePr>
        <p:xfrm>
          <a:off x="4084549" y="3437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178475"/>
                <a:gridCol w="1178475"/>
                <a:gridCol w="11784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PB_CENTER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ETF_PRODUCT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HEALTH_CHECKUP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2" name="Google Shape;1402;p34"/>
          <p:cNvSpPr txBox="1"/>
          <p:nvPr/>
        </p:nvSpPr>
        <p:spPr>
          <a:xfrm>
            <a:off x="7953165" y="1709096"/>
            <a:ext cx="353545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현재 관심 상품 기반으로 다른 그룹사 상품 추가 추천 규칙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3" name="Google Shape;1403;p34"/>
          <p:cNvGraphicFramePr/>
          <p:nvPr/>
        </p:nvGraphicFramePr>
        <p:xfrm>
          <a:off x="7916857" y="21333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85875"/>
                <a:gridCol w="17858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cross_id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base_category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현재 상품 카테고리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target_category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추가 추천 카테고리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priority_rank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우선순위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사용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created_at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생성일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4" name="Google Shape;1404;p34"/>
          <p:cNvGraphicFramePr/>
          <p:nvPr/>
        </p:nvGraphicFramePr>
        <p:xfrm>
          <a:off x="7916858" y="4048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56275"/>
                <a:gridCol w="1356275"/>
                <a:gridCol w="13562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base_category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target_category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priority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RETIREMENT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5" name="Google Shape;1405;p34"/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DB 데이터 (Aurora)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3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35"/>
          <p:cNvSpPr txBox="1"/>
          <p:nvPr/>
        </p:nvSpPr>
        <p:spPr>
          <a:xfrm>
            <a:off x="417381" y="1340641"/>
            <a:ext cx="3296492" cy="461665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campaign_master = 이벤트성 상품 / 배너/ 프로모션 관리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35"/>
          <p:cNvSpPr txBox="1"/>
          <p:nvPr/>
        </p:nvSpPr>
        <p:spPr>
          <a:xfrm>
            <a:off x="4225225" y="1340641"/>
            <a:ext cx="3535451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Customer_recommend_history = 추천 이력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35"/>
          <p:cNvSpPr txBox="1"/>
          <p:nvPr/>
        </p:nvSpPr>
        <p:spPr>
          <a:xfrm>
            <a:off x="8234520" y="1340641"/>
            <a:ext cx="3535451" cy="27695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customer_dashboard_log = 고객 행동 로그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14" name="Google Shape;1414;p35"/>
          <p:cNvGraphicFramePr/>
          <p:nvPr/>
        </p:nvGraphicFramePr>
        <p:xfrm>
          <a:off x="417379" y="2009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48250"/>
                <a:gridCol w="1648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campaign_id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campaign_name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캠페인명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target_grade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대상 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banner_title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메인 배너 제목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banner_desc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start_date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시작일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end_date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종료일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진행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created_at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생성일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5" name="Google Shape;1415;p35"/>
          <p:cNvGraphicFramePr/>
          <p:nvPr/>
        </p:nvGraphicFramePr>
        <p:xfrm>
          <a:off x="417380" y="4724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48250"/>
                <a:gridCol w="1648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campaign_name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PB 초청 이벤트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 건강검진 할인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신규 카드 발급 이벤트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6" name="Google Shape;1416;p35"/>
          <p:cNvGraphicFramePr/>
          <p:nvPr/>
        </p:nvGraphicFramePr>
        <p:xfrm>
          <a:off x="4225224" y="2009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67725"/>
                <a:gridCol w="1767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hist_id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상품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dynamic_score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당시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dynamic_grade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당시 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action_code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액션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recommended_at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추천시각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clicked_flag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클릭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purchased_flag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7" name="Google Shape;1417;p35"/>
          <p:cNvGraphicFramePr/>
          <p:nvPr/>
        </p:nvGraphicFramePr>
        <p:xfrm>
          <a:off x="4225223" y="4724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883875"/>
                <a:gridCol w="729000"/>
                <a:gridCol w="717450"/>
                <a:gridCol w="1205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상품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clicked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purchased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예금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 상품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8" name="Google Shape;1418;p35"/>
          <p:cNvGraphicFramePr/>
          <p:nvPr/>
        </p:nvGraphicFramePr>
        <p:xfrm>
          <a:off x="8234520" y="2009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67725"/>
                <a:gridCol w="1767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log_id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page_type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MAIN / DETAIL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banner_click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배너 클릭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product_click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클릭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click_product_id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클릭 상품ID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session_id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세션ID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view_time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접속시각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9" name="Google Shape;1419;p35"/>
          <p:cNvGraphicFramePr/>
          <p:nvPr/>
        </p:nvGraphicFramePr>
        <p:xfrm>
          <a:off x="8234520" y="4724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883875"/>
                <a:gridCol w="883875"/>
                <a:gridCol w="883875"/>
                <a:gridCol w="8838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banner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상품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예금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없음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0" name="Google Shape;1420;p35"/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DB 데이터 (Aurora)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36"/>
          <p:cNvSpPr txBox="1"/>
          <p:nvPr/>
        </p:nvSpPr>
        <p:spPr>
          <a:xfrm>
            <a:off x="417381" y="1627727"/>
            <a:ext cx="4484228" cy="27699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lifesync_customer_result = 고객 최신 점수 / 등급 / AI 결과 저장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36"/>
          <p:cNvSpPr txBox="1"/>
          <p:nvPr/>
        </p:nvSpPr>
        <p:spPr>
          <a:xfrm>
            <a:off x="417380" y="13015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DB 데이터 (DynamoDB)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36"/>
          <p:cNvSpPr txBox="1"/>
          <p:nvPr/>
        </p:nvSpPr>
        <p:spPr>
          <a:xfrm>
            <a:off x="5680496" y="2347987"/>
            <a:ext cx="3712804" cy="2092881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"global_id":"G001",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"update_time":"2026-04-28T04:30:00Z",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"dynamic_score":92.4,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"dynamic_grade":"VIP",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"next_best_action":"PB_CENTER",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"vip_prob":0.94,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"signup_prob":0.81,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"rec_prob":0.77,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"health_score":88.1,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"source":"GCP_LIFESYNC360",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"ttl":1777777777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429" name="Google Shape;1429;p36"/>
          <p:cNvSpPr txBox="1"/>
          <p:nvPr/>
        </p:nvSpPr>
        <p:spPr>
          <a:xfrm>
            <a:off x="417380" y="2003265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기본 Key 구조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30" name="Google Shape;1430;p36"/>
          <p:cNvGraphicFramePr/>
          <p:nvPr/>
        </p:nvGraphicFramePr>
        <p:xfrm>
          <a:off x="417380" y="23267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242125"/>
                <a:gridCol w="2242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Partition Key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Sort Key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update_time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1" name="Google Shape;1431;p36"/>
          <p:cNvGraphicFramePr/>
          <p:nvPr/>
        </p:nvGraphicFramePr>
        <p:xfrm>
          <a:off x="417379" y="322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94750"/>
                <a:gridCol w="1494750"/>
                <a:gridCol w="14947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타입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통합 고객 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update_time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결과 생성 시각 (ISO8601)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dynamic_score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종합 고객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dynamic_grade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등급(VIP/GOLD 등)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next_best_action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다음 추천 행동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가능성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signup_prob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가입 가능성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반응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source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데이터 생성 시스템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ttl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Number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자동 만료 시간(Unix epoch)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2" name="Google Shape;1432;p36"/>
          <p:cNvSpPr txBox="1"/>
          <p:nvPr/>
        </p:nvSpPr>
        <p:spPr>
          <a:xfrm>
            <a:off x="5680496" y="2024530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메세지 구조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36"/>
          <p:cNvSpPr txBox="1"/>
          <p:nvPr/>
        </p:nvSpPr>
        <p:spPr>
          <a:xfrm>
            <a:off x="297542" y="722971"/>
            <a:ext cx="117491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lifesync_customer_result 는 고객별 최신 AI 점수·등급·행동추천·VIP확률·건강점수를 저장하여 LifeSync360 메인 서비스가 실시간 개인화 추천을 수행하도록 지원하는 DynamoDB 테이블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3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파이프라인 (사전 구축 사항)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37"/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조건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데이터 통합 인프라 구축 전에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반드시 "대표 그룹 고객 식별자(Global Customer ID)" 체계 필요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VM (은행 / 카드 / 증권 / 보험 / 헬스케어 / 병원)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각자 자체 고객번호 보유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직접 통합 불가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준비사항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100만명 기본 마스터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계열사별 고객번호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Global Customer ID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고객 매핑 테이블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계열사별 업무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개인정보 비식별화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Consent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AI 학습용 Label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Raw / Processed / Curated 분리 적재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품질 검증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37"/>
          <p:cNvSpPr txBox="1"/>
          <p:nvPr/>
        </p:nvSpPr>
        <p:spPr>
          <a:xfrm>
            <a:off x="5222987" y="3542181"/>
            <a:ext cx="2099642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권장 분포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20대 15%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30대 25%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40대 30%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50대 20%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60대 이상 10%</a:t>
            </a:r>
            <a:endParaRPr/>
          </a:p>
        </p:txBody>
      </p:sp>
      <p:sp>
        <p:nvSpPr>
          <p:cNvPr id="1441" name="Google Shape;1441;p37"/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37"/>
          <p:cNvSpPr txBox="1"/>
          <p:nvPr/>
        </p:nvSpPr>
        <p:spPr>
          <a:xfrm>
            <a:off x="5222987" y="998859"/>
            <a:ext cx="357808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마스터 100만명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전체 고객 : 1,000,000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Customer ID : 1,000,000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 360 가입자 30%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 360 미가입자 70%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동의 고객 20%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고객 5%</a:t>
            </a:r>
            <a:endParaRPr/>
          </a:p>
        </p:txBody>
      </p:sp>
      <p:graphicFrame>
        <p:nvGraphicFramePr>
          <p:cNvPr id="1443" name="Google Shape;1443;p37"/>
          <p:cNvGraphicFramePr/>
          <p:nvPr/>
        </p:nvGraphicFramePr>
        <p:xfrm>
          <a:off x="7673009" y="1073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130825"/>
                <a:gridCol w="1130825"/>
                <a:gridCol w="11308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구분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비율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인원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전체 그룹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1,000,000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 가입자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미가입자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동의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가입자의 20%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전체의 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4" name="Google Shape;1444;p37"/>
          <p:cNvSpPr txBox="1"/>
          <p:nvPr/>
        </p:nvSpPr>
        <p:spPr>
          <a:xfrm>
            <a:off x="5222987" y="3182779"/>
            <a:ext cx="616122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20세~79세 대한민국 고객 100만명을 가정하고, 지역·직업·소득·자산·계열사 가입 여부를 랜덤 정책 적용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5" name="Google Shape;1445;p37"/>
          <p:cNvGraphicFramePr/>
          <p:nvPr/>
        </p:nvGraphicFramePr>
        <p:xfrm>
          <a:off x="7673009" y="39391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96225"/>
                <a:gridCol w="16962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G000123456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김민수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나이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지역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SEOUL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직업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OFFICE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소득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6" name="Google Shape;1446;p37"/>
          <p:cNvSpPr txBox="1"/>
          <p:nvPr/>
        </p:nvSpPr>
        <p:spPr>
          <a:xfrm>
            <a:off x="7673009" y="3542181"/>
            <a:ext cx="209964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데이터 예시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3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파이프라인 (사전 구축 사항)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38"/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조건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데이터 통합 인프라 구축 전에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반드시 "대표 그룹 고객 식별자(Global Customer ID)" 체계 필요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VM (은행 / 카드 / 증권 / 보험 / 헬스케어 / 병원)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각자 자체 고객번호 보유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직접 통합 불가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준비사항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고객 100만명 기본 마스터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계열사별 고객번호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Global Customer ID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고객 매핑 테이블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계열사별 업무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개인정보 비식별화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Consent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AI 학습용 Label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Raw / Processed / Curated 분리 적재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품질 검증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38"/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4" name="Google Shape;1454;p38"/>
          <p:cNvGraphicFramePr/>
          <p:nvPr/>
        </p:nvGraphicFramePr>
        <p:xfrm>
          <a:off x="5267739" y="13758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944225"/>
                <a:gridCol w="636100"/>
                <a:gridCol w="983975"/>
                <a:gridCol w="18089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계열사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가입률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가입 고객수</a:t>
                      </a:r>
                      <a:endParaRPr b="1" sz="10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(100만 기준)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은행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1,000,000명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전체 고객 기본 계좌 보유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700,000명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이용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500,000명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 가입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온라인보험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250,000명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디지털 보험 이용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병원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200,000명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병원 진료 이력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300,000명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 서비스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증권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250,000명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5" name="Google Shape;1455;p38"/>
          <p:cNvSpPr txBox="1"/>
          <p:nvPr/>
        </p:nvSpPr>
        <p:spPr>
          <a:xfrm>
            <a:off x="5197752" y="1031046"/>
            <a:ext cx="35780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계열사별 고객 수 산정 기준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38"/>
          <p:cNvSpPr txBox="1"/>
          <p:nvPr/>
        </p:nvSpPr>
        <p:spPr>
          <a:xfrm>
            <a:off x="5197752" y="3598946"/>
            <a:ext cx="592413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❖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100만 고객 기준, 은행 100만 / 카드 70만 / 보험 50만 / 온라인보험 25만 / 병원 20만 / 헬스케어 30만 / 증권 25만명 수준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3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파이프라인 (사전 구축 사항)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39"/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조건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데이터 통합 인프라 구축 전에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반드시 "대표 그룹 고객 식별자(Global Customer ID)" 체계 필요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VM (은행 / 카드 / 증권 / 보험 / 헬스케어 / 병원)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각자 자체 고객번호 보유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직접 통합 불가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준비사항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고객 100만명 기본 마스터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계열사별 고객번호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Customer ID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고객 매핑 테이블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계열사별 업무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개인정보 비식별화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Consent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AI 학습용 Label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Raw / Processed / Curated 분리 적재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품질 검증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39"/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4" name="Google Shape;1464;p39"/>
          <p:cNvGraphicFramePr/>
          <p:nvPr/>
        </p:nvGraphicFramePr>
        <p:xfrm>
          <a:off x="5253011" y="16311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653425"/>
                <a:gridCol w="2348150"/>
                <a:gridCol w="914975"/>
                <a:gridCol w="1768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순서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파일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역할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산출물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STEP 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lifesync360_pre_customer_data.py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100만명 마스터 생성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customer_master.csv / customer_identity_map.csv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4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파이프라인 (사전 구축 사항)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0"/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조건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데이터 통합 인프라 구축 전에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반드시 "대표 그룹 고객 식별자(Global Customer ID)" 체계 필요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VM (은행 / 카드 / 증권 / 보험 / 헬스케어 / 병원)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각자 자체 고객번호 보유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직접 통합 불가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준비사항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고객 100만명 기본 마스터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계열사별 고객번호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Global Customer ID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고객 매핑 테이블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계열사별 업무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개인정보 비식별화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Consent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AI 학습용 Label 데이터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Raw / Processed / Curated 분리 적재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품질 검증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40"/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72" name="Google Shape;1472;p40"/>
          <p:cNvGraphicFramePr/>
          <p:nvPr/>
        </p:nvGraphicFramePr>
        <p:xfrm>
          <a:off x="5253011" y="10870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653425"/>
                <a:gridCol w="2348150"/>
                <a:gridCol w="914975"/>
                <a:gridCol w="1768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순서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파일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역할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산출물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STEP 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lifesync360_pre_generator_data.py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업무 데이터 생성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bank/card/insurance/... json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4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파이프라인 (사전 구축 사항)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41"/>
          <p:cNvSpPr txBox="1"/>
          <p:nvPr/>
        </p:nvSpPr>
        <p:spPr>
          <a:xfrm>
            <a:off x="265805" y="1087023"/>
            <a:ext cx="4540824" cy="4739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조건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추천 플랫폼용 대규모 시뮬레이션 데이터셋 구축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현실적인 금융·보험·헬스 상품 구조, 고객 등급 및 행동 기반 추천 Rule, 교차판매 흐름, 대규모 추천 이력과 행동 로그를 생성할 수 있는 AI 학습형 데이터 구조를 사전에 정의하는 것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준비 프로세스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회사 정의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카테고리 정의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Base Pool 정의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Rule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교차판매 Rule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캠페인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데이터 준비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이력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행동 로그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학습 데이터 생성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41"/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41"/>
          <p:cNvSpPr txBox="1"/>
          <p:nvPr/>
        </p:nvSpPr>
        <p:spPr>
          <a:xfrm>
            <a:off x="5181269" y="1087023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기준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1" name="Google Shape;1481;p41"/>
          <p:cNvGraphicFramePr/>
          <p:nvPr/>
        </p:nvGraphicFramePr>
        <p:xfrm>
          <a:off x="5181269" y="1533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41975"/>
                <a:gridCol w="1941975"/>
                <a:gridCol w="1796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테이블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생성 목적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권장 건수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company_master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기준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category_master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분류 기준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10~15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product_master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대상 상품/서비스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product_option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상품별 속성/Feature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30,000~60,000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recommend_rule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등급/점수 기반 추천 규칙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100~300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cross_sell_rule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교차판매 규칙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30~50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campaign_master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배너/마케팅 캠페인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100~300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customer_recommend_history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고객별 추천 결과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customer_dashboard_log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클릭/조회 행동 로그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500만~1,000만+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4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(회원 가입 – 1/3)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42"/>
          <p:cNvSpPr txBox="1"/>
          <p:nvPr/>
        </p:nvSpPr>
        <p:spPr>
          <a:xfrm>
            <a:off x="5273094" y="386463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프로세스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42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9" name="Google Shape;148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42"/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491" name="Google Shape;149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42"/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493" name="Google Shape;149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494" name="Google Shape;149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42"/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plication Load Balancer resource icon for the Elastic Load Balancing service." id="1496" name="Google Shape;1496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7" name="Google Shape;1497;p42"/>
          <p:cNvCxnSpPr>
            <a:stCxn id="1498" idx="3"/>
            <a:endCxn id="1496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498" name="Google Shape;1498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42"/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42"/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501" name="Google Shape;1501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42"/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3" name="Google Shape;1503;p42"/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4" name="Google Shape;1504;p42"/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505" name="Google Shape;1505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42"/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42"/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508" name="Google Shape;1508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42"/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510" name="Google Shape;1510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511" name="Google Shape;1511;p4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2" name="Google Shape;1512;p42"/>
          <p:cNvCxnSpPr>
            <a:stCxn id="1489" idx="3"/>
            <a:endCxn id="1494" idx="1"/>
          </p:cNvCxnSpPr>
          <p:nvPr/>
        </p:nvCxnSpPr>
        <p:spPr>
          <a:xfrm flipH="1" rot="10800000">
            <a:off x="806851" y="2269517"/>
            <a:ext cx="648600" cy="5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513" name="Google Shape;1513;p42"/>
          <p:cNvCxnSpPr>
            <a:stCxn id="1514" idx="0"/>
            <a:endCxn id="1507" idx="2"/>
          </p:cNvCxnSpPr>
          <p:nvPr/>
        </p:nvCxnSpPr>
        <p:spPr>
          <a:xfrm flipH="1" rot="10800000">
            <a:off x="4137392" y="2871928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515" name="Google Shape;1515;p42"/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42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42"/>
          <p:cNvSpPr txBox="1"/>
          <p:nvPr/>
        </p:nvSpPr>
        <p:spPr>
          <a:xfrm>
            <a:off x="5257270" y="4230045"/>
            <a:ext cx="383839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1. LifeSync360 회원 가입 -&gt; 회원가입 API 요청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2. 회원 계정 생성 (users)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 user_id 생성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(플랫폼 내부 회원번호)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3.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PII 암호화 저장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PII Token 생성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18" name="Google Shape;1518;p42"/>
          <p:cNvGraphicFramePr/>
          <p:nvPr/>
        </p:nvGraphicFramePr>
        <p:xfrm>
          <a:off x="9866670" y="1527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1882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주민번호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이메일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주소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9" name="Google Shape;1519;p42"/>
          <p:cNvSpPr txBox="1"/>
          <p:nvPr/>
        </p:nvSpPr>
        <p:spPr>
          <a:xfrm>
            <a:off x="9776158" y="1197307"/>
            <a:ext cx="23692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 입력 정보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Transit Gateway service icon." id="1514" name="Google Shape;1514;p4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42"/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1" name="Google Shape;1521;p42"/>
          <p:cNvCxnSpPr>
            <a:endCxn id="1514" idx="1"/>
          </p:cNvCxnSpPr>
          <p:nvPr/>
        </p:nvCxnSpPr>
        <p:spPr>
          <a:xfrm flipH="1" rot="10800000">
            <a:off x="3468405" y="3450314"/>
            <a:ext cx="445500" cy="1405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522" name="Google Shape;1522;p42"/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42"/>
          <p:cNvSpPr txBox="1"/>
          <p:nvPr/>
        </p:nvSpPr>
        <p:spPr>
          <a:xfrm>
            <a:off x="5237741" y="5010820"/>
            <a:ext cx="23692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LS-20260423-000001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4" name="Google Shape;1524;p42"/>
          <p:cNvGraphicFramePr/>
          <p:nvPr/>
        </p:nvGraphicFramePr>
        <p:xfrm>
          <a:off x="9122792" y="3936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60900"/>
                <a:gridCol w="14609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ls_user_id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플랫폼 회원번호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login_id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이메일/휴대폰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password_hash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암호화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join_dt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mazon Aurora service icon." id="1525" name="Google Shape;1525;p4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42"/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527" name="Google Shape;1527;p4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42"/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529" name="Google Shape;1529;p4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42"/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42"/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532" name="Google Shape;1532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3" name="Google Shape;1533;p42"/>
          <p:cNvCxnSpPr>
            <a:stCxn id="1534" idx="2"/>
            <a:endCxn id="1535" idx="2"/>
          </p:cNvCxnSpPr>
          <p:nvPr/>
        </p:nvCxnSpPr>
        <p:spPr>
          <a:xfrm flipH="1" rot="5400000">
            <a:off x="2739337" y="4936509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536" name="Google Shape;1536;p42"/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42"/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42"/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42"/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42"/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539" name="Google Shape;1539;p4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63816" y="480570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540" name="Google Shape;1540;p4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40359" y="479758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541" name="Google Shape;1541;p4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34981" y="479260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4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46093" y="4432790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4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(회원 가입 – 2/3)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43"/>
          <p:cNvSpPr txBox="1"/>
          <p:nvPr/>
        </p:nvSpPr>
        <p:spPr>
          <a:xfrm>
            <a:off x="6024004" y="3264809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프로세스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43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0" name="Google Shape;155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1" name="Google Shape;1551;p43"/>
          <p:cNvCxnSpPr>
            <a:stCxn id="1550" idx="3"/>
          </p:cNvCxnSpPr>
          <p:nvPr/>
        </p:nvCxnSpPr>
        <p:spPr>
          <a:xfrm flipH="1" rot="10800000">
            <a:off x="806851" y="2269517"/>
            <a:ext cx="648600" cy="5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552" name="Google Shape;1552;p43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43"/>
          <p:cNvSpPr txBox="1"/>
          <p:nvPr/>
        </p:nvSpPr>
        <p:spPr>
          <a:xfrm>
            <a:off x="6008180" y="3630216"/>
            <a:ext cx="383839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4. Global Customer ID 조회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43"/>
          <p:cNvSpPr txBox="1"/>
          <p:nvPr/>
        </p:nvSpPr>
        <p:spPr>
          <a:xfrm>
            <a:off x="6109285" y="4043344"/>
            <a:ext cx="23692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 테이블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5" name="Google Shape;1555;p43"/>
          <p:cNvGraphicFramePr/>
          <p:nvPr/>
        </p:nvGraphicFramePr>
        <p:xfrm>
          <a:off x="6172157" y="43194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855500"/>
                <a:gridCol w="18555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테이블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역할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4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master_customer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대표 고객 마스터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customer_identity_map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고객번호 매핑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customer_pii_secure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실명정보 암호화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matching_audit_log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매칭 로그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customer_360_profile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분석 프로필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동의 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WS Transit Gateway service icon." id="1556" name="Google Shape;155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43"/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8" name="Google Shape;1558;p43"/>
          <p:cNvCxnSpPr>
            <a:stCxn id="1559" idx="0"/>
          </p:cNvCxnSpPr>
          <p:nvPr/>
        </p:nvCxnSpPr>
        <p:spPr>
          <a:xfrm flipH="1" rot="10800000">
            <a:off x="3516034" y="3449207"/>
            <a:ext cx="404400" cy="134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560" name="Google Shape;1560;p43"/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43"/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562" name="Google Shape;156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43"/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564" name="Google Shape;156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565" name="Google Shape;156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1566" name="Google Shape;1566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7" name="Google Shape;1567;p43"/>
          <p:cNvCxnSpPr>
            <a:stCxn id="1568" idx="3"/>
            <a:endCxn id="1566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568" name="Google Shape;1568;p4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9" name="Google Shape;1569;p43"/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43"/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571" name="Google Shape;1571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43"/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3" name="Google Shape;1573;p43"/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74" name="Google Shape;1574;p43"/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575" name="Google Shape;1575;p4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43"/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43"/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578" name="Google Shape;1578;p4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43"/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580" name="Google Shape;1580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581" name="Google Shape;1581;p4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2" name="Google Shape;1582;p43"/>
          <p:cNvCxnSpPr>
            <a:endCxn id="1577" idx="2"/>
          </p:cNvCxnSpPr>
          <p:nvPr/>
        </p:nvCxnSpPr>
        <p:spPr>
          <a:xfrm flipH="1" rot="10800000">
            <a:off x="4137405" y="2871799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Aurora service icon." id="1583" name="Google Shape;1583;p4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43"/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585" name="Google Shape;1585;p4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Google Shape;1586;p43"/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587" name="Google Shape;1587;p4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43"/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43"/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590" name="Google Shape;1590;p4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591" name="Google Shape;1591;p43"/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43"/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3" name="Google Shape;1593;p43"/>
          <p:cNvCxnSpPr>
            <a:stCxn id="1594" idx="2"/>
            <a:endCxn id="1595" idx="2"/>
          </p:cNvCxnSpPr>
          <p:nvPr/>
        </p:nvCxnSpPr>
        <p:spPr>
          <a:xfrm flipH="1" rot="5400000">
            <a:off x="2739337" y="4936509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596" name="Google Shape;1596;p43"/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7" name="Google Shape;1597;p43"/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43"/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8" name="Google Shape;1598;p43"/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43"/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599" name="Google Shape;1599;p4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63816" y="480570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600" name="Google Shape;1600;p4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40359" y="479758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559" name="Google Shape;1559;p4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34981" y="479260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4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46093" y="4432790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4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(회원 가입 – 3/3)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44"/>
          <p:cNvSpPr txBox="1"/>
          <p:nvPr/>
        </p:nvSpPr>
        <p:spPr>
          <a:xfrm>
            <a:off x="6319452" y="3242566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프로세스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44"/>
          <p:cNvSpPr txBox="1"/>
          <p:nvPr/>
        </p:nvSpPr>
        <p:spPr>
          <a:xfrm>
            <a:off x="6329588" y="3751440"/>
            <a:ext cx="423316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5-A. 기본 고객 이면 -&gt; 기존 Global ID 연결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5-B. 신규 고객이면 -&gt; 새 Global Customer ID 생성 및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실명정보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토큰정보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마스킹정보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대표ID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6. 가입 완료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9" name="Google Shape;1609;p44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0" name="Google Shape;16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1" name="Google Shape;1611;p44"/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2" name="Google Shape;1612;p44"/>
          <p:cNvCxnSpPr>
            <a:stCxn id="1610" idx="3"/>
          </p:cNvCxnSpPr>
          <p:nvPr/>
        </p:nvCxnSpPr>
        <p:spPr>
          <a:xfrm flipH="1" rot="10800000">
            <a:off x="806851" y="2269517"/>
            <a:ext cx="648600" cy="5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613" name="Google Shape;1613;p44"/>
          <p:cNvCxnSpPr>
            <a:stCxn id="1614" idx="0"/>
          </p:cNvCxnSpPr>
          <p:nvPr/>
        </p:nvCxnSpPr>
        <p:spPr>
          <a:xfrm flipH="1" rot="10800000">
            <a:off x="4137392" y="2871928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615" name="Google Shape;1615;p44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Transit Gateway service icon." id="1614" name="Google Shape;161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44"/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44"/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44"/>
          <p:cNvSpPr txBox="1"/>
          <p:nvPr/>
        </p:nvSpPr>
        <p:spPr>
          <a:xfrm>
            <a:off x="6343746" y="5241719"/>
            <a:ext cx="2357977" cy="1015663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고객 대표 ID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개인정보 안전 저장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계열사 고객번호 매핑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매칭 로그 추적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분석 프로필 관리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고객 동의 관리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44"/>
          <p:cNvSpPr txBox="1"/>
          <p:nvPr/>
        </p:nvSpPr>
        <p:spPr>
          <a:xfrm>
            <a:off x="9241246" y="5254573"/>
            <a:ext cx="2357977" cy="1015663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master_customer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customer_pii_secure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customer_identity_map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customer_360_profile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consent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matching_audit_log</a:t>
            </a:r>
            <a:endParaRPr/>
          </a:p>
        </p:txBody>
      </p:sp>
      <p:sp>
        <p:nvSpPr>
          <p:cNvPr id="1620" name="Google Shape;1620;p44"/>
          <p:cNvSpPr txBox="1"/>
          <p:nvPr/>
        </p:nvSpPr>
        <p:spPr>
          <a:xfrm>
            <a:off x="9196962" y="4978293"/>
            <a:ext cx="236926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생성 순서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44"/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622" name="Google Shape;162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3" name="Google Shape;1623;p44"/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624" name="Google Shape;162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625" name="Google Shape;1625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1626" name="Google Shape;1626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7" name="Google Shape;1627;p44"/>
          <p:cNvCxnSpPr>
            <a:stCxn id="1628" idx="3"/>
            <a:endCxn id="1626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628" name="Google Shape;1628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44"/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44"/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631" name="Google Shape;1631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44"/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3" name="Google Shape;1633;p44"/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34" name="Google Shape;1634;p44"/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635" name="Google Shape;1635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44"/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44"/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638" name="Google Shape;1638;p4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44"/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640" name="Google Shape;1640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641" name="Google Shape;1641;p4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2" name="Google Shape;1642;p44"/>
          <p:cNvCxnSpPr>
            <a:endCxn id="1637" idx="2"/>
          </p:cNvCxnSpPr>
          <p:nvPr/>
        </p:nvCxnSpPr>
        <p:spPr>
          <a:xfrm flipH="1" rot="10800000">
            <a:off x="4137405" y="2871799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Aurora service icon." id="1643" name="Google Shape;1643;p4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4" name="Google Shape;1644;p44"/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645" name="Google Shape;1645;p4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44"/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647" name="Google Shape;1647;p4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44"/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44"/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650" name="Google Shape;1650;p4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1" name="Google Shape;1651;p44"/>
          <p:cNvCxnSpPr>
            <a:stCxn id="1652" idx="0"/>
          </p:cNvCxnSpPr>
          <p:nvPr/>
        </p:nvCxnSpPr>
        <p:spPr>
          <a:xfrm flipH="1" rot="10800000">
            <a:off x="3516034" y="3449207"/>
            <a:ext cx="404400" cy="134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653" name="Google Shape;1653;p44"/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4" name="Google Shape;1654;p44"/>
          <p:cNvCxnSpPr>
            <a:stCxn id="1655" idx="2"/>
            <a:endCxn id="1656" idx="2"/>
          </p:cNvCxnSpPr>
          <p:nvPr/>
        </p:nvCxnSpPr>
        <p:spPr>
          <a:xfrm flipH="1" rot="5400000">
            <a:off x="2739337" y="4936509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657" name="Google Shape;1657;p44"/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44"/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44"/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9" name="Google Shape;1659;p44"/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44"/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660" name="Google Shape;1660;p4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63816" y="480570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661" name="Google Shape;1661;p4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40359" y="479758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652" name="Google Shape;1652;p4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34981" y="479260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2" name="Google Shape;1662;p4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46093" y="4432790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4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(로그인)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45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9" name="Google Shape;166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0" name="Google Shape;1670;p45"/>
          <p:cNvCxnSpPr>
            <a:stCxn id="1669" idx="3"/>
          </p:cNvCxnSpPr>
          <p:nvPr/>
        </p:nvCxnSpPr>
        <p:spPr>
          <a:xfrm flipH="1" rot="10800000">
            <a:off x="806851" y="2269517"/>
            <a:ext cx="648600" cy="5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671" name="Google Shape;1671;p45"/>
          <p:cNvCxnSpPr>
            <a:stCxn id="1672" idx="0"/>
          </p:cNvCxnSpPr>
          <p:nvPr/>
        </p:nvCxnSpPr>
        <p:spPr>
          <a:xfrm flipH="1" rot="10800000">
            <a:off x="4137392" y="2871928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673" name="Google Shape;1673;p45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Transit Gateway service icon." id="1672" name="Google Shape;167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45"/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45"/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45"/>
          <p:cNvSpPr txBox="1"/>
          <p:nvPr/>
        </p:nvSpPr>
        <p:spPr>
          <a:xfrm>
            <a:off x="6478067" y="3310589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후, 동의 프로세스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45"/>
          <p:cNvSpPr txBox="1"/>
          <p:nvPr/>
        </p:nvSpPr>
        <p:spPr>
          <a:xfrm>
            <a:off x="9083464" y="3310589"/>
            <a:ext cx="2459114" cy="278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Payload (예시)</a:t>
            </a:r>
            <a:endParaRPr/>
          </a:p>
        </p:txBody>
      </p:sp>
      <p:sp>
        <p:nvSpPr>
          <p:cNvPr id="1678" name="Google Shape;1678;p45"/>
          <p:cNvSpPr txBox="1"/>
          <p:nvPr/>
        </p:nvSpPr>
        <p:spPr>
          <a:xfrm>
            <a:off x="9083464" y="3734967"/>
            <a:ext cx="2459114" cy="86177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"sub": "LS-20260423-ab12cd34",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"gid": "G00012345",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"exp": 1770000000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1679" name="Google Shape;1679;p45"/>
          <p:cNvSpPr txBox="1"/>
          <p:nvPr/>
        </p:nvSpPr>
        <p:spPr>
          <a:xfrm>
            <a:off x="6490607" y="3727047"/>
            <a:ext cx="249585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페이지 접속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이메일/비밀번호 입력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/login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users 테이블 조회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비밀번호 bcrypt 검증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발급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브라우저 localStorage 저장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/me 호출 시 Authorization Bearer 전송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JWT 검증 후 내정보 반환</a:t>
            </a:r>
            <a:endParaRPr/>
          </a:p>
        </p:txBody>
      </p:sp>
      <p:sp>
        <p:nvSpPr>
          <p:cNvPr id="1680" name="Google Shape;1680;p45"/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681" name="Google Shape;1681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2" name="Google Shape;1682;p45"/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683" name="Google Shape;168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684" name="Google Shape;1684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1685" name="Google Shape;1685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6" name="Google Shape;1686;p45"/>
          <p:cNvCxnSpPr>
            <a:stCxn id="1687" idx="3"/>
            <a:endCxn id="1685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687" name="Google Shape;1687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45"/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45"/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690" name="Google Shape;1690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1" name="Google Shape;1691;p45"/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2" name="Google Shape;1692;p45"/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93" name="Google Shape;1693;p45"/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694" name="Google Shape;1694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45"/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45"/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697" name="Google Shape;1697;p4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45"/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699" name="Google Shape;1699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700" name="Google Shape;1700;p4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1" name="Google Shape;1701;p45"/>
          <p:cNvCxnSpPr>
            <a:endCxn id="1696" idx="2"/>
          </p:cNvCxnSpPr>
          <p:nvPr/>
        </p:nvCxnSpPr>
        <p:spPr>
          <a:xfrm flipH="1" rot="10800000">
            <a:off x="4137405" y="2871799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Aurora service icon." id="1702" name="Google Shape;1702;p4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703" name="Google Shape;1703;p45"/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704" name="Google Shape;1704;p4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5" name="Google Shape;1705;p45"/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706" name="Google Shape;1706;p4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45"/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45"/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709" name="Google Shape;1709;p4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45"/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1" name="Google Shape;1711;p45"/>
          <p:cNvCxnSpPr>
            <a:stCxn id="1712" idx="0"/>
          </p:cNvCxnSpPr>
          <p:nvPr/>
        </p:nvCxnSpPr>
        <p:spPr>
          <a:xfrm flipH="1" rot="10800000">
            <a:off x="3516034" y="3449207"/>
            <a:ext cx="404400" cy="134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713" name="Google Shape;1713;p45"/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4" name="Google Shape;1714;p45"/>
          <p:cNvCxnSpPr>
            <a:stCxn id="1715" idx="2"/>
            <a:endCxn id="1716" idx="2"/>
          </p:cNvCxnSpPr>
          <p:nvPr/>
        </p:nvCxnSpPr>
        <p:spPr>
          <a:xfrm flipH="1" rot="5400000">
            <a:off x="2739337" y="4936509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717" name="Google Shape;1717;p45"/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45"/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45"/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45"/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45"/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720" name="Google Shape;1720;p4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63816" y="480570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721" name="Google Shape;1721;p4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40359" y="479758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712" name="Google Shape;1712;p4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34981" y="479260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4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46093" y="4432790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4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(동의 건이 없는 경우)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46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9" name="Google Shape;172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0" name="Google Shape;1730;p46"/>
          <p:cNvCxnSpPr>
            <a:stCxn id="1729" idx="3"/>
          </p:cNvCxnSpPr>
          <p:nvPr/>
        </p:nvCxnSpPr>
        <p:spPr>
          <a:xfrm flipH="1" rot="10800000">
            <a:off x="806851" y="2269517"/>
            <a:ext cx="648600" cy="5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731" name="Google Shape;1731;p46"/>
          <p:cNvCxnSpPr>
            <a:stCxn id="1732" idx="0"/>
          </p:cNvCxnSpPr>
          <p:nvPr/>
        </p:nvCxnSpPr>
        <p:spPr>
          <a:xfrm flipH="1" rot="10800000">
            <a:off x="4137392" y="2871928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733" name="Google Shape;1733;p46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Transit Gateway service icon." id="1732" name="Google Shape;173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46"/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46"/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46"/>
          <p:cNvSpPr txBox="1"/>
          <p:nvPr/>
        </p:nvSpPr>
        <p:spPr>
          <a:xfrm>
            <a:off x="5445482" y="3241903"/>
            <a:ext cx="4010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후, 동의 프로세스 (동의 건이 없는 경우) 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46"/>
          <p:cNvSpPr txBox="1"/>
          <p:nvPr/>
        </p:nvSpPr>
        <p:spPr>
          <a:xfrm>
            <a:off x="5429658" y="3607310"/>
            <a:ext cx="3838396" cy="195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1. 로그인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인증 성공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2. consent 상태 조회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3. 동의 완료 여부 판단 (최소 1개 이상 동의 조건)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3. 동의 설정 후, 저장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46"/>
          <p:cNvSpPr txBox="1"/>
          <p:nvPr/>
        </p:nvSpPr>
        <p:spPr>
          <a:xfrm>
            <a:off x="9718487" y="1595612"/>
            <a:ext cx="2357977" cy="1631216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[✓] 은행 데이터 활용 동의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[✓] 카드 데이터 활용 동의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] 보험 데이터 활용 동의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[✓] 온라인 보험 데이터 활용 동의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[✓] 증권 데이터 활용 동의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[✓] 헬스케어 데이터 활용 동의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[✓] 병원 데이터 활용 동의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[✓] 웨어러블 동의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[저장 후 시작하기]</a:t>
            </a:r>
            <a:endParaRPr/>
          </a:p>
        </p:txBody>
      </p:sp>
      <p:graphicFrame>
        <p:nvGraphicFramePr>
          <p:cNvPr id="1739" name="Google Shape;1739;p46"/>
          <p:cNvGraphicFramePr/>
          <p:nvPr/>
        </p:nvGraphicFramePr>
        <p:xfrm>
          <a:off x="9144000" y="3689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977500"/>
                <a:gridCol w="977500"/>
                <a:gridCol w="9775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domain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consent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0" name="Google Shape;1740;p46"/>
          <p:cNvSpPr txBox="1"/>
          <p:nvPr/>
        </p:nvSpPr>
        <p:spPr>
          <a:xfrm>
            <a:off x="5427599" y="5692788"/>
            <a:ext cx="3838396" cy="93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4. STEP 3. main (dashboard) 페이지로 이동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5. 가입한 날짜 기준, 다음날 오전 1:00시, Glue ETL이 실행되는 시점 부터 데이터 정제화에 반영 시작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46"/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742" name="Google Shape;1742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46"/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744" name="Google Shape;1744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745" name="Google Shape;1745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1746" name="Google Shape;1746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7" name="Google Shape;1747;p46"/>
          <p:cNvCxnSpPr>
            <a:stCxn id="1748" idx="3"/>
            <a:endCxn id="1746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748" name="Google Shape;1748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46"/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46"/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751" name="Google Shape;1751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2" name="Google Shape;1752;p46"/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3" name="Google Shape;1753;p46"/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54" name="Google Shape;1754;p46"/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755" name="Google Shape;1755;p4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Google Shape;1756;p46"/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46"/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758" name="Google Shape;1758;p4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46"/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760" name="Google Shape;1760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761" name="Google Shape;1761;p4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Aurora service icon." id="1762" name="Google Shape;1762;p4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46"/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764" name="Google Shape;1764;p4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46"/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766" name="Google Shape;1766;p4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46"/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46"/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769" name="Google Shape;1769;p4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46"/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1" name="Google Shape;1771;p46"/>
          <p:cNvCxnSpPr>
            <a:stCxn id="1772" idx="0"/>
          </p:cNvCxnSpPr>
          <p:nvPr/>
        </p:nvCxnSpPr>
        <p:spPr>
          <a:xfrm flipH="1" rot="10800000">
            <a:off x="3516034" y="3449207"/>
            <a:ext cx="404400" cy="134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773" name="Google Shape;1773;p46"/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4" name="Google Shape;1774;p46"/>
          <p:cNvCxnSpPr>
            <a:stCxn id="1775" idx="2"/>
            <a:endCxn id="1776" idx="2"/>
          </p:cNvCxnSpPr>
          <p:nvPr/>
        </p:nvCxnSpPr>
        <p:spPr>
          <a:xfrm flipH="1" rot="5400000">
            <a:off x="2739337" y="4936509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777" name="Google Shape;1777;p46"/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46"/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46"/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46"/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46"/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780" name="Google Shape;1780;p4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63816" y="480570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781" name="Google Shape;1781;p4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40359" y="479758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772" name="Google Shape;1772;p4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34981" y="479260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" name="Google Shape;1782;p4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46093" y="4432790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4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(동의 건이 1개 이상 있는 경우 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47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cap="flat" cmpd="sng" w="9525">
            <a:solidFill>
              <a:srgbClr val="96969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9" name="Google Shape;178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0" name="Google Shape;1790;p47"/>
          <p:cNvCxnSpPr>
            <a:stCxn id="1789" idx="3"/>
          </p:cNvCxnSpPr>
          <p:nvPr/>
        </p:nvCxnSpPr>
        <p:spPr>
          <a:xfrm flipH="1" rot="10800000">
            <a:off x="806851" y="2269517"/>
            <a:ext cx="648600" cy="52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791" name="Google Shape;1791;p47"/>
          <p:cNvCxnSpPr>
            <a:stCxn id="1792" idx="0"/>
          </p:cNvCxnSpPr>
          <p:nvPr/>
        </p:nvCxnSpPr>
        <p:spPr>
          <a:xfrm flipH="1" rot="10800000">
            <a:off x="4137392" y="2871928"/>
            <a:ext cx="394500" cy="35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793" name="Google Shape;1793;p47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Transit Gateway service icon." id="1792" name="Google Shape;179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47"/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47"/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47"/>
          <p:cNvSpPr txBox="1"/>
          <p:nvPr/>
        </p:nvSpPr>
        <p:spPr>
          <a:xfrm>
            <a:off x="5927750" y="3642798"/>
            <a:ext cx="40108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후, 동의 프로세스 (동의 건이 1개 이상 있는 경우) 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47"/>
          <p:cNvSpPr txBox="1"/>
          <p:nvPr/>
        </p:nvSpPr>
        <p:spPr>
          <a:xfrm>
            <a:off x="5911926" y="4008205"/>
            <a:ext cx="3838396" cy="195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1. 로그인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인증 성공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2. consent 상태 조회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3. 동의 완료 여부 판단 (최소 1개 이상 동의 조건)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3. main (dashboard) 페이지로 이동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47"/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799" name="Google Shape;179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0" name="Google Shape;1800;p47"/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801" name="Google Shape;180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1802" name="Google Shape;1802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plication Load Balancer resource icon for the Elastic Load Balancing service." id="1803" name="Google Shape;1803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4" name="Google Shape;1804;p47"/>
          <p:cNvCxnSpPr>
            <a:stCxn id="1805" idx="3"/>
            <a:endCxn id="1803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1805" name="Google Shape;1805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47"/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47"/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808" name="Google Shape;1808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09" name="Google Shape;1809;p47"/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0" name="Google Shape;1810;p47"/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11" name="Google Shape;1811;p47"/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812" name="Google Shape;1812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47"/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47"/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1815" name="Google Shape;1815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47"/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817" name="Google Shape;1817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1818" name="Google Shape;1818;p4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Aurora service icon." id="1819" name="Google Shape;1819;p4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47"/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1821" name="Google Shape;1821;p4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47"/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1823" name="Google Shape;1823;p4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824" name="Google Shape;1824;p47"/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47"/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826" name="Google Shape;1826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47"/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8" name="Google Shape;1828;p47"/>
          <p:cNvCxnSpPr>
            <a:stCxn id="1829" idx="0"/>
          </p:cNvCxnSpPr>
          <p:nvPr/>
        </p:nvCxnSpPr>
        <p:spPr>
          <a:xfrm flipH="1" rot="10800000">
            <a:off x="3516034" y="3449207"/>
            <a:ext cx="404400" cy="134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830" name="Google Shape;1830;p47"/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1" name="Google Shape;1831;p47"/>
          <p:cNvCxnSpPr>
            <a:stCxn id="1832" idx="2"/>
            <a:endCxn id="1833" idx="2"/>
          </p:cNvCxnSpPr>
          <p:nvPr/>
        </p:nvCxnSpPr>
        <p:spPr>
          <a:xfrm flipH="1" rot="5400000">
            <a:off x="2739337" y="4936509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834" name="Google Shape;1834;p47"/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47"/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47"/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47"/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47"/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837" name="Google Shape;1837;p4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63816" y="4805702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838" name="Google Shape;1838;p4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40359" y="479758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829" name="Google Shape;1829;p4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234981" y="4792607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9" name="Google Shape;1839;p4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546093" y="4432790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4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48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846" name="Google Shape;184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48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848" name="Google Shape;184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849" name="Google Shape;1849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48"/>
          <p:cNvSpPr txBox="1"/>
          <p:nvPr/>
        </p:nvSpPr>
        <p:spPr>
          <a:xfrm>
            <a:off x="3386244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851" name="Google Shape;1851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2" name="Google Shape;1852;p48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48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854" name="Google Shape;18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48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856" name="Google Shape;185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857" name="Google Shape;185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858" name="Google Shape;1858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859" name="Google Shape;1859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860" name="Google Shape;1860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861" name="Google Shape;1861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862" name="Google Shape;186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3" name="Google Shape;1863;p48"/>
          <p:cNvSpPr txBox="1"/>
          <p:nvPr/>
        </p:nvSpPr>
        <p:spPr>
          <a:xfrm>
            <a:off x="39047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48"/>
          <p:cNvSpPr txBox="1"/>
          <p:nvPr/>
        </p:nvSpPr>
        <p:spPr>
          <a:xfrm>
            <a:off x="44035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48"/>
          <p:cNvSpPr txBox="1"/>
          <p:nvPr/>
        </p:nvSpPr>
        <p:spPr>
          <a:xfrm>
            <a:off x="4930576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48"/>
          <p:cNvSpPr txBox="1"/>
          <p:nvPr/>
        </p:nvSpPr>
        <p:spPr>
          <a:xfrm>
            <a:off x="5401107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48"/>
          <p:cNvSpPr txBox="1"/>
          <p:nvPr/>
        </p:nvSpPr>
        <p:spPr>
          <a:xfrm>
            <a:off x="5920446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48"/>
          <p:cNvSpPr txBox="1"/>
          <p:nvPr/>
        </p:nvSpPr>
        <p:spPr>
          <a:xfrm>
            <a:off x="6453576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48"/>
          <p:cNvSpPr txBox="1"/>
          <p:nvPr/>
        </p:nvSpPr>
        <p:spPr>
          <a:xfrm>
            <a:off x="3216700" y="5346444"/>
            <a:ext cx="1958025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실명정보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매핑정보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마스킹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Tokenization 저장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대표 ID 생성</a:t>
            </a:r>
            <a:endParaRPr/>
          </a:p>
        </p:txBody>
      </p:sp>
      <p:pic>
        <p:nvPicPr>
          <p:cNvPr descr="Amazon Simple Storage Service (Amazon S3) service icon." id="1870" name="Google Shape;1870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6858" y="39607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48"/>
          <p:cNvSpPr txBox="1"/>
          <p:nvPr/>
        </p:nvSpPr>
        <p:spPr>
          <a:xfrm>
            <a:off x="4991029" y="39819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lifesync-raw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48"/>
          <p:cNvSpPr txBox="1"/>
          <p:nvPr/>
        </p:nvSpPr>
        <p:spPr>
          <a:xfrm>
            <a:off x="548712" y="3581934"/>
            <a:ext cx="2859268" cy="7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마스터 테이블 (master_customer)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매핑 테이블 (customer_identity_map)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개인정보 원본 테이블(customer_pii_secure)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Matching_audit_log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ourier New"/>
              <a:buChar char="o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분석용 고객 테이블 (customer_360_profile)</a:t>
            </a:r>
            <a:endParaRPr/>
          </a:p>
        </p:txBody>
      </p:sp>
      <p:sp>
        <p:nvSpPr>
          <p:cNvPr id="1873" name="Google Shape;1873;p48"/>
          <p:cNvSpPr txBox="1"/>
          <p:nvPr/>
        </p:nvSpPr>
        <p:spPr>
          <a:xfrm>
            <a:off x="5640688" y="4523886"/>
            <a:ext cx="2739500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lifesync-raw에는 원천 데이터를 적재하고,</a:t>
            </a:r>
            <a:b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동의 대상군만 선별하여 processed/curated 영역에서 활용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48"/>
          <p:cNvSpPr txBox="1"/>
          <p:nvPr/>
        </p:nvSpPr>
        <p:spPr>
          <a:xfrm>
            <a:off x="3266404" y="6213728"/>
            <a:ext cx="24104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계열사 고객번호 유지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중앙 Global ID 신규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5" name="Google Shape;1875;p48"/>
          <p:cNvCxnSpPr>
            <a:stCxn id="1876" idx="2"/>
            <a:endCxn id="1877" idx="0"/>
          </p:cNvCxnSpPr>
          <p:nvPr/>
        </p:nvCxnSpPr>
        <p:spPr>
          <a:xfrm>
            <a:off x="4441494" y="2790540"/>
            <a:ext cx="274800" cy="6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Lambda service icon." id="1877" name="Google Shape;1877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12591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8" name="Google Shape;1878;p48"/>
          <p:cNvSpPr txBox="1"/>
          <p:nvPr/>
        </p:nvSpPr>
        <p:spPr>
          <a:xfrm>
            <a:off x="4429435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9" name="Google Shape;1879;p48"/>
          <p:cNvCxnSpPr/>
          <p:nvPr/>
        </p:nvCxnSpPr>
        <p:spPr>
          <a:xfrm>
            <a:off x="4919670" y="3668655"/>
            <a:ext cx="995794" cy="2732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80" name="Google Shape;1880;p48"/>
          <p:cNvSpPr/>
          <p:nvPr/>
        </p:nvSpPr>
        <p:spPr>
          <a:xfrm>
            <a:off x="3904461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48"/>
          <p:cNvSpPr/>
          <p:nvPr/>
        </p:nvSpPr>
        <p:spPr>
          <a:xfrm>
            <a:off x="5255893" y="34736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48"/>
          <p:cNvSpPr txBox="1"/>
          <p:nvPr/>
        </p:nvSpPr>
        <p:spPr>
          <a:xfrm>
            <a:off x="6926874" y="4078493"/>
            <a:ext cx="103047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적재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48"/>
          <p:cNvSpPr txBox="1"/>
          <p:nvPr/>
        </p:nvSpPr>
        <p:spPr>
          <a:xfrm>
            <a:off x="82051" y="5588398"/>
            <a:ext cx="6684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Global ID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조회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48"/>
          <p:cNvSpPr txBox="1"/>
          <p:nvPr/>
        </p:nvSpPr>
        <p:spPr>
          <a:xfrm>
            <a:off x="3223369" y="3393965"/>
            <a:ext cx="1568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원천 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(Batch Job)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48"/>
          <p:cNvSpPr/>
          <p:nvPr/>
        </p:nvSpPr>
        <p:spPr>
          <a:xfrm>
            <a:off x="6309389" y="39809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6" name="Google Shape;1886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6" name="Google Shape;1876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8" name="Google Shape;1888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9" name="Google Shape;1889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1" name="Google Shape;1891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2" name="Google Shape;1892;p48"/>
          <p:cNvGraphicFramePr/>
          <p:nvPr/>
        </p:nvGraphicFramePr>
        <p:xfrm>
          <a:off x="9605989" y="716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00:00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업무 마감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00:10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Raw 생성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00:20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그룹 Raw 저장소 업로드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WS Lambda service icon." id="1893" name="Google Shape;1893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58164" y="60871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4" name="Google Shape;1894;p48"/>
          <p:cNvSpPr txBox="1"/>
          <p:nvPr/>
        </p:nvSpPr>
        <p:spPr>
          <a:xfrm>
            <a:off x="7682447" y="61199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5" name="Google Shape;1895;p48"/>
          <p:cNvSpPr txBox="1"/>
          <p:nvPr/>
        </p:nvSpPr>
        <p:spPr>
          <a:xfrm>
            <a:off x="5170730" y="51694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6" name="Google Shape;1896;p48"/>
          <p:cNvCxnSpPr/>
          <p:nvPr/>
        </p:nvCxnSpPr>
        <p:spPr>
          <a:xfrm>
            <a:off x="1775623" y="2552359"/>
            <a:ext cx="3034181" cy="2709239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Kinesis Data Streams service icon." id="1897" name="Google Shape;1897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87256" y="59997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48"/>
          <p:cNvSpPr txBox="1"/>
          <p:nvPr/>
        </p:nvSpPr>
        <p:spPr>
          <a:xfrm>
            <a:off x="5533823" y="63612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9" name="Google Shape;1899;p48"/>
          <p:cNvCxnSpPr>
            <a:endCxn id="1900" idx="0"/>
          </p:cNvCxnSpPr>
          <p:nvPr/>
        </p:nvCxnSpPr>
        <p:spPr>
          <a:xfrm>
            <a:off x="4934176" y="5344598"/>
            <a:ext cx="233100" cy="47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00" name="Google Shape;1900;p48"/>
          <p:cNvSpPr txBox="1"/>
          <p:nvPr/>
        </p:nvSpPr>
        <p:spPr>
          <a:xfrm>
            <a:off x="4711876" y="58227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1" name="Google Shape;1901;p48"/>
          <p:cNvCxnSpPr>
            <a:endCxn id="1897" idx="1"/>
          </p:cNvCxnSpPr>
          <p:nvPr/>
        </p:nvCxnSpPr>
        <p:spPr>
          <a:xfrm>
            <a:off x="5567456" y="6080183"/>
            <a:ext cx="319800" cy="9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2" name="Google Shape;1902;p48"/>
          <p:cNvCxnSpPr>
            <a:stCxn id="1893" idx="0"/>
          </p:cNvCxnSpPr>
          <p:nvPr/>
        </p:nvCxnSpPr>
        <p:spPr>
          <a:xfrm rot="10800000">
            <a:off x="6059904" y="4366686"/>
            <a:ext cx="1502100" cy="172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03" name="Google Shape;1903;p48"/>
          <p:cNvSpPr txBox="1"/>
          <p:nvPr/>
        </p:nvSpPr>
        <p:spPr>
          <a:xfrm>
            <a:off x="1308495" y="2835502"/>
            <a:ext cx="9918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(초당 수백회)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48"/>
          <p:cNvSpPr/>
          <p:nvPr/>
        </p:nvSpPr>
        <p:spPr>
          <a:xfrm>
            <a:off x="1248601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48"/>
          <p:cNvSpPr/>
          <p:nvPr/>
        </p:nvSpPr>
        <p:spPr>
          <a:xfrm>
            <a:off x="5273240" y="61890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6" name="Google Shape;1906;p48"/>
          <p:cNvCxnSpPr>
            <a:endCxn id="1893" idx="1"/>
          </p:cNvCxnSpPr>
          <p:nvPr/>
        </p:nvCxnSpPr>
        <p:spPr>
          <a:xfrm>
            <a:off x="6228664" y="6219926"/>
            <a:ext cx="1129500" cy="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07" name="Google Shape;1907;p48"/>
          <p:cNvSpPr/>
          <p:nvPr/>
        </p:nvSpPr>
        <p:spPr>
          <a:xfrm>
            <a:off x="3278911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48"/>
          <p:cNvSpPr txBox="1"/>
          <p:nvPr/>
        </p:nvSpPr>
        <p:spPr>
          <a:xfrm>
            <a:off x="2543604" y="2735879"/>
            <a:ext cx="1253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시, MySQL 저장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00:20 JSON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1909" name="Google Shape;1909;p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96735" y="49673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910" name="Google Shape;1910;p48"/>
          <p:cNvSpPr/>
          <p:nvPr/>
        </p:nvSpPr>
        <p:spPr>
          <a:xfrm>
            <a:off x="4445678" y="53864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48"/>
          <p:cNvSpPr/>
          <p:nvPr/>
        </p:nvSpPr>
        <p:spPr>
          <a:xfrm>
            <a:off x="6607523" y="41315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48"/>
          <p:cNvSpPr/>
          <p:nvPr/>
        </p:nvSpPr>
        <p:spPr>
          <a:xfrm>
            <a:off x="7013223" y="63408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3" name="Google Shape;1913;p48"/>
          <p:cNvCxnSpPr>
            <a:endCxn id="1877" idx="0"/>
          </p:cNvCxnSpPr>
          <p:nvPr/>
        </p:nvCxnSpPr>
        <p:spPr>
          <a:xfrm>
            <a:off x="4017731" y="2739662"/>
            <a:ext cx="698700" cy="719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4" name="Google Shape;1914;p48"/>
          <p:cNvCxnSpPr>
            <a:endCxn id="1877" idx="0"/>
          </p:cNvCxnSpPr>
          <p:nvPr/>
        </p:nvCxnSpPr>
        <p:spPr>
          <a:xfrm flipH="1">
            <a:off x="4716431" y="2739062"/>
            <a:ext cx="633600" cy="72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5" name="Google Shape;1915;p48"/>
          <p:cNvCxnSpPr>
            <a:endCxn id="1877" idx="0"/>
          </p:cNvCxnSpPr>
          <p:nvPr/>
        </p:nvCxnSpPr>
        <p:spPr>
          <a:xfrm flipH="1">
            <a:off x="4716431" y="2562962"/>
            <a:ext cx="29400" cy="896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6" name="Google Shape;1916;p48"/>
          <p:cNvCxnSpPr>
            <a:endCxn id="1877" idx="0"/>
          </p:cNvCxnSpPr>
          <p:nvPr/>
        </p:nvCxnSpPr>
        <p:spPr>
          <a:xfrm flipH="1">
            <a:off x="4716431" y="2763362"/>
            <a:ext cx="244800" cy="69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7" name="Google Shape;1917;p48"/>
          <p:cNvCxnSpPr>
            <a:stCxn id="1889" idx="1"/>
            <a:endCxn id="1877" idx="0"/>
          </p:cNvCxnSpPr>
          <p:nvPr/>
        </p:nvCxnSpPr>
        <p:spPr>
          <a:xfrm flipH="1">
            <a:off x="4716519" y="2662673"/>
            <a:ext cx="1028700" cy="796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8" name="Google Shape;1918;p48"/>
          <p:cNvCxnSpPr>
            <a:endCxn id="1877" idx="0"/>
          </p:cNvCxnSpPr>
          <p:nvPr/>
        </p:nvCxnSpPr>
        <p:spPr>
          <a:xfrm flipH="1">
            <a:off x="4716431" y="2586962"/>
            <a:ext cx="1964700" cy="87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9" name="Google Shape;1919;p48"/>
          <p:cNvCxnSpPr>
            <a:endCxn id="1877" idx="0"/>
          </p:cNvCxnSpPr>
          <p:nvPr/>
        </p:nvCxnSpPr>
        <p:spPr>
          <a:xfrm flipH="1">
            <a:off x="4716431" y="2580062"/>
            <a:ext cx="1429200" cy="87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20" name="Google Shape;1920;p48"/>
          <p:cNvSpPr txBox="1"/>
          <p:nvPr/>
        </p:nvSpPr>
        <p:spPr>
          <a:xfrm>
            <a:off x="9143058" y="3952875"/>
            <a:ext cx="250023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계열사 / 웨어러블 데이터 발생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웨어러블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48"/>
          <p:cNvSpPr txBox="1"/>
          <p:nvPr/>
        </p:nvSpPr>
        <p:spPr>
          <a:xfrm>
            <a:off x="9136908" y="2240397"/>
            <a:ext cx="2944071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계열사 / 웨어러블 프로세스 절차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계열사 EC2 Agent는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(1) 거래성 원천 데이터를 MySQL에 누적 저장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(2) 하루 마감 후 전일 데이터 Export JSON 생성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(3) Raw 플랫폼 전송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48"/>
          <p:cNvSpPr txBox="1"/>
          <p:nvPr/>
        </p:nvSpPr>
        <p:spPr>
          <a:xfrm>
            <a:off x="6386384" y="5882996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3" name="Google Shape;1923;p48"/>
          <p:cNvCxnSpPr>
            <a:stCxn id="1924" idx="2"/>
            <a:endCxn id="1925" idx="2"/>
          </p:cNvCxnSpPr>
          <p:nvPr/>
        </p:nvCxnSpPr>
        <p:spPr>
          <a:xfrm flipH="1" rot="5400000">
            <a:off x="1875847" y="5099933"/>
            <a:ext cx="11100" cy="1566300"/>
          </a:xfrm>
          <a:prstGeom prst="bentConnector3">
            <a:avLst>
              <a:gd fmla="val -297479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26" name="Google Shape;1926;p48"/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48"/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cap="flat" cmpd="sng" w="158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Legacy System (Local VM)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48"/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48"/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48"/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irtualBox macOS BigSur - free Icon PNG, SVG" id="1929" name="Google Shape;1929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0326" y="4969126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930" name="Google Shape;1930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76869" y="4961011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macOS BigSur - free Icon PNG, SVG" id="1931" name="Google Shape;1931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371491" y="4956031"/>
            <a:ext cx="562105" cy="56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4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2603" y="4596214"/>
            <a:ext cx="358405" cy="367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4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- 은행)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49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939" name="Google Shape;193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0" name="Google Shape;1940;p49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941" name="Google Shape;194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42" name="Google Shape;194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3" name="Google Shape;1943;p49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944" name="Google Shape;194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49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49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947" name="Google Shape;194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8" name="Google Shape;1948;p49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1949" name="Google Shape;1949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50" name="Google Shape;1950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51" name="Google Shape;195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52" name="Google Shape;195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53" name="Google Shape;195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54" name="Google Shape;195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55" name="Google Shape;1955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6" name="Google Shape;1956;p49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49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49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49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49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49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2" name="Google Shape;1962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5" name="Google Shape;1965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6" name="Google Shape;1966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7" name="Google Shape;1967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8" name="Google Shape;1968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49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49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49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49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49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49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49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49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49"/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가입고객 100만명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일평균 활성 18%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1인 평균 거래 2.3건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약 41만건 생성</a:t>
            </a:r>
            <a:endParaRPr/>
          </a:p>
        </p:txBody>
      </p:sp>
      <p:sp>
        <p:nvSpPr>
          <p:cNvPr id="1978" name="Google Shape;1978;p49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49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49"/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49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49"/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bank_customer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bank_transaction</a:t>
            </a:r>
            <a:endParaRPr/>
          </a:p>
        </p:txBody>
      </p:sp>
      <p:graphicFrame>
        <p:nvGraphicFramePr>
          <p:cNvPr id="1983" name="Google Shape;1983;p49"/>
          <p:cNvGraphicFramePr/>
          <p:nvPr/>
        </p:nvGraphicFramePr>
        <p:xfrm>
          <a:off x="3770058" y="4391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30525"/>
                <a:gridCol w="1630525"/>
              </a:tblGrid>
              <a:tr h="214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기준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2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급여일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25일 입금 급증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점심시간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FOOD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월말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이체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평균 금액 3배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4" name="Google Shape;1984;p49"/>
          <p:cNvSpPr txBox="1"/>
          <p:nvPr/>
        </p:nvSpPr>
        <p:spPr>
          <a:xfrm>
            <a:off x="8013013" y="1933893"/>
            <a:ext cx="3712804" cy="132343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bank_customer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bank_id VARCHAR(30)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account_no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account_type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branch_code VARCHAR(10),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join_dt 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1985" name="Google Shape;1985;p49"/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bank_transaction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txn_id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bank_id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transaction_id VARCHAR(50),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transaction_dt DATETIME,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transaction_type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amount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balance_after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merchant_category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channel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created_dt TIMESTAMP DEFAULT CURRENT_TIMESTAMP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p5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- 카드)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50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1992" name="Google Shape;199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50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1994" name="Google Shape;199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1995" name="Google Shape;199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6" name="Google Shape;1996;p50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1997" name="Google Shape;199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50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50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000" name="Google Shape;200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50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002" name="Google Shape;2002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03" name="Google Shape;2003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04" name="Google Shape;200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05" name="Google Shape;200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06" name="Google Shape;2006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07" name="Google Shape;200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08" name="Google Shape;200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50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50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50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50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50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50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5" name="Google Shape;2015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7" name="Google Shape;2017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8" name="Google Shape;2018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9" name="Google Shape;2019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0" name="Google Shape;2020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1" name="Google Shape;2021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022" name="Google Shape;2022;p50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50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50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50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50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50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50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50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50"/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 70만명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활성 22%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1인 평균 승인 3.1건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약 47만건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50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50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50"/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50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50"/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card_customer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card_approval</a:t>
            </a:r>
            <a:endParaRPr/>
          </a:p>
        </p:txBody>
      </p:sp>
      <p:sp>
        <p:nvSpPr>
          <p:cNvPr id="2036" name="Google Shape;2036;p50"/>
          <p:cNvSpPr txBox="1"/>
          <p:nvPr/>
        </p:nvSpPr>
        <p:spPr>
          <a:xfrm>
            <a:off x="8013013" y="1933893"/>
            <a:ext cx="3712804" cy="116955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card_customer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card_id VARCHAR(30)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card_grade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limit_amount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issue_dt 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037" name="Google Shape;2037;p50"/>
          <p:cNvSpPr txBox="1"/>
          <p:nvPr/>
        </p:nvSpPr>
        <p:spPr>
          <a:xfrm>
            <a:off x="8013013" y="3469188"/>
            <a:ext cx="3712804" cy="1938992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card_approval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card_id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approval_no VARCHAR(50),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approval_dt DATETIME,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merchant_name VARCHAR(100),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merchant_category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amount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installment_months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payment_status VARCHAR(20)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038" name="Google Shape;2038;p50"/>
          <p:cNvSpPr txBox="1"/>
          <p:nvPr/>
        </p:nvSpPr>
        <p:spPr>
          <a:xfrm>
            <a:off x="3870167" y="4268009"/>
            <a:ext cx="307942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40대 고소득 = 승인금액 2배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주말 = leisure 증가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당뇨 고객 = medical 증가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= premium shopping 증가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5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- 증권)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4" name="Google Shape;2044;p51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045" name="Google Shape;204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51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047" name="Google Shape;204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48" name="Google Shape;204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9" name="Google Shape;2049;p51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050" name="Google Shape;205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2051;p51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51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053" name="Google Shape;205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51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055" name="Google Shape;205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56" name="Google Shape;205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57" name="Google Shape;2057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58" name="Google Shape;205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59" name="Google Shape;205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60" name="Google Shape;206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061" name="Google Shape;206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51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51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4" name="Google Shape;2064;p51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51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51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51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8" name="Google Shape;2068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9" name="Google Shape;2069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2" name="Google Shape;2072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3" name="Google Shape;2073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4" name="Google Shape;2074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075" name="Google Shape;2075;p51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51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51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51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51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51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1" name="Google Shape;2081;p51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51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51"/>
          <p:cNvSpPr txBox="1"/>
          <p:nvPr/>
        </p:nvSpPr>
        <p:spPr>
          <a:xfrm>
            <a:off x="964196" y="4268009"/>
            <a:ext cx="231447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가입고객 25만명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시장 영업일만 생성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평일 09:00 ~ 15:30 집중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비활성 고객 다수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소수 актив trader 집중 거래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생성 건수 : 약 8만 ~ 15만건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51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51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51"/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51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51"/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securities_account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securities_trade</a:t>
            </a:r>
            <a:endParaRPr/>
          </a:p>
        </p:txBody>
      </p:sp>
      <p:sp>
        <p:nvSpPr>
          <p:cNvPr id="2089" name="Google Shape;2089;p51"/>
          <p:cNvSpPr txBox="1"/>
          <p:nvPr/>
        </p:nvSpPr>
        <p:spPr>
          <a:xfrm>
            <a:off x="8013013" y="1933893"/>
            <a:ext cx="3712804" cy="101566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securities_account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sec_id VARCHAR(30)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risk_grade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open_dt 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090" name="Google Shape;2090;p51"/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securities_trade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sec_id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trade_id VARCHAR(50),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trade_dt DATETIME,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stock_code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asset_type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trade_type VARCHAR(10),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quantity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trade_price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trade_amount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return_rate DECIMAL(8,4)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graphicFrame>
        <p:nvGraphicFramePr>
          <p:cNvPr id="2091" name="Google Shape;2091;p51"/>
          <p:cNvGraphicFramePr/>
          <p:nvPr/>
        </p:nvGraphicFramePr>
        <p:xfrm>
          <a:off x="3895018" y="4363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77850"/>
                <a:gridCol w="16778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패턴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40대 고소득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 매수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채권/BOND 비중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시장 급락일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SELL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월급날 직후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BUY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20~30대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해외 ETF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2" name="Google Shape;2092;p51"/>
          <p:cNvSpPr txBox="1"/>
          <p:nvPr/>
        </p:nvSpPr>
        <p:spPr>
          <a:xfrm>
            <a:off x="971752" y="5472707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종목 추천 생성 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51"/>
          <p:cNvSpPr txBox="1"/>
          <p:nvPr/>
        </p:nvSpPr>
        <p:spPr>
          <a:xfrm>
            <a:off x="984089" y="5767529"/>
            <a:ext cx="192217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KODEX200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TIGER ETF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미국S&amp;P500 ETF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국채 ETF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우량주</a:t>
            </a:r>
            <a:endParaRPr/>
          </a:p>
        </p:txBody>
      </p:sp>
      <p:sp>
        <p:nvSpPr>
          <p:cNvPr id="2094" name="Google Shape;2094;p51"/>
          <p:cNvSpPr txBox="1"/>
          <p:nvPr/>
        </p:nvSpPr>
        <p:spPr>
          <a:xfrm>
            <a:off x="3820224" y="599668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시간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51"/>
          <p:cNvSpPr txBox="1"/>
          <p:nvPr/>
        </p:nvSpPr>
        <p:spPr>
          <a:xfrm>
            <a:off x="3832561" y="6291510"/>
            <a:ext cx="19221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09:00 개장 매수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14:30 종가 전 거래 급증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5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- 보험)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1" name="Google Shape;2101;p52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102" name="Google Shape;210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3" name="Google Shape;2103;p52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104" name="Google Shape;210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05" name="Google Shape;2105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6" name="Google Shape;2106;p52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107" name="Google Shape;210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8" name="Google Shape;2108;p52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52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110" name="Google Shape;211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1" name="Google Shape;2111;p52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112" name="Google Shape;2112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13" name="Google Shape;2113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14" name="Google Shape;2114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15" name="Google Shape;2115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16" name="Google Shape;2116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17" name="Google Shape;211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18" name="Google Shape;2118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9" name="Google Shape;2119;p52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52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52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52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52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52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5" name="Google Shape;2125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6" name="Google Shape;2126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7" name="Google Shape;2127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8" name="Google Shape;2128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0" name="Google Shape;2130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1" name="Google Shape;2131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52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52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52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52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52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52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52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52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52"/>
          <p:cNvSpPr txBox="1"/>
          <p:nvPr/>
        </p:nvSpPr>
        <p:spPr>
          <a:xfrm>
            <a:off x="964196" y="4268009"/>
            <a:ext cx="2538211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보험은 거래성 데이터보다 계약 이벤트 중심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납입 / 갱신 / 청구 / 해지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예상 건수 : 1만 ~ 2만건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52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52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52"/>
          <p:cNvSpPr txBox="1"/>
          <p:nvPr/>
        </p:nvSpPr>
        <p:spPr>
          <a:xfrm>
            <a:off x="4209698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52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52"/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insurance_policy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insurance_event</a:t>
            </a:r>
            <a:endParaRPr/>
          </a:p>
        </p:txBody>
      </p:sp>
      <p:sp>
        <p:nvSpPr>
          <p:cNvPr id="2146" name="Google Shape;2146;p52"/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insurance_policy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policy_no VARCHAR(40)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ins_id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product_code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product_name VARCHAR(100),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premium_amount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status VARCHAR(20)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147" name="Google Shape;2147;p52"/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insurance_event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policy_no VARCHAR(40),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event_type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event_dt DATETIME,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payment_status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amount INT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148" name="Google Shape;2148;p52"/>
          <p:cNvSpPr txBox="1"/>
          <p:nvPr/>
        </p:nvSpPr>
        <p:spPr>
          <a:xfrm>
            <a:off x="964196" y="500315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일일 이벤트 율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49" name="Google Shape;2149;p52"/>
          <p:cNvGraphicFramePr/>
          <p:nvPr/>
        </p:nvGraphicFramePr>
        <p:xfrm>
          <a:off x="948129" y="53441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77150"/>
                <a:gridCol w="12771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고객군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발생률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일반 유지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납입일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청구 발생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0.5%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50" name="Google Shape;2150;p52"/>
          <p:cNvGraphicFramePr/>
          <p:nvPr/>
        </p:nvGraphicFramePr>
        <p:xfrm>
          <a:off x="4229160" y="44121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18825"/>
                <a:gridCol w="1518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패턴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40대 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건강보험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자녀 보유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어린이보험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종신보험 / 자산형 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당뇨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실손청구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5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– 온라인 보험)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53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157" name="Google Shape;215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8" name="Google Shape;2158;p53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159" name="Google Shape;215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60" name="Google Shape;2160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61" name="Google Shape;2161;p53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162" name="Google Shape;216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Google Shape;2163;p53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53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165" name="Google Shape;216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53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167" name="Google Shape;2167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68" name="Google Shape;216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69" name="Google Shape;2169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70" name="Google Shape;2170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71" name="Google Shape;2171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72" name="Google Shape;217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173" name="Google Shape;2173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53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53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53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53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53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53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0" name="Google Shape;2180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1" name="Google Shape;2181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2" name="Google Shape;2182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3" name="Google Shape;2183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5" name="Google Shape;2185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6" name="Google Shape;2186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187" name="Google Shape;2187;p53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53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53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0" name="Google Shape;2190;p53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53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53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53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53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53"/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모바일/웹 채널 중심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소액 단기보험 많음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시간대 : 20:00~24:00 가입 많음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예상 건수 : 5천 ~ 1만건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53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53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 보험,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53"/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53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53"/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insurance_policy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insurance_event</a:t>
            </a:r>
            <a:endParaRPr/>
          </a:p>
        </p:txBody>
      </p:sp>
      <p:sp>
        <p:nvSpPr>
          <p:cNvPr id="2201" name="Google Shape;2201;p53"/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insurance_policy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policy_no VARCHAR(40)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ins_id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product_code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product_name VARCHAR(100),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premium_amount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status VARCHAR(20)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202" name="Google Shape;2202;p53"/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insurance_event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policy_no VARCHAR(40),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event_type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event_dt DATETIME,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payment_status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amount INT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graphicFrame>
        <p:nvGraphicFramePr>
          <p:cNvPr id="2203" name="Google Shape;2203;p53"/>
          <p:cNvGraphicFramePr/>
          <p:nvPr/>
        </p:nvGraphicFramePr>
        <p:xfrm>
          <a:off x="3967634" y="43719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41550"/>
                <a:gridCol w="16415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패턴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여름 휴가철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여행보험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단기보험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차량 보유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운전자보험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반려동물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펫보험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4" name="Google Shape;2204;p53"/>
          <p:cNvSpPr txBox="1"/>
          <p:nvPr/>
        </p:nvSpPr>
        <p:spPr>
          <a:xfrm>
            <a:off x="945690" y="510030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하루 이벤트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5" name="Google Shape;2205;p53"/>
          <p:cNvGraphicFramePr/>
          <p:nvPr/>
        </p:nvGraphicFramePr>
        <p:xfrm>
          <a:off x="923444" y="5413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35650"/>
                <a:gridCol w="13356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유형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비율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여행자보험 가입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운전자보험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반려동물보험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생활보장형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5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– 헬스케어)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1" name="Google Shape;2211;p54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212" name="Google Shape;221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3" name="Google Shape;2213;p54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214" name="Google Shape;221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15" name="Google Shape;221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54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217" name="Google Shape;221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54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9" name="Google Shape;2219;p54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220" name="Google Shape;222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1" name="Google Shape;2221;p54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222" name="Google Shape;2222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23" name="Google Shape;2223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24" name="Google Shape;2224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25" name="Google Shape;2225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26" name="Google Shape;222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27" name="Google Shape;222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28" name="Google Shape;2228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29" name="Google Shape;2229;p54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0" name="Google Shape;2230;p54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54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54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54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4" name="Google Shape;2234;p54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5" name="Google Shape;2235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6" name="Google Shape;2236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7" name="Google Shape;2237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9" name="Google Shape;2239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0" name="Google Shape;2240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1" name="Google Shape;2241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54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3" name="Google Shape;2243;p54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54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5" name="Google Shape;2245;p54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54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54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54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54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0" name="Google Shape;2250;p54"/>
          <p:cNvSpPr txBox="1"/>
          <p:nvPr/>
        </p:nvSpPr>
        <p:spPr>
          <a:xfrm>
            <a:off x="964196" y="4268009"/>
            <a:ext cx="28815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가입고객 30만명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앱 활동 / 운동 / BMI / 식단 / 코칭 데이터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시간대 : 06~08 운동, 18~22 운동 피크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예상 건수 : 5만 ~ 10만건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54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54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54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54"/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healthcare_record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54"/>
          <p:cNvSpPr txBox="1"/>
          <p:nvPr/>
        </p:nvSpPr>
        <p:spPr>
          <a:xfrm>
            <a:off x="8013013" y="1933893"/>
            <a:ext cx="3712804" cy="178510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healthcare_record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hc_id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record_dt DATETIME,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bmi DECIMAL(4,1),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weight_kg DECIMAL(5,1),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exercise_type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exercise_duration_min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calories INT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256" name="Google Shape;2256;p54"/>
          <p:cNvSpPr txBox="1"/>
          <p:nvPr/>
        </p:nvSpPr>
        <p:spPr>
          <a:xfrm>
            <a:off x="4072196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7" name="Google Shape;2257;p54"/>
          <p:cNvGraphicFramePr/>
          <p:nvPr/>
        </p:nvGraphicFramePr>
        <p:xfrm>
          <a:off x="4072196" y="44121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89250"/>
                <a:gridCol w="1589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패턴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다이어트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RUNNING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당뇨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걷기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30대 여성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요가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40대 남성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8" name="Google Shape;2258;p54"/>
          <p:cNvSpPr txBox="1"/>
          <p:nvPr/>
        </p:nvSpPr>
        <p:spPr>
          <a:xfrm>
            <a:off x="8041812" y="398750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활동률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59" name="Google Shape;2259;p54"/>
          <p:cNvGraphicFramePr/>
          <p:nvPr/>
        </p:nvGraphicFramePr>
        <p:xfrm>
          <a:off x="8104653" y="4370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89475"/>
                <a:gridCol w="12894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고객군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생성률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운동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웨어러블 연동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건강관리형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60" name="Google Shape;2260;p54"/>
          <p:cNvSpPr txBox="1"/>
          <p:nvPr/>
        </p:nvSpPr>
        <p:spPr>
          <a:xfrm>
            <a:off x="971752" y="5217443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생성 항목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54"/>
          <p:cNvSpPr txBox="1"/>
          <p:nvPr/>
        </p:nvSpPr>
        <p:spPr>
          <a:xfrm>
            <a:off x="914037" y="5491820"/>
            <a:ext cx="126035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BMI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체중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운동시간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칼로리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식단점수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수면점수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5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– 병원)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55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268" name="Google Shape;226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9" name="Google Shape;2269;p55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270" name="Google Shape;227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71" name="Google Shape;227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2" name="Google Shape;2272;p55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273" name="Google Shape;2273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4" name="Google Shape;2274;p55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55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276" name="Google Shape;227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7" name="Google Shape;2277;p55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278" name="Google Shape;2278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79" name="Google Shape;2279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80" name="Google Shape;2280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81" name="Google Shape;228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82" name="Google Shape;2282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83" name="Google Shape;2283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284" name="Google Shape;2284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55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55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55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8" name="Google Shape;2288;p55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p55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55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1" name="Google Shape;2291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2" name="Google Shape;2292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3" name="Google Shape;2293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4" name="Google Shape;2294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5" name="Google Shape;2295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6" name="Google Shape;2296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7" name="Google Shape;2297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298" name="Google Shape;2298;p55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55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55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55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2" name="Google Shape;2302;p55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55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4" name="Google Shape;2304;p55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5" name="Google Shape;2305;p55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55"/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가입고객 20만명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외래 / 진료 / 검진 / 약처방 / 입원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시간대 : 09:00~12:00 외래 집중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예상 건수 : 1만 ~ 2만건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55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55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55"/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55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55"/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hospital_visit</a:t>
            </a:r>
            <a:endParaRPr/>
          </a:p>
        </p:txBody>
      </p:sp>
      <p:sp>
        <p:nvSpPr>
          <p:cNvPr id="2312" name="Google Shape;2312;p55"/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hospital_visit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visit_id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hospital_id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ls_user_id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visit_dt DATETIME,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dept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diagnosis_code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treatment_cost INT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graphicFrame>
        <p:nvGraphicFramePr>
          <p:cNvPr id="2313" name="Google Shape;2313;p55"/>
          <p:cNvGraphicFramePr/>
          <p:nvPr/>
        </p:nvGraphicFramePr>
        <p:xfrm>
          <a:off x="3849633" y="44121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62450"/>
                <a:gridCol w="16624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패턴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당뇨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내과 방문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50대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종합검진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여성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산부인과/검진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겨울철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호흡기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4" name="Google Shape;2314;p55"/>
          <p:cNvSpPr txBox="1"/>
          <p:nvPr/>
        </p:nvSpPr>
        <p:spPr>
          <a:xfrm>
            <a:off x="7952169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발생률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15" name="Google Shape;2315;p55"/>
          <p:cNvGraphicFramePr/>
          <p:nvPr/>
        </p:nvGraphicFramePr>
        <p:xfrm>
          <a:off x="8013013" y="44121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80625"/>
                <a:gridCol w="12806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고객군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발생률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만성질환자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당뇨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검진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5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수집 – Wearable)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56"/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322" name="Google Shape;232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56"/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324" name="Google Shape;232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25" name="Google Shape;2325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6" name="Google Shape;2326;p56"/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327" name="Google Shape;232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8" name="Google Shape;2328;p56"/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56"/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330" name="Google Shape;233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56"/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332" name="Google Shape;2332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33" name="Google Shape;2333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34" name="Google Shape;233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35" name="Google Shape;2335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36" name="Google Shape;2336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37" name="Google Shape;2337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38" name="Google Shape;2338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9" name="Google Shape;2339;p56"/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0" name="Google Shape;2340;p56"/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56"/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2" name="Google Shape;2342;p56"/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p56"/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4" name="Google Shape;2344;p56"/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5" name="Google Shape;2345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164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6" name="Google Shape;2346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13626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7" name="Google Shape;2347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1148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8" name="Google Shape;2348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324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9" name="Google Shape;2349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45219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0" name="Google Shape;2350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61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1503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56"/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56"/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56"/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56"/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56"/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56"/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56"/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56"/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0" name="Google Shape;2360;p56"/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가입고객 100만명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일평균 활성 18%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1인 평균 거래 2.3건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하루 약 41만건 생성</a:t>
            </a:r>
            <a:endParaRPr/>
          </a:p>
        </p:txBody>
      </p:sp>
      <p:sp>
        <p:nvSpPr>
          <p:cNvPr id="2361" name="Google Shape;2361;p56"/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56"/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웨어러블, Daily 기준 데이터 생성 조건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56"/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랜덤 생성 패턴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56"/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MySQL 테이블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56"/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batch_export_log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56"/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batch_export_log 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id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source_name VARCHAR(30),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target_dt DATE,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row_count INT,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file_name VARCHAR(200),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export_status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created_dt TIMESTAMP DEFAULT CURRENT_TIMESTAMP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/>
          </a:p>
        </p:txBody>
      </p:sp>
      <p:sp>
        <p:nvSpPr>
          <p:cNvPr id="2367" name="Google Shape;2367;p56"/>
          <p:cNvSpPr txBox="1"/>
          <p:nvPr/>
        </p:nvSpPr>
        <p:spPr>
          <a:xfrm>
            <a:off x="3893777" y="4351718"/>
            <a:ext cx="328074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08시 출근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12시 점심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18시 퇴근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22시 야간</a:t>
            </a:r>
            <a:endParaRPr/>
          </a:p>
        </p:txBody>
      </p:sp>
      <p:sp>
        <p:nvSpPr>
          <p:cNvPr id="2368" name="Google Shape;2368;p56"/>
          <p:cNvSpPr txBox="1"/>
          <p:nvPr/>
        </p:nvSpPr>
        <p:spPr>
          <a:xfrm>
            <a:off x="8038605" y="4397884"/>
            <a:ext cx="224901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True: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초당 TPS=50건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MySQL 저장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boto3 put_record()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↓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Kinesis Stream 전송</a:t>
            </a:r>
            <a:endParaRPr/>
          </a:p>
        </p:txBody>
      </p:sp>
      <p:sp>
        <p:nvSpPr>
          <p:cNvPr id="2369" name="Google Shape;2369;p56"/>
          <p:cNvSpPr txBox="1"/>
          <p:nvPr/>
        </p:nvSpPr>
        <p:spPr>
          <a:xfrm>
            <a:off x="7991698" y="40322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p5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전송)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5" name="Google Shape;2375;p57"/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376" name="Google Shape;237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7" name="Google Shape;2377;p57"/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378" name="Google Shape;237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79" name="Google Shape;237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57"/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381" name="Google Shape;2381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57"/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57"/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384" name="Google Shape;238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5" name="Google Shape;2385;p57"/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386" name="Google Shape;2386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87" name="Google Shape;238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88" name="Google Shape;2388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89" name="Google Shape;238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90" name="Google Shape;2390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91" name="Google Shape;2391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392" name="Google Shape;2392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3" name="Google Shape;2393;p57"/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57"/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5" name="Google Shape;2395;p57"/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6" name="Google Shape;2396;p57"/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7" name="Google Shape;2397;p57"/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57"/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399" name="Google Shape;2399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400" name="Google Shape;2400;p57"/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lifesync-raw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1" name="Google Shape;2401;p57"/>
          <p:cNvCxnSpPr>
            <a:stCxn id="2402" idx="2"/>
            <a:endCxn id="2403" idx="0"/>
          </p:cNvCxnSpPr>
          <p:nvPr/>
        </p:nvCxnSpPr>
        <p:spPr>
          <a:xfrm>
            <a:off x="4078425" y="2790540"/>
            <a:ext cx="274800" cy="6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Lambda service icon." id="2403" name="Google Shape;2403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04" name="Google Shape;2404;p57"/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5" name="Google Shape;2405;p57"/>
          <p:cNvCxnSpPr>
            <a:stCxn id="2404" idx="0"/>
            <a:endCxn id="2399" idx="0"/>
          </p:cNvCxnSpPr>
          <p:nvPr/>
        </p:nvCxnSpPr>
        <p:spPr>
          <a:xfrm>
            <a:off x="4377016" y="3846316"/>
            <a:ext cx="123000" cy="781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06" name="Google Shape;2406;p57"/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57"/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p57"/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적재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57"/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원천 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(Batch Job)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57"/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1" name="Google Shape;2411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53392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2" name="Google Shape;2402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0557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2" name="Google Shape;2412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841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3" name="Google Shape;2413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017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4" name="Google Shape;2414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215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5" name="Google Shape;2415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30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6" name="Google Shape;2416;p5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19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417" name="Google Shape;2417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18" name="Google Shape;2418;p57"/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Kinesis Data Streams service icon." id="2419" name="Google Shape;2419;p5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420" name="Google Shape;2420;p57"/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1" name="Google Shape;2421;p57"/>
          <p:cNvCxnSpPr>
            <a:endCxn id="2422" idx="0"/>
          </p:cNvCxnSpPr>
          <p:nvPr/>
        </p:nvCxnSpPr>
        <p:spPr>
          <a:xfrm>
            <a:off x="2132613" y="4878894"/>
            <a:ext cx="233100" cy="47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2" name="Google Shape;2422;p57"/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3" name="Google Shape;2423;p57"/>
          <p:cNvCxnSpPr>
            <a:endCxn id="2419" idx="1"/>
          </p:cNvCxnSpPr>
          <p:nvPr/>
        </p:nvCxnSpPr>
        <p:spPr>
          <a:xfrm>
            <a:off x="2765893" y="5614479"/>
            <a:ext cx="319800" cy="9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24" name="Google Shape;2424;p57"/>
          <p:cNvCxnSpPr>
            <a:stCxn id="2417" idx="0"/>
          </p:cNvCxnSpPr>
          <p:nvPr/>
        </p:nvCxnSpPr>
        <p:spPr>
          <a:xfrm rot="10800000">
            <a:off x="4500041" y="5076982"/>
            <a:ext cx="260400" cy="544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5" name="Google Shape;2425;p57"/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(초당 수백회)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57"/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57"/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8" name="Google Shape;2428;p57"/>
          <p:cNvCxnSpPr>
            <a:endCxn id="2417" idx="1"/>
          </p:cNvCxnSpPr>
          <p:nvPr/>
        </p:nvCxnSpPr>
        <p:spPr>
          <a:xfrm>
            <a:off x="3427101" y="5754222"/>
            <a:ext cx="1129500" cy="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9" name="Google Shape;2429;p57"/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57"/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시, MySQL 저장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00:20 JSON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2431" name="Google Shape;2431;p5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432" name="Google Shape;2432;p57"/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57"/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4" name="Google Shape;2434;p57"/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5" name="Google Shape;2435;p57"/>
          <p:cNvCxnSpPr>
            <a:endCxn id="2403" idx="0"/>
          </p:cNvCxnSpPr>
          <p:nvPr/>
        </p:nvCxnSpPr>
        <p:spPr>
          <a:xfrm>
            <a:off x="3654662" y="2739662"/>
            <a:ext cx="698700" cy="719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36" name="Google Shape;2436;p57"/>
          <p:cNvCxnSpPr>
            <a:endCxn id="2403" idx="0"/>
          </p:cNvCxnSpPr>
          <p:nvPr/>
        </p:nvCxnSpPr>
        <p:spPr>
          <a:xfrm flipH="1">
            <a:off x="4353362" y="2739062"/>
            <a:ext cx="633600" cy="72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37" name="Google Shape;2437;p57"/>
          <p:cNvCxnSpPr>
            <a:endCxn id="2403" idx="0"/>
          </p:cNvCxnSpPr>
          <p:nvPr/>
        </p:nvCxnSpPr>
        <p:spPr>
          <a:xfrm flipH="1">
            <a:off x="4353362" y="2562962"/>
            <a:ext cx="29400" cy="896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38" name="Google Shape;2438;p57"/>
          <p:cNvCxnSpPr>
            <a:endCxn id="2403" idx="0"/>
          </p:cNvCxnSpPr>
          <p:nvPr/>
        </p:nvCxnSpPr>
        <p:spPr>
          <a:xfrm flipH="1">
            <a:off x="4353362" y="2763362"/>
            <a:ext cx="244800" cy="69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39" name="Google Shape;2439;p57"/>
          <p:cNvCxnSpPr>
            <a:stCxn id="2414" idx="1"/>
            <a:endCxn id="2403" idx="0"/>
          </p:cNvCxnSpPr>
          <p:nvPr/>
        </p:nvCxnSpPr>
        <p:spPr>
          <a:xfrm flipH="1">
            <a:off x="4353450" y="2662673"/>
            <a:ext cx="1028700" cy="796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40" name="Google Shape;2440;p57"/>
          <p:cNvCxnSpPr>
            <a:endCxn id="2403" idx="0"/>
          </p:cNvCxnSpPr>
          <p:nvPr/>
        </p:nvCxnSpPr>
        <p:spPr>
          <a:xfrm flipH="1">
            <a:off x="4353362" y="2586962"/>
            <a:ext cx="1964700" cy="87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41" name="Google Shape;2441;p57"/>
          <p:cNvCxnSpPr>
            <a:endCxn id="2403" idx="0"/>
          </p:cNvCxnSpPr>
          <p:nvPr/>
        </p:nvCxnSpPr>
        <p:spPr>
          <a:xfrm flipH="1">
            <a:off x="4353362" y="2580062"/>
            <a:ext cx="1429200" cy="87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42" name="Google Shape;2442;p57"/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3" name="Google Shape;2443;p57"/>
          <p:cNvCxnSpPr/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44" name="Google Shape;2444;p57"/>
          <p:cNvSpPr txBox="1"/>
          <p:nvPr/>
        </p:nvSpPr>
        <p:spPr>
          <a:xfrm>
            <a:off x="4964281" y="3576098"/>
            <a:ext cx="27335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lifesync-batch-loader-lambda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5" name="Google Shape;2445;p57"/>
          <p:cNvSpPr txBox="1"/>
          <p:nvPr/>
        </p:nvSpPr>
        <p:spPr>
          <a:xfrm>
            <a:off x="5466248" y="5654262"/>
            <a:ext cx="27335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lifesync-wearable-stream-lambda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6" name="Google Shape;2446;p57"/>
          <p:cNvSpPr txBox="1"/>
          <p:nvPr/>
        </p:nvSpPr>
        <p:spPr>
          <a:xfrm>
            <a:off x="8422024" y="1295931"/>
            <a:ext cx="3109675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은행/카드/보험/증권/병원/헬스케어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JSON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Lambda(batch-loader)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Raw 저장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웨어러블 EC2 Agent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Kinesis Stream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Lambda(wearable-stream)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arenR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Raw</a:t>
            </a:r>
            <a:endParaRPr/>
          </a:p>
        </p:txBody>
      </p:sp>
      <p:sp>
        <p:nvSpPr>
          <p:cNvPr id="2447" name="Google Shape;2447;p57"/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p5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전송 – 그룹사 Batch)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58"/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454" name="Google Shape;245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58"/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456" name="Google Shape;245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457" name="Google Shape;2457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58" name="Google Shape;2458;p58"/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459" name="Google Shape;245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60" name="Google Shape;2460;p58"/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58"/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462" name="Google Shape;246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3" name="Google Shape;2463;p58"/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464" name="Google Shape;2464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465" name="Google Shape;2465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466" name="Google Shape;246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467" name="Google Shape;2467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468" name="Google Shape;2468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469" name="Google Shape;246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470" name="Google Shape;247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71" name="Google Shape;2471;p58"/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2" name="Google Shape;2472;p58"/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58"/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4" name="Google Shape;2474;p58"/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5" name="Google Shape;2475;p58"/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6" name="Google Shape;2476;p58"/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477" name="Google Shape;2477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58"/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lifesync-raw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9" name="Google Shape;2479;p58"/>
          <p:cNvCxnSpPr>
            <a:stCxn id="2480" idx="2"/>
            <a:endCxn id="2481" idx="0"/>
          </p:cNvCxnSpPr>
          <p:nvPr/>
        </p:nvCxnSpPr>
        <p:spPr>
          <a:xfrm>
            <a:off x="4078425" y="2790540"/>
            <a:ext cx="274800" cy="6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Lambda service icon." id="2481" name="Google Shape;2481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82" name="Google Shape;2482;p58"/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3" name="Google Shape;2483;p58"/>
          <p:cNvCxnSpPr>
            <a:stCxn id="2482" idx="0"/>
            <a:endCxn id="2477" idx="0"/>
          </p:cNvCxnSpPr>
          <p:nvPr/>
        </p:nvCxnSpPr>
        <p:spPr>
          <a:xfrm>
            <a:off x="4377016" y="3846316"/>
            <a:ext cx="123000" cy="781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84" name="Google Shape;2484;p58"/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58"/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6" name="Google Shape;2486;p58"/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적재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58"/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원천 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(Batch Job)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8" name="Google Shape;2488;p58"/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9" name="Google Shape;2489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53392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0" name="Google Shape;2480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0557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0" name="Google Shape;2490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841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1" name="Google Shape;2491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017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2" name="Google Shape;2492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215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3" name="Google Shape;2493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30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4" name="Google Shape;2494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19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495" name="Google Shape;2495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6" name="Google Shape;2496;p58"/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Kinesis Data Streams service icon." id="2497" name="Google Shape;2497;p5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498" name="Google Shape;2498;p58"/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9" name="Google Shape;2499;p58"/>
          <p:cNvCxnSpPr>
            <a:endCxn id="2500" idx="0"/>
          </p:cNvCxnSpPr>
          <p:nvPr/>
        </p:nvCxnSpPr>
        <p:spPr>
          <a:xfrm>
            <a:off x="2132613" y="4878894"/>
            <a:ext cx="233100" cy="47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00" name="Google Shape;2500;p58"/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1" name="Google Shape;2501;p58"/>
          <p:cNvCxnSpPr>
            <a:endCxn id="2497" idx="1"/>
          </p:cNvCxnSpPr>
          <p:nvPr/>
        </p:nvCxnSpPr>
        <p:spPr>
          <a:xfrm>
            <a:off x="2765893" y="5614479"/>
            <a:ext cx="319800" cy="9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02" name="Google Shape;2502;p58"/>
          <p:cNvCxnSpPr>
            <a:stCxn id="2495" idx="0"/>
          </p:cNvCxnSpPr>
          <p:nvPr/>
        </p:nvCxnSpPr>
        <p:spPr>
          <a:xfrm rot="10800000">
            <a:off x="4500041" y="5076982"/>
            <a:ext cx="260400" cy="544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03" name="Google Shape;2503;p58"/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(초당 수백회)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58"/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58"/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6" name="Google Shape;2506;p58"/>
          <p:cNvCxnSpPr>
            <a:endCxn id="2495" idx="1"/>
          </p:cNvCxnSpPr>
          <p:nvPr/>
        </p:nvCxnSpPr>
        <p:spPr>
          <a:xfrm>
            <a:off x="3427101" y="5754222"/>
            <a:ext cx="1129500" cy="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07" name="Google Shape;2507;p58"/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8" name="Google Shape;2508;p58"/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시, MySQL 저장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00:20 JSON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2509" name="Google Shape;2509;p5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10" name="Google Shape;2510;p58"/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1" name="Google Shape;2511;p58"/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2" name="Google Shape;2512;p58"/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3" name="Google Shape;2513;p58"/>
          <p:cNvCxnSpPr>
            <a:endCxn id="2481" idx="0"/>
          </p:cNvCxnSpPr>
          <p:nvPr/>
        </p:nvCxnSpPr>
        <p:spPr>
          <a:xfrm>
            <a:off x="3654662" y="2739662"/>
            <a:ext cx="698700" cy="719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4" name="Google Shape;2514;p58"/>
          <p:cNvCxnSpPr>
            <a:endCxn id="2481" idx="0"/>
          </p:cNvCxnSpPr>
          <p:nvPr/>
        </p:nvCxnSpPr>
        <p:spPr>
          <a:xfrm flipH="1">
            <a:off x="4353362" y="2739062"/>
            <a:ext cx="633600" cy="72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5" name="Google Shape;2515;p58"/>
          <p:cNvCxnSpPr>
            <a:endCxn id="2481" idx="0"/>
          </p:cNvCxnSpPr>
          <p:nvPr/>
        </p:nvCxnSpPr>
        <p:spPr>
          <a:xfrm flipH="1">
            <a:off x="4353362" y="2562962"/>
            <a:ext cx="29400" cy="896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6" name="Google Shape;2516;p58"/>
          <p:cNvCxnSpPr>
            <a:endCxn id="2481" idx="0"/>
          </p:cNvCxnSpPr>
          <p:nvPr/>
        </p:nvCxnSpPr>
        <p:spPr>
          <a:xfrm flipH="1">
            <a:off x="4353362" y="2763362"/>
            <a:ext cx="244800" cy="69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7" name="Google Shape;2517;p58"/>
          <p:cNvCxnSpPr>
            <a:stCxn id="2492" idx="1"/>
            <a:endCxn id="2481" idx="0"/>
          </p:cNvCxnSpPr>
          <p:nvPr/>
        </p:nvCxnSpPr>
        <p:spPr>
          <a:xfrm flipH="1">
            <a:off x="4353450" y="2662673"/>
            <a:ext cx="1028700" cy="796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8" name="Google Shape;2518;p58"/>
          <p:cNvCxnSpPr>
            <a:endCxn id="2481" idx="0"/>
          </p:cNvCxnSpPr>
          <p:nvPr/>
        </p:nvCxnSpPr>
        <p:spPr>
          <a:xfrm flipH="1">
            <a:off x="4353362" y="2586962"/>
            <a:ext cx="1964700" cy="87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19" name="Google Shape;2519;p58"/>
          <p:cNvCxnSpPr>
            <a:endCxn id="2481" idx="0"/>
          </p:cNvCxnSpPr>
          <p:nvPr/>
        </p:nvCxnSpPr>
        <p:spPr>
          <a:xfrm flipH="1">
            <a:off x="4353362" y="2580062"/>
            <a:ext cx="1429200" cy="87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20" name="Google Shape;2520;p58"/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1" name="Google Shape;2521;p58"/>
          <p:cNvCxnSpPr/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22" name="Google Shape;2522;p58"/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lifesync-batch-loader-lambda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계열사 Daily Batch 수집 Lambda</a:t>
            </a:r>
            <a:endParaRPr/>
          </a:p>
        </p:txBody>
      </p:sp>
      <p:sp>
        <p:nvSpPr>
          <p:cNvPr id="2523" name="Google Shape;2523;p58"/>
          <p:cNvSpPr txBox="1"/>
          <p:nvPr/>
        </p:nvSpPr>
        <p:spPr>
          <a:xfrm>
            <a:off x="7104515" y="213602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4" name="Google Shape;2524;p58"/>
          <p:cNvSpPr txBox="1"/>
          <p:nvPr/>
        </p:nvSpPr>
        <p:spPr>
          <a:xfrm>
            <a:off x="7137724" y="2479008"/>
            <a:ext cx="3712804" cy="707886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bank_20250901.json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card_20250901.json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insurance_20250901.json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/>
          </a:p>
        </p:txBody>
      </p:sp>
      <p:sp>
        <p:nvSpPr>
          <p:cNvPr id="2525" name="Google Shape;2525;p58"/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6" name="Google Shape;2526;p58"/>
          <p:cNvSpPr txBox="1"/>
          <p:nvPr/>
        </p:nvSpPr>
        <p:spPr>
          <a:xfrm>
            <a:off x="7051349" y="3925951"/>
            <a:ext cx="379917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Lambda 호출 수신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source 확인 (bank/card/insurance...)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 payload schema 검증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 record_count 확인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 S3 Raw 저장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s3://lifesync-raw/bank/dt=2025-09-01/bank_xxx.json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[6] CloudWatch Log 적재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[7] 성공 응답</a:t>
            </a:r>
            <a:endParaRPr/>
          </a:p>
        </p:txBody>
      </p:sp>
      <p:sp>
        <p:nvSpPr>
          <p:cNvPr id="2527" name="Google Shape;2527;p58"/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8" name="Google Shape;2528;p58"/>
          <p:cNvSpPr txBox="1"/>
          <p:nvPr/>
        </p:nvSpPr>
        <p:spPr>
          <a:xfrm>
            <a:off x="7137724" y="5875178"/>
            <a:ext cx="3712804" cy="707886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lifesync-raw/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bank/dt=2025-09-01/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card/dt=2025-09-01/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insurance/dt=2025-09-01/</a:t>
            </a:r>
            <a:endParaRPr/>
          </a:p>
        </p:txBody>
      </p:sp>
      <p:sp>
        <p:nvSpPr>
          <p:cNvPr id="2529" name="Google Shape;2529;p58"/>
          <p:cNvSpPr txBox="1"/>
          <p:nvPr/>
        </p:nvSpPr>
        <p:spPr>
          <a:xfrm>
            <a:off x="4986878" y="3549884"/>
            <a:ext cx="160105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파일 row count 검증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 mismatch 탐지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중복 업로드 방지</a:t>
            </a:r>
            <a:endParaRPr/>
          </a:p>
        </p:txBody>
      </p:sp>
      <p:sp>
        <p:nvSpPr>
          <p:cNvPr id="2530" name="Google Shape;2530;p58"/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5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전송 – Wearable 실시간)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6" name="Google Shape;2536;p59"/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537" name="Google Shape;253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8" name="Google Shape;2538;p59"/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539" name="Google Shape;253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540" name="Google Shape;254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1" name="Google Shape;2541;p59"/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542" name="Google Shape;254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43" name="Google Shape;2543;p59"/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4" name="Google Shape;2544;p59"/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545" name="Google Shape;25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6" name="Google Shape;2546;p59"/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547" name="Google Shape;2547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548" name="Google Shape;254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549" name="Google Shape;2549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550" name="Google Shape;255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551" name="Google Shape;2551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552" name="Google Shape;255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553" name="Google Shape;2553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4" name="Google Shape;2554;p59"/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59"/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6" name="Google Shape;2556;p59"/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59"/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59"/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59"/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560" name="Google Shape;2560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561" name="Google Shape;2561;p59"/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lifesync-raw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2" name="Google Shape;2562;p59"/>
          <p:cNvCxnSpPr>
            <a:stCxn id="2563" idx="2"/>
            <a:endCxn id="2564" idx="0"/>
          </p:cNvCxnSpPr>
          <p:nvPr/>
        </p:nvCxnSpPr>
        <p:spPr>
          <a:xfrm>
            <a:off x="4078425" y="2790540"/>
            <a:ext cx="274800" cy="6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Lambda service icon." id="2564" name="Google Shape;2564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5" name="Google Shape;2565;p59"/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6" name="Google Shape;2566;p59"/>
          <p:cNvCxnSpPr>
            <a:stCxn id="2565" idx="0"/>
            <a:endCxn id="2560" idx="0"/>
          </p:cNvCxnSpPr>
          <p:nvPr/>
        </p:nvCxnSpPr>
        <p:spPr>
          <a:xfrm>
            <a:off x="4377016" y="3846316"/>
            <a:ext cx="123000" cy="781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67" name="Google Shape;2567;p59"/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8" name="Google Shape;2568;p59"/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9" name="Google Shape;2569;p59"/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적재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0" name="Google Shape;2570;p59"/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원천 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(Batch Job)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1" name="Google Shape;2571;p59"/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2" name="Google Shape;2572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53392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3" name="Google Shape;2563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0557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3" name="Google Shape;2573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841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4" name="Google Shape;2574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017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5" name="Google Shape;2575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215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6" name="Google Shape;2576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30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7" name="Google Shape;2577;p5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19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578" name="Google Shape;2578;p5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9" name="Google Shape;2579;p59"/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Kinesis Data Streams service icon." id="2580" name="Google Shape;2580;p5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581" name="Google Shape;2581;p59"/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2" name="Google Shape;2582;p59"/>
          <p:cNvCxnSpPr>
            <a:endCxn id="2583" idx="0"/>
          </p:cNvCxnSpPr>
          <p:nvPr/>
        </p:nvCxnSpPr>
        <p:spPr>
          <a:xfrm>
            <a:off x="2132613" y="4878894"/>
            <a:ext cx="233100" cy="47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83" name="Google Shape;2583;p59"/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4" name="Google Shape;2584;p59"/>
          <p:cNvCxnSpPr>
            <a:endCxn id="2580" idx="1"/>
          </p:cNvCxnSpPr>
          <p:nvPr/>
        </p:nvCxnSpPr>
        <p:spPr>
          <a:xfrm>
            <a:off x="2765893" y="5614479"/>
            <a:ext cx="319800" cy="9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85" name="Google Shape;2585;p59"/>
          <p:cNvCxnSpPr>
            <a:stCxn id="2578" idx="0"/>
          </p:cNvCxnSpPr>
          <p:nvPr/>
        </p:nvCxnSpPr>
        <p:spPr>
          <a:xfrm rot="10800000">
            <a:off x="4500041" y="5076982"/>
            <a:ext cx="260400" cy="544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86" name="Google Shape;2586;p59"/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(초당 수백회)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7" name="Google Shape;2587;p59"/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8" name="Google Shape;2588;p59"/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9" name="Google Shape;2589;p59"/>
          <p:cNvCxnSpPr>
            <a:endCxn id="2578" idx="1"/>
          </p:cNvCxnSpPr>
          <p:nvPr/>
        </p:nvCxnSpPr>
        <p:spPr>
          <a:xfrm>
            <a:off x="3427101" y="5754222"/>
            <a:ext cx="1129500" cy="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90" name="Google Shape;2590;p59"/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1" name="Google Shape;2591;p59"/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시, MySQL 저장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00:20 JSON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2592" name="Google Shape;2592;p5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93" name="Google Shape;2593;p59"/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4" name="Google Shape;2594;p59"/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5" name="Google Shape;2595;p59"/>
          <p:cNvCxnSpPr>
            <a:endCxn id="2564" idx="0"/>
          </p:cNvCxnSpPr>
          <p:nvPr/>
        </p:nvCxnSpPr>
        <p:spPr>
          <a:xfrm>
            <a:off x="3654662" y="2739662"/>
            <a:ext cx="698700" cy="719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96" name="Google Shape;2596;p59"/>
          <p:cNvCxnSpPr>
            <a:endCxn id="2564" idx="0"/>
          </p:cNvCxnSpPr>
          <p:nvPr/>
        </p:nvCxnSpPr>
        <p:spPr>
          <a:xfrm flipH="1">
            <a:off x="4353362" y="2739062"/>
            <a:ext cx="633600" cy="72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97" name="Google Shape;2597;p59"/>
          <p:cNvCxnSpPr>
            <a:endCxn id="2564" idx="0"/>
          </p:cNvCxnSpPr>
          <p:nvPr/>
        </p:nvCxnSpPr>
        <p:spPr>
          <a:xfrm flipH="1">
            <a:off x="4353362" y="2562962"/>
            <a:ext cx="29400" cy="896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98" name="Google Shape;2598;p59"/>
          <p:cNvCxnSpPr>
            <a:endCxn id="2564" idx="0"/>
          </p:cNvCxnSpPr>
          <p:nvPr/>
        </p:nvCxnSpPr>
        <p:spPr>
          <a:xfrm flipH="1">
            <a:off x="4353362" y="2763362"/>
            <a:ext cx="244800" cy="69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99" name="Google Shape;2599;p59"/>
          <p:cNvCxnSpPr>
            <a:stCxn id="2575" idx="1"/>
            <a:endCxn id="2564" idx="0"/>
          </p:cNvCxnSpPr>
          <p:nvPr/>
        </p:nvCxnSpPr>
        <p:spPr>
          <a:xfrm flipH="1">
            <a:off x="4353450" y="2662673"/>
            <a:ext cx="1028700" cy="796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00" name="Google Shape;2600;p59"/>
          <p:cNvCxnSpPr>
            <a:endCxn id="2564" idx="0"/>
          </p:cNvCxnSpPr>
          <p:nvPr/>
        </p:nvCxnSpPr>
        <p:spPr>
          <a:xfrm flipH="1">
            <a:off x="4353362" y="2586962"/>
            <a:ext cx="1964700" cy="87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01" name="Google Shape;2601;p59"/>
          <p:cNvCxnSpPr>
            <a:endCxn id="2564" idx="0"/>
          </p:cNvCxnSpPr>
          <p:nvPr/>
        </p:nvCxnSpPr>
        <p:spPr>
          <a:xfrm flipH="1">
            <a:off x="4353362" y="2580062"/>
            <a:ext cx="1429200" cy="87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2" name="Google Shape;2602;p59"/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3" name="Google Shape;2603;p59"/>
          <p:cNvCxnSpPr/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4" name="Google Shape;2604;p59"/>
          <p:cNvSpPr txBox="1"/>
          <p:nvPr/>
        </p:nvSpPr>
        <p:spPr>
          <a:xfrm>
            <a:off x="7054110" y="1474578"/>
            <a:ext cx="2987917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Kinesis Data Stream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Shard (처리 성능 단위 = TPS / 1000)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TPS = 50건/sec -&gt; 1건 payload (500 bytes ~ 1KB -&gt; 50KB/sec -&gt; 2 Shared (Lambda 병렬 처리)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5" name="Google Shape;2605;p59"/>
          <p:cNvSpPr txBox="1"/>
          <p:nvPr/>
        </p:nvSpPr>
        <p:spPr>
          <a:xfrm>
            <a:off x="7033643" y="4350939"/>
            <a:ext cx="2946319" cy="2139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 EC2 Agent (초당 50건 생성)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SDK boto3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Kinesis Endpoint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Kinesis Data Stream (2 shared)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Event Source Mapping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arenR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(2 consumers)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Raw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6" name="Google Shape;2606;p59"/>
          <p:cNvSpPr txBox="1"/>
          <p:nvPr/>
        </p:nvSpPr>
        <p:spPr>
          <a:xfrm>
            <a:off x="7033643" y="3967872"/>
            <a:ext cx="20199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처리 프로세스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7" name="Google Shape;2607;p59"/>
          <p:cNvGraphicFramePr/>
          <p:nvPr/>
        </p:nvGraphicFramePr>
        <p:xfrm>
          <a:off x="7175792" y="2649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02075"/>
                <a:gridCol w="14020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Shard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Lambda 동시 처리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08" name="Google Shape;2608;p59"/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9" name="Google Shape;2609;p59"/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6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전송 – Wearable 실시간)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5" name="Google Shape;2615;p60"/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616" name="Google Shape;261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7" name="Google Shape;2617;p60"/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618" name="Google Shape;261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19" name="Google Shape;2619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20" name="Google Shape;2620;p60"/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621" name="Google Shape;2621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22" name="Google Shape;2622;p60"/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3" name="Google Shape;2623;p60"/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624" name="Google Shape;262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5" name="Google Shape;2625;p60"/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626" name="Google Shape;2626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27" name="Google Shape;2627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28" name="Google Shape;2628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29" name="Google Shape;2629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30" name="Google Shape;2630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31" name="Google Shape;2631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32" name="Google Shape;263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33" name="Google Shape;2633;p60"/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4" name="Google Shape;2634;p60"/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5" name="Google Shape;2635;p60"/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6" name="Google Shape;2636;p60"/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7" name="Google Shape;2637;p60"/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8" name="Google Shape;2638;p60"/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639" name="Google Shape;2639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640" name="Google Shape;2640;p60"/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lifesync-raw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1" name="Google Shape;2641;p60"/>
          <p:cNvCxnSpPr>
            <a:stCxn id="2642" idx="2"/>
            <a:endCxn id="2643" idx="0"/>
          </p:cNvCxnSpPr>
          <p:nvPr/>
        </p:nvCxnSpPr>
        <p:spPr>
          <a:xfrm>
            <a:off x="4078425" y="2790540"/>
            <a:ext cx="274800" cy="6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Lambda service icon." id="2643" name="Google Shape;2643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44" name="Google Shape;2644;p60"/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5" name="Google Shape;2645;p60"/>
          <p:cNvCxnSpPr>
            <a:stCxn id="2644" idx="0"/>
            <a:endCxn id="2639" idx="0"/>
          </p:cNvCxnSpPr>
          <p:nvPr/>
        </p:nvCxnSpPr>
        <p:spPr>
          <a:xfrm>
            <a:off x="4377016" y="3846316"/>
            <a:ext cx="123000" cy="781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46" name="Google Shape;2646;p60"/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60"/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60"/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적재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60"/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원천 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(Batch Job)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0" name="Google Shape;2650;p60"/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1" name="Google Shape;2651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53392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2" name="Google Shape;2642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0557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2" name="Google Shape;2652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841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3" name="Google Shape;2653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017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4" name="Google Shape;2654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215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5" name="Google Shape;2655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30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6" name="Google Shape;2656;p6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19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657" name="Google Shape;2657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58" name="Google Shape;2658;p60"/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Kinesis Data Streams service icon." id="2659" name="Google Shape;2659;p6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660" name="Google Shape;2660;p60"/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1" name="Google Shape;2661;p60"/>
          <p:cNvCxnSpPr>
            <a:endCxn id="2662" idx="0"/>
          </p:cNvCxnSpPr>
          <p:nvPr/>
        </p:nvCxnSpPr>
        <p:spPr>
          <a:xfrm>
            <a:off x="2132613" y="4878894"/>
            <a:ext cx="233100" cy="47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62" name="Google Shape;2662;p60"/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3" name="Google Shape;2663;p60"/>
          <p:cNvCxnSpPr>
            <a:endCxn id="2659" idx="1"/>
          </p:cNvCxnSpPr>
          <p:nvPr/>
        </p:nvCxnSpPr>
        <p:spPr>
          <a:xfrm>
            <a:off x="2765893" y="5614479"/>
            <a:ext cx="319800" cy="9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64" name="Google Shape;2664;p60"/>
          <p:cNvCxnSpPr>
            <a:stCxn id="2657" idx="0"/>
          </p:cNvCxnSpPr>
          <p:nvPr/>
        </p:nvCxnSpPr>
        <p:spPr>
          <a:xfrm rot="10800000">
            <a:off x="4500041" y="5076982"/>
            <a:ext cx="260400" cy="544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65" name="Google Shape;2665;p60"/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(초당 수백회)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6" name="Google Shape;2666;p60"/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7" name="Google Shape;2667;p60"/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8" name="Google Shape;2668;p60"/>
          <p:cNvCxnSpPr>
            <a:endCxn id="2657" idx="1"/>
          </p:cNvCxnSpPr>
          <p:nvPr/>
        </p:nvCxnSpPr>
        <p:spPr>
          <a:xfrm>
            <a:off x="3427101" y="5754222"/>
            <a:ext cx="1129500" cy="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69" name="Google Shape;2669;p60"/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0" name="Google Shape;2670;p60"/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시, MySQL 저장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00:20 JSON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2671" name="Google Shape;2671;p6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672" name="Google Shape;2672;p60"/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3" name="Google Shape;2673;p60"/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4" name="Google Shape;2674;p60"/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5" name="Google Shape;2675;p60"/>
          <p:cNvCxnSpPr>
            <a:endCxn id="2643" idx="0"/>
          </p:cNvCxnSpPr>
          <p:nvPr/>
        </p:nvCxnSpPr>
        <p:spPr>
          <a:xfrm>
            <a:off x="3654662" y="2739662"/>
            <a:ext cx="698700" cy="719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76" name="Google Shape;2676;p60"/>
          <p:cNvCxnSpPr>
            <a:endCxn id="2643" idx="0"/>
          </p:cNvCxnSpPr>
          <p:nvPr/>
        </p:nvCxnSpPr>
        <p:spPr>
          <a:xfrm flipH="1">
            <a:off x="4353362" y="2739062"/>
            <a:ext cx="633600" cy="72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77" name="Google Shape;2677;p60"/>
          <p:cNvCxnSpPr>
            <a:endCxn id="2643" idx="0"/>
          </p:cNvCxnSpPr>
          <p:nvPr/>
        </p:nvCxnSpPr>
        <p:spPr>
          <a:xfrm flipH="1">
            <a:off x="4353362" y="2562962"/>
            <a:ext cx="29400" cy="896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78" name="Google Shape;2678;p60"/>
          <p:cNvCxnSpPr>
            <a:endCxn id="2643" idx="0"/>
          </p:cNvCxnSpPr>
          <p:nvPr/>
        </p:nvCxnSpPr>
        <p:spPr>
          <a:xfrm flipH="1">
            <a:off x="4353362" y="2763362"/>
            <a:ext cx="244800" cy="69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79" name="Google Shape;2679;p60"/>
          <p:cNvCxnSpPr>
            <a:stCxn id="2654" idx="1"/>
            <a:endCxn id="2643" idx="0"/>
          </p:cNvCxnSpPr>
          <p:nvPr/>
        </p:nvCxnSpPr>
        <p:spPr>
          <a:xfrm flipH="1">
            <a:off x="4353450" y="2662673"/>
            <a:ext cx="1028700" cy="796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80" name="Google Shape;2680;p60"/>
          <p:cNvCxnSpPr>
            <a:endCxn id="2643" idx="0"/>
          </p:cNvCxnSpPr>
          <p:nvPr/>
        </p:nvCxnSpPr>
        <p:spPr>
          <a:xfrm flipH="1">
            <a:off x="4353362" y="2586962"/>
            <a:ext cx="1964700" cy="87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81" name="Google Shape;2681;p60"/>
          <p:cNvCxnSpPr>
            <a:endCxn id="2643" idx="0"/>
          </p:cNvCxnSpPr>
          <p:nvPr/>
        </p:nvCxnSpPr>
        <p:spPr>
          <a:xfrm flipH="1">
            <a:off x="4353362" y="2580062"/>
            <a:ext cx="1429200" cy="87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82" name="Google Shape;2682;p60"/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3" name="Google Shape;2683;p60"/>
          <p:cNvCxnSpPr/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84" name="Google Shape;2684;p60"/>
          <p:cNvSpPr txBox="1"/>
          <p:nvPr/>
        </p:nvSpPr>
        <p:spPr>
          <a:xfrm>
            <a:off x="7054110" y="1474578"/>
            <a:ext cx="4839649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Event Source Mapping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 Source Mapping 설정이 있어야Kinesis에 데이터가 들어올 때 Lambda가 자동 실행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역할 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Polling + Batch 전달 + Retry + 병렬 처리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5" name="Google Shape;2685;p60"/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60"/>
          <p:cNvSpPr txBox="1"/>
          <p:nvPr/>
        </p:nvSpPr>
        <p:spPr>
          <a:xfrm>
            <a:off x="256257" y="807714"/>
            <a:ext cx="113705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Event Source Mapping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은 Kinesis Stream 데이터를 Lambda가 자동으로 읽도록 연결하는 핵심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87" name="Google Shape;2687;p60"/>
          <p:cNvGraphicFramePr/>
          <p:nvPr/>
        </p:nvGraphicFramePr>
        <p:xfrm>
          <a:off x="7163397" y="26732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365175"/>
                <a:gridCol w="23651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Source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Kinesis Stream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lifesync-wearable-stream-lambda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Starting Position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LATEST(새로 들어온 데이터만 처리)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Batch Size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 (100건씩 Lambda 전달)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Batch Window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 sec (처리 주기)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Parallelization Factor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 (Shared 당 두개의 Lambda)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Retry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Bisect on Error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8" name="Google Shape;2688;p60"/>
          <p:cNvSpPr txBox="1"/>
          <p:nvPr/>
        </p:nvSpPr>
        <p:spPr>
          <a:xfrm>
            <a:off x="7054110" y="5444397"/>
            <a:ext cx="483964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 EC2 Agent -&gt; put_record()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Kinesis -&gt; 100건 or 1초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자동 실행 -&gt; 병렬 처리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저장</a:t>
            </a:r>
            <a:endParaRPr/>
          </a:p>
        </p:txBody>
      </p:sp>
      <p:sp>
        <p:nvSpPr>
          <p:cNvPr id="2689" name="Google Shape;2689;p60"/>
          <p:cNvSpPr txBox="1"/>
          <p:nvPr/>
        </p:nvSpPr>
        <p:spPr>
          <a:xfrm>
            <a:off x="7049007" y="5118036"/>
            <a:ext cx="20199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처리 프로세스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3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6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전송 – Wearable 실시간)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61"/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696" name="Google Shape;269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7" name="Google Shape;2697;p61"/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698" name="Google Shape;269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699" name="Google Shape;2699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00" name="Google Shape;2700;p61"/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701" name="Google Shape;270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02" name="Google Shape;2702;p61"/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3" name="Google Shape;2703;p61"/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704" name="Google Shape;270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61"/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2706" name="Google Shape;2706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707" name="Google Shape;2707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708" name="Google Shape;2708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709" name="Google Shape;2709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710" name="Google Shape;2710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711" name="Google Shape;271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Elastic Compute Cloud (Amazon EC2) service icon." id="2712" name="Google Shape;2712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13" name="Google Shape;2713;p61"/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4" name="Google Shape;2714;p61"/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61"/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61"/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61"/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61"/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719" name="Google Shape;2719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20" name="Google Shape;2720;p61"/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lifesync-raw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1" name="Google Shape;2721;p61"/>
          <p:cNvCxnSpPr>
            <a:stCxn id="2722" idx="2"/>
            <a:endCxn id="2723" idx="0"/>
          </p:cNvCxnSpPr>
          <p:nvPr/>
        </p:nvCxnSpPr>
        <p:spPr>
          <a:xfrm>
            <a:off x="4078425" y="2790540"/>
            <a:ext cx="274800" cy="6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Lambda service icon." id="2723" name="Google Shape;2723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24" name="Google Shape;2724;p61"/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5" name="Google Shape;2725;p61"/>
          <p:cNvCxnSpPr>
            <a:stCxn id="2724" idx="0"/>
            <a:endCxn id="2719" idx="0"/>
          </p:cNvCxnSpPr>
          <p:nvPr/>
        </p:nvCxnSpPr>
        <p:spPr>
          <a:xfrm>
            <a:off x="4377016" y="3846316"/>
            <a:ext cx="123000" cy="781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26" name="Google Shape;2726;p61"/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61"/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61"/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S3에 적재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9" name="Google Shape;2729;p61"/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원천 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(Batch Job)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61"/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1" name="Google Shape;2731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53392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2" name="Google Shape;2722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50557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2" name="Google Shape;2732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4841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3" name="Google Shape;2733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017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4" name="Google Shape;2734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82150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5" name="Google Shape;2735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30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6" name="Google Shape;2736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1961" y="2534805"/>
            <a:ext cx="255735" cy="255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737" name="Google Shape;2737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38" name="Google Shape;2738;p61"/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Kinesis Data Streams service icon." id="2739" name="Google Shape;2739;p6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740" name="Google Shape;2740;p61"/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1" name="Google Shape;2741;p61"/>
          <p:cNvCxnSpPr>
            <a:endCxn id="2742" idx="0"/>
          </p:cNvCxnSpPr>
          <p:nvPr/>
        </p:nvCxnSpPr>
        <p:spPr>
          <a:xfrm>
            <a:off x="2132613" y="4878894"/>
            <a:ext cx="233100" cy="47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42" name="Google Shape;2742;p61"/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3" name="Google Shape;2743;p61"/>
          <p:cNvCxnSpPr>
            <a:endCxn id="2739" idx="1"/>
          </p:cNvCxnSpPr>
          <p:nvPr/>
        </p:nvCxnSpPr>
        <p:spPr>
          <a:xfrm>
            <a:off x="2765893" y="5614479"/>
            <a:ext cx="319800" cy="9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44" name="Google Shape;2744;p61"/>
          <p:cNvCxnSpPr>
            <a:stCxn id="2737" idx="0"/>
          </p:cNvCxnSpPr>
          <p:nvPr/>
        </p:nvCxnSpPr>
        <p:spPr>
          <a:xfrm rot="10800000">
            <a:off x="4500041" y="5076982"/>
            <a:ext cx="260400" cy="544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45" name="Google Shape;2745;p61"/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(초당 수백회)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61"/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61"/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8" name="Google Shape;2748;p61"/>
          <p:cNvCxnSpPr>
            <a:endCxn id="2737" idx="1"/>
          </p:cNvCxnSpPr>
          <p:nvPr/>
        </p:nvCxnSpPr>
        <p:spPr>
          <a:xfrm>
            <a:off x="3427101" y="5754222"/>
            <a:ext cx="1129500" cy="71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49" name="Google Shape;2749;p61"/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61"/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생성 시, MySQL 저장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Daily 00:20 JSON 생성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블루 클라우드 로고 디자인 아이콘 벡터, 구름 아이콘, 표지 그림, 파란색 아이콘 PNG, 일러스트 및 벡터 에 대한 무료 다운로드 -  Pngtree" id="2751" name="Google Shape;2751;p6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752" name="Google Shape;2752;p61"/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61"/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61"/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5" name="Google Shape;2755;p61"/>
          <p:cNvCxnSpPr>
            <a:endCxn id="2723" idx="0"/>
          </p:cNvCxnSpPr>
          <p:nvPr/>
        </p:nvCxnSpPr>
        <p:spPr>
          <a:xfrm>
            <a:off x="3654662" y="2739662"/>
            <a:ext cx="698700" cy="719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6" name="Google Shape;2756;p61"/>
          <p:cNvCxnSpPr>
            <a:endCxn id="2723" idx="0"/>
          </p:cNvCxnSpPr>
          <p:nvPr/>
        </p:nvCxnSpPr>
        <p:spPr>
          <a:xfrm flipH="1">
            <a:off x="4353362" y="2739062"/>
            <a:ext cx="633600" cy="72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7" name="Google Shape;2757;p61"/>
          <p:cNvCxnSpPr>
            <a:endCxn id="2723" idx="0"/>
          </p:cNvCxnSpPr>
          <p:nvPr/>
        </p:nvCxnSpPr>
        <p:spPr>
          <a:xfrm flipH="1">
            <a:off x="4353362" y="2562962"/>
            <a:ext cx="29400" cy="896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8" name="Google Shape;2758;p61"/>
          <p:cNvCxnSpPr>
            <a:endCxn id="2723" idx="0"/>
          </p:cNvCxnSpPr>
          <p:nvPr/>
        </p:nvCxnSpPr>
        <p:spPr>
          <a:xfrm flipH="1">
            <a:off x="4353362" y="2763362"/>
            <a:ext cx="244800" cy="695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9" name="Google Shape;2759;p61"/>
          <p:cNvCxnSpPr>
            <a:stCxn id="2734" idx="1"/>
            <a:endCxn id="2723" idx="0"/>
          </p:cNvCxnSpPr>
          <p:nvPr/>
        </p:nvCxnSpPr>
        <p:spPr>
          <a:xfrm flipH="1">
            <a:off x="4353450" y="2662673"/>
            <a:ext cx="1028700" cy="796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0" name="Google Shape;2760;p61"/>
          <p:cNvCxnSpPr>
            <a:endCxn id="2723" idx="0"/>
          </p:cNvCxnSpPr>
          <p:nvPr/>
        </p:nvCxnSpPr>
        <p:spPr>
          <a:xfrm flipH="1">
            <a:off x="4353362" y="2586962"/>
            <a:ext cx="1964700" cy="87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1" name="Google Shape;2761;p61"/>
          <p:cNvCxnSpPr>
            <a:endCxn id="2723" idx="0"/>
          </p:cNvCxnSpPr>
          <p:nvPr/>
        </p:nvCxnSpPr>
        <p:spPr>
          <a:xfrm flipH="1">
            <a:off x="4353362" y="2580062"/>
            <a:ext cx="1429200" cy="87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62" name="Google Shape;2762;p61"/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3" name="Google Shape;2763;p61"/>
          <p:cNvCxnSpPr/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64" name="Google Shape;2764;p61"/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lifesync-wearable-stream-lambda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웨어러블 실시간 스트림 처리 Lambda</a:t>
            </a:r>
            <a:endParaRPr/>
          </a:p>
        </p:txBody>
      </p:sp>
      <p:sp>
        <p:nvSpPr>
          <p:cNvPr id="2765" name="Google Shape;2765;p61"/>
          <p:cNvSpPr txBox="1"/>
          <p:nvPr/>
        </p:nvSpPr>
        <p:spPr>
          <a:xfrm>
            <a:off x="7104515" y="2015002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(Kinesis Data Stream)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61"/>
          <p:cNvSpPr txBox="1"/>
          <p:nvPr/>
        </p:nvSpPr>
        <p:spPr>
          <a:xfrm>
            <a:off x="7137724" y="2357985"/>
            <a:ext cx="3712804" cy="101566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"ls_user_id":"LS0001",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"heart_rate":132,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"steps":500,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"stress_score":81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2767" name="Google Shape;2767;p61"/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61"/>
          <p:cNvSpPr txBox="1"/>
          <p:nvPr/>
        </p:nvSpPr>
        <p:spPr>
          <a:xfrm>
            <a:off x="7051349" y="3925951"/>
            <a:ext cx="3799179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[1] Kinesis Trigger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 base64 decode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[3] JSON parse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[4] 이상치 판단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[5] Raw 저장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[6] 위험 알림 여부 판단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[7] Feature Store 반영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9" name="Google Shape;2769;p61"/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0" name="Google Shape;2770;p61"/>
          <p:cNvSpPr txBox="1"/>
          <p:nvPr/>
        </p:nvSpPr>
        <p:spPr>
          <a:xfrm>
            <a:off x="7137724" y="5875178"/>
            <a:ext cx="3712804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s3://lifesync-raw/wearable/dt=2025-09-01/hr=10/</a:t>
            </a:r>
            <a:endParaRPr/>
          </a:p>
        </p:txBody>
      </p:sp>
      <p:sp>
        <p:nvSpPr>
          <p:cNvPr id="2771" name="Google Shape;2771;p61"/>
          <p:cNvSpPr txBox="1"/>
          <p:nvPr/>
        </p:nvSpPr>
        <p:spPr>
          <a:xfrm>
            <a:off x="145947" y="5802087"/>
            <a:ext cx="1831752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 EC2 Agent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Kinesis Public Endpoint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Kinesis Data Stream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Lambda Trigger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S3 Raw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5" name="Shape 2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" name="Google Shape;2776;p6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정형화)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77" name="Google Shape;2777;p62"/>
          <p:cNvGraphicFramePr/>
          <p:nvPr/>
        </p:nvGraphicFramePr>
        <p:xfrm>
          <a:off x="6271663" y="15122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51075"/>
                <a:gridCol w="14510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Zone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목적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Raw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원본 보관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Processed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정제/표준화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Curated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통합 분석/AI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8" name="Google Shape;2778;p62"/>
          <p:cNvSpPr txBox="1"/>
          <p:nvPr/>
        </p:nvSpPr>
        <p:spPr>
          <a:xfrm>
            <a:off x="6148327" y="2619571"/>
            <a:ext cx="445026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Processed = 정제된 원천 데이터(서비스별 개별 테이블)</a:t>
            </a:r>
            <a:endParaRPr/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Curated = 고객 중심으로 통합된 분석/AI 최종 데이터셋(Customer360)</a:t>
            </a:r>
            <a:endParaRPr/>
          </a:p>
        </p:txBody>
      </p:sp>
      <p:sp>
        <p:nvSpPr>
          <p:cNvPr id="2779" name="Google Shape;2779;p62"/>
          <p:cNvSpPr txBox="1"/>
          <p:nvPr/>
        </p:nvSpPr>
        <p:spPr>
          <a:xfrm>
            <a:off x="499483" y="4329580"/>
            <a:ext cx="3021945" cy="209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은행/카드/보험/증권/병원/헬스케어/웨어러블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Raw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 ETL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Processed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 / Glue SQL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Customer360 Curated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/ 추천 / Dashboard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62"/>
          <p:cNvSpPr txBox="1"/>
          <p:nvPr/>
        </p:nvSpPr>
        <p:spPr>
          <a:xfrm>
            <a:off x="6311652" y="3844880"/>
            <a:ext cx="3394385" cy="86177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 raw/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s3://lifesync-processed/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s3://lifesync-curated/</a:t>
            </a:r>
            <a:endParaRPr/>
          </a:p>
        </p:txBody>
      </p:sp>
      <p:sp>
        <p:nvSpPr>
          <p:cNvPr id="2781" name="Google Shape;2781;p62"/>
          <p:cNvSpPr txBox="1"/>
          <p:nvPr/>
        </p:nvSpPr>
        <p:spPr>
          <a:xfrm>
            <a:off x="6271663" y="3509799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폴더 구조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2" name="Google Shape;2782;p62"/>
          <p:cNvSpPr txBox="1"/>
          <p:nvPr/>
        </p:nvSpPr>
        <p:spPr>
          <a:xfrm>
            <a:off x="343762" y="684332"/>
            <a:ext cx="86986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적재 이후 핵심 운영은.  Glue ETL → 정제 → 통합 → Customer360 생성</a:t>
            </a:r>
            <a:endParaRPr/>
          </a:p>
        </p:txBody>
      </p:sp>
      <p:sp>
        <p:nvSpPr>
          <p:cNvPr id="2783" name="Google Shape;2783;p62"/>
          <p:cNvSpPr txBox="1"/>
          <p:nvPr/>
        </p:nvSpPr>
        <p:spPr>
          <a:xfrm>
            <a:off x="6271663" y="5150538"/>
            <a:ext cx="3224807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Layer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원본 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Processed Layer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정제 / 동의반영 / 표준화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Curated Layer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서비스 즉시 사용 가능한 고객 통합 데이터셋</a:t>
            </a:r>
            <a:endParaRPr/>
          </a:p>
        </p:txBody>
      </p:sp>
      <p:sp>
        <p:nvSpPr>
          <p:cNvPr id="2784" name="Google Shape;2784;p62"/>
          <p:cNvSpPr txBox="1"/>
          <p:nvPr/>
        </p:nvSpPr>
        <p:spPr>
          <a:xfrm>
            <a:off x="499483" y="38135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정형화 프로세스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5" name="Google Shape;2785;p62"/>
          <p:cNvGraphicFramePr/>
          <p:nvPr/>
        </p:nvGraphicFramePr>
        <p:xfrm>
          <a:off x="9556682" y="7676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656100"/>
                <a:gridCol w="18287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Glue ETL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01:30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 Snapshot export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02:00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EMR Customer360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6" name="Google Shape;2786;p62"/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787" name="Google Shape;278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8" name="Google Shape;2788;p62"/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789" name="Google Shape;2789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Simple Storage Service (Amazon S3) service icon." id="2790" name="Google Shape;2790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91" name="Google Shape;2791;p62"/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(Storage- Raw)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2" name="Google Shape;2792;p62"/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793" name="Google Shape;279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2794" name="Google Shape;2794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795" name="Google Shape;2795;p62"/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2796" name="Google Shape;2796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797" name="Google Shape;2797;p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98" name="Google Shape;2798;p62"/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9" name="Google Shape;2799;p62"/>
          <p:cNvCxnSpPr>
            <a:stCxn id="2800" idx="2"/>
            <a:endCxn id="2801" idx="1"/>
          </p:cNvCxnSpPr>
          <p:nvPr/>
        </p:nvCxnSpPr>
        <p:spPr>
          <a:xfrm>
            <a:off x="620556" y="1616494"/>
            <a:ext cx="716100" cy="138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802" name="Google Shape;2802;p62"/>
          <p:cNvCxnSpPr>
            <a:stCxn id="2797" idx="0"/>
            <a:endCxn id="2790" idx="2"/>
          </p:cNvCxnSpPr>
          <p:nvPr/>
        </p:nvCxnSpPr>
        <p:spPr>
          <a:xfrm flipH="1" rot="10800000">
            <a:off x="2423764" y="1799928"/>
            <a:ext cx="4146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803" name="Google Shape;2803;p62"/>
          <p:cNvCxnSpPr>
            <a:endCxn id="2794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pic>
        <p:nvPicPr>
          <p:cNvPr descr="Amazon Kinesis Data Streams service icon." id="2804" name="Google Shape;2804;p6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805" name="Google Shape;2805;p62"/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806" name="Google Shape;2806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807" name="Google Shape;2807;p62"/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8" name="Google Shape;2808;p62"/>
          <p:cNvCxnSpPr>
            <a:stCxn id="2806" idx="3"/>
            <a:endCxn id="2796" idx="0"/>
          </p:cNvCxnSpPr>
          <p:nvPr/>
        </p:nvCxnSpPr>
        <p:spPr>
          <a:xfrm>
            <a:off x="3801357" y="1584740"/>
            <a:ext cx="1109400" cy="11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2809" name="Google Shape;2809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0" name="Google Shape;2810;p62"/>
          <p:cNvCxnSpPr>
            <a:stCxn id="2809" idx="2"/>
            <a:endCxn id="2796" idx="0"/>
          </p:cNvCxnSpPr>
          <p:nvPr/>
        </p:nvCxnSpPr>
        <p:spPr>
          <a:xfrm>
            <a:off x="4642304" y="1776477"/>
            <a:ext cx="268500" cy="9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811" name="Google Shape;2811;p62"/>
          <p:cNvCxnSpPr>
            <a:endCxn id="2794" idx="0"/>
          </p:cNvCxnSpPr>
          <p:nvPr/>
        </p:nvCxnSpPr>
        <p:spPr>
          <a:xfrm>
            <a:off x="3041401" y="1787602"/>
            <a:ext cx="1059600" cy="9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812" name="Google Shape;2812;p62"/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3" name="Google Shape;2813;p62"/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62"/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5" name="Google Shape;2815;p62"/>
          <p:cNvCxnSpPr>
            <a:stCxn id="2804" idx="2"/>
            <a:endCxn id="2797" idx="2"/>
          </p:cNvCxnSpPr>
          <p:nvPr/>
        </p:nvCxnSpPr>
        <p:spPr>
          <a:xfrm flipH="1" rot="-5400000">
            <a:off x="1403836" y="2183699"/>
            <a:ext cx="199500" cy="1840500"/>
          </a:xfrm>
          <a:prstGeom prst="bentConnector3">
            <a:avLst>
              <a:gd fmla="val 21454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WS Lambda service icon." id="2801" name="Google Shape;2801;p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16" name="Google Shape;2816;p62"/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800" name="Google Shape;2800;p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817" name="Google Shape;2817;p62"/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8" name="Google Shape;2818;p62"/>
          <p:cNvCxnSpPr>
            <a:endCxn id="2801" idx="0"/>
          </p:cNvCxnSpPr>
          <p:nvPr/>
        </p:nvCxnSpPr>
        <p:spPr>
          <a:xfrm flipH="1">
            <a:off x="1540576" y="1700028"/>
            <a:ext cx="1136100" cy="109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819" name="Google Shape;2819;p62"/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2820" name="Google Shape;2820;p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21" name="Google Shape;2821;p62"/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2" name="Google Shape;2822;p62"/>
          <p:cNvCxnSpPr>
            <a:stCxn id="2820" idx="0"/>
            <a:endCxn id="2790" idx="2"/>
          </p:cNvCxnSpPr>
          <p:nvPr/>
        </p:nvCxnSpPr>
        <p:spPr>
          <a:xfrm rot="10800000">
            <a:off x="2838402" y="1799928"/>
            <a:ext cx="5118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Elastic Compute Cloud (Amazon EC2) service icon." id="2823" name="Google Shape;2823;p6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4" name="Google Shape;2824;p62"/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5" name="Google Shape;2825;p62"/>
          <p:cNvCxnSpPr>
            <a:stCxn id="2823" idx="1"/>
            <a:endCxn id="2820" idx="2"/>
          </p:cNvCxnSpPr>
          <p:nvPr/>
        </p:nvCxnSpPr>
        <p:spPr>
          <a:xfrm rot="10800000">
            <a:off x="3350113" y="3203523"/>
            <a:ext cx="552000" cy="37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9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6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정형화 - Raw)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1" name="Google Shape;2831;p63"/>
          <p:cNvSpPr txBox="1"/>
          <p:nvPr/>
        </p:nvSpPr>
        <p:spPr>
          <a:xfrm>
            <a:off x="460697" y="3820622"/>
            <a:ext cx="3021945" cy="430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 구조 : Genearator, Render 결과물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원본 JSON 그대로 recodrs 배열 포함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2" name="Google Shape;2832;p63"/>
          <p:cNvSpPr/>
          <p:nvPr/>
        </p:nvSpPr>
        <p:spPr>
          <a:xfrm>
            <a:off x="206663" y="385277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3" name="Google Shape;2833;p63"/>
          <p:cNvSpPr txBox="1"/>
          <p:nvPr/>
        </p:nvSpPr>
        <p:spPr>
          <a:xfrm>
            <a:off x="500684" y="4325099"/>
            <a:ext cx="4022315" cy="101566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s3://lifesync-raw/bank/dt=2026-04-24/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s3://lifesync-raw/card/dt=2026-04-24/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s3://lifesync-raw/wearable/dt=2026-04-24/hr=07/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wearable/dt=2025-09-01/hour=10/part-001.json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wearable/dt=2025-09-01/hour=11/part-002.json</a:t>
            </a:r>
            <a:endParaRPr/>
          </a:p>
        </p:txBody>
      </p:sp>
      <p:sp>
        <p:nvSpPr>
          <p:cNvPr id="2834" name="Google Shape;2834;p63"/>
          <p:cNvSpPr txBox="1"/>
          <p:nvPr/>
        </p:nvSpPr>
        <p:spPr>
          <a:xfrm>
            <a:off x="6938590" y="2447898"/>
            <a:ext cx="4022315" cy="707886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s3://lifesync-raw/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bank/dt=2025-09-01/bank_20250901.json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card/dt=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consent</a:t>
            </a:r>
            <a:endParaRPr/>
          </a:p>
        </p:txBody>
      </p:sp>
      <p:sp>
        <p:nvSpPr>
          <p:cNvPr id="2835" name="Google Shape;2835;p63"/>
          <p:cNvSpPr txBox="1"/>
          <p:nvPr/>
        </p:nvSpPr>
        <p:spPr>
          <a:xfrm>
            <a:off x="6898603" y="220729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폴더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36" name="Google Shape;2836;p63"/>
          <p:cNvGraphicFramePr/>
          <p:nvPr/>
        </p:nvGraphicFramePr>
        <p:xfrm>
          <a:off x="9556682" y="7676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656100"/>
                <a:gridCol w="18287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Glue ETL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01:30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 Snapshot export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02:00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EMR Customer360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7" name="Google Shape;2837;p63"/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838" name="Google Shape;283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9" name="Google Shape;2839;p63"/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840" name="Google Shape;2840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Simple Storage Service (Amazon S3) service icon." id="2841" name="Google Shape;2841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842" name="Google Shape;2842;p63"/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(Storage- Raw)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63"/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844" name="Google Shape;284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2845" name="Google Shape;2845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46" name="Google Shape;2846;p63"/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2847" name="Google Shape;2847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848" name="Google Shape;2848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9" name="Google Shape;2849;p63"/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0" name="Google Shape;2850;p63"/>
          <p:cNvCxnSpPr>
            <a:stCxn id="2851" idx="2"/>
            <a:endCxn id="2852" idx="1"/>
          </p:cNvCxnSpPr>
          <p:nvPr/>
        </p:nvCxnSpPr>
        <p:spPr>
          <a:xfrm>
            <a:off x="620556" y="1616494"/>
            <a:ext cx="716100" cy="138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853" name="Google Shape;2853;p63"/>
          <p:cNvCxnSpPr>
            <a:stCxn id="2848" idx="0"/>
            <a:endCxn id="2841" idx="2"/>
          </p:cNvCxnSpPr>
          <p:nvPr/>
        </p:nvCxnSpPr>
        <p:spPr>
          <a:xfrm flipH="1" rot="10800000">
            <a:off x="2423764" y="1799928"/>
            <a:ext cx="4146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854" name="Google Shape;2854;p63"/>
          <p:cNvCxnSpPr>
            <a:endCxn id="2845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pic>
        <p:nvPicPr>
          <p:cNvPr descr="Amazon Kinesis Data Streams service icon." id="2855" name="Google Shape;2855;p6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856" name="Google Shape;2856;p63"/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857" name="Google Shape;2857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858" name="Google Shape;2858;p63"/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9" name="Google Shape;2859;p63"/>
          <p:cNvCxnSpPr>
            <a:stCxn id="2857" idx="3"/>
            <a:endCxn id="2847" idx="0"/>
          </p:cNvCxnSpPr>
          <p:nvPr/>
        </p:nvCxnSpPr>
        <p:spPr>
          <a:xfrm>
            <a:off x="3801357" y="1584740"/>
            <a:ext cx="1109400" cy="11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2860" name="Google Shape;286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1" name="Google Shape;2861;p63"/>
          <p:cNvCxnSpPr>
            <a:stCxn id="2860" idx="2"/>
            <a:endCxn id="2847" idx="0"/>
          </p:cNvCxnSpPr>
          <p:nvPr/>
        </p:nvCxnSpPr>
        <p:spPr>
          <a:xfrm>
            <a:off x="4642304" y="1776477"/>
            <a:ext cx="268500" cy="9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862" name="Google Shape;2862;p63"/>
          <p:cNvCxnSpPr>
            <a:endCxn id="2845" idx="0"/>
          </p:cNvCxnSpPr>
          <p:nvPr/>
        </p:nvCxnSpPr>
        <p:spPr>
          <a:xfrm>
            <a:off x="3041401" y="1787602"/>
            <a:ext cx="1059600" cy="9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863" name="Google Shape;2863;p63"/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63"/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63"/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6" name="Google Shape;2866;p63"/>
          <p:cNvCxnSpPr>
            <a:stCxn id="2855" idx="2"/>
            <a:endCxn id="2848" idx="2"/>
          </p:cNvCxnSpPr>
          <p:nvPr/>
        </p:nvCxnSpPr>
        <p:spPr>
          <a:xfrm flipH="1" rot="-5400000">
            <a:off x="1403836" y="2183699"/>
            <a:ext cx="199500" cy="1840500"/>
          </a:xfrm>
          <a:prstGeom prst="bentConnector3">
            <a:avLst>
              <a:gd fmla="val 21454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WS Lambda service icon." id="2852" name="Google Shape;2852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7" name="Google Shape;2867;p63"/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851" name="Google Shape;2851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868" name="Google Shape;2868;p63"/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9" name="Google Shape;2869;p63"/>
          <p:cNvCxnSpPr>
            <a:endCxn id="2852" idx="0"/>
          </p:cNvCxnSpPr>
          <p:nvPr/>
        </p:nvCxnSpPr>
        <p:spPr>
          <a:xfrm flipH="1">
            <a:off x="1540576" y="1700028"/>
            <a:ext cx="1136100" cy="109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870" name="Google Shape;2870;p63"/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2871" name="Google Shape;2871;p6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63"/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3" name="Google Shape;2873;p63"/>
          <p:cNvCxnSpPr>
            <a:stCxn id="2871" idx="0"/>
            <a:endCxn id="2841" idx="2"/>
          </p:cNvCxnSpPr>
          <p:nvPr/>
        </p:nvCxnSpPr>
        <p:spPr>
          <a:xfrm rot="10800000">
            <a:off x="2838402" y="1799928"/>
            <a:ext cx="5118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Elastic Compute Cloud (Amazon EC2) service icon." id="2874" name="Google Shape;2874;p6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875" name="Google Shape;2875;p63"/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6" name="Google Shape;2876;p63"/>
          <p:cNvCxnSpPr>
            <a:stCxn id="2874" idx="1"/>
            <a:endCxn id="2871" idx="2"/>
          </p:cNvCxnSpPr>
          <p:nvPr/>
        </p:nvCxnSpPr>
        <p:spPr>
          <a:xfrm rot="10800000">
            <a:off x="3350113" y="3203523"/>
            <a:ext cx="552000" cy="37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0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p6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정형화 – Processed)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64"/>
          <p:cNvSpPr txBox="1"/>
          <p:nvPr/>
        </p:nvSpPr>
        <p:spPr>
          <a:xfrm>
            <a:off x="637239" y="3575342"/>
            <a:ext cx="1476570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Processed 처리 절차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64"/>
          <p:cNvSpPr/>
          <p:nvPr/>
        </p:nvSpPr>
        <p:spPr>
          <a:xfrm>
            <a:off x="394524" y="354594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64"/>
          <p:cNvSpPr txBox="1"/>
          <p:nvPr/>
        </p:nvSpPr>
        <p:spPr>
          <a:xfrm>
            <a:off x="668724" y="6104281"/>
            <a:ext cx="4022315" cy="55399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s3://lifesync-processed/bank/dt=2025-09-01/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s3://lifesync-processed/card/dt=2025-09-01/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s3://lifesync-processed/hospital/dt=2025-09-01/</a:t>
            </a:r>
            <a:endParaRPr/>
          </a:p>
        </p:txBody>
      </p:sp>
      <p:sp>
        <p:nvSpPr>
          <p:cNvPr id="2885" name="Google Shape;2885;p64"/>
          <p:cNvSpPr txBox="1"/>
          <p:nvPr/>
        </p:nvSpPr>
        <p:spPr>
          <a:xfrm>
            <a:off x="6164182" y="1897608"/>
            <a:ext cx="4022315" cy="147732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s3://lifesync-processed/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bank/dt=2025-09-01/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card/dt=2025-09-01/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insurance/dt=2025-09-01/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online-insurance/dt=2025-09-01/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securities/dt=2025-09-01/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healthcare/dt=2025-09-01/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hospital/dt=2025-09-01/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└ wearable/dt=2025-09-01/</a:t>
            </a:r>
            <a:endParaRPr/>
          </a:p>
        </p:txBody>
      </p:sp>
      <p:sp>
        <p:nvSpPr>
          <p:cNvPr id="2886" name="Google Shape;2886;p64"/>
          <p:cNvSpPr txBox="1"/>
          <p:nvPr/>
        </p:nvSpPr>
        <p:spPr>
          <a:xfrm>
            <a:off x="6124195" y="165700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폴더 구조 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p64"/>
          <p:cNvSpPr txBox="1"/>
          <p:nvPr/>
        </p:nvSpPr>
        <p:spPr>
          <a:xfrm>
            <a:off x="602321" y="5694684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Processed 데이터는 서비스별 정제된 거래 데이터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64"/>
          <p:cNvSpPr txBox="1"/>
          <p:nvPr/>
        </p:nvSpPr>
        <p:spPr>
          <a:xfrm>
            <a:off x="617928" y="4304946"/>
            <a:ext cx="177124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JSON Read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Consent Snapshot read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동의 고객만 선별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Schema 정규화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PII 제거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Consent 고객 필터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중복 제거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Parquet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9" name="Google Shape;2889;p64"/>
          <p:cNvSpPr txBox="1"/>
          <p:nvPr/>
        </p:nvSpPr>
        <p:spPr>
          <a:xfrm>
            <a:off x="637238" y="3822763"/>
            <a:ext cx="32422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Raw 데이터를 AWS Glue가 읽어서 정제된 분석용 Parquet 파일로 S3 Processed Zone에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64"/>
          <p:cNvSpPr txBox="1"/>
          <p:nvPr/>
        </p:nvSpPr>
        <p:spPr>
          <a:xfrm>
            <a:off x="6164182" y="360074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Glue 프로세스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1" name="Google Shape;2891;p64"/>
          <p:cNvGraphicFramePr/>
          <p:nvPr/>
        </p:nvGraphicFramePr>
        <p:xfrm>
          <a:off x="9556682" y="7676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656100"/>
                <a:gridCol w="18287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Glue ETL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01:30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 Snapshot export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02:00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EMR Customer360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92" name="Google Shape;2892;p64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Raw JSON 데이터를 분석 가능한 Processed Parquet 데이터셋으로 변환 담당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3" name="Google Shape;2893;p64"/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894" name="Google Shape;289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5" name="Google Shape;2895;p64"/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896" name="Google Shape;2896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Simple Storage Service (Amazon S3) service icon." id="2897" name="Google Shape;2897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898" name="Google Shape;2898;p64"/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(Storage- Raw)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64"/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900" name="Google Shape;2900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2901" name="Google Shape;2901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02" name="Google Shape;2902;p64"/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2903" name="Google Shape;2903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904" name="Google Shape;2904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05" name="Google Shape;2905;p64"/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6" name="Google Shape;2906;p64"/>
          <p:cNvCxnSpPr>
            <a:stCxn id="2907" idx="2"/>
            <a:endCxn id="2908" idx="1"/>
          </p:cNvCxnSpPr>
          <p:nvPr/>
        </p:nvCxnSpPr>
        <p:spPr>
          <a:xfrm>
            <a:off x="620556" y="1616494"/>
            <a:ext cx="716100" cy="138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909" name="Google Shape;2909;p64"/>
          <p:cNvCxnSpPr>
            <a:stCxn id="2904" idx="0"/>
            <a:endCxn id="2897" idx="2"/>
          </p:cNvCxnSpPr>
          <p:nvPr/>
        </p:nvCxnSpPr>
        <p:spPr>
          <a:xfrm flipH="1" rot="10800000">
            <a:off x="2423764" y="1799928"/>
            <a:ext cx="4146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910" name="Google Shape;2910;p64"/>
          <p:cNvCxnSpPr>
            <a:endCxn id="2901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pic>
        <p:nvPicPr>
          <p:cNvPr descr="Amazon Kinesis Data Streams service icon." id="2911" name="Google Shape;2911;p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912" name="Google Shape;2912;p64"/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913" name="Google Shape;2913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914" name="Google Shape;2914;p64"/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5" name="Google Shape;2915;p64"/>
          <p:cNvCxnSpPr>
            <a:stCxn id="2913" idx="3"/>
            <a:endCxn id="2903" idx="0"/>
          </p:cNvCxnSpPr>
          <p:nvPr/>
        </p:nvCxnSpPr>
        <p:spPr>
          <a:xfrm>
            <a:off x="3801357" y="1584740"/>
            <a:ext cx="1109400" cy="11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2916" name="Google Shape;2916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17" name="Google Shape;2917;p64"/>
          <p:cNvCxnSpPr>
            <a:stCxn id="2916" idx="2"/>
            <a:endCxn id="2903" idx="0"/>
          </p:cNvCxnSpPr>
          <p:nvPr/>
        </p:nvCxnSpPr>
        <p:spPr>
          <a:xfrm>
            <a:off x="4642304" y="1776477"/>
            <a:ext cx="268500" cy="9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918" name="Google Shape;2918;p64"/>
          <p:cNvCxnSpPr>
            <a:endCxn id="2901" idx="0"/>
          </p:cNvCxnSpPr>
          <p:nvPr/>
        </p:nvCxnSpPr>
        <p:spPr>
          <a:xfrm>
            <a:off x="3041401" y="1787602"/>
            <a:ext cx="1059600" cy="9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919" name="Google Shape;2919;p64"/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0" name="Google Shape;2920;p64"/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1" name="Google Shape;2921;p64"/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2" name="Google Shape;2922;p64"/>
          <p:cNvCxnSpPr>
            <a:stCxn id="2911" idx="2"/>
            <a:endCxn id="2904" idx="2"/>
          </p:cNvCxnSpPr>
          <p:nvPr/>
        </p:nvCxnSpPr>
        <p:spPr>
          <a:xfrm flipH="1" rot="-5400000">
            <a:off x="1403836" y="2183699"/>
            <a:ext cx="199500" cy="1840500"/>
          </a:xfrm>
          <a:prstGeom prst="bentConnector3">
            <a:avLst>
              <a:gd fmla="val 21454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WS Lambda service icon." id="2908" name="Google Shape;2908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23" name="Google Shape;2923;p64"/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907" name="Google Shape;2907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24" name="Google Shape;2924;p64"/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5" name="Google Shape;2925;p64"/>
          <p:cNvCxnSpPr>
            <a:endCxn id="2908" idx="0"/>
          </p:cNvCxnSpPr>
          <p:nvPr/>
        </p:nvCxnSpPr>
        <p:spPr>
          <a:xfrm flipH="1">
            <a:off x="1540576" y="1700028"/>
            <a:ext cx="1136100" cy="109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926" name="Google Shape;2926;p64"/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7" name="Google Shape;2927;p64"/>
          <p:cNvSpPr txBox="1"/>
          <p:nvPr/>
        </p:nvSpPr>
        <p:spPr>
          <a:xfrm>
            <a:off x="3958199" y="3866226"/>
            <a:ext cx="205705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새벽 1회 Lambda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consent table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raw  -&gt; Parquet 저장</a:t>
            </a:r>
            <a:endParaRPr/>
          </a:p>
        </p:txBody>
      </p:sp>
      <p:pic>
        <p:nvPicPr>
          <p:cNvPr descr="AWS Lambda service icon." id="2928" name="Google Shape;2928;p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29" name="Google Shape;2929;p64"/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0" name="Google Shape;2930;p64"/>
          <p:cNvCxnSpPr>
            <a:stCxn id="2928" idx="0"/>
            <a:endCxn id="2897" idx="2"/>
          </p:cNvCxnSpPr>
          <p:nvPr/>
        </p:nvCxnSpPr>
        <p:spPr>
          <a:xfrm rot="10800000">
            <a:off x="2838402" y="1799928"/>
            <a:ext cx="5118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Elastic Compute Cloud (Amazon EC2) service icon." id="2931" name="Google Shape;2931;p6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32" name="Google Shape;2932;p64"/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3" name="Google Shape;2933;p64"/>
          <p:cNvCxnSpPr>
            <a:stCxn id="2931" idx="1"/>
            <a:endCxn id="2928" idx="2"/>
          </p:cNvCxnSpPr>
          <p:nvPr/>
        </p:nvCxnSpPr>
        <p:spPr>
          <a:xfrm rot="10800000">
            <a:off x="3350113" y="3203523"/>
            <a:ext cx="552000" cy="37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934" name="Google Shape;2934;p64"/>
          <p:cNvSpPr txBox="1"/>
          <p:nvPr/>
        </p:nvSpPr>
        <p:spPr>
          <a:xfrm>
            <a:off x="6138936" y="3937026"/>
            <a:ext cx="2518176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Raw JSON Read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Consent Snapshot Read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Join by global_id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consent_yn='Y'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Schema 정규화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PII 제거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중복 제거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Parquet 저장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6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정형화 - Curated)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0" name="Google Shape;2940;p65"/>
          <p:cNvSpPr txBox="1"/>
          <p:nvPr/>
        </p:nvSpPr>
        <p:spPr>
          <a:xfrm>
            <a:off x="666826" y="3850964"/>
            <a:ext cx="4699887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EMR은 Processed 데이터를 비즈니스 가치가 있는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고객 데이터셋(Customer360, 추천, VIP 등)으로 만드는 엔진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1" name="Google Shape;2941;p65"/>
          <p:cNvSpPr/>
          <p:nvPr/>
        </p:nvSpPr>
        <p:spPr>
          <a:xfrm>
            <a:off x="329720" y="38979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2" name="Google Shape;2942;p65"/>
          <p:cNvSpPr txBox="1"/>
          <p:nvPr/>
        </p:nvSpPr>
        <p:spPr>
          <a:xfrm>
            <a:off x="5689135" y="5484975"/>
            <a:ext cx="2995890" cy="116955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s3://lifesync-curated/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customer_360_profile/dt=2026-04-24/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ai_feature_table/dt=2026-04-24/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vip_candidate_mart/dt=2026-04-24/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health_mart/dt=2026-04-24/</a:t>
            </a:r>
            <a:endParaRPr/>
          </a:p>
        </p:txBody>
      </p:sp>
      <p:sp>
        <p:nvSpPr>
          <p:cNvPr id="2943" name="Google Shape;2943;p65"/>
          <p:cNvSpPr txBox="1"/>
          <p:nvPr/>
        </p:nvSpPr>
        <p:spPr>
          <a:xfrm>
            <a:off x="5663079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폴더 구조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4" name="Google Shape;2944;p65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Curated 데이터는 고객 중심으로 통합된 Customer360 최종 데이터셋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5" name="Google Shape;2945;p65"/>
          <p:cNvSpPr txBox="1"/>
          <p:nvPr/>
        </p:nvSpPr>
        <p:spPr>
          <a:xfrm>
            <a:off x="6037810" y="125603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생성 데이터 셋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46" name="Google Shape;2946;p65"/>
          <p:cNvGraphicFramePr/>
          <p:nvPr/>
        </p:nvGraphicFramePr>
        <p:xfrm>
          <a:off x="6100716" y="1581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454725"/>
                <a:gridCol w="24547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데이터셋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용도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Customer360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통합 고객 프로필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Score 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점수 전용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AI Feature Table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ML 학습 / 추론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/ 우수고객 영업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 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서비스 / 보험 연계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47" name="Google Shape;2947;p65"/>
          <p:cNvSpPr txBox="1"/>
          <p:nvPr/>
        </p:nvSpPr>
        <p:spPr>
          <a:xfrm>
            <a:off x="5626228" y="366374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데이터셋별 운영 방식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8" name="Google Shape;2948;p65"/>
          <p:cNvSpPr txBox="1"/>
          <p:nvPr/>
        </p:nvSpPr>
        <p:spPr>
          <a:xfrm>
            <a:off x="666826" y="4890338"/>
            <a:ext cx="3021945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Processed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EMR Serverless Application (Auto Start)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EMR Job Run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Job1 Customer360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Job2 Score Mart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Job3 AI Feature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Job4 VIP Mart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Job5 Recommendation Mart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Job6 Health Mart 생성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 startAt="4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Curated 각 영역 저장 / Auto Stop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9" name="Google Shape;2949;p65"/>
          <p:cNvSpPr txBox="1"/>
          <p:nvPr/>
        </p:nvSpPr>
        <p:spPr>
          <a:xfrm>
            <a:off x="647155" y="456867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정형화 프로세스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0" name="Google Shape;2950;p65"/>
          <p:cNvSpPr txBox="1"/>
          <p:nvPr/>
        </p:nvSpPr>
        <p:spPr>
          <a:xfrm>
            <a:off x="5663079" y="4044120"/>
            <a:ext cx="389360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Customer360 : Base Maser Dataset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 Mart : Customer 360 완료 후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Feature Table : Customer360, Score Mart 완료 후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Mart : Customer360 + Score 기반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Mart : Customer360 + 행동로그 + Rule/AI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eriod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: 헬스케어 + 병원 + 웨어러블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65"/>
          <p:cNvSpPr txBox="1"/>
          <p:nvPr/>
        </p:nvSpPr>
        <p:spPr>
          <a:xfrm>
            <a:off x="9853048" y="4035022"/>
            <a:ext cx="22901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Step1 Customer360 Base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Step2 Score Mart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Step3 AI Feature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Step4 VIP Mart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Step5 Recommendation Mart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Step6 Health Mart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65"/>
          <p:cNvSpPr txBox="1"/>
          <p:nvPr/>
        </p:nvSpPr>
        <p:spPr>
          <a:xfrm>
            <a:off x="9853048" y="3663745"/>
            <a:ext cx="21885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Workflow 순서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3" name="Google Shape;2953;p65"/>
          <p:cNvSpPr txBox="1"/>
          <p:nvPr/>
        </p:nvSpPr>
        <p:spPr>
          <a:xfrm>
            <a:off x="9019621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형태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4" name="Google Shape;2954;p65"/>
          <p:cNvSpPr txBox="1"/>
          <p:nvPr/>
        </p:nvSpPr>
        <p:spPr>
          <a:xfrm>
            <a:off x="9022330" y="5538702"/>
            <a:ext cx="299589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Parquet + Partition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5" name="Google Shape;2955;p65"/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2956" name="Google Shape;295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7" name="Google Shape;2957;p65"/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958" name="Google Shape;295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Simple Storage Service (Amazon S3) service icon." id="2959" name="Google Shape;2959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960" name="Google Shape;2960;p65"/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(Storage- Raw)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1" name="Google Shape;2961;p65"/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2962" name="Google Shape;296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2963" name="Google Shape;2963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64" name="Google Shape;2964;p65"/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2965" name="Google Shape;2965;p6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2966" name="Google Shape;2966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67" name="Google Shape;2967;p65"/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8" name="Google Shape;2968;p65"/>
          <p:cNvCxnSpPr>
            <a:stCxn id="2969" idx="2"/>
            <a:endCxn id="2970" idx="1"/>
          </p:cNvCxnSpPr>
          <p:nvPr/>
        </p:nvCxnSpPr>
        <p:spPr>
          <a:xfrm>
            <a:off x="620556" y="1616494"/>
            <a:ext cx="716100" cy="138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971" name="Google Shape;2971;p65"/>
          <p:cNvCxnSpPr>
            <a:stCxn id="2966" idx="0"/>
            <a:endCxn id="2959" idx="2"/>
          </p:cNvCxnSpPr>
          <p:nvPr/>
        </p:nvCxnSpPr>
        <p:spPr>
          <a:xfrm flipH="1" rot="10800000">
            <a:off x="2423764" y="1799928"/>
            <a:ext cx="4146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2972" name="Google Shape;2972;p65"/>
          <p:cNvCxnSpPr>
            <a:endCxn id="2963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pic>
        <p:nvPicPr>
          <p:cNvPr descr="Amazon Kinesis Data Streams service icon." id="2973" name="Google Shape;2973;p6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2974" name="Google Shape;2974;p65"/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2975" name="Google Shape;2975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976" name="Google Shape;2976;p65"/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7" name="Google Shape;2977;p65"/>
          <p:cNvCxnSpPr>
            <a:stCxn id="2975" idx="3"/>
            <a:endCxn id="2965" idx="0"/>
          </p:cNvCxnSpPr>
          <p:nvPr/>
        </p:nvCxnSpPr>
        <p:spPr>
          <a:xfrm>
            <a:off x="3801357" y="1584740"/>
            <a:ext cx="1109400" cy="11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2978" name="Google Shape;297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9" name="Google Shape;2979;p65"/>
          <p:cNvCxnSpPr>
            <a:stCxn id="2978" idx="2"/>
            <a:endCxn id="2965" idx="0"/>
          </p:cNvCxnSpPr>
          <p:nvPr/>
        </p:nvCxnSpPr>
        <p:spPr>
          <a:xfrm>
            <a:off x="4642304" y="1776477"/>
            <a:ext cx="268500" cy="9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2980" name="Google Shape;2980;p65"/>
          <p:cNvCxnSpPr>
            <a:endCxn id="2963" idx="0"/>
          </p:cNvCxnSpPr>
          <p:nvPr/>
        </p:nvCxnSpPr>
        <p:spPr>
          <a:xfrm>
            <a:off x="3041401" y="1787602"/>
            <a:ext cx="1059600" cy="9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2981" name="Google Shape;2981;p65"/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65"/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65"/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4" name="Google Shape;2984;p65"/>
          <p:cNvCxnSpPr>
            <a:stCxn id="2973" idx="2"/>
            <a:endCxn id="2966" idx="2"/>
          </p:cNvCxnSpPr>
          <p:nvPr/>
        </p:nvCxnSpPr>
        <p:spPr>
          <a:xfrm flipH="1" rot="-5400000">
            <a:off x="1403836" y="2183699"/>
            <a:ext cx="199500" cy="1840500"/>
          </a:xfrm>
          <a:prstGeom prst="bentConnector3">
            <a:avLst>
              <a:gd fmla="val 21454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WS Lambda service icon." id="2970" name="Google Shape;2970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85" name="Google Shape;2985;p65"/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2969" name="Google Shape;2969;p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86" name="Google Shape;2986;p65"/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7" name="Google Shape;2987;p65"/>
          <p:cNvCxnSpPr>
            <a:endCxn id="2970" idx="0"/>
          </p:cNvCxnSpPr>
          <p:nvPr/>
        </p:nvCxnSpPr>
        <p:spPr>
          <a:xfrm flipH="1">
            <a:off x="1540576" y="1700028"/>
            <a:ext cx="1136100" cy="109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988" name="Google Shape;2988;p65"/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2989" name="Google Shape;2989;p6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90" name="Google Shape;2990;p65"/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1" name="Google Shape;2991;p65"/>
          <p:cNvCxnSpPr>
            <a:stCxn id="2989" idx="0"/>
            <a:endCxn id="2959" idx="2"/>
          </p:cNvCxnSpPr>
          <p:nvPr/>
        </p:nvCxnSpPr>
        <p:spPr>
          <a:xfrm rot="10800000">
            <a:off x="2838402" y="1799928"/>
            <a:ext cx="5118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Elastic Compute Cloud (Amazon EC2) service icon." id="2992" name="Google Shape;2992;p6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93" name="Google Shape;2993;p65"/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4" name="Google Shape;2994;p65"/>
          <p:cNvCxnSpPr>
            <a:stCxn id="2992" idx="1"/>
            <a:endCxn id="2989" idx="2"/>
          </p:cNvCxnSpPr>
          <p:nvPr/>
        </p:nvCxnSpPr>
        <p:spPr>
          <a:xfrm rot="10800000">
            <a:off x="3350113" y="3203523"/>
            <a:ext cx="552000" cy="37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8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9" name="Google Shape;2999;p6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정형화 – Curated – 데이터셋)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0" name="Google Shape;3000;p66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Curated 데이터는 고객 중심으로 통합된 Customer360 최종 데이터셋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1" name="Google Shape;3001;p66"/>
          <p:cNvSpPr txBox="1"/>
          <p:nvPr/>
        </p:nvSpPr>
        <p:spPr>
          <a:xfrm>
            <a:off x="360449" y="1651591"/>
            <a:ext cx="33261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Customer 360 (고객의 전체 통합 데이터셋)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66"/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데이터셋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3" name="Google Shape;3003;p66"/>
          <p:cNvSpPr txBox="1"/>
          <p:nvPr/>
        </p:nvSpPr>
        <p:spPr>
          <a:xfrm>
            <a:off x="500684" y="2014273"/>
            <a:ext cx="3185945" cy="147732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카드소비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투자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행동로그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동의정보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4" name="Google Shape;3004;p66"/>
          <p:cNvSpPr txBox="1"/>
          <p:nvPr/>
        </p:nvSpPr>
        <p:spPr>
          <a:xfrm>
            <a:off x="360449" y="3915819"/>
            <a:ext cx="49094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Score Mart (점수 전용 데이터셋)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5" name="Google Shape;3005;p66"/>
          <p:cNvGraphicFramePr/>
          <p:nvPr/>
        </p:nvGraphicFramePr>
        <p:xfrm>
          <a:off x="500683" y="42611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31859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churn_score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score_dt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6" name="Google Shape;3006;p66"/>
          <p:cNvSpPr txBox="1"/>
          <p:nvPr/>
        </p:nvSpPr>
        <p:spPr>
          <a:xfrm>
            <a:off x="4418571" y="1651591"/>
            <a:ext cx="33261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VIP Mart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7" name="Google Shape;3007;p66"/>
          <p:cNvSpPr txBox="1"/>
          <p:nvPr/>
        </p:nvSpPr>
        <p:spPr>
          <a:xfrm>
            <a:off x="8393777" y="1652519"/>
            <a:ext cx="33261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Recommendation Mart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08" name="Google Shape;3008;p66"/>
          <p:cNvGraphicFramePr/>
          <p:nvPr/>
        </p:nvGraphicFramePr>
        <p:xfrm>
          <a:off x="8569153" y="2015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3150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rec_rank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recommendation_code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recommendation_name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recommendation_score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reason_1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reason_2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valid_until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process_dt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09" name="Google Shape;3009;p66"/>
          <p:cNvGraphicFramePr/>
          <p:nvPr/>
        </p:nvGraphicFramePr>
        <p:xfrm>
          <a:off x="4520598" y="20142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3150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total_asset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vip_score_final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vip_level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priority_rank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recommended_action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churn_score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3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4" name="Google Shape;3014;p6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정형화 – Curated – 데이터셋)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p67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Curated 데이터는 고객 중심으로 통합된 Customer360 최종 데이터셋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67"/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데이터셋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p67"/>
          <p:cNvSpPr txBox="1"/>
          <p:nvPr/>
        </p:nvSpPr>
        <p:spPr>
          <a:xfrm>
            <a:off x="4812379" y="1853919"/>
            <a:ext cx="68144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6) AI Feature Table (AI 모델이 학습하고 예측하기 위한 Feature Dataset)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18" name="Google Shape;3018;p67"/>
          <p:cNvGraphicFramePr/>
          <p:nvPr/>
        </p:nvGraphicFramePr>
        <p:xfrm>
          <a:off x="4928493" y="22367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3214925"/>
              </a:tblGrid>
              <a:tr h="29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balance_30d_avg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asset_growth_90d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card_spend_30d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invest_ratio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avg_steps_30d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stress_avg_30d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login_cnt_30d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affiliate_cnt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consent_ratio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membership_days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spend_growth_90d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inactive_days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vip_label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19" name="Google Shape;3019;p67"/>
          <p:cNvSpPr txBox="1"/>
          <p:nvPr/>
        </p:nvSpPr>
        <p:spPr>
          <a:xfrm>
            <a:off x="297543" y="1959744"/>
            <a:ext cx="33261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Health Mart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20" name="Google Shape;3020;p67"/>
          <p:cNvGraphicFramePr/>
          <p:nvPr/>
        </p:nvGraphicFramePr>
        <p:xfrm>
          <a:off x="472919" y="24528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31859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avg_steps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avg_hr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spo2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bmi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sleep_avg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hospital_visit_cnt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health_risk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next_health_action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4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p6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(Customer 360 Score 규칙 – 1/3)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68"/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Customer360 Score는 고객의 금융 + 건강 + 충성도 + 성장성 + 리스크를 종합 평가하여 0 ~ 100 점수화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68"/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목적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충성도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성장성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리스크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를 종합 평가 점수 도출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68"/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360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9" name="Google Shape;3029;p68"/>
          <p:cNvSpPr txBox="1"/>
          <p:nvPr/>
        </p:nvSpPr>
        <p:spPr>
          <a:xfrm>
            <a:off x="3027959" y="1746304"/>
            <a:ext cx="4952259" cy="400110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Score = 금융점수 + 건강점수 + 관계점수 + 성장점수 - 리스크점수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최대 100점 ~ 최소 0점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0" name="Google Shape;3030;p68"/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전체 비중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1" name="Google Shape;3031;p68"/>
          <p:cNvGraphicFramePr/>
          <p:nvPr/>
        </p:nvGraphicFramePr>
        <p:xfrm>
          <a:off x="297543" y="36447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7175"/>
                <a:gridCol w="13071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최대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총합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2" name="Google Shape;3032;p68"/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금융점수 (40)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3" name="Google Shape;3033;p68"/>
          <p:cNvSpPr txBox="1"/>
          <p:nvPr/>
        </p:nvSpPr>
        <p:spPr>
          <a:xfrm>
            <a:off x="3448706" y="3490898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예금 / 잔액 점수 (최대 15)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4" name="Google Shape;3034;p68"/>
          <p:cNvGraphicFramePr/>
          <p:nvPr/>
        </p:nvGraphicFramePr>
        <p:xfrm>
          <a:off x="3448706" y="38701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7175"/>
                <a:gridCol w="13071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latest_balance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5천만원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3천만원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1천만원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300만원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5" name="Google Shape;3035;p68"/>
          <p:cNvSpPr txBox="1"/>
          <p:nvPr/>
        </p:nvSpPr>
        <p:spPr>
          <a:xfrm>
            <a:off x="6388854" y="3490898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카드 소비 점수 (최대 10)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6" name="Google Shape;3036;p68"/>
          <p:cNvSpPr txBox="1"/>
          <p:nvPr/>
        </p:nvSpPr>
        <p:spPr>
          <a:xfrm>
            <a:off x="9329001" y="3490898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투자 자산 점수 (최대 15)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7" name="Google Shape;3037;p68"/>
          <p:cNvGraphicFramePr/>
          <p:nvPr/>
        </p:nvGraphicFramePr>
        <p:xfrm>
          <a:off x="6388854" y="3858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53300"/>
                <a:gridCol w="6610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monthly card spend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500만원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300만원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150만원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38" name="Google Shape;3038;p68"/>
          <p:cNvGraphicFramePr/>
          <p:nvPr/>
        </p:nvGraphicFramePr>
        <p:xfrm>
          <a:off x="9329001" y="3847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82725"/>
                <a:gridCol w="1282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invest_total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1억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5천만원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3천만원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1천만원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39" name="Google Shape;3039;p68"/>
          <p:cNvSpPr txBox="1"/>
          <p:nvPr/>
        </p:nvSpPr>
        <p:spPr>
          <a:xfrm>
            <a:off x="3448706" y="565411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 계산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0" name="Google Shape;3040;p68"/>
          <p:cNvSpPr txBox="1"/>
          <p:nvPr/>
        </p:nvSpPr>
        <p:spPr>
          <a:xfrm>
            <a:off x="3564761" y="6016407"/>
            <a:ext cx="4952259" cy="24622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financial_score = balance_score + card_score + invest_score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1" name="Google Shape;3041;p68"/>
          <p:cNvSpPr txBox="1"/>
          <p:nvPr/>
        </p:nvSpPr>
        <p:spPr>
          <a:xfrm>
            <a:off x="3027958" y="2309455"/>
            <a:ext cx="8845387" cy="24622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lifesync_score = financial_score + health_score + relationship_score + growth_score - risk_score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5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6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(Customer 360 Score 규칙 – 2/3)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7" name="Google Shape;3047;p69"/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Customer360 Score는 고객의 금융 + 건강 + 충성도 + 성장성 + 리스크를 종합 평가하여 0 ~ 100 점수화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8" name="Google Shape;3048;p69"/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전체 비중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49" name="Google Shape;3049;p69"/>
          <p:cNvGraphicFramePr/>
          <p:nvPr/>
        </p:nvGraphicFramePr>
        <p:xfrm>
          <a:off x="297543" y="202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7175"/>
                <a:gridCol w="13071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최대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총합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0" name="Google Shape;3050;p69"/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점수 (25)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69"/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평균 걸음수 (최대 10)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69"/>
          <p:cNvSpPr txBox="1"/>
          <p:nvPr/>
        </p:nvSpPr>
        <p:spPr>
          <a:xfrm>
            <a:off x="6388854" y="1873111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Wllness 점수 (최대 10)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69"/>
          <p:cNvSpPr txBox="1"/>
          <p:nvPr/>
        </p:nvSpPr>
        <p:spPr>
          <a:xfrm>
            <a:off x="9329001" y="1873111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수면 / 스트레스 점수 (최대 5)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4" name="Google Shape;3054;p69"/>
          <p:cNvSpPr txBox="1"/>
          <p:nvPr/>
        </p:nvSpPr>
        <p:spPr>
          <a:xfrm>
            <a:off x="4755887" y="1474155"/>
            <a:ext cx="4952259" cy="24622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health_score = steps_score + wellness_score + stress_sleep_score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55" name="Google Shape;3055;p69"/>
          <p:cNvGraphicFramePr/>
          <p:nvPr/>
        </p:nvGraphicFramePr>
        <p:xfrm>
          <a:off x="3545057" y="2272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63050"/>
                <a:gridCol w="9566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avg_steps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12,000+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56" name="Google Shape;3056;p69"/>
          <p:cNvGraphicFramePr/>
          <p:nvPr/>
        </p:nvGraphicFramePr>
        <p:xfrm>
          <a:off x="6388854" y="2270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34300"/>
                <a:gridCol w="9003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avg_wellness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57" name="Google Shape;3057;p69"/>
          <p:cNvGraphicFramePr/>
          <p:nvPr/>
        </p:nvGraphicFramePr>
        <p:xfrm>
          <a:off x="9358468" y="2270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01800"/>
                <a:gridCol w="9178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스트레스 낮음 + 수면양호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보통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8" name="Google Shape;3058;p69"/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관계 점수 (15)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p69"/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가입 / 동의 / 이용 서비스 수 (최대 10)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0" name="Google Shape;3060;p69"/>
          <p:cNvSpPr txBox="1"/>
          <p:nvPr/>
        </p:nvSpPr>
        <p:spPr>
          <a:xfrm>
            <a:off x="4755887" y="4301761"/>
            <a:ext cx="4952259" cy="24622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relationship_score = affiliate_score + consent_score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61" name="Google Shape;3061;p69"/>
          <p:cNvGraphicFramePr/>
          <p:nvPr/>
        </p:nvGraphicFramePr>
        <p:xfrm>
          <a:off x="3448706" y="5164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71925"/>
                <a:gridCol w="8440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5개 이상 이용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3개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2개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단일 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62" name="Google Shape;3062;p69"/>
          <p:cNvGraphicFramePr/>
          <p:nvPr/>
        </p:nvGraphicFramePr>
        <p:xfrm>
          <a:off x="6520150" y="51642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71925"/>
                <a:gridCol w="8440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동의율 80%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동의율 50%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+3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6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Google Shape;3067;p7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(Customer 360 Score 규칙 – 3/3)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8" name="Google Shape;3068;p70"/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LifeSync360 Customer360 Score는 고객의 금융 + 건강 + 충성도 + 성장성 + 리스크를 종합 평가하여 0 ~ 100 점수화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9" name="Google Shape;3069;p70"/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전체 비중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0" name="Google Shape;3070;p70"/>
          <p:cNvGraphicFramePr/>
          <p:nvPr/>
        </p:nvGraphicFramePr>
        <p:xfrm>
          <a:off x="297543" y="202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7175"/>
                <a:gridCol w="13071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최대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총합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71" name="Google Shape;3071;p70"/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성장 점수 (10)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2" name="Google Shape;3072;p70"/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최근 3개월 증가 추세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3" name="Google Shape;3073;p70"/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리스크 점수 (- 20)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4" name="Google Shape;3074;p70"/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건강 리스크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5" name="Google Shape;3075;p70"/>
          <p:cNvGraphicFramePr/>
          <p:nvPr/>
        </p:nvGraphicFramePr>
        <p:xfrm>
          <a:off x="3448706" y="22178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86000"/>
                <a:gridCol w="8300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 증가 + 건강 개선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소비 증가 + 투자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단일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변화 없음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76" name="Google Shape;3076;p70"/>
          <p:cNvSpPr txBox="1"/>
          <p:nvPr/>
        </p:nvSpPr>
        <p:spPr>
          <a:xfrm>
            <a:off x="6454502" y="4700717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금융 리스크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7" name="Google Shape;3077;p70"/>
          <p:cNvGraphicFramePr/>
          <p:nvPr/>
        </p:nvGraphicFramePr>
        <p:xfrm>
          <a:off x="3448706" y="5113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58000"/>
                <a:gridCol w="12580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병원 방문 과다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건강위험도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78" name="Google Shape;3078;p70"/>
          <p:cNvGraphicFramePr/>
          <p:nvPr/>
        </p:nvGraphicFramePr>
        <p:xfrm>
          <a:off x="6454502" y="5113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04075"/>
                <a:gridCol w="12040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잔액 급감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연체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p7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(AI Feature Table 규칙 – 1/3)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4" name="Google Shape;3084;p71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Feature Table은 고객의 금융·건강·행동·관계 데이터를 머신러닝 입력값(Feature)으로 변환한 테이블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5" name="Google Shape;3085;p71"/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목적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예측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계약 확률 예측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이탈 예측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추천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위험 예측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6" name="Google Shape;3086;p71"/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Feature Table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p71"/>
          <p:cNvSpPr txBox="1"/>
          <p:nvPr/>
        </p:nvSpPr>
        <p:spPr>
          <a:xfrm>
            <a:off x="3027959" y="1746304"/>
            <a:ext cx="4419659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= 최근값 + 평균값 + 증감률 + 비율값 + 카운트값 + Flag + Label</a:t>
            </a:r>
            <a:endParaRPr/>
          </a:p>
        </p:txBody>
      </p:sp>
      <p:sp>
        <p:nvSpPr>
          <p:cNvPr id="3088" name="Google Shape;3088;p71"/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Category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89" name="Google Shape;3089;p71"/>
          <p:cNvGraphicFramePr/>
          <p:nvPr/>
        </p:nvGraphicFramePr>
        <p:xfrm>
          <a:off x="297543" y="35807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80150"/>
                <a:gridCol w="16801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행동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앱 행동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관계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변화율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미래 결과값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0" name="Google Shape;3090;p71"/>
          <p:cNvSpPr txBox="1"/>
          <p:nvPr/>
        </p:nvSpPr>
        <p:spPr>
          <a:xfrm>
            <a:off x="4218190" y="305546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 Feature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1" name="Google Shape;3091;p71"/>
          <p:cNvSpPr txBox="1"/>
          <p:nvPr/>
        </p:nvSpPr>
        <p:spPr>
          <a:xfrm>
            <a:off x="4218191" y="3453486"/>
            <a:ext cx="5239656" cy="195438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잔액 평균 : balance_30d_avg = 최근 30일 일평균 잔액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자산 증가율 : asset_growth_90d = (현재 총자산 - 90일전 총자산) / 90일전 총자산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 소비액 : card_spend_30d = 최근 30일 카드 총 사용액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투자 비율 : invest_ratio = 투자자산 / 총자산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ETF 비율 : etf_ratio = ETF 자산 / 총 투자자산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보유 수 : policy_cnt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2" name="Google Shape;3092;p71"/>
          <p:cNvSpPr txBox="1"/>
          <p:nvPr/>
        </p:nvSpPr>
        <p:spPr>
          <a:xfrm>
            <a:off x="9878761" y="3055465"/>
            <a:ext cx="25890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 Feature 컬럼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93" name="Google Shape;3093;p71"/>
          <p:cNvGraphicFramePr/>
          <p:nvPr/>
        </p:nvGraphicFramePr>
        <p:xfrm>
          <a:off x="9881492" y="3453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166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balance_30d_avg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asset_growth_90d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card_spend_30d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invest_total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invest_ratio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etf_ratio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policy_cnt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7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(AI Feature Table 규칙 – 2/3)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p72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Feature Table은 고객의 금융·건강·행동·관계 데이터를 머신러닝 입력값(Feature)으로 변환한 테이블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0" name="Google Shape;3100;p72"/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Category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01" name="Google Shape;3101;p72"/>
          <p:cNvGraphicFramePr/>
          <p:nvPr/>
        </p:nvGraphicFramePr>
        <p:xfrm>
          <a:off x="297543" y="1926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80150"/>
                <a:gridCol w="16801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행동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앱 행동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관계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변화율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미래 결과값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2" name="Google Shape;3102;p72"/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Feature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3" name="Google Shape;3103;p72"/>
          <p:cNvSpPr txBox="1"/>
          <p:nvPr/>
        </p:nvSpPr>
        <p:spPr>
          <a:xfrm>
            <a:off x="4162968" y="1768915"/>
            <a:ext cx="5285831" cy="195438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평균 걸음수 : avg_steps_30d = 최근 30일 평균 걸음수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평균 심박수 : avg_hr_30d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스트레스 평균 : stress_avg_30d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병원 방문 횟수 : hospital_visit_90d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위험도 : health_risk_score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개선율 : step_growth_30d = (최근30일 steps - 이전30일 steps) / 이전30일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4" name="Google Shape;3104;p72"/>
          <p:cNvSpPr txBox="1"/>
          <p:nvPr/>
        </p:nvSpPr>
        <p:spPr>
          <a:xfrm>
            <a:off x="297543" y="418446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행동 Feature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5" name="Google Shape;3105;p72"/>
          <p:cNvSpPr txBox="1"/>
          <p:nvPr/>
        </p:nvSpPr>
        <p:spPr>
          <a:xfrm>
            <a:off x="297543" y="4582485"/>
            <a:ext cx="5285831" cy="1615827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수 : login_cnt_30d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세션 시간 : avg_session_min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클릭률 : push_click_rate = push_click / push_send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클릭률 : recommend_click_rate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최근 활동일수 : last_active_days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6" name="Google Shape;3106;p72"/>
          <p:cNvSpPr txBox="1"/>
          <p:nvPr/>
        </p:nvSpPr>
        <p:spPr>
          <a:xfrm>
            <a:off x="6608626" y="418446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관계 Feature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72"/>
          <p:cNvSpPr txBox="1"/>
          <p:nvPr/>
        </p:nvSpPr>
        <p:spPr>
          <a:xfrm>
            <a:off x="6608626" y="4582485"/>
            <a:ext cx="5285831" cy="127727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계열사 이용 수 : affiliate_cnt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동의율 : consent_ratio = 동의 도메인 수 / 전체 도메인 수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가입기간 : membership_days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교차상품 지수 : cross_product_score = 이용상품수 * 계열사수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p7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(AI Feature Table 규칙 – 3/3)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3" name="Google Shape;3113;p73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Feature Table은 고객의 금융·건강·행동·관계 데이터를 머신러닝 입력값(Feature)으로 변환한 테이블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4" name="Google Shape;3114;p73"/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Category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15" name="Google Shape;3115;p73"/>
          <p:cNvGraphicFramePr/>
          <p:nvPr/>
        </p:nvGraphicFramePr>
        <p:xfrm>
          <a:off x="297543" y="1926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80150"/>
                <a:gridCol w="16801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행동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앱 행동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관계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Feature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변화율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미래 결과값 (학습용)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6" name="Google Shape;3116;p73"/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성장 Feature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7" name="Google Shape;3117;p73"/>
          <p:cNvSpPr txBox="1"/>
          <p:nvPr/>
        </p:nvSpPr>
        <p:spPr>
          <a:xfrm>
            <a:off x="4162968" y="1768915"/>
            <a:ext cx="3360307" cy="93871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소비 증가율 : spend_growth_90d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투자 증가율 : invest_growth_90d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개선율 : wellness_growth_30d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8" name="Google Shape;3118;p73"/>
          <p:cNvSpPr txBox="1"/>
          <p:nvPr/>
        </p:nvSpPr>
        <p:spPr>
          <a:xfrm>
            <a:off x="8266529" y="137089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Feature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9" name="Google Shape;3119;p73"/>
          <p:cNvSpPr txBox="1"/>
          <p:nvPr/>
        </p:nvSpPr>
        <p:spPr>
          <a:xfrm>
            <a:off x="8266529" y="1768915"/>
            <a:ext cx="3360307" cy="127727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이탈 위험 기초값 : inactive_days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카드소비 급감 : card_drop_ratio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자산 급감 : asset_drop_ratio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민원 여부 : complaint_flag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0" name="Google Shape;3120;p73"/>
          <p:cNvSpPr txBox="1"/>
          <p:nvPr/>
        </p:nvSpPr>
        <p:spPr>
          <a:xfrm>
            <a:off x="4162968" y="3512833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 Feature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73"/>
          <p:cNvSpPr txBox="1"/>
          <p:nvPr/>
        </p:nvSpPr>
        <p:spPr>
          <a:xfrm>
            <a:off x="4162968" y="3910854"/>
            <a:ext cx="3707036" cy="127727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모델 : vip_label = 6개월 후 VIP 여부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모델 : pb_contract_label = PB 상담 후 계약 여부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이탈 모델 : churn_label = 90일 미접속 / 탈퇴 여부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모델 : product_purchase_label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5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Google Shape;3126;p7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(VIP Mart 규칙 – 1/3)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7" name="Google Shape;3127;p74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Mart는 돈 많은 고객 선별이 아니라, VIP 전환 가능성과 PB 영업가치를 점수화한 Mart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8" name="Google Shape;3128;p74"/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목적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예측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계약 확률 예측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이탈 예측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추천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위험 예측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74"/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Mart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74"/>
          <p:cNvSpPr txBox="1"/>
          <p:nvPr/>
        </p:nvSpPr>
        <p:spPr>
          <a:xfrm>
            <a:off x="3027959" y="1746304"/>
            <a:ext cx="8598877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고객의 자산 + 수익기여 + 관계도 + 성장성 + 투자성향 + 라이프스타일 + 디지털활동 – 리스크 = VIP 후보 점수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74"/>
          <p:cNvSpPr txBox="1"/>
          <p:nvPr/>
        </p:nvSpPr>
        <p:spPr>
          <a:xfrm>
            <a:off x="3027958" y="2168777"/>
            <a:ext cx="8845387" cy="40011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vip_score_final = asset_score + revenue_score + relationship_score + growth_score + investment_score + lifestyle_score + digital_bonus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- risk_penalty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p74"/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전체 비중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3" name="Google Shape;3133;p74"/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자산점수 (30)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4" name="Google Shape;3134;p74"/>
          <p:cNvGraphicFramePr/>
          <p:nvPr/>
        </p:nvGraphicFramePr>
        <p:xfrm>
          <a:off x="297543" y="3538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74975"/>
                <a:gridCol w="98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수익 기여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라이프스타일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디지털 보너스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5" name="Google Shape;3135;p74"/>
          <p:cNvSpPr txBox="1"/>
          <p:nvPr/>
        </p:nvSpPr>
        <p:spPr>
          <a:xfrm>
            <a:off x="3448706" y="5640060"/>
            <a:ext cx="3937948" cy="24622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total_asset = latest_balance + invest_total + premium_total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36" name="Google Shape;3136;p74"/>
          <p:cNvGraphicFramePr/>
          <p:nvPr/>
        </p:nvGraphicFramePr>
        <p:xfrm>
          <a:off x="3448706" y="35838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29875"/>
                <a:gridCol w="12298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총자산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5억+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3억+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1억+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7천만+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5천만+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37" name="Google Shape;3137;p74"/>
          <p:cNvSpPr txBox="1"/>
          <p:nvPr/>
        </p:nvSpPr>
        <p:spPr>
          <a:xfrm>
            <a:off x="8062909" y="3055465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수익 기여 점수 (20)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8" name="Google Shape;3138;p74"/>
          <p:cNvSpPr txBox="1"/>
          <p:nvPr/>
        </p:nvSpPr>
        <p:spPr>
          <a:xfrm>
            <a:off x="9583371" y="3080275"/>
            <a:ext cx="2136110" cy="246221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 + 보험 + 투자 거래 활동성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9" name="Google Shape;3139;p74"/>
          <p:cNvSpPr txBox="1"/>
          <p:nvPr/>
        </p:nvSpPr>
        <p:spPr>
          <a:xfrm>
            <a:off x="8062909" y="3554313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카드 소비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74"/>
          <p:cNvSpPr txBox="1"/>
          <p:nvPr/>
        </p:nvSpPr>
        <p:spPr>
          <a:xfrm>
            <a:off x="10199019" y="3538131"/>
            <a:ext cx="18018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보험료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41" name="Google Shape;3141;p74"/>
          <p:cNvGraphicFramePr/>
          <p:nvPr/>
        </p:nvGraphicFramePr>
        <p:xfrm>
          <a:off x="8166074" y="3870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837625"/>
                <a:gridCol w="8376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500만+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300만+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42" name="Google Shape;3142;p74"/>
          <p:cNvGraphicFramePr/>
          <p:nvPr/>
        </p:nvGraphicFramePr>
        <p:xfrm>
          <a:off x="10199019" y="3860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900925"/>
                <a:gridCol w="9009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premium_total 300만+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3" name="Google Shape;3143;p74"/>
          <p:cNvSpPr txBox="1"/>
          <p:nvPr/>
        </p:nvSpPr>
        <p:spPr>
          <a:xfrm>
            <a:off x="8062909" y="5214301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투자 거래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44" name="Google Shape;3144;p74"/>
          <p:cNvGraphicFramePr/>
          <p:nvPr/>
        </p:nvGraphicFramePr>
        <p:xfrm>
          <a:off x="8166074" y="55254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963850"/>
                <a:gridCol w="7113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trade_cnt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5" name="Google Shape;3145;p74"/>
          <p:cNvSpPr txBox="1"/>
          <p:nvPr/>
        </p:nvSpPr>
        <p:spPr>
          <a:xfrm>
            <a:off x="2911904" y="2693901"/>
            <a:ext cx="545250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자산 20 / 수익 14 / 관계 12 / 성장 10 / 투자 7 / 라이프 3 / 디지털 5 / 리스크 -5 = 총점 = 66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9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7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(VIP Mart 규칙 – 2/3)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1" name="Google Shape;3151;p75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Mart는 돈 많은 고객 선별이 아니라, VIP 전환 가능성과 PB 영업가치를 점수화한 Mart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2" name="Google Shape;3152;p75"/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전체 비중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3" name="Google Shape;3153;p75"/>
          <p:cNvSpPr txBox="1"/>
          <p:nvPr/>
        </p:nvSpPr>
        <p:spPr>
          <a:xfrm>
            <a:off x="3448706" y="126886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관계 점수 (15) – 계열사 락인 고객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4" name="Google Shape;3154;p75"/>
          <p:cNvGraphicFramePr/>
          <p:nvPr/>
        </p:nvGraphicFramePr>
        <p:xfrm>
          <a:off x="297543" y="1751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74975"/>
                <a:gridCol w="98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수익 기여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라이프스타일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디지털 보너스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5" name="Google Shape;3155;p75"/>
          <p:cNvSpPr txBox="1"/>
          <p:nvPr/>
        </p:nvSpPr>
        <p:spPr>
          <a:xfrm>
            <a:off x="7688888" y="1268867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성장 점수 (15) – 곧 VIP 될 고객 탐지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6" name="Google Shape;3156;p75"/>
          <p:cNvSpPr txBox="1"/>
          <p:nvPr/>
        </p:nvSpPr>
        <p:spPr>
          <a:xfrm>
            <a:off x="7736840" y="3152001"/>
            <a:ext cx="3269844" cy="553998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asset_growth_90d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invest_growth_90d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spend_growth_90d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57" name="Google Shape;3157;p75"/>
          <p:cNvGraphicFramePr/>
          <p:nvPr/>
        </p:nvGraphicFramePr>
        <p:xfrm>
          <a:off x="3517613" y="174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23650"/>
                <a:gridCol w="13236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affiliate_cnt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5개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1개 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58" name="Google Shape;3158;p75"/>
          <p:cNvGraphicFramePr/>
          <p:nvPr/>
        </p:nvGraphicFramePr>
        <p:xfrm>
          <a:off x="7736840" y="174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228825"/>
                <a:gridCol w="10410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자산20%+ &amp; 투자15%+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자산10%+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소비8%+ 증가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9" name="Google Shape;3159;p75"/>
          <p:cNvSpPr txBox="1"/>
          <p:nvPr/>
        </p:nvSpPr>
        <p:spPr>
          <a:xfrm>
            <a:off x="3448706" y="4110542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투자 점수 (10) – PB 자산관리 니즈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0" name="Google Shape;3160;p75"/>
          <p:cNvSpPr txBox="1"/>
          <p:nvPr/>
        </p:nvSpPr>
        <p:spPr>
          <a:xfrm>
            <a:off x="7688888" y="4110541"/>
            <a:ext cx="39379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라이프스타일 점수 (5) – 고가치 장기 고객 가능성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61" name="Google Shape;3161;p75"/>
          <p:cNvGraphicFramePr/>
          <p:nvPr/>
        </p:nvGraphicFramePr>
        <p:xfrm>
          <a:off x="7736840" y="45514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34925"/>
                <a:gridCol w="16349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steps 10000+ &amp; health_score 80+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 70+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62" name="Google Shape;3162;p75"/>
          <p:cNvGraphicFramePr/>
          <p:nvPr/>
        </p:nvGraphicFramePr>
        <p:xfrm>
          <a:off x="3462056" y="4609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57050"/>
                <a:gridCol w="9458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invest_ratio 50%+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30%+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거래 이력 있음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없음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p7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(VIP Mart 규칙 – 3/3)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8" name="Google Shape;3168;p76"/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Mart는 돈 많은 고객 선별이 아니라, VIP 전환 가능성과 PB 영업가치를 점수화한 Mart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9" name="Google Shape;3169;p76"/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전체 비중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0" name="Google Shape;3170;p76"/>
          <p:cNvSpPr txBox="1"/>
          <p:nvPr/>
        </p:nvSpPr>
        <p:spPr>
          <a:xfrm>
            <a:off x="3448705" y="1268868"/>
            <a:ext cx="33600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디지털 보너스 (5) – 디지털 채널 전환 가능성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1" name="Google Shape;3171;p76"/>
          <p:cNvGraphicFramePr/>
          <p:nvPr/>
        </p:nvGraphicFramePr>
        <p:xfrm>
          <a:off x="297543" y="1751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74975"/>
                <a:gridCol w="98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수익 기여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관계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성장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라이프스타일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디지털 보너스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2" name="Google Shape;3172;p76"/>
          <p:cNvSpPr txBox="1"/>
          <p:nvPr/>
        </p:nvSpPr>
        <p:spPr>
          <a:xfrm>
            <a:off x="7688887" y="1268867"/>
            <a:ext cx="420556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리스크 차감 (- 20) – 떠날 고객 / 건강 고위험 고객 제외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3" name="Google Shape;3173;p76"/>
          <p:cNvGraphicFramePr/>
          <p:nvPr/>
        </p:nvGraphicFramePr>
        <p:xfrm>
          <a:off x="3448705" y="1751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88600"/>
                <a:gridCol w="15886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로그인15+ &amp; 추천클릭20%+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로그인8+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4" name="Google Shape;3174;p76"/>
          <p:cNvSpPr txBox="1"/>
          <p:nvPr/>
        </p:nvSpPr>
        <p:spPr>
          <a:xfrm>
            <a:off x="7688888" y="1673195"/>
            <a:ext cx="264729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카드 소비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5" name="Google Shape;3175;p76"/>
          <p:cNvSpPr txBox="1"/>
          <p:nvPr/>
        </p:nvSpPr>
        <p:spPr>
          <a:xfrm>
            <a:off x="7688887" y="3174921"/>
            <a:ext cx="18018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보험료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6" name="Google Shape;3176;p76"/>
          <p:cNvGraphicFramePr/>
          <p:nvPr/>
        </p:nvGraphicFramePr>
        <p:xfrm>
          <a:off x="7782672" y="2044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29875"/>
                <a:gridCol w="12298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77" name="Google Shape;3177;p76"/>
          <p:cNvGraphicFramePr/>
          <p:nvPr/>
        </p:nvGraphicFramePr>
        <p:xfrm>
          <a:off x="7782672" y="3717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29875"/>
                <a:gridCol w="12298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추가 -5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8" name="Google Shape;3178;p76"/>
          <p:cNvSpPr txBox="1"/>
          <p:nvPr/>
        </p:nvSpPr>
        <p:spPr>
          <a:xfrm>
            <a:off x="297543" y="463232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등급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79" name="Google Shape;3179;p76"/>
          <p:cNvGraphicFramePr/>
          <p:nvPr/>
        </p:nvGraphicFramePr>
        <p:xfrm>
          <a:off x="297543" y="50208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85575"/>
                <a:gridCol w="1785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VIP_CONFIRMED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80~89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PB_TARGET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70~79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POTENTIAL_VIP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60~69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GROWTH_CUSTOMER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GENERAL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0" name="Google Shape;3180;p76"/>
          <p:cNvSpPr txBox="1"/>
          <p:nvPr/>
        </p:nvSpPr>
        <p:spPr>
          <a:xfrm>
            <a:off x="4405310" y="463232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액션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81" name="Google Shape;3181;p76"/>
          <p:cNvGraphicFramePr/>
          <p:nvPr/>
        </p:nvGraphicFramePr>
        <p:xfrm>
          <a:off x="4405310" y="5017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413200"/>
                <a:gridCol w="24132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액션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VIP_CONFIRMED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PB_CALL_NOW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PB_TARGET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PB_MEETING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POTENTIAL_VIP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PREMIUM_CAMPAIGN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GROWTH_CUSTOMER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WEALTH_NURTURING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5" name="Shape 3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6" name="Google Shape;3186;p7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(Recommendation 규칙 – 1/3)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7" name="Google Shape;3187;p77"/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Mart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는 고객별 지금 가장 적절한 Next Best Action(NBA)을 계산해 금융상품 + 건강서비스 + PB상담 + 리텐션 액션까지 추천하는 Mart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8" name="Google Shape;3188;p77"/>
          <p:cNvSpPr txBox="1"/>
          <p:nvPr/>
        </p:nvSpPr>
        <p:spPr>
          <a:xfrm>
            <a:off x="297542" y="1538123"/>
            <a:ext cx="389431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역할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Mart는 고객의. 자산·행동·건강·이탈위험을 분석해, 가장 전환 가능성이 높은 추천 1순위를 계산하는 데이터셋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9" name="Google Shape;3189;p77"/>
          <p:cNvSpPr txBox="1"/>
          <p:nvPr/>
        </p:nvSpPr>
        <p:spPr>
          <a:xfrm>
            <a:off x="297542" y="2853215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목적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0" name="Google Shape;3190;p77"/>
          <p:cNvSpPr txBox="1"/>
          <p:nvPr/>
        </p:nvSpPr>
        <p:spPr>
          <a:xfrm>
            <a:off x="297542" y="3165442"/>
            <a:ext cx="242511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금융상품 추천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상담 추천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추천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리모델링 추천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리텐션 캠페인 추천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앱 개인화 추천</a:t>
            </a:r>
            <a:endParaRPr/>
          </a:p>
        </p:txBody>
      </p:sp>
      <p:sp>
        <p:nvSpPr>
          <p:cNvPr id="3191" name="Google Shape;3191;p77"/>
          <p:cNvSpPr txBox="1"/>
          <p:nvPr/>
        </p:nvSpPr>
        <p:spPr>
          <a:xfrm>
            <a:off x="297542" y="4712838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필요 데이터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2" name="Google Shape;3192;p77"/>
          <p:cNvSpPr txBox="1"/>
          <p:nvPr/>
        </p:nvSpPr>
        <p:spPr>
          <a:xfrm>
            <a:off x="297542" y="5025065"/>
            <a:ext cx="242511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customer_360_profile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lifesync_score_mart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vip_candidate_mart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health_mart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digital_activity_log</a:t>
            </a:r>
            <a:endParaRPr/>
          </a:p>
        </p:txBody>
      </p:sp>
      <p:sp>
        <p:nvSpPr>
          <p:cNvPr id="3193" name="Google Shape;3193;p77"/>
          <p:cNvSpPr txBox="1"/>
          <p:nvPr/>
        </p:nvSpPr>
        <p:spPr>
          <a:xfrm>
            <a:off x="4977010" y="1538123"/>
            <a:ext cx="67971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Mart 규칙 (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상품별로 계산 후, 최고 점수 추천)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4" name="Google Shape;3194;p77"/>
          <p:cNvSpPr txBox="1"/>
          <p:nvPr/>
        </p:nvSpPr>
        <p:spPr>
          <a:xfrm>
            <a:off x="5093065" y="1900416"/>
            <a:ext cx="6681119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recommendation_score = 상품적합도 + 구매가능성 + 현재니즈 + 고객등급가중치 + 디지털반응도 - 리스크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5" name="Google Shape;3195;p77"/>
          <p:cNvSpPr txBox="1"/>
          <p:nvPr/>
        </p:nvSpPr>
        <p:spPr>
          <a:xfrm>
            <a:off x="3270468" y="2853215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카테고리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96" name="Google Shape;3196;p77"/>
          <p:cNvGraphicFramePr/>
          <p:nvPr/>
        </p:nvGraphicFramePr>
        <p:xfrm>
          <a:off x="3342387" y="3196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39075"/>
                <a:gridCol w="15390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 / ETF / 카드 / 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상담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건강검진 / 운동프로그램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리텐션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쿠폰 / 혜택 / 재방문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라이프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여행 / 프리미엄 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97" name="Google Shape;3197;p77"/>
          <p:cNvSpPr txBox="1"/>
          <p:nvPr/>
        </p:nvSpPr>
        <p:spPr>
          <a:xfrm>
            <a:off x="3270468" y="509298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방식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8" name="Google Shape;3198;p77"/>
          <p:cNvSpPr txBox="1"/>
          <p:nvPr/>
        </p:nvSpPr>
        <p:spPr>
          <a:xfrm>
            <a:off x="3270468" y="5451591"/>
            <a:ext cx="315005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1명당 후보 추천 여러 개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각 후보 점수 계산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TOP1 / TOP3 추천</a:t>
            </a:r>
            <a:endParaRPr/>
          </a:p>
        </p:txBody>
      </p:sp>
      <p:sp>
        <p:nvSpPr>
          <p:cNvPr id="3199" name="Google Shape;3199;p77"/>
          <p:cNvSpPr txBox="1"/>
          <p:nvPr/>
        </p:nvSpPr>
        <p:spPr>
          <a:xfrm>
            <a:off x="7040257" y="2853215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ETF 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0" name="Google Shape;3200;p77"/>
          <p:cNvSpPr txBox="1"/>
          <p:nvPr/>
        </p:nvSpPr>
        <p:spPr>
          <a:xfrm>
            <a:off x="7040256" y="3236850"/>
            <a:ext cx="464382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ETF_SCORE = 투자성향 + 예수금 규모 + 최근 투자활동 + VIP 가중치 – 리스크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ETF_SCORE &gt;= 70 → ETF 추천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01" name="Google Shape;3201;p77"/>
          <p:cNvGraphicFramePr/>
          <p:nvPr/>
        </p:nvGraphicFramePr>
        <p:xfrm>
          <a:off x="7134849" y="401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44050"/>
                <a:gridCol w="19440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invest_total 5천만+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 거래 경험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latest_balance 3천만+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GOLD/VIP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위험고객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7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(Recommendation 규칙 – 2/3)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7" name="Google Shape;3207;p78"/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Mart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는 고객별 지금 가장 적절한 Next Best Action(NBA)을 계산해 금융상품 + 건강서비스 + PB상담 + 리텐션 액션까지 추천하는 Mart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8" name="Google Shape;3208;p78"/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Premium Card 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9" name="Google Shape;3209;p78"/>
          <p:cNvSpPr txBox="1"/>
          <p:nvPr/>
        </p:nvSpPr>
        <p:spPr>
          <a:xfrm>
            <a:off x="297543" y="2065596"/>
            <a:ext cx="464382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CARD_SCORE = 월 카드 소비 + 여행/해외결제 + VIP 등급 + 소득 추정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10" name="Google Shape;3210;p78"/>
          <p:cNvGraphicFramePr/>
          <p:nvPr/>
        </p:nvGraphicFramePr>
        <p:xfrm>
          <a:off x="402647" y="24374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24675"/>
                <a:gridCol w="16246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월 소비 300만+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해외결제 있음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GOLD/VIP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1" name="Google Shape;3211;p78"/>
          <p:cNvSpPr txBox="1"/>
          <p:nvPr/>
        </p:nvSpPr>
        <p:spPr>
          <a:xfrm>
            <a:off x="297544" y="3912352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PB 상담 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2" name="Google Shape;3212;p78"/>
          <p:cNvSpPr txBox="1"/>
          <p:nvPr/>
        </p:nvSpPr>
        <p:spPr>
          <a:xfrm>
            <a:off x="297543" y="4295987"/>
            <a:ext cx="464382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PB_SCORE = 자산규모 + 투자성향 + 큰 입금 이벤트 + VIP 후보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90점 이상 -&gt; PB_CENTER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3" name="Google Shape;3213;p78"/>
          <p:cNvSpPr txBox="1"/>
          <p:nvPr/>
        </p:nvSpPr>
        <p:spPr>
          <a:xfrm>
            <a:off x="5416496" y="168196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건강검진 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4" name="Google Shape;3214;p78"/>
          <p:cNvSpPr txBox="1"/>
          <p:nvPr/>
        </p:nvSpPr>
        <p:spPr>
          <a:xfrm>
            <a:off x="5416495" y="2065596"/>
            <a:ext cx="464382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HEALTH_SCORE = health_risk + 병원방문 증가 + 스트레스 높음 + 수면 부족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HEALTH_SCORE가 높을수록 추천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15" name="Google Shape;3215;p78"/>
          <p:cNvGraphicFramePr/>
          <p:nvPr/>
        </p:nvGraphicFramePr>
        <p:xfrm>
          <a:off x="5409652" y="28293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229775"/>
                <a:gridCol w="22297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health_risk 70+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병원방문 3회+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stress 60+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6" name="Google Shape;3216;p78"/>
          <p:cNvSpPr txBox="1"/>
          <p:nvPr/>
        </p:nvSpPr>
        <p:spPr>
          <a:xfrm>
            <a:off x="297544" y="5278697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보험 리모델링 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7" name="Google Shape;3217;p78"/>
          <p:cNvSpPr txBox="1"/>
          <p:nvPr/>
        </p:nvSpPr>
        <p:spPr>
          <a:xfrm>
            <a:off x="297543" y="5662332"/>
            <a:ext cx="511210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INSURANCE_SCORE = 기존 보험 적음 + 가족/자녀 추정 + 병원 이용 증가 + VIP 고객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78"/>
          <p:cNvSpPr txBox="1"/>
          <p:nvPr/>
        </p:nvSpPr>
        <p:spPr>
          <a:xfrm>
            <a:off x="5416496" y="4258195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6) 리텐션 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9" name="Google Shape;3219;p78"/>
          <p:cNvSpPr txBox="1"/>
          <p:nvPr/>
        </p:nvSpPr>
        <p:spPr>
          <a:xfrm>
            <a:off x="5416495" y="4641830"/>
            <a:ext cx="464382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RETENTION_SCORE = 이탈확률 + 최근 미접속 + 소비 감소 + 앱활동 감소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RETENTION_SCORE 가 높으면 쿠폰 / 혜택 추천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3" name="Shape 3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4" name="Google Shape;3224;p7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(Recommendation 규칙 – 3/3)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5" name="Google Shape;3225;p79"/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Mart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는 고객별 지금 가장 적절한 Next Best Action(NBA)을 계산해 금융상품 + 건강서비스 + PB상담 + 리텐션 액션까지 추천하는 Mart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6" name="Google Shape;3226;p79"/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추가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7" name="Google Shape;3227;p79"/>
          <p:cNvSpPr txBox="1"/>
          <p:nvPr/>
        </p:nvSpPr>
        <p:spPr>
          <a:xfrm>
            <a:off x="297544" y="211773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고객 등급 가중치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28" name="Google Shape;3228;p79"/>
          <p:cNvGraphicFramePr/>
          <p:nvPr/>
        </p:nvGraphicFramePr>
        <p:xfrm>
          <a:off x="402647" y="2553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85425"/>
                <a:gridCol w="15854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가중치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SILVER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29" name="Google Shape;3229;p79"/>
          <p:cNvSpPr txBox="1"/>
          <p:nvPr/>
        </p:nvSpPr>
        <p:spPr>
          <a:xfrm>
            <a:off x="297544" y="446327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디지털 반응도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30" name="Google Shape;3230;p79"/>
          <p:cNvGraphicFramePr/>
          <p:nvPr/>
        </p:nvGraphicFramePr>
        <p:xfrm>
          <a:off x="402647" y="4912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85425"/>
                <a:gridCol w="15854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최근 로그인 多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푸시 클릭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클릭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1" name="Google Shape;3231;p79"/>
          <p:cNvSpPr txBox="1"/>
          <p:nvPr/>
        </p:nvSpPr>
        <p:spPr>
          <a:xfrm>
            <a:off x="4123310" y="211773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리스크 차감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32" name="Google Shape;3232;p79"/>
          <p:cNvGraphicFramePr/>
          <p:nvPr/>
        </p:nvGraphicFramePr>
        <p:xfrm>
          <a:off x="4212718" y="25535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09350"/>
                <a:gridCol w="14093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연체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민원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휴면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33" name="Google Shape;3233;p79"/>
          <p:cNvSpPr txBox="1"/>
          <p:nvPr/>
        </p:nvSpPr>
        <p:spPr>
          <a:xfrm>
            <a:off x="4212718" y="389075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4" name="Google Shape;3234;p79"/>
          <p:cNvSpPr txBox="1"/>
          <p:nvPr/>
        </p:nvSpPr>
        <p:spPr>
          <a:xfrm>
            <a:off x="4302126" y="4229322"/>
            <a:ext cx="6938758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candidate_score = fit_score + conversion_score + need_score + grade_weight + digital_score - risk_penalty</a:t>
            </a:r>
            <a:endParaRPr/>
          </a:p>
        </p:txBody>
      </p:sp>
      <p:sp>
        <p:nvSpPr>
          <p:cNvPr id="3235" name="Google Shape;3235;p79"/>
          <p:cNvSpPr txBox="1"/>
          <p:nvPr/>
        </p:nvSpPr>
        <p:spPr>
          <a:xfrm>
            <a:off x="4212718" y="4718714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방식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6" name="Google Shape;3236;p79"/>
          <p:cNvSpPr txBox="1"/>
          <p:nvPr/>
        </p:nvSpPr>
        <p:spPr>
          <a:xfrm>
            <a:off x="4239066" y="5074349"/>
            <a:ext cx="738777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고객별 후보 10개 생성 -&gt; 점수 내림차순 -&gt; Top1 = 메인 추천, Top3 = 추가 추천</a:t>
            </a:r>
            <a:endParaRPr/>
          </a:p>
        </p:txBody>
      </p:sp>
      <p:sp>
        <p:nvSpPr>
          <p:cNvPr id="3237" name="Google Shape;3237;p79"/>
          <p:cNvSpPr txBox="1"/>
          <p:nvPr/>
        </p:nvSpPr>
        <p:spPr>
          <a:xfrm>
            <a:off x="4254284" y="5541719"/>
            <a:ext cx="188328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예시) 고객 G001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자산 1.5억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ETF 경험 있음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 월 420만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후보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활발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79"/>
          <p:cNvSpPr txBox="1"/>
          <p:nvPr/>
        </p:nvSpPr>
        <p:spPr>
          <a:xfrm>
            <a:off x="6202995" y="5541719"/>
            <a:ext cx="83057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결과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39" name="Google Shape;3239;p79"/>
          <p:cNvGraphicFramePr/>
          <p:nvPr/>
        </p:nvGraphicFramePr>
        <p:xfrm>
          <a:off x="7033570" y="56267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92200"/>
                <a:gridCol w="14922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PB_CENTER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ETF_PRODUCT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PREMIUM_CARD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40" name="Google Shape;3240;p79"/>
          <p:cNvSpPr txBox="1"/>
          <p:nvPr/>
        </p:nvSpPr>
        <p:spPr>
          <a:xfrm>
            <a:off x="10193105" y="5541719"/>
            <a:ext cx="15962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1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상담 연결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8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(Health Mart 규칙 – 1/4)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6" name="Google Shape;3246;p80"/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는 걸음수, 심박수, 스트레스, 병원 이용, 건강검진 등을 통합 점수화한 건강 분석 데이터셋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80"/>
          <p:cNvSpPr txBox="1"/>
          <p:nvPr/>
        </p:nvSpPr>
        <p:spPr>
          <a:xfrm>
            <a:off x="297543" y="1384011"/>
            <a:ext cx="2921794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목적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점수 계산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질환 위험도 예측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추천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상품 추천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웰니스 캠페인 대상 선정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80"/>
          <p:cNvSpPr txBox="1"/>
          <p:nvPr/>
        </p:nvSpPr>
        <p:spPr>
          <a:xfrm>
            <a:off x="5523816" y="1332666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9" name="Google Shape;3249;p80"/>
          <p:cNvSpPr txBox="1"/>
          <p:nvPr/>
        </p:nvSpPr>
        <p:spPr>
          <a:xfrm>
            <a:off x="5639871" y="1694959"/>
            <a:ext cx="6254586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HEALTH_SCORE = 활동점수 + 생체점수 + 생활습관점수 + 예방점수 – 질환리스크점수 - 의료이용과다점수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p80"/>
          <p:cNvSpPr txBox="1"/>
          <p:nvPr/>
        </p:nvSpPr>
        <p:spPr>
          <a:xfrm>
            <a:off x="2595463" y="1410713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사전 필요 데이터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80"/>
          <p:cNvSpPr txBox="1"/>
          <p:nvPr/>
        </p:nvSpPr>
        <p:spPr>
          <a:xfrm>
            <a:off x="2595463" y="1722940"/>
            <a:ext cx="242511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hospital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insurance(optional)</a:t>
            </a:r>
            <a:endParaRPr/>
          </a:p>
        </p:txBody>
      </p:sp>
      <p:sp>
        <p:nvSpPr>
          <p:cNvPr id="3252" name="Google Shape;3252;p80"/>
          <p:cNvSpPr txBox="1"/>
          <p:nvPr/>
        </p:nvSpPr>
        <p:spPr>
          <a:xfrm>
            <a:off x="297543" y="3323348"/>
            <a:ext cx="24251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비중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53" name="Google Shape;3253;p80"/>
          <p:cNvGraphicFramePr/>
          <p:nvPr/>
        </p:nvGraphicFramePr>
        <p:xfrm>
          <a:off x="408382" y="3736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07125"/>
                <a:gridCol w="1607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활동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생체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생활습관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예방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질환 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의료 과다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4" name="Google Shape;3254;p80"/>
          <p:cNvSpPr txBox="1"/>
          <p:nvPr/>
        </p:nvSpPr>
        <p:spPr>
          <a:xfrm>
            <a:off x="4261858" y="3324303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활동 점수 (25)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5" name="Google Shape;3255;p80"/>
          <p:cNvSpPr txBox="1"/>
          <p:nvPr/>
        </p:nvSpPr>
        <p:spPr>
          <a:xfrm>
            <a:off x="4295587" y="4047931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1-1) 걸음수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6" name="Google Shape;3256;p80"/>
          <p:cNvSpPr txBox="1"/>
          <p:nvPr/>
        </p:nvSpPr>
        <p:spPr>
          <a:xfrm>
            <a:off x="4295587" y="3634488"/>
            <a:ext cx="36682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activity_score = steps_score + workout_score</a:t>
            </a:r>
            <a:endParaRPr/>
          </a:p>
        </p:txBody>
      </p:sp>
      <p:graphicFrame>
        <p:nvGraphicFramePr>
          <p:cNvPr id="3257" name="Google Shape;3257;p80"/>
          <p:cNvGraphicFramePr/>
          <p:nvPr/>
        </p:nvGraphicFramePr>
        <p:xfrm>
          <a:off x="4406679" y="4380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61725"/>
                <a:gridCol w="1761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avg_steps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12,000+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5,000+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58" name="Google Shape;3258;p80"/>
          <p:cNvSpPr txBox="1"/>
          <p:nvPr/>
        </p:nvSpPr>
        <p:spPr>
          <a:xfrm>
            <a:off x="8254584" y="4047930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1-2) 운동 빈도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59" name="Google Shape;3259;p80"/>
          <p:cNvGraphicFramePr/>
          <p:nvPr/>
        </p:nvGraphicFramePr>
        <p:xfrm>
          <a:off x="8326994" y="4380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71500"/>
                <a:gridCol w="15519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weekly_workout_days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5일+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3일+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1일+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없음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0" name="Google Shape;3260;p80"/>
          <p:cNvSpPr txBox="1"/>
          <p:nvPr/>
        </p:nvSpPr>
        <p:spPr>
          <a:xfrm>
            <a:off x="5543823" y="2086987"/>
            <a:ext cx="635063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health_score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activity_score + bio_score + lifestyle_score + prevent_score - disease_penalty - visit_penalty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4" name="Shape 3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5" name="Google Shape;3265;p8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(Health Mart 규칙 – 2/4)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6" name="Google Shape;3266;p81"/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는 걸음수, 심박수, 스트레스, 병원 이용, 건강검진 등을 통합 점수화한 건강 분석 데이터셋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7" name="Google Shape;3267;p81"/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비중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68" name="Google Shape;3268;p81"/>
          <p:cNvGraphicFramePr/>
          <p:nvPr/>
        </p:nvGraphicFramePr>
        <p:xfrm>
          <a:off x="408382" y="17715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07125"/>
                <a:gridCol w="1607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활동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생체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생활습관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예방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질환 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의료 과다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9" name="Google Shape;3269;p81"/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생체 점수 (25)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81"/>
          <p:cNvSpPr txBox="1"/>
          <p:nvPr/>
        </p:nvSpPr>
        <p:spPr>
          <a:xfrm>
            <a:off x="3999556" y="2081904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2-1) 평균 심박수 안정성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1" name="Google Shape;3271;p81"/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bio_score = heart_score + spo2_score + bmi_score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81"/>
          <p:cNvSpPr txBox="1"/>
          <p:nvPr/>
        </p:nvSpPr>
        <p:spPr>
          <a:xfrm>
            <a:off x="6762910" y="2077311"/>
            <a:ext cx="2473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2-2) 산소포화도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81"/>
          <p:cNvSpPr txBox="1"/>
          <p:nvPr/>
        </p:nvSpPr>
        <p:spPr>
          <a:xfrm>
            <a:off x="9439202" y="2077311"/>
            <a:ext cx="25609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2-3) BMI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74" name="Google Shape;3274;p81"/>
          <p:cNvGraphicFramePr/>
          <p:nvPr/>
        </p:nvGraphicFramePr>
        <p:xfrm>
          <a:off x="4013992" y="25107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177625"/>
                <a:gridCol w="11776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avg_hr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60~75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76~90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91~110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75" name="Google Shape;3275;p81"/>
          <p:cNvGraphicFramePr/>
          <p:nvPr/>
        </p:nvGraphicFramePr>
        <p:xfrm>
          <a:off x="6760617" y="2490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177625"/>
                <a:gridCol w="11776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spo2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97+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95+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93+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76" name="Google Shape;3276;p81"/>
          <p:cNvGraphicFramePr/>
          <p:nvPr/>
        </p:nvGraphicFramePr>
        <p:xfrm>
          <a:off x="9507243" y="24904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80500"/>
                <a:gridCol w="12805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bmi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18.5~24.9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25~29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7" name="Google Shape;3277;p81"/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생활습관 점수 (15)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8" name="Google Shape;3278;p81"/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3-1) 스트레스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9" name="Google Shape;3279;p81"/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lifestyle_score = stress_score + sleep_score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81"/>
          <p:cNvSpPr txBox="1"/>
          <p:nvPr/>
        </p:nvSpPr>
        <p:spPr>
          <a:xfrm>
            <a:off x="6762910" y="4874719"/>
            <a:ext cx="2473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3-2) 수면시간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81" name="Google Shape;3281;p81"/>
          <p:cNvGraphicFramePr/>
          <p:nvPr/>
        </p:nvGraphicFramePr>
        <p:xfrm>
          <a:off x="4017666" y="5293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69775"/>
                <a:gridCol w="981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wearable_stress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0~30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31~60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61+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82" name="Google Shape;3282;p81"/>
          <p:cNvGraphicFramePr/>
          <p:nvPr/>
        </p:nvGraphicFramePr>
        <p:xfrm>
          <a:off x="6760617" y="5276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36950"/>
                <a:gridCol w="12369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sleep_avg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7~8h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6h+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5h+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p8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(Health Mart 규칙 – 3/4)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82"/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는 걸음수, 심박수, 스트레스, 병원 이용, 건강검진 등을 통합 점수화한 건강 분석 데이터셋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p82"/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비중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0" name="Google Shape;3290;p82"/>
          <p:cNvGraphicFramePr/>
          <p:nvPr/>
        </p:nvGraphicFramePr>
        <p:xfrm>
          <a:off x="408382" y="17715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07125"/>
                <a:gridCol w="1607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활동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생체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생활습관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예방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질환 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의료 과다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91" name="Google Shape;3291;p82"/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예방 점수 (15)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p82"/>
          <p:cNvSpPr txBox="1"/>
          <p:nvPr/>
        </p:nvSpPr>
        <p:spPr>
          <a:xfrm>
            <a:off x="3999556" y="2081904"/>
            <a:ext cx="2473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4-1) 건강검진 여부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82"/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prevent_score = checkup_score + habit_bonus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4" name="Google Shape;3294;p82"/>
          <p:cNvSpPr txBox="1"/>
          <p:nvPr/>
        </p:nvSpPr>
        <p:spPr>
          <a:xfrm>
            <a:off x="7067718" y="2077311"/>
            <a:ext cx="2473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4-2) 예방 활동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5" name="Google Shape;3295;p82"/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질환 리스크 차감 (-15)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6" name="Google Shape;3296;p82"/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5-1) 병원 데이터 기반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7" name="Google Shape;3297;p82"/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disease_penalty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8" name="Google Shape;3298;p82"/>
          <p:cNvSpPr txBox="1"/>
          <p:nvPr/>
        </p:nvSpPr>
        <p:spPr>
          <a:xfrm>
            <a:off x="7067718" y="4874719"/>
            <a:ext cx="24739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5-2) 만성질환 플래그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99" name="Google Shape;3299;p82"/>
          <p:cNvGraphicFramePr/>
          <p:nvPr/>
        </p:nvGraphicFramePr>
        <p:xfrm>
          <a:off x="4149766" y="2457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6575"/>
                <a:gridCol w="1306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최근 검진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1년 이내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2년 이내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없음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00" name="Google Shape;3300;p82"/>
          <p:cNvGraphicFramePr/>
          <p:nvPr/>
        </p:nvGraphicFramePr>
        <p:xfrm>
          <a:off x="7151491" y="2457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6575"/>
                <a:gridCol w="1306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걷기 목표 달성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01" name="Google Shape;3301;p82"/>
          <p:cNvGraphicFramePr/>
          <p:nvPr/>
        </p:nvGraphicFramePr>
        <p:xfrm>
          <a:off x="4149766" y="53081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6575"/>
                <a:gridCol w="13065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health_risk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302" name="Google Shape;3302;p82"/>
          <p:cNvGraphicFramePr/>
          <p:nvPr/>
        </p:nvGraphicFramePr>
        <p:xfrm>
          <a:off x="7151491" y="53081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097975"/>
                <a:gridCol w="10979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당뇨/고혈압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-5 추가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8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(Health Mart 규칙 – 4/4)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8" name="Google Shape;3308;p83"/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는 걸음수, 심박수, 스트레스, 병원 이용, 건강검진 등을 통합 점수화한 건강 분석 데이터셋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9" name="Google Shape;3309;p83"/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비중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0" name="Google Shape;3310;p83"/>
          <p:cNvGraphicFramePr/>
          <p:nvPr/>
        </p:nvGraphicFramePr>
        <p:xfrm>
          <a:off x="408382" y="17715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07125"/>
                <a:gridCol w="1607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활동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생체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생활습관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예방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질환 리스크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의료 과다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1" name="Google Shape;3311;p83"/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6) 의료 이용 과다 차감 (-10)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2" name="Google Shape;3312;p83"/>
          <p:cNvSpPr txBox="1"/>
          <p:nvPr/>
        </p:nvSpPr>
        <p:spPr>
          <a:xfrm>
            <a:off x="3999556" y="1668461"/>
            <a:ext cx="366828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visit_penalty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3" name="Google Shape;3313;p83"/>
          <p:cNvGraphicFramePr/>
          <p:nvPr/>
        </p:nvGraphicFramePr>
        <p:xfrm>
          <a:off x="4124251" y="20306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426750"/>
                <a:gridCol w="2426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hospital_visit_cnt_30d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2회+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4" name="Google Shape;3314;p83"/>
          <p:cNvSpPr txBox="1"/>
          <p:nvPr/>
        </p:nvSpPr>
        <p:spPr>
          <a:xfrm>
            <a:off x="297543" y="4000967"/>
            <a:ext cx="24251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등급 체계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5" name="Google Shape;3315;p83"/>
          <p:cNvGraphicFramePr/>
          <p:nvPr/>
        </p:nvGraphicFramePr>
        <p:xfrm>
          <a:off x="404561" y="45853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07125"/>
                <a:gridCol w="16071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Excellent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80~89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65~79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Normal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50~64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Warning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Risk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6" name="Google Shape;3316;p83"/>
          <p:cNvSpPr txBox="1"/>
          <p:nvPr/>
        </p:nvSpPr>
        <p:spPr>
          <a:xfrm>
            <a:off x="4572888" y="4000967"/>
            <a:ext cx="24251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17" name="Google Shape;3317;p83"/>
          <p:cNvGraphicFramePr/>
          <p:nvPr/>
        </p:nvGraphicFramePr>
        <p:xfrm>
          <a:off x="4663624" y="45853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334375"/>
                <a:gridCol w="23343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점수 낮음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건강검진 예약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스트레스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명상 프로그램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걸음수 낮음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걷기 챌린지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BMI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다이어트 코칭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병원 방문 많음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 리모델링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1" name="Shape 3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2" name="Google Shape;3322;p8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전송 -&gt; GCP)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3" name="Google Shape;3323;p84"/>
          <p:cNvSpPr txBox="1"/>
          <p:nvPr/>
        </p:nvSpPr>
        <p:spPr>
          <a:xfrm>
            <a:off x="9119860" y="1415072"/>
            <a:ext cx="2976427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전송 (AWS -&gt; GCP) 프로세스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Curated Parquet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Transfer / Dataproc / BQ Load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테이블 생성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분석 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 학습</a:t>
            </a:r>
            <a:endParaRPr/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 결과 저장 </a:t>
            </a:r>
            <a:endParaRPr/>
          </a:p>
        </p:txBody>
      </p:sp>
      <p:sp>
        <p:nvSpPr>
          <p:cNvPr id="3324" name="Google Shape;3324;p84"/>
          <p:cNvSpPr/>
          <p:nvPr/>
        </p:nvSpPr>
        <p:spPr>
          <a:xfrm>
            <a:off x="5917457" y="1381732"/>
            <a:ext cx="3029679" cy="2094532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84"/>
          <p:cNvSpPr/>
          <p:nvPr/>
        </p:nvSpPr>
        <p:spPr>
          <a:xfrm>
            <a:off x="6175546" y="1726149"/>
            <a:ext cx="2654448" cy="1629564"/>
          </a:xfrm>
          <a:prstGeom prst="roundRect">
            <a:avLst>
              <a:gd fmla="val 827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6" name="Google Shape;3326;p84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5689845" y="1400108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327" name="Google Shape;3327;p84"/>
          <p:cNvSpPr txBox="1"/>
          <p:nvPr/>
        </p:nvSpPr>
        <p:spPr>
          <a:xfrm>
            <a:off x="5862824" y="169473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b="0" i="0" sz="9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28" name="Google Shape;3328;p84"/>
          <p:cNvCxnSpPr>
            <a:stCxn id="3329" idx="1"/>
          </p:cNvCxnSpPr>
          <p:nvPr/>
        </p:nvCxnSpPr>
        <p:spPr>
          <a:xfrm rot="10800000">
            <a:off x="4845201" y="1573469"/>
            <a:ext cx="1094100" cy="11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3330" name="Google Shape;3330;p84"/>
          <p:cNvSpPr txBox="1"/>
          <p:nvPr/>
        </p:nvSpPr>
        <p:spPr>
          <a:xfrm>
            <a:off x="5823296" y="2839106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9" name="Google Shape;3329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301" y="2494581"/>
            <a:ext cx="389175" cy="38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31" name="Google Shape;3331;p84"/>
          <p:cNvGrpSpPr/>
          <p:nvPr/>
        </p:nvGrpSpPr>
        <p:grpSpPr>
          <a:xfrm>
            <a:off x="6543177" y="2072935"/>
            <a:ext cx="820995" cy="424443"/>
            <a:chOff x="-4301646" y="369515"/>
            <a:chExt cx="615746" cy="280714"/>
          </a:xfrm>
        </p:grpSpPr>
        <p:sp>
          <p:nvSpPr>
            <p:cNvPr id="3332" name="Google Shape;3332;p84"/>
            <p:cNvSpPr/>
            <p:nvPr/>
          </p:nvSpPr>
          <p:spPr>
            <a:xfrm>
              <a:off x="-4301646" y="369515"/>
              <a:ext cx="615746" cy="280714"/>
            </a:xfrm>
            <a:prstGeom prst="roundRect">
              <a:avLst>
                <a:gd fmla="val 1674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rotWithShape="0" algn="ctr" dir="5400000" dist="6350">
                <a:schemeClr val="dk1">
                  <a:alpha val="44705"/>
                </a:schemeClr>
              </a:outerShdw>
            </a:effectLst>
          </p:spPr>
          <p:txBody>
            <a:bodyPr anchorCtr="0" anchor="ctr" bIns="121900" lIns="390125" spcFirstLastPara="1" rIns="60925" wrap="square" tIns="10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b="0" i="0" sz="900" u="none" cap="none" strike="noStrik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3333" name="Google Shape;3333;p8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254032" y="400076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34" name="Google Shape;3334;p84"/>
          <p:cNvSpPr/>
          <p:nvPr/>
        </p:nvSpPr>
        <p:spPr>
          <a:xfrm>
            <a:off x="7686301" y="2112381"/>
            <a:ext cx="1078200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35" name="Google Shape;3335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2050" y="2172836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6" name="Google Shape;3336;p84"/>
          <p:cNvSpPr/>
          <p:nvPr/>
        </p:nvSpPr>
        <p:spPr>
          <a:xfrm>
            <a:off x="7041405" y="2727168"/>
            <a:ext cx="1007259" cy="438441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5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37" name="Google Shape;3337;p8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7832" y="282763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8" name="Google Shape;3338;p84"/>
          <p:cNvCxnSpPr>
            <a:stCxn id="3329" idx="3"/>
          </p:cNvCxnSpPr>
          <p:nvPr/>
        </p:nvCxnSpPr>
        <p:spPr>
          <a:xfrm flipH="1" rot="10800000">
            <a:off x="6328476" y="2509769"/>
            <a:ext cx="642600" cy="179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39" name="Google Shape;3339;p84"/>
          <p:cNvCxnSpPr>
            <a:endCxn id="3336" idx="0"/>
          </p:cNvCxnSpPr>
          <p:nvPr/>
        </p:nvCxnSpPr>
        <p:spPr>
          <a:xfrm>
            <a:off x="6983435" y="2506668"/>
            <a:ext cx="561600" cy="220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340" name="Google Shape;3340;p84"/>
          <p:cNvCxnSpPr>
            <a:stCxn id="3336" idx="0"/>
            <a:endCxn id="3334" idx="2"/>
          </p:cNvCxnSpPr>
          <p:nvPr/>
        </p:nvCxnSpPr>
        <p:spPr>
          <a:xfrm flipH="1" rot="10800000">
            <a:off x="7545035" y="2494668"/>
            <a:ext cx="680400" cy="2325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341" name="Google Shape;3341;p84"/>
          <p:cNvSpPr txBox="1"/>
          <p:nvPr/>
        </p:nvSpPr>
        <p:spPr>
          <a:xfrm>
            <a:off x="447724" y="4096053"/>
            <a:ext cx="2995890" cy="132343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s3://lifesync-curated/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customer_360_profile/dt=2026-04-24/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ai_feature_table/dt=2026-04-24/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vip_candidate_mart/dt=2026-04-24/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health_mart/dt=2026-04-24/</a:t>
            </a:r>
            <a:endParaRPr/>
          </a:p>
        </p:txBody>
      </p:sp>
      <p:sp>
        <p:nvSpPr>
          <p:cNvPr id="3342" name="Google Shape;3342;p84"/>
          <p:cNvSpPr txBox="1"/>
          <p:nvPr/>
        </p:nvSpPr>
        <p:spPr>
          <a:xfrm>
            <a:off x="421668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폴더 구조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3" name="Google Shape;3343;p84"/>
          <p:cNvSpPr txBox="1"/>
          <p:nvPr/>
        </p:nvSpPr>
        <p:spPr>
          <a:xfrm>
            <a:off x="447724" y="5615363"/>
            <a:ext cx="2995890" cy="553998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part-00000.snappy.parquet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part-00001.snappy.parquet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_SUCCESS</a:t>
            </a:r>
            <a:endParaRPr/>
          </a:p>
        </p:txBody>
      </p:sp>
      <p:sp>
        <p:nvSpPr>
          <p:cNvPr id="3344" name="Google Shape;3344;p84"/>
          <p:cNvSpPr txBox="1"/>
          <p:nvPr/>
        </p:nvSpPr>
        <p:spPr>
          <a:xfrm>
            <a:off x="8891856" y="4096053"/>
            <a:ext cx="2995890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gs://lifesync-data-lake/</a:t>
            </a:r>
            <a:endParaRPr/>
          </a:p>
        </p:txBody>
      </p:sp>
      <p:sp>
        <p:nvSpPr>
          <p:cNvPr id="3345" name="Google Shape;3345;p84"/>
          <p:cNvSpPr txBox="1"/>
          <p:nvPr/>
        </p:nvSpPr>
        <p:spPr>
          <a:xfrm>
            <a:off x="8865800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GCS Bucket 구조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6" name="Google Shape;3346;p84"/>
          <p:cNvSpPr txBox="1"/>
          <p:nvPr/>
        </p:nvSpPr>
        <p:spPr>
          <a:xfrm>
            <a:off x="8891856" y="4632005"/>
            <a:ext cx="2995890" cy="2154436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gs://lifesync-data-lake/curated/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customer_360_profile/dt=2026-04-24/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ai_feature_table/dt=2026-04-24/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vip_candidate_mart/dt=2026-04-24/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health_mart/dt=2026-04-24/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ml/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training/ -&gt; 학습용 추출 데이터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prediction/ -&gt; 예측 입력 데이터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└ model_output/ -&gt; 예측 결과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7" name="Google Shape;3347;p84"/>
          <p:cNvSpPr txBox="1"/>
          <p:nvPr/>
        </p:nvSpPr>
        <p:spPr>
          <a:xfrm>
            <a:off x="4354474" y="4124145"/>
            <a:ext cx="2995890" cy="861774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S3 Source: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s3://lifesync-curated/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Destination: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gs://lifesync-data-lake/curated/</a:t>
            </a:r>
            <a:endParaRPr/>
          </a:p>
        </p:txBody>
      </p:sp>
      <p:sp>
        <p:nvSpPr>
          <p:cNvPr id="3348" name="Google Shape;3348;p84"/>
          <p:cNvSpPr txBox="1"/>
          <p:nvPr/>
        </p:nvSpPr>
        <p:spPr>
          <a:xfrm>
            <a:off x="4328418" y="379993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GCP Storage Transfer 동작 방식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9" name="Google Shape;3349;p84"/>
          <p:cNvSpPr txBox="1"/>
          <p:nvPr/>
        </p:nvSpPr>
        <p:spPr>
          <a:xfrm>
            <a:off x="4300513" y="5159564"/>
            <a:ext cx="2187320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GCP Transfer Job 생성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: Amazon S3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: lifesync-curated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Key ID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Secret Access Key</a:t>
            </a:r>
            <a:endParaRPr/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-&gt; Clud Storage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: lifesync-data-lake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: curated/</a:t>
            </a:r>
            <a:endParaRPr/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0" name="Google Shape;3350;p84"/>
          <p:cNvSpPr txBox="1"/>
          <p:nvPr/>
        </p:nvSpPr>
        <p:spPr>
          <a:xfrm>
            <a:off x="6340225" y="5159564"/>
            <a:ext cx="218732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 Conditions : Transfer only new objects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 : Daily 03:00 Asia/Seoul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source objects = OFF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destination if source missing = OFF</a:t>
            </a:r>
            <a:endParaRPr/>
          </a:p>
        </p:txBody>
      </p:sp>
      <p:sp>
        <p:nvSpPr>
          <p:cNvPr id="3351" name="Google Shape;3351;p84"/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EMR에서 생성된 6개 데이터셋은 S3 Curated에는 Parquet 파티션 형태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BigQuery에는 목적별 테이블 구조로 적재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2" name="Google Shape;3352;p84"/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3353" name="Google Shape;3353;p8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4" name="Google Shape;3354;p84"/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3355" name="Google Shape;3355;p8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Simple Storage Service (Amazon S3) service icon." id="3356" name="Google Shape;3356;p8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357" name="Google Shape;3357;p84"/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(Storage- Raw)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8" name="Google Shape;3358;p84"/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3359" name="Google Shape;3359;p8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Glue service icon." id="3360" name="Google Shape;3360;p8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3361" name="Google Shape;3361;p84"/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MR service icon." id="3362" name="Google Shape;3362;p8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Lambda service icon." id="3363" name="Google Shape;3363;p8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64" name="Google Shape;3364;p84"/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5" name="Google Shape;3365;p84"/>
          <p:cNvCxnSpPr>
            <a:stCxn id="3366" idx="2"/>
            <a:endCxn id="3367" idx="1"/>
          </p:cNvCxnSpPr>
          <p:nvPr/>
        </p:nvCxnSpPr>
        <p:spPr>
          <a:xfrm>
            <a:off x="620556" y="1616494"/>
            <a:ext cx="716100" cy="1383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368" name="Google Shape;3368;p84"/>
          <p:cNvCxnSpPr>
            <a:stCxn id="3363" idx="0"/>
            <a:endCxn id="3356" idx="2"/>
          </p:cNvCxnSpPr>
          <p:nvPr/>
        </p:nvCxnSpPr>
        <p:spPr>
          <a:xfrm flipH="1" rot="10800000">
            <a:off x="2423764" y="1799928"/>
            <a:ext cx="4146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3369" name="Google Shape;3369;p84"/>
          <p:cNvCxnSpPr>
            <a:endCxn id="3360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diamond"/>
            <a:tailEnd len="med" w="med" type="triangle"/>
          </a:ln>
        </p:spPr>
      </p:cxnSp>
      <p:pic>
        <p:nvPicPr>
          <p:cNvPr descr="Amazon Kinesis Data Streams service icon." id="3370" name="Google Shape;3370;p8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3371" name="Google Shape;3371;p84"/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Simple Storage Service (Amazon S3) service icon." id="3372" name="Google Shape;3372;p8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373" name="Google Shape;3373;p84"/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4" name="Google Shape;3374;p84"/>
          <p:cNvCxnSpPr>
            <a:stCxn id="3372" idx="3"/>
            <a:endCxn id="3362" idx="0"/>
          </p:cNvCxnSpPr>
          <p:nvPr/>
        </p:nvCxnSpPr>
        <p:spPr>
          <a:xfrm>
            <a:off x="3801357" y="1584740"/>
            <a:ext cx="1109400" cy="117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mazon Simple Storage Service (Amazon S3) service icon." id="3375" name="Google Shape;3375;p8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6" name="Google Shape;3376;p84"/>
          <p:cNvCxnSpPr>
            <a:stCxn id="3375" idx="2"/>
            <a:endCxn id="3362" idx="0"/>
          </p:cNvCxnSpPr>
          <p:nvPr/>
        </p:nvCxnSpPr>
        <p:spPr>
          <a:xfrm>
            <a:off x="4642304" y="1776477"/>
            <a:ext cx="268500" cy="98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cxnSp>
        <p:nvCxnSpPr>
          <p:cNvPr id="3377" name="Google Shape;3377;p84"/>
          <p:cNvCxnSpPr>
            <a:endCxn id="3360" idx="0"/>
          </p:cNvCxnSpPr>
          <p:nvPr/>
        </p:nvCxnSpPr>
        <p:spPr>
          <a:xfrm>
            <a:off x="3041401" y="1787602"/>
            <a:ext cx="1059600" cy="973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sm" w="sm" type="none"/>
          </a:ln>
        </p:spPr>
      </p:cxnSp>
      <p:sp>
        <p:nvSpPr>
          <p:cNvPr id="3378" name="Google Shape;3378;p84"/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9" name="Google Shape;3379;p84"/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p84"/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1" name="Google Shape;3381;p84"/>
          <p:cNvCxnSpPr>
            <a:stCxn id="3370" idx="2"/>
            <a:endCxn id="3363" idx="2"/>
          </p:cNvCxnSpPr>
          <p:nvPr/>
        </p:nvCxnSpPr>
        <p:spPr>
          <a:xfrm flipH="1" rot="-5400000">
            <a:off x="1403836" y="2183699"/>
            <a:ext cx="199500" cy="1840500"/>
          </a:xfrm>
          <a:prstGeom prst="bentConnector3">
            <a:avLst>
              <a:gd fmla="val 214541" name="adj1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WS Lambda service icon." id="3367" name="Google Shape;3367;p8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82" name="Google Shape;3382;p84"/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3366" name="Google Shape;3366;p8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383" name="Google Shape;3383;p84"/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4" name="Google Shape;3384;p84"/>
          <p:cNvCxnSpPr>
            <a:endCxn id="3367" idx="0"/>
          </p:cNvCxnSpPr>
          <p:nvPr/>
        </p:nvCxnSpPr>
        <p:spPr>
          <a:xfrm flipH="1">
            <a:off x="1540576" y="1700028"/>
            <a:ext cx="1136100" cy="1095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385" name="Google Shape;3385;p84"/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(Serverless)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S Lambda service icon." id="3386" name="Google Shape;3386;p8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387" name="Google Shape;3387;p84"/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8" name="Google Shape;3388;p84"/>
          <p:cNvCxnSpPr>
            <a:stCxn id="3386" idx="0"/>
            <a:endCxn id="3356" idx="2"/>
          </p:cNvCxnSpPr>
          <p:nvPr/>
        </p:nvCxnSpPr>
        <p:spPr>
          <a:xfrm rot="10800000">
            <a:off x="2838402" y="1799928"/>
            <a:ext cx="511800" cy="99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pic>
        <p:nvPicPr>
          <p:cNvPr descr="Amazon Elastic Compute Cloud (Amazon EC2) service icon." id="3389" name="Google Shape;3389;p8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390" name="Google Shape;3390;p84"/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EC2(MySQL)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1" name="Google Shape;3391;p84"/>
          <p:cNvCxnSpPr>
            <a:stCxn id="3389" idx="1"/>
            <a:endCxn id="3386" idx="2"/>
          </p:cNvCxnSpPr>
          <p:nvPr/>
        </p:nvCxnSpPr>
        <p:spPr>
          <a:xfrm rot="10800000">
            <a:off x="3350113" y="3203523"/>
            <a:ext cx="552000" cy="37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5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p8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(데이터 적재)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7" name="Google Shape;3397;p85"/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= X_test.copy()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result["prediction"] = pred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result.to_gbq(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"lifesync_dw.vip_prediction_result",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project_id="your-project",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if_exists="replace"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398" name="Google Shape;3398;p85"/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결과를 BigQuery로 저장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9" name="Google Shape;3399;p85"/>
          <p:cNvSpPr txBox="1"/>
          <p:nvPr/>
        </p:nvSpPr>
        <p:spPr>
          <a:xfrm>
            <a:off x="243510" y="1664079"/>
            <a:ext cx="3239919" cy="1938992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lifesync_curated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lifesync_curated.customer_360_profile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lifesync_curated.score_mart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lifesync_curated.ai_feature_table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lifesync_curated.vip_candidate_mart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lifesync_curated.recommendation_mart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lifesync_curated.health_mart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lifesync_ml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lifesync_serving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0" name="Google Shape;3400;p85"/>
          <p:cNvSpPr txBox="1"/>
          <p:nvPr/>
        </p:nvSpPr>
        <p:spPr>
          <a:xfrm>
            <a:off x="243510" y="123037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 Dataset 생성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01" name="Google Shape;3401;p85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Transfer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03:25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BigQuery Load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02" name="Google Shape;3402;p85"/>
          <p:cNvSpPr txBox="1"/>
          <p:nvPr/>
        </p:nvSpPr>
        <p:spPr>
          <a:xfrm>
            <a:off x="9515395" y="1990686"/>
            <a:ext cx="2541893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 적재 방식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3" name="Google Shape;3403;p85"/>
          <p:cNvSpPr txBox="1"/>
          <p:nvPr/>
        </p:nvSpPr>
        <p:spPr>
          <a:xfrm>
            <a:off x="9515395" y="2432169"/>
            <a:ext cx="25418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매일 새벽 03:00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→ GCS → BigQuery Load</a:t>
            </a:r>
            <a:endParaRPr/>
          </a:p>
        </p:txBody>
      </p:sp>
      <p:sp>
        <p:nvSpPr>
          <p:cNvPr id="3404" name="Google Shape;3404;p85"/>
          <p:cNvSpPr txBox="1"/>
          <p:nvPr/>
        </p:nvSpPr>
        <p:spPr>
          <a:xfrm>
            <a:off x="3788230" y="1739176"/>
            <a:ext cx="3239919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Customer360 = 서비스 조회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 Mart = 앱 점수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Feature = Vertex AI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= 마케팅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Mart = PB 영업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Mart = 헬스케어</a:t>
            </a:r>
            <a:endParaRPr/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lifesync_ml은 AI 학습 레이어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lifesync_serving은 서비스 제공 레이어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p85"/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EMR에서 생성된 6개 데이터셋은 S3 Curated에는 Parquet 파티션 형태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BigQuery에는 목적별 테이블 구조로 적재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6" name="Google Shape;3406;p85"/>
          <p:cNvSpPr txBox="1"/>
          <p:nvPr/>
        </p:nvSpPr>
        <p:spPr>
          <a:xfrm>
            <a:off x="243509" y="398759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 테이블 매핑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07" name="Google Shape;3407;p85"/>
          <p:cNvGraphicFramePr/>
          <p:nvPr/>
        </p:nvGraphicFramePr>
        <p:xfrm>
          <a:off x="243509" y="4380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269750"/>
                <a:gridCol w="2269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GCS 경로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BigQuery 테이블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customer_360_profile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customer_360_profile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score_mart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score_mart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ai_feature_table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ai_feature_table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vip_candidate_mart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vip_candidate_mart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recommendation_mart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recommendation_mart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1" name="Shape 3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2" name="Google Shape;3412;p8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(학습용 데이터셋 생성 – 1/3)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3" name="Google Shape;3413;p86"/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= X_test.copy()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result["prediction"] = pred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result.to_gbq(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"lifesync_dw.vip_prediction_result",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project_id="your-project",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if_exists="replace"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414" name="Google Shape;3414;p86"/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결과를 BigQuery로 저장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15" name="Google Shape;3415;p86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Transfer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03:25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BigQuery Load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16" name="Google Shape;3416;p86"/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적재 후 View/SQL로 분석 및 학습용 데이터셋 생성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p86"/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STEP1 BigQuery View 분석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STEP2 KPI / 고객 인사이트 분석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STEP3 ML 학습용 Table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8" name="Google Shape;3418;p86"/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 분석 및 데이터셋 생성 프로세스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86"/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STEP1. BigQuery View 분석 -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운영자가 즉시 조회 가능한 분석용 View 생성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86"/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고객 통합 View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p86"/>
          <p:cNvSpPr txBox="1"/>
          <p:nvPr/>
        </p:nvSpPr>
        <p:spPr>
          <a:xfrm>
            <a:off x="350625" y="4128293"/>
            <a:ext cx="4938828" cy="246221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VIEW lifesync_serving.v_customer_summary 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c.global_id,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c.customer_grade,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s.lifesync_score,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c.latest_balance,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c.invest_total,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c.card_total_spend,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h.health_score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lifesync_curated.customer_360_profile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JOIN lifesync_curated.score_mart 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c.global_id = s.global_id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JOIN lifesync_curated.health_mart 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c.global_id = h.global_id;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2" name="Google Shape;3422;p86"/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VIP 고객 View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3" name="Google Shape;3423;p86"/>
          <p:cNvSpPr txBox="1"/>
          <p:nvPr/>
        </p:nvSpPr>
        <p:spPr>
          <a:xfrm>
            <a:off x="5822460" y="4128293"/>
            <a:ext cx="4938828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VIEW lifesync_serving.v_vip_customer 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lifesync_curated.vip_candidate_mart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vip_level IN ('VIP_CONFIRMED','PB_TARGET');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4" name="Google Shape;3424;p86"/>
          <p:cNvSpPr txBox="1"/>
          <p:nvPr/>
        </p:nvSpPr>
        <p:spPr>
          <a:xfrm>
            <a:off x="5768902" y="5262324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추천 View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5" name="Google Shape;3425;p86"/>
          <p:cNvSpPr txBox="1"/>
          <p:nvPr/>
        </p:nvSpPr>
        <p:spPr>
          <a:xfrm>
            <a:off x="5822460" y="5650191"/>
            <a:ext cx="4938828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VIEW lifesync_serving.v_recommend_top3 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lifesync_curated.recommendation_mart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rec_rank &lt;= 3;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6" name="Google Shape;3426;p86"/>
          <p:cNvSpPr txBox="1"/>
          <p:nvPr/>
        </p:nvSpPr>
        <p:spPr>
          <a:xfrm>
            <a:off x="3545467" y="1939761"/>
            <a:ext cx="255053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lifesync_ml.vip_training_data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lifesync_ml.rec_training_data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lifesync_ml.health_training_data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7" name="Google Shape;3427;p86"/>
          <p:cNvSpPr txBox="1"/>
          <p:nvPr/>
        </p:nvSpPr>
        <p:spPr>
          <a:xfrm>
            <a:off x="243509" y="1130907"/>
            <a:ext cx="54371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View는 한번 만들어두고, 학습용 데이터 생성은 스케줄 자동 실행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8" name="Google Shape;3428;p86"/>
          <p:cNvSpPr txBox="1"/>
          <p:nvPr/>
        </p:nvSpPr>
        <p:spPr>
          <a:xfrm>
            <a:off x="5228996" y="1137883"/>
            <a:ext cx="28346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1회 구축: View / SQL / 모델 생성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8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(학습용 데이터셋 생성 – 2/3)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4" name="Google Shape;3434;p87"/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= X_test.copy()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result["prediction"] = pred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result.to_gbq(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"lifesync_dw.vip_prediction_result",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project_id="your-project",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if_exists="replace"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435" name="Google Shape;3435;p87"/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결과를 BigQuery로 저장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36" name="Google Shape;3436;p87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Transfer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03:25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BigQuery Load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7" name="Google Shape;3437;p87"/>
          <p:cNvSpPr txBox="1"/>
          <p:nvPr/>
        </p:nvSpPr>
        <p:spPr>
          <a:xfrm>
            <a:off x="243510" y="707150"/>
            <a:ext cx="874574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BigQuery의 View 분석 및 학습용 데이터 생성 명령어는 초기에는 수작업으로 만들고, 운영 단계에서는 Scheduled Query 실행 구조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p87"/>
          <p:cNvSpPr txBox="1"/>
          <p:nvPr/>
        </p:nvSpPr>
        <p:spPr>
          <a:xfrm>
            <a:off x="243509" y="1799085"/>
            <a:ext cx="255053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STEP1 BigQuery View 분석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STEP2 KPI / 고객 인사이트 분석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STEP3 ML 학습용 Table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9" name="Google Shape;3439;p87"/>
          <p:cNvSpPr txBox="1"/>
          <p:nvPr/>
        </p:nvSpPr>
        <p:spPr>
          <a:xfrm>
            <a:off x="252149" y="1433325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 분석 및 데이터셋 생성 프로세스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0" name="Google Shape;3440;p87"/>
          <p:cNvSpPr txBox="1"/>
          <p:nvPr/>
        </p:nvSpPr>
        <p:spPr>
          <a:xfrm>
            <a:off x="243509" y="3037042"/>
            <a:ext cx="66637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STEP2. KPI 분석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1" name="Google Shape;3441;p87"/>
          <p:cNvSpPr txBox="1"/>
          <p:nvPr/>
        </p:nvSpPr>
        <p:spPr>
          <a:xfrm>
            <a:off x="243509" y="3599750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고객 등급 분포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2" name="Google Shape;3442;p87"/>
          <p:cNvSpPr txBox="1"/>
          <p:nvPr/>
        </p:nvSpPr>
        <p:spPr>
          <a:xfrm>
            <a:off x="350625" y="3987617"/>
            <a:ext cx="4938828" cy="60016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customer_grade, COUNT(*)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lifesync_curated.score_mart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BY customer_grade;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3" name="Google Shape;3443;p87"/>
          <p:cNvSpPr txBox="1"/>
          <p:nvPr/>
        </p:nvSpPr>
        <p:spPr>
          <a:xfrm>
            <a:off x="5768902" y="3599750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VIP 후보 수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4" name="Google Shape;3444;p87"/>
          <p:cNvSpPr txBox="1"/>
          <p:nvPr/>
        </p:nvSpPr>
        <p:spPr>
          <a:xfrm>
            <a:off x="5822460" y="3987617"/>
            <a:ext cx="4938828" cy="430887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COUNT(*)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lifesync_curated.vip_candidate_mart;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5" name="Google Shape;3445;p87"/>
          <p:cNvSpPr txBox="1"/>
          <p:nvPr/>
        </p:nvSpPr>
        <p:spPr>
          <a:xfrm>
            <a:off x="5768902" y="5121648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건강 위험 고객 수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6" name="Google Shape;3446;p87"/>
          <p:cNvSpPr txBox="1"/>
          <p:nvPr/>
        </p:nvSpPr>
        <p:spPr>
          <a:xfrm>
            <a:off x="5822460" y="5509515"/>
            <a:ext cx="4938828" cy="60016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COUNT(*)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lifesync_curated.health_mart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health_grade='RISK';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7" name="Google Shape;3447;p87"/>
          <p:cNvSpPr txBox="1"/>
          <p:nvPr/>
        </p:nvSpPr>
        <p:spPr>
          <a:xfrm>
            <a:off x="243509" y="5121648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추천 상품 Top 10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8" name="Google Shape;3448;p87"/>
          <p:cNvSpPr txBox="1"/>
          <p:nvPr/>
        </p:nvSpPr>
        <p:spPr>
          <a:xfrm>
            <a:off x="350625" y="5509515"/>
            <a:ext cx="4938828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recommendation_name, COUNT(*)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lifesync_curated.recommendation_mart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BY recommendation_name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BY 2 DESC;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9" name="Google Shape;3449;p87"/>
          <p:cNvSpPr txBox="1"/>
          <p:nvPr/>
        </p:nvSpPr>
        <p:spPr>
          <a:xfrm>
            <a:off x="3545467" y="1799085"/>
            <a:ext cx="255053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lifesync_ml.vip_training_data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lifesync_ml.rec_training_data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lifesync_ml.health_training_data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3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p8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(학습용 데이터셋 생성 – 3/3)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5" name="Google Shape;3455;p88"/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 = X_test.copy()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result["prediction"] = pred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result.to_gbq(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"lifesync_dw.vip_prediction_result",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project_id="your-project",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if_exists="replace"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456" name="Google Shape;3456;p88"/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결과를 BigQuery로 저장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57" name="Google Shape;3457;p88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Transfer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03:25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BigQuery Load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8" name="Google Shape;3458;p88"/>
          <p:cNvSpPr txBox="1"/>
          <p:nvPr/>
        </p:nvSpPr>
        <p:spPr>
          <a:xfrm>
            <a:off x="243509" y="707150"/>
            <a:ext cx="890049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BigQuery의 View 분석 및 학습용 데이터 생성 명령어는 초기에는 수작업으로 만들고, 운영 단계에서는 Scheduled Query 실행 구조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9" name="Google Shape;3459;p88"/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STEP1 BigQuery View 분석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STEP2 KPI / 고객 인사이트 분석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STEP3 ML 학습용 Table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0" name="Google Shape;3460;p88"/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 분석 및 데이터셋 생성 프로세스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1" name="Google Shape;3461;p88"/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STEP3. ML 학습용 데이터 생성 – Dataset : lifesync_ml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2" name="Google Shape;3462;p88"/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VIP 학습 데이터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3" name="Google Shape;3463;p88"/>
          <p:cNvSpPr txBox="1"/>
          <p:nvPr/>
        </p:nvSpPr>
        <p:spPr>
          <a:xfrm>
            <a:off x="350625" y="4128293"/>
            <a:ext cx="4938828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TABLE lifesync_ml.vip_training_data 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lifesync_curated.ai_feature_table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vip_label IS NOT NULL;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4" name="Google Shape;3464;p88"/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추천 모델 학습 데이터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5" name="Google Shape;3465;p88"/>
          <p:cNvSpPr txBox="1"/>
          <p:nvPr/>
        </p:nvSpPr>
        <p:spPr>
          <a:xfrm>
            <a:off x="5822460" y="4128293"/>
            <a:ext cx="4938828" cy="60016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TABLE lifesync_ml.rec_training_data 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lifesync_curated.ai_feature_table;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6" name="Google Shape;3466;p88"/>
          <p:cNvSpPr txBox="1"/>
          <p:nvPr/>
        </p:nvSpPr>
        <p:spPr>
          <a:xfrm>
            <a:off x="243509" y="5262324"/>
            <a:ext cx="50459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Health 예측 학습 데이터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7" name="Google Shape;3467;p88"/>
          <p:cNvSpPr txBox="1"/>
          <p:nvPr/>
        </p:nvSpPr>
        <p:spPr>
          <a:xfrm>
            <a:off x="350625" y="5650191"/>
            <a:ext cx="4938828" cy="60016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OR REPLACE TABLE lifesync_ml.health_training_data 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 lifesync_curated.ai_feature_table;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8" name="Google Shape;3468;p88"/>
          <p:cNvSpPr txBox="1"/>
          <p:nvPr/>
        </p:nvSpPr>
        <p:spPr>
          <a:xfrm>
            <a:off x="3545467" y="1939761"/>
            <a:ext cx="255053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lifesync_ml.vip_training_input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Lifesync_ml_signup_scoring_input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lifesync_ml.rec_training_input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lifesync_ml.health_training_input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88"/>
          <p:cNvSpPr txBox="1"/>
          <p:nvPr/>
        </p:nvSpPr>
        <p:spPr>
          <a:xfrm>
            <a:off x="9460631" y="1941328"/>
            <a:ext cx="273137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Scheduled Query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03:30 vip_training_data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03:35 signup_training_data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03:40 rec_training_data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03:45 health_training_data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0" name="Google Shape;3470;p88"/>
          <p:cNvSpPr txBox="1"/>
          <p:nvPr/>
        </p:nvSpPr>
        <p:spPr>
          <a:xfrm>
            <a:off x="6138936" y="1174796"/>
            <a:ext cx="3194436" cy="2123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 Scheduled Query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: lifesync-vip-training-daily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반복주기 설정 :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Every day 03:10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Timezone: Asia/Seoul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설정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Preference: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Overwrite / Append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4" name="Shape 3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5" name="Google Shape;3475;p8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(AI 모델 학습)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89"/>
          <p:cNvSpPr txBox="1"/>
          <p:nvPr/>
        </p:nvSpPr>
        <p:spPr>
          <a:xfrm>
            <a:off x="243509" y="1813951"/>
            <a:ext cx="668945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 맞춤 모델 개발 (모델 알고리즘)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XGBoost 모델을 Python 코드로 학습시키고,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 결과 모델 파일을 Vertex AI(모델을 운영하는 플랫폼)에 등록·배포하는 방식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7" name="Google Shape;3477;p89"/>
          <p:cNvSpPr txBox="1"/>
          <p:nvPr/>
        </p:nvSpPr>
        <p:spPr>
          <a:xfrm>
            <a:off x="243509" y="1366776"/>
            <a:ext cx="107558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AI는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모델을 제공하는 플랫폼이면서 동시에 직접 모델을 구축·학습·배포할 수 있는 통합 AI 서비스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8" name="Google Shape;3478;p89"/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Scheduled Query가 학습/예측 입력 테이블을 만들고, Cloud Scheduler가 Python Trigger를 실행해</a:t>
            </a:r>
            <a:b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 Batch Predict를 자동 수행하는 구조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79" name="Google Shape;3479;p89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Vertext AI Predict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0" name="Google Shape;3480;p89"/>
          <p:cNvSpPr txBox="1"/>
          <p:nvPr/>
        </p:nvSpPr>
        <p:spPr>
          <a:xfrm>
            <a:off x="243509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XGBoost 모델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81" name="Google Shape;3481;p89"/>
          <p:cNvGraphicFramePr/>
          <p:nvPr/>
        </p:nvGraphicFramePr>
        <p:xfrm>
          <a:off x="243510" y="3125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188425"/>
                <a:gridCol w="2188425"/>
                <a:gridCol w="21884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모델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목적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예측값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신규 가입 가능성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signup_prob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승급 가능성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클릭/구매 가능성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미래 건강 위험도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health_score_pred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2" name="Google Shape;3482;p89"/>
          <p:cNvSpPr txBox="1"/>
          <p:nvPr/>
        </p:nvSpPr>
        <p:spPr>
          <a:xfrm>
            <a:off x="243509" y="480555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권장 알고리즘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83" name="Google Shape;3483;p89"/>
          <p:cNvGraphicFramePr/>
          <p:nvPr/>
        </p:nvGraphicFramePr>
        <p:xfrm>
          <a:off x="243509" y="52495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3282625"/>
                <a:gridCol w="32826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모델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XGBoost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XGBoost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예측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XGBoost / Ranking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XGBoost Regressor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4" name="Google Shape;3484;p89"/>
          <p:cNvSpPr txBox="1"/>
          <p:nvPr/>
        </p:nvSpPr>
        <p:spPr>
          <a:xfrm>
            <a:off x="8034973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재학습 주기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85" name="Google Shape;3485;p89"/>
          <p:cNvGraphicFramePr/>
          <p:nvPr/>
        </p:nvGraphicFramePr>
        <p:xfrm>
          <a:off x="8090784" y="3125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28850"/>
                <a:gridCol w="19288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모델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주기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주 1회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주 1회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주 2회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월 1회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6" name="Google Shape;3486;p89"/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매일 04:00 Cloud Scheduler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Run Python Trigger 실행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 Batch Predict 실행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결과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0" name="Shape 3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" name="Google Shape;3491;p9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(AI 모델 학습)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2" name="Google Shape;3492;p90"/>
          <p:cNvSpPr txBox="1"/>
          <p:nvPr/>
        </p:nvSpPr>
        <p:spPr>
          <a:xfrm>
            <a:off x="252706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Cloud Run 배포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3" name="Google Shape;3493;p90"/>
          <p:cNvSpPr txBox="1"/>
          <p:nvPr/>
        </p:nvSpPr>
        <p:spPr>
          <a:xfrm>
            <a:off x="243509" y="1379202"/>
            <a:ext cx="89145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 등록 모델을 매일 자동 실행하여 BigQuery 입력 데이터를 예측하고 결과를 BigQuery에 저장하는 운영용 Batch Predict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4" name="Google Shape;3494;p90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Vertext AI Predict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95" name="Google Shape;3495;p90"/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매일 04:00 Cloud Scheduler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Run Python Trigger 실행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 Batch Predict 실행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결과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6" name="Google Shape;3496;p90"/>
          <p:cNvSpPr txBox="1"/>
          <p:nvPr/>
        </p:nvSpPr>
        <p:spPr>
          <a:xfrm>
            <a:off x="294910" y="2512248"/>
            <a:ext cx="3980111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gcloud run deploy lifesync-predict-runner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--source .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--region asia-northeast3 \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--allow-unauthenticated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7" name="Google Shape;3497;p90"/>
          <p:cNvSpPr txBox="1"/>
          <p:nvPr/>
        </p:nvSpPr>
        <p:spPr>
          <a:xfrm>
            <a:off x="252706" y="390148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Cloud Scheduler 등록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8" name="Google Shape;3498;p90"/>
          <p:cNvSpPr txBox="1"/>
          <p:nvPr/>
        </p:nvSpPr>
        <p:spPr>
          <a:xfrm>
            <a:off x="294910" y="4355115"/>
            <a:ext cx="3980111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매일 04:00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 호출 대상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https://lifesync-predict-runner.run.app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90"/>
          <p:cNvSpPr txBox="1"/>
          <p:nvPr/>
        </p:nvSpPr>
        <p:spPr>
          <a:xfrm>
            <a:off x="5331143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결과 저장 (Batch Predict 결과)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90"/>
          <p:cNvSpPr txBox="1"/>
          <p:nvPr/>
        </p:nvSpPr>
        <p:spPr>
          <a:xfrm>
            <a:off x="5373347" y="2512248"/>
            <a:ext cx="3980111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lifesync_ml.signup_prediction_result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lifesync_ml.health_prediction_result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90"/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Scheduled Query가 학습/예측 입력 테이블을 만들고, Cloud Scheduler가 Python Trigger를 실행해</a:t>
            </a:r>
            <a:b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Vertex AI Batch Predict를 자동 수행하는 구조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5" name="Shape 3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6" name="Google Shape;3506;p9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도출 – 1/4)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07" name="Google Shape;3507;p91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04:30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Result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08" name="Google Shape;3508;p91"/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Scheduled Query → Cloud Scheduler → Vertex_AI_Batch_Predict.py 실행 → 결과 BigQuery 저장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9" name="Google Shape;3509;p91"/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저장 (Batch Predict 결과)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0" name="Google Shape;3510;p91"/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lifesync_ml.signup_prediction_result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lifesync_ml.health_prediction_result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1" name="Google Shape;3511;p91"/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1) VIP Prediction Result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12" name="Google Shape;3512;p91"/>
          <p:cNvGraphicFramePr/>
          <p:nvPr/>
        </p:nvGraphicFramePr>
        <p:xfrm>
          <a:off x="285713" y="3496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181075"/>
                <a:gridCol w="2181075"/>
              </a:tblGrid>
              <a:tr h="1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balance_30d_avg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입력값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invest_total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입력값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affiliate_cnt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입력값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predicted_label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후보 여부 (0/1)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predicted_scores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확률배열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batch_id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실행차수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prediction_time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예측시간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13" name="Google Shape;3513;p91"/>
          <p:cNvGraphicFramePr/>
          <p:nvPr/>
        </p:nvGraphicFramePr>
        <p:xfrm>
          <a:off x="5462090" y="3499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29050"/>
                <a:gridCol w="1729050"/>
                <a:gridCol w="17290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predicted_label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predicted_scores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[0.91,0.09]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[0.18,0.82]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[0.87,0.13]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14" name="Google Shape;3514;p91"/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5" name="Google Shape;3515;p91"/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 = VIP 될 가능성이 높음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6" name="Google Shape;3516;p91"/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7" name="Google Shape;3517;p91"/>
          <p:cNvSpPr txBox="1"/>
          <p:nvPr/>
        </p:nvSpPr>
        <p:spPr>
          <a:xfrm>
            <a:off x="5458153" y="5851211"/>
            <a:ext cx="345810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여부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1" name="Shape 3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Google Shape;3522;p9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도출 – 2/4)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23" name="Google Shape;3523;p92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04:30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Result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24" name="Google Shape;3524;p92"/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Scheduled Query → Cloud Scheduler → Vertex_AI_Batch_Predict.py 실행 → 결과 BigQuery 저장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5" name="Google Shape;3525;p92"/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저장 (Batch Predict 결과)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6" name="Google Shape;3526;p92"/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lifesync_ml.signup_prediction_result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lifesync_ml.health_prediction_result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7" name="Google Shape;3527;p92"/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2) Signup Prediction Result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28" name="Google Shape;3528;p92"/>
          <p:cNvGraphicFramePr/>
          <p:nvPr/>
        </p:nvGraphicFramePr>
        <p:xfrm>
          <a:off x="5462090" y="3499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29050"/>
                <a:gridCol w="1729050"/>
                <a:gridCol w="17290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predicted_label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predicted_scores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[0.84,0.16]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[0.22,0.78]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[0.77,0.23]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29" name="Google Shape;3529;p92"/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0" name="Google Shape;3530;p92"/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0.84 = 가입 가능성 매우 높음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31" name="Google Shape;3531;p92"/>
          <p:cNvGraphicFramePr/>
          <p:nvPr/>
        </p:nvGraphicFramePr>
        <p:xfrm>
          <a:off x="278465" y="35064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61950"/>
                <a:gridCol w="1661950"/>
                <a:gridCol w="16619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타입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feature_dt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기준일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balance_30d_avg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평균 잔액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card_spend_30d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사용액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invest_ratio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투자비율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login_cnt_30d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로그인 횟수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recommend_click_rate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클릭률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affiliate_cnt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계열사 이용수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predicted_label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예측 (0/1)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predicted_scores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ARRAY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prediction_time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TIMESTAMP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예측시각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32" name="Google Shape;3532;p92"/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3" name="Google Shape;3533;p92"/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가입 추천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프리미엄 카드 제안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멤버십 제안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9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도출 – 3/4)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39" name="Google Shape;3539;p93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04:30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Result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0" name="Google Shape;3540;p93"/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Scheduled Query → Cloud Scheduler → Vertex_AI_Batch_Predict.py 실행 → 결과 BigQuery 저장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1" name="Google Shape;3541;p93"/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저장 (Batch Predict 결과)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93"/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lifesync_ml.signup_prediction_result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lifesync_ml.health_prediction_result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3" name="Google Shape;3543;p93"/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3) Recommendation Prediction Result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44" name="Google Shape;3544;p93"/>
          <p:cNvGraphicFramePr/>
          <p:nvPr/>
        </p:nvGraphicFramePr>
        <p:xfrm>
          <a:off x="5462090" y="3499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29050"/>
                <a:gridCol w="1729050"/>
                <a:gridCol w="17290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predicted_label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predicted_scores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[0.91,0.09]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[0.34,0.66]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[0.73,0.27]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5" name="Google Shape;3545;p93"/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6" name="Google Shape;3546;p93"/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 = 추천상품 클릭 / 가입 가능성 높음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47" name="Google Shape;3547;p93"/>
          <p:cNvGraphicFramePr/>
          <p:nvPr/>
        </p:nvGraphicFramePr>
        <p:xfrm>
          <a:off x="267721" y="3499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75425"/>
                <a:gridCol w="1575425"/>
                <a:gridCol w="15754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타입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feature_dt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기준일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현재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invest_total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투자금액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push_click_rate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푸시 반응률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predicted_label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반응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predicted_scores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ARRAY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prediction_time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TIMESTAMP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예측시각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48" name="Google Shape;3548;p93"/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9" name="Google Shape;3549;p93"/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ETF 추천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리모델링 추천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프리미엄 카드 추천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3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p9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도출 – 4/4)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55" name="Google Shape;3555;p94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04:30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Result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56" name="Google Shape;3556;p94"/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Scheduled Query → Cloud Scheduler → Vertex_AI_Batch_Predict.py 실행 → 결과 BigQuery 저장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7" name="Google Shape;3557;p94"/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결과 저장 (Batch Predict 결과)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8" name="Google Shape;3558;p94"/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lifesync_ml.vip_prediction_result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lifesync_ml.signup_prediction_result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lifesync_ml.rec_prediction_result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lifesync_ml.health_prediction_result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9" name="Google Shape;3559;p94"/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4) Health Prediction Result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60" name="Google Shape;3560;p94"/>
          <p:cNvGraphicFramePr/>
          <p:nvPr/>
        </p:nvGraphicFramePr>
        <p:xfrm>
          <a:off x="5462090" y="3499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729050"/>
                <a:gridCol w="17290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predicted_value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92.4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71.8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G000003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48.6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1" name="Google Shape;3561;p94"/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2" name="Google Shape;3562;p94"/>
          <p:cNvSpPr txBox="1"/>
          <p:nvPr/>
        </p:nvSpPr>
        <p:spPr>
          <a:xfrm>
            <a:off x="5462090" y="4654770"/>
            <a:ext cx="4022315" cy="553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 = 매우 건강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 = 관리 필요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 = 건강 위험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63" name="Google Shape;3563;p94"/>
          <p:cNvGraphicFramePr/>
          <p:nvPr/>
        </p:nvGraphicFramePr>
        <p:xfrm>
          <a:off x="285713" y="3488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64750"/>
                <a:gridCol w="1564750"/>
                <a:gridCol w="15647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타입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feature_dt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기준일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avg_steps_30d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평균 걸음수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avg_hr_30d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평균 심박수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stress_avg_30d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스트레스 평균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hospital_visit_90d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병원 방문수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inactive_days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비활성 일수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predicted_value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FLOAT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prediction_time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TIMESTAMP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예측시각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64" name="Google Shape;3564;p94"/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5" name="Google Shape;3565;p94"/>
          <p:cNvSpPr txBox="1"/>
          <p:nvPr/>
        </p:nvSpPr>
        <p:spPr>
          <a:xfrm>
            <a:off x="5458153" y="5851211"/>
            <a:ext cx="345810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추천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운동 프로그램 추천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보장 분석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만성질환 예방 캠페인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9" name="Shape 3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0" name="Google Shape;3570;p9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(고객 가치 점수 도출 – 1/2)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1" name="Google Shape;3571;p95"/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Score는 고객의 현재 자산, 활동성, AI 예측, 건강상태를 합산하여 0~100점으로 계산하는 하이브리드 점수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2" name="Google Shape;3572;p95"/>
          <p:cNvSpPr txBox="1"/>
          <p:nvPr/>
        </p:nvSpPr>
        <p:spPr>
          <a:xfrm>
            <a:off x="297543" y="1100221"/>
            <a:ext cx="5798457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상태를 매일 재평가하는 실시간 고객 가치 점수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3" name="Google Shape;3573;p95"/>
          <p:cNvSpPr txBox="1"/>
          <p:nvPr/>
        </p:nvSpPr>
        <p:spPr>
          <a:xfrm>
            <a:off x="297543" y="288925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Score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4" name="Google Shape;3574;p95"/>
          <p:cNvSpPr txBox="1"/>
          <p:nvPr/>
        </p:nvSpPr>
        <p:spPr>
          <a:xfrm>
            <a:off x="413598" y="3251547"/>
            <a:ext cx="2022343" cy="132343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Score (기존 점수)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VIP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가입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추천 반응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건강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실시간 행동점수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이탈 위험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Dynamic Score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5" name="Google Shape;3575;p95"/>
          <p:cNvSpPr txBox="1"/>
          <p:nvPr/>
        </p:nvSpPr>
        <p:spPr>
          <a:xfrm>
            <a:off x="3177168" y="288925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입력 데이터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6" name="Google Shape;3576;p95"/>
          <p:cNvGraphicFramePr/>
          <p:nvPr/>
        </p:nvGraphicFramePr>
        <p:xfrm>
          <a:off x="3289674" y="3253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98700"/>
                <a:gridCol w="19987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영역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테이블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기존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score_mart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vip_prediction_result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signup_prediction_result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rec_prediction_result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health_prediction_result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행동 로그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app_log / clickstream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77" name="Google Shape;3577;p95"/>
          <p:cNvSpPr txBox="1"/>
          <p:nvPr/>
        </p:nvSpPr>
        <p:spPr>
          <a:xfrm>
            <a:off x="7960184" y="288925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비율 (100점 기준)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8" name="Google Shape;3578;p95"/>
          <p:cNvGraphicFramePr/>
          <p:nvPr/>
        </p:nvGraphicFramePr>
        <p:xfrm>
          <a:off x="8058660" y="32515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09100"/>
                <a:gridCol w="19091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비중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기존 LifeSync 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행동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이탈 위험 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-5%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79" name="Google Shape;3579;p95"/>
          <p:cNvSpPr txBox="1"/>
          <p:nvPr/>
        </p:nvSpPr>
        <p:spPr>
          <a:xfrm>
            <a:off x="309050" y="1470838"/>
            <a:ext cx="26143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Score 규칙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95"/>
          <p:cNvSpPr txBox="1"/>
          <p:nvPr/>
        </p:nvSpPr>
        <p:spPr>
          <a:xfrm>
            <a:off x="309050" y="1833131"/>
            <a:ext cx="7486178" cy="60016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DynamicScore=(BaseScore×0.50)+(VIP×15)+(Signup×10)+(Rec×10)+(Health×0.10)+(Behavior×0.10)−(Churn×0.05)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(확률값은 0~1, 점수는 0~100 기준으로 환산)</a:t>
            </a:r>
            <a:endParaRPr/>
          </a:p>
        </p:txBody>
      </p:sp>
      <p:sp>
        <p:nvSpPr>
          <p:cNvPr id="3581" name="Google Shape;3581;p95"/>
          <p:cNvSpPr txBox="1"/>
          <p:nvPr/>
        </p:nvSpPr>
        <p:spPr>
          <a:xfrm>
            <a:off x="297543" y="5196990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운영 방식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95"/>
          <p:cNvSpPr txBox="1"/>
          <p:nvPr/>
        </p:nvSpPr>
        <p:spPr>
          <a:xfrm>
            <a:off x="309050" y="5612821"/>
            <a:ext cx="32641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매일 새벽 Batch Dynamic Score 재계산</a:t>
            </a:r>
            <a:endParaRPr/>
          </a:p>
          <a:p>
            <a:pPr indent="-1079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시 실시간 Micro Score 보정</a:t>
            </a:r>
            <a:endParaRPr/>
          </a:p>
        </p:txBody>
      </p:sp>
      <p:graphicFrame>
        <p:nvGraphicFramePr>
          <p:cNvPr id="3583" name="Google Shape;3583;p95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809550"/>
                <a:gridCol w="16753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04:40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Dynamic Score 재계산 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4" name="Google Shape;3584;p95"/>
          <p:cNvSpPr txBox="1"/>
          <p:nvPr/>
        </p:nvSpPr>
        <p:spPr>
          <a:xfrm>
            <a:off x="3177168" y="5517693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 데이터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5" name="Google Shape;3585;p95"/>
          <p:cNvSpPr txBox="1"/>
          <p:nvPr/>
        </p:nvSpPr>
        <p:spPr>
          <a:xfrm>
            <a:off x="3219337" y="5933191"/>
            <a:ext cx="406772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Recommendation Mart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6" name="Google Shape;3586;p95"/>
          <p:cNvSpPr txBox="1"/>
          <p:nvPr/>
        </p:nvSpPr>
        <p:spPr>
          <a:xfrm>
            <a:off x="9572404" y="1704678"/>
            <a:ext cx="236689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Scheduler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Run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Predict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Dynamic Score 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├ Recommendation SQL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└ Serving View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0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1" name="Google Shape;3591;p9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(고객 가치 점수 도출 – 2/2)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2" name="Google Shape;3592;p96"/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Score는 Vertex AI 예측 완료 직후 BigQuery SQL로 재계산하고, 이후 추천 Mart와 Serving View를 갱신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3" name="Google Shape;3593;p96"/>
          <p:cNvSpPr txBox="1"/>
          <p:nvPr/>
        </p:nvSpPr>
        <p:spPr>
          <a:xfrm>
            <a:off x="243509" y="1291326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Score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4" name="Google Shape;3594;p96"/>
          <p:cNvSpPr txBox="1"/>
          <p:nvPr/>
        </p:nvSpPr>
        <p:spPr>
          <a:xfrm>
            <a:off x="359564" y="1653619"/>
            <a:ext cx="2022343" cy="1323439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Rule Score (기존 점수)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VIP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가입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추천 반응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건강 예측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실시간 행동점수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이탈 위험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Dynamic Score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5" name="Google Shape;3595;p96"/>
          <p:cNvSpPr txBox="1"/>
          <p:nvPr/>
        </p:nvSpPr>
        <p:spPr>
          <a:xfrm>
            <a:off x="2867679" y="1279168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행동 점수 (예시)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6" name="Google Shape;3596;p96"/>
          <p:cNvSpPr txBox="1"/>
          <p:nvPr/>
        </p:nvSpPr>
        <p:spPr>
          <a:xfrm>
            <a:off x="7735101" y="1294991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이탈 위험 (차감)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97" name="Google Shape;3597;p96"/>
          <p:cNvGraphicFramePr/>
          <p:nvPr/>
        </p:nvGraphicFramePr>
        <p:xfrm>
          <a:off x="2877473" y="16536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23450"/>
                <a:gridCol w="19234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최근 7일 로그인 5회 이상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클릭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앱 체류시간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콘텐츠 열람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 페이지 방문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+20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98" name="Google Shape;3598;p96"/>
          <p:cNvGraphicFramePr/>
          <p:nvPr/>
        </p:nvGraphicFramePr>
        <p:xfrm>
          <a:off x="7735101" y="16673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878625"/>
                <a:gridCol w="18786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차감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30일 미접속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사용 급감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 급감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민원 발생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-25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99" name="Google Shape;3599;p96"/>
          <p:cNvSpPr txBox="1"/>
          <p:nvPr/>
        </p:nvSpPr>
        <p:spPr>
          <a:xfrm>
            <a:off x="2867679" y="423338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 기준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0" name="Google Shape;3600;p96"/>
          <p:cNvSpPr txBox="1"/>
          <p:nvPr/>
        </p:nvSpPr>
        <p:spPr>
          <a:xfrm>
            <a:off x="7735101" y="423338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엔진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1" name="Google Shape;3601;p96"/>
          <p:cNvGraphicFramePr/>
          <p:nvPr/>
        </p:nvGraphicFramePr>
        <p:xfrm>
          <a:off x="2877473" y="4724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23450"/>
                <a:gridCol w="19234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80~89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70~79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SILVER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60~69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&lt;60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02" name="Google Shape;3602;p96"/>
          <p:cNvGraphicFramePr/>
          <p:nvPr/>
        </p:nvGraphicFramePr>
        <p:xfrm>
          <a:off x="7735101" y="4724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878625"/>
                <a:gridCol w="18786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확률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센터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확률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확률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Premium 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낮음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건강검진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이탈 위험 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리텐션 쿠폰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3" name="Google Shape;3603;p96"/>
          <p:cNvSpPr txBox="1"/>
          <p:nvPr/>
        </p:nvSpPr>
        <p:spPr>
          <a:xfrm>
            <a:off x="2740301" y="3178787"/>
            <a:ext cx="398405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 행동점수는 고객의 최근 로그인, 클릭, 체류시간, 거래행동, 건강활동을 즉시 점수화하여 Dynamic Score에 반영하는 구조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7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Google Shape;3608;p9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전달 -&gt; AWS – 1/2)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9" name="Google Shape;3609;p97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04:30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Result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10" name="Google Shape;3610;p97"/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 View는 Dynamic Score, 추천 결과, 예측 결과를 통합한 실시간 전달용 최종 View 이며, Cloud Run이 이를 읽어 AWS Private API Gateway → Lambda로 전달하는 중간 소비 계층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1" name="Google Shape;3611;p97"/>
          <p:cNvSpPr txBox="1"/>
          <p:nvPr/>
        </p:nvSpPr>
        <p:spPr>
          <a:xfrm>
            <a:off x="243509" y="1311636"/>
            <a:ext cx="9027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 View 는 BigQuery에 계산 완료된 데이터를 실시간 API 전달용으로 정리한 최종 소비 계층(View)</a:t>
            </a:r>
            <a:endParaRPr/>
          </a:p>
        </p:txBody>
      </p:sp>
      <p:sp>
        <p:nvSpPr>
          <p:cNvPr id="3612" name="Google Shape;3612;p97"/>
          <p:cNvSpPr txBox="1"/>
          <p:nvPr/>
        </p:nvSpPr>
        <p:spPr>
          <a:xfrm>
            <a:off x="9504792" y="1746846"/>
            <a:ext cx="2620108" cy="9079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arenR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[Sender Cloud Run]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04:40 실행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 View 조회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Private API Gateway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3613" name="Google Shape;3613;p97"/>
          <p:cNvSpPr txBox="1"/>
          <p:nvPr/>
        </p:nvSpPr>
        <p:spPr>
          <a:xfrm>
            <a:off x="270499" y="177027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4" name="Google Shape;3614;p97"/>
          <p:cNvSpPr txBox="1"/>
          <p:nvPr/>
        </p:nvSpPr>
        <p:spPr>
          <a:xfrm>
            <a:off x="312703" y="2223899"/>
            <a:ext cx="3980111" cy="24622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lifesync_serving.v_user_dashboard</a:t>
            </a:r>
            <a:endParaRPr/>
          </a:p>
        </p:txBody>
      </p:sp>
      <p:sp>
        <p:nvSpPr>
          <p:cNvPr id="3615" name="Google Shape;3615;p97"/>
          <p:cNvSpPr txBox="1"/>
          <p:nvPr/>
        </p:nvSpPr>
        <p:spPr>
          <a:xfrm>
            <a:off x="27049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구조 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16" name="Google Shape;3616;p97"/>
          <p:cNvGraphicFramePr/>
          <p:nvPr/>
        </p:nvGraphicFramePr>
        <p:xfrm>
          <a:off x="312703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90050"/>
                <a:gridCol w="19900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dynamic_score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최종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dynamic_grade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VIP/GOLD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next_best_action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액션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signup_prob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가입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rec_prob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반응 확률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update_time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생성시각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17" name="Google Shape;3617;p97"/>
          <p:cNvSpPr txBox="1"/>
          <p:nvPr/>
        </p:nvSpPr>
        <p:spPr>
          <a:xfrm>
            <a:off x="475705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데이터 (예시)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8" name="Google Shape;3618;p97"/>
          <p:cNvSpPr txBox="1"/>
          <p:nvPr/>
        </p:nvSpPr>
        <p:spPr>
          <a:xfrm>
            <a:off x="9665910" y="2913063"/>
            <a:ext cx="2255591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전달 JSON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9" name="Google Shape;3619;p97"/>
          <p:cNvSpPr txBox="1"/>
          <p:nvPr/>
        </p:nvSpPr>
        <p:spPr>
          <a:xfrm>
            <a:off x="9745354" y="3449231"/>
            <a:ext cx="2379545" cy="178510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"global_id": "G001",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"dynamic_score": 92.4,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"dynamic_grade": "VIP",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"next_best_action": "PB_CENTER",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"vip_prob": 0.94,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"signup_prob": 0.81,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"rec_prob": 0.77,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"health_score": 88.1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graphicFrame>
        <p:nvGraphicFramePr>
          <p:cNvPr id="3620" name="Google Shape;3620;p97"/>
          <p:cNvGraphicFramePr/>
          <p:nvPr/>
        </p:nvGraphicFramePr>
        <p:xfrm>
          <a:off x="4757059" y="34548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912225"/>
                <a:gridCol w="1420825"/>
                <a:gridCol w="864700"/>
                <a:gridCol w="10659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dynamic_score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action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92.4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PB_CENTER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83.1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ETF_PRODUCT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58.2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RETENTION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4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" name="Google Shape;3625;p9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전달 -&gt; AWS – 2/2)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26" name="Google Shape;3626;p98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709525"/>
                <a:gridCol w="17753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05:00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Dashboard 조회 정보 반영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7" name="Google Shape;3627;p98"/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 View는 Dynamic Score, 추천 결과, 예측 결과를 통합한 실시간 전달용 최종 View 이며, Cloud Run이 이를 읽어 AWS Private API Gateway → Lambda로 전달하는 중간 소비 계층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8" name="Google Shape;3628;p98"/>
          <p:cNvSpPr txBox="1"/>
          <p:nvPr/>
        </p:nvSpPr>
        <p:spPr>
          <a:xfrm>
            <a:off x="9504792" y="1746846"/>
            <a:ext cx="2620108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arenR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[Sender Cloud Run]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04:40 실행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 View 조회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arenR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AWS API Gateway (Private)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arenR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 Recommendation Engine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DynamoDB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├ Aurora MySQL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└ ElastiCache Redis05:00 Main </a:t>
            </a:r>
            <a:endParaRPr/>
          </a:p>
          <a:p>
            <a:pPr indent="-15875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arenR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에서 정보 조회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9" name="Google Shape;3629;p98"/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0" name="Google Shape;3630;p98"/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fmla="val 827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1" name="Google Shape;3631;p98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632" name="Google Shape;3632;p98"/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b="0" i="0" sz="9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3" name="Google Shape;3633;p98"/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5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34" name="Google Shape;3634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5" name="Google Shape;3635;p98"/>
          <p:cNvCxnSpPr/>
          <p:nvPr/>
        </p:nvCxnSpPr>
        <p:spPr>
          <a:xfrm flipH="1" rot="10800000">
            <a:off x="2134520" y="2758753"/>
            <a:ext cx="408740" cy="268043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36" name="Google Shape;3636;p98"/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3637" name="Google Shape;3637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8" name="Google Shape;3638;p98"/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3639" name="Google Shape;3639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Aurora service icon." id="3640" name="Google Shape;3640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3641" name="Google Shape;3641;p98"/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DynamoDB service icon." id="3642" name="Google Shape;3642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3643" name="Google Shape;3643;p98"/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3644" name="Google Shape;3644;p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3645" name="Google Shape;3645;p98"/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PI Gateway service icon." id="3646" name="Google Shape;3646;p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647" name="Google Shape;3647;p98"/>
          <p:cNvSpPr txBox="1"/>
          <p:nvPr/>
        </p:nvSpPr>
        <p:spPr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</p:txBody>
      </p:sp>
      <p:pic>
        <p:nvPicPr>
          <p:cNvPr descr="AWS Lambda service icon." id="3648" name="Google Shape;3648;p9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649" name="Google Shape;3649;p98"/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0" name="Google Shape;3650;p98"/>
          <p:cNvCxnSpPr>
            <a:stCxn id="3646" idx="3"/>
            <a:endCxn id="3648" idx="1"/>
          </p:cNvCxnSpPr>
          <p:nvPr/>
        </p:nvCxnSpPr>
        <p:spPr>
          <a:xfrm flipH="1" rot="10800000">
            <a:off x="4534102" y="2374769"/>
            <a:ext cx="472500" cy="7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651" name="Google Shape;3651;p9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52" name="Google Shape;3652;p98"/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b="1" i="0" sz="900" u="none" cap="none" strike="noStrike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3" name="Google Shape;3653;p98"/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54" name="Google Shape;3654;p9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55" name="Google Shape;3655;p98"/>
          <p:cNvCxnSpPr>
            <a:stCxn id="3653" idx="1"/>
            <a:endCxn id="3633" idx="3"/>
          </p:cNvCxnSpPr>
          <p:nvPr/>
        </p:nvCxnSpPr>
        <p:spPr>
          <a:xfrm flipH="1">
            <a:off x="1700103" y="2541171"/>
            <a:ext cx="694800" cy="104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656" name="Google Shape;3656;p98"/>
          <p:cNvCxnSpPr>
            <a:stCxn id="3653" idx="3"/>
            <a:endCxn id="3646" idx="1"/>
          </p:cNvCxnSpPr>
          <p:nvPr/>
        </p:nvCxnSpPr>
        <p:spPr>
          <a:xfrm flipH="1" rot="10800000">
            <a:off x="3397530" y="2446071"/>
            <a:ext cx="734100" cy="95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57" name="Google Shape;3657;p98"/>
          <p:cNvSpPr txBox="1"/>
          <p:nvPr/>
        </p:nvSpPr>
        <p:spPr>
          <a:xfrm>
            <a:off x="4900098" y="3105892"/>
            <a:ext cx="38922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Aurora(상품DB) + Redis(추천캐시) + DynamoDB(고객상태)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8" name="Google Shape;3658;p98"/>
          <p:cNvSpPr txBox="1"/>
          <p:nvPr/>
        </p:nvSpPr>
        <p:spPr>
          <a:xfrm>
            <a:off x="354643" y="4270387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API Gateway (Private)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9" name="Google Shape;3659;p98"/>
          <p:cNvSpPr txBox="1"/>
          <p:nvPr/>
        </p:nvSpPr>
        <p:spPr>
          <a:xfrm>
            <a:off x="348358" y="3818884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구성 요소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0" name="Google Shape;3660;p98"/>
          <p:cNvSpPr txBox="1"/>
          <p:nvPr/>
        </p:nvSpPr>
        <p:spPr>
          <a:xfrm>
            <a:off x="486139" y="4658835"/>
            <a:ext cx="3292070" cy="430887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GCP Cloud Run에서만 호출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VPN 경유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1" name="Google Shape;3661;p98"/>
          <p:cNvSpPr txBox="1"/>
          <p:nvPr/>
        </p:nvSpPr>
        <p:spPr>
          <a:xfrm>
            <a:off x="4364232" y="4270387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Lambda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2" name="Google Shape;3662;p98"/>
          <p:cNvSpPr txBox="1"/>
          <p:nvPr/>
        </p:nvSpPr>
        <p:spPr>
          <a:xfrm>
            <a:off x="4495728" y="4658835"/>
            <a:ext cx="3292070" cy="600164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점수 &gt; DynamoDB 저장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오케스트레이터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조합 엔진</a:t>
            </a:r>
            <a:endParaRPr/>
          </a:p>
        </p:txBody>
      </p:sp>
      <p:sp>
        <p:nvSpPr>
          <p:cNvPr id="3663" name="Google Shape;3663;p98"/>
          <p:cNvSpPr txBox="1"/>
          <p:nvPr/>
        </p:nvSpPr>
        <p:spPr>
          <a:xfrm>
            <a:off x="8633722" y="4270387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DynamoDB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4" name="Google Shape;3664;p98"/>
          <p:cNvSpPr txBox="1"/>
          <p:nvPr/>
        </p:nvSpPr>
        <p:spPr>
          <a:xfrm>
            <a:off x="8765218" y="4658835"/>
            <a:ext cx="3292070" cy="261610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최신 점수 / 등급 / AI 결과 저장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5" name="Google Shape;3665;p98"/>
          <p:cNvSpPr txBox="1"/>
          <p:nvPr/>
        </p:nvSpPr>
        <p:spPr>
          <a:xfrm>
            <a:off x="354643" y="5490502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Aurora MySQL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6" name="Google Shape;3666;p98"/>
          <p:cNvSpPr txBox="1"/>
          <p:nvPr/>
        </p:nvSpPr>
        <p:spPr>
          <a:xfrm>
            <a:off x="486139" y="5878950"/>
            <a:ext cx="3292070" cy="600164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그룹사 상품 Master DB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(은행 상품 / 카드 상품 / 보험 상품 / 증권 상품 / 헬스케어 서비스)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7" name="Google Shape;3667;p98"/>
          <p:cNvSpPr txBox="1"/>
          <p:nvPr/>
        </p:nvSpPr>
        <p:spPr>
          <a:xfrm>
            <a:off x="4364232" y="5490502"/>
            <a:ext cx="29217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ElastiCache Redis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8" name="Google Shape;3668;p98"/>
          <p:cNvSpPr txBox="1"/>
          <p:nvPr/>
        </p:nvSpPr>
        <p:spPr>
          <a:xfrm>
            <a:off x="4495728" y="5878950"/>
            <a:ext cx="3292070" cy="430887"/>
          </a:xfrm>
          <a:prstGeom prst="rect">
            <a:avLst/>
          </a:prstGeom>
          <a:solidFill>
            <a:srgbClr val="EDEDE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메인 Dashboard 초고속 캐시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(G001 추천 결과 10분 캐시)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9" name="Google Shape;3669;p98"/>
          <p:cNvCxnSpPr>
            <a:endCxn id="3642" idx="1"/>
          </p:cNvCxnSpPr>
          <p:nvPr/>
        </p:nvCxnSpPr>
        <p:spPr>
          <a:xfrm flipH="1" rot="10800000">
            <a:off x="5398448" y="2006134"/>
            <a:ext cx="216000" cy="440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70" name="Google Shape;3670;p98"/>
          <p:cNvCxnSpPr/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71" name="Google Shape;3671;p98"/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2" name="Google Shape;3672;p98"/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3" name="Google Shape;3673;p98"/>
          <p:cNvSpPr/>
          <p:nvPr/>
        </p:nvSpPr>
        <p:spPr>
          <a:xfrm>
            <a:off x="6964767" y="27176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4" name="Google Shape;3674;p98"/>
          <p:cNvCxnSpPr>
            <a:stCxn id="3649" idx="2"/>
            <a:endCxn id="3645" idx="2"/>
          </p:cNvCxnSpPr>
          <p:nvPr/>
        </p:nvCxnSpPr>
        <p:spPr>
          <a:xfrm flipH="1" rot="-5400000">
            <a:off x="6413170" y="1739719"/>
            <a:ext cx="600" cy="2335200"/>
          </a:xfrm>
          <a:prstGeom prst="bentConnector3">
            <a:avLst>
              <a:gd fmla="val 21092415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8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p9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저장)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0" name="Google Shape;3680;p99"/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Lambda는 GCP 예측 결과를 DynamoDB에 저장한 뒤 Aurora DB에서 고객 등급별 상품·서비스를 조회하여 개인화 추천 데이터를 생성하고, 이를 ElastiCache(Redis)에 캐시하는 구조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1" name="Google Shape;3681;p99"/>
          <p:cNvSpPr txBox="1"/>
          <p:nvPr/>
        </p:nvSpPr>
        <p:spPr>
          <a:xfrm>
            <a:off x="9504792" y="1746846"/>
            <a:ext cx="268720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 최신 점수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 상품 조회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캐시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고객시 로그인 시, Dashboard 정보 조회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82" name="Google Shape;3682;p99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709525"/>
                <a:gridCol w="17753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05:00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Dashboard 조회 정보 반영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3" name="Google Shape;3683;p99"/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fmla="val 399" name="adj"/>
            </a:avLst>
          </a:prstGeom>
          <a:solidFill>
            <a:srgbClr val="F6F6F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p99"/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fmla="val 827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5" name="Google Shape;3685;p99"/>
          <p:cNvPicPr preferRelativeResize="0"/>
          <p:nvPr/>
        </p:nvPicPr>
        <p:blipFill rotWithShape="1">
          <a:blip r:embed="rId3">
            <a:alphaModFix/>
          </a:blip>
          <a:srcRect b="-59116" l="-6931" r="-5592" t="-49479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686" name="Google Shape;3686;p99"/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640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b="0" i="0" sz="9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7" name="Google Shape;3687;p99"/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fmla="val 1674" name="adj"/>
            </a:avLst>
          </a:prstGeom>
          <a:solidFill>
            <a:schemeClr val="lt1"/>
          </a:solidFill>
          <a:ln>
            <a:noFill/>
          </a:ln>
          <a:effectLst>
            <a:outerShdw blurRad="19050" rotWithShape="0" algn="ctr" dir="5400000" dist="6350">
              <a:schemeClr val="dk1">
                <a:alpha val="44705"/>
              </a:schemeClr>
            </a:outerShdw>
          </a:effectLst>
        </p:spPr>
        <p:txBody>
          <a:bodyPr anchorCtr="0" anchor="ctr" bIns="146300" lIns="429750" spcFirstLastPara="1" rIns="45700" wrap="square" tIns="118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88" name="Google Shape;3688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9" name="Google Shape;3689;p99"/>
          <p:cNvCxnSpPr/>
          <p:nvPr/>
        </p:nvCxnSpPr>
        <p:spPr>
          <a:xfrm flipH="1" rot="10800000">
            <a:off x="2134520" y="2758753"/>
            <a:ext cx="408740" cy="268043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90" name="Google Shape;3690;p99"/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3691" name="Google Shape;3691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2" name="Google Shape;3692;p99"/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3693" name="Google Shape;3693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Aurora service icon." id="3694" name="Google Shape;3694;p9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3695" name="Google Shape;3695;p99"/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DynamoDB service icon." id="3696" name="Google Shape;3696;p9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3697" name="Google Shape;3697;p99"/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3698" name="Google Shape;3698;p9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3699" name="Google Shape;3699;p99"/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API Gateway service icon." id="3700" name="Google Shape;3700;p9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701" name="Google Shape;3701;p99"/>
          <p:cNvSpPr txBox="1"/>
          <p:nvPr/>
        </p:nvSpPr>
        <p:spPr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</p:txBody>
      </p:sp>
      <p:pic>
        <p:nvPicPr>
          <p:cNvPr descr="AWS Lambda service icon." id="3702" name="Google Shape;3702;p9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3703" name="Google Shape;3703;p99"/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4" name="Google Shape;3704;p99"/>
          <p:cNvCxnSpPr>
            <a:stCxn id="3700" idx="3"/>
            <a:endCxn id="3702" idx="1"/>
          </p:cNvCxnSpPr>
          <p:nvPr/>
        </p:nvCxnSpPr>
        <p:spPr>
          <a:xfrm flipH="1" rot="10800000">
            <a:off x="4534102" y="2374769"/>
            <a:ext cx="472500" cy="7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705" name="Google Shape;3705;p9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706" name="Google Shape;3706;p99"/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900"/>
              <a:buFont typeface="Open Sans"/>
              <a:buNone/>
            </a:pPr>
            <a:r>
              <a:rPr b="1" i="0" lang="en-US" sz="900" u="none" cap="none" strike="noStrike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b="1" i="0" sz="900" u="none" cap="none" strike="noStrike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7" name="Google Shape;3707;p99"/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ctr" dir="5400000" dist="6350">
              <a:srgbClr val="000000">
                <a:alpha val="44705"/>
              </a:srgbClr>
            </a:outerShdw>
          </a:effectLst>
        </p:spPr>
        <p:txBody>
          <a:bodyPr anchorCtr="0" anchor="ctr" bIns="73150" lIns="429750" spcFirstLastPara="1" rIns="45700" wrap="square" tIns="73150">
            <a:noAutofit/>
          </a:bodyPr>
          <a:lstStyle/>
          <a:p>
            <a:pPr indent="0" lvl="0" marL="0" marR="0" rtl="0" algn="l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Roboto"/>
              <a:buNone/>
            </a:pPr>
            <a:r>
              <a:rPr b="0" i="0" lang="en-US" sz="900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b="0" i="0" sz="900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708" name="Google Shape;3708;p9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9" name="Google Shape;3709;p99"/>
          <p:cNvCxnSpPr>
            <a:stCxn id="3707" idx="1"/>
            <a:endCxn id="3687" idx="3"/>
          </p:cNvCxnSpPr>
          <p:nvPr/>
        </p:nvCxnSpPr>
        <p:spPr>
          <a:xfrm flipH="1">
            <a:off x="1700103" y="2541171"/>
            <a:ext cx="694800" cy="1044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710" name="Google Shape;3710;p99"/>
          <p:cNvCxnSpPr>
            <a:stCxn id="3707" idx="3"/>
            <a:endCxn id="3700" idx="1"/>
          </p:cNvCxnSpPr>
          <p:nvPr/>
        </p:nvCxnSpPr>
        <p:spPr>
          <a:xfrm flipH="1" rot="10800000">
            <a:off x="3397530" y="2446071"/>
            <a:ext cx="734100" cy="95100"/>
          </a:xfrm>
          <a:prstGeom prst="straightConnector1">
            <a:avLst/>
          </a:prstGeom>
          <a:noFill/>
          <a:ln cap="flat" cmpd="sng" w="9525">
            <a:solidFill>
              <a:srgbClr val="3A7DF0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711" name="Google Shape;3711;p99"/>
          <p:cNvSpPr txBox="1"/>
          <p:nvPr/>
        </p:nvSpPr>
        <p:spPr>
          <a:xfrm>
            <a:off x="4900098" y="3042842"/>
            <a:ext cx="38922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Aurora(상품DB) + Redis(추천캐시) + DynamoDB(고객상태)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2" name="Google Shape;3712;p99"/>
          <p:cNvCxnSpPr>
            <a:endCxn id="3696" idx="1"/>
          </p:cNvCxnSpPr>
          <p:nvPr/>
        </p:nvCxnSpPr>
        <p:spPr>
          <a:xfrm flipH="1" rot="10800000">
            <a:off x="5398448" y="2006134"/>
            <a:ext cx="216000" cy="440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13" name="Google Shape;3713;p99"/>
          <p:cNvCxnSpPr/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14" name="Google Shape;3714;p99"/>
          <p:cNvCxnSpPr>
            <a:endCxn id="3698" idx="1"/>
          </p:cNvCxnSpPr>
          <p:nvPr/>
        </p:nvCxnSpPr>
        <p:spPr>
          <a:xfrm flipH="1" rot="10800000">
            <a:off x="5409152" y="2350071"/>
            <a:ext cx="1871400" cy="166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15" name="Google Shape;3715;p99"/>
          <p:cNvSpPr txBox="1"/>
          <p:nvPr/>
        </p:nvSpPr>
        <p:spPr>
          <a:xfrm>
            <a:off x="383327" y="3711943"/>
            <a:ext cx="32606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DynamicDB 저장 메세지 (lifesync_customer_result)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6" name="Google Shape;3716;p99"/>
          <p:cNvSpPr txBox="1"/>
          <p:nvPr/>
        </p:nvSpPr>
        <p:spPr>
          <a:xfrm>
            <a:off x="499382" y="4291286"/>
            <a:ext cx="3144563" cy="209288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"global_id":"G001",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"update_time":"2026-04-28T04:30:00Z",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"dynamic_score":92.4,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"dynamic_grade":"VIP",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"next_best_action":"PB_CENTER",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"vip_prob":0.94,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"signup_prob":0.81,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"rec_prob":0.77,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"health_score":88.1,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"source":"GCP_LIFESYNC360",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"ttl":1777777777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717" name="Google Shape;3717;p99"/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8" name="Google Shape;3718;p99"/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9" name="Google Shape;3719;p99"/>
          <p:cNvSpPr/>
          <p:nvPr/>
        </p:nvSpPr>
        <p:spPr>
          <a:xfrm>
            <a:off x="6953272" y="245154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0" name="Google Shape;3720;p99"/>
          <p:cNvSpPr txBox="1"/>
          <p:nvPr/>
        </p:nvSpPr>
        <p:spPr>
          <a:xfrm>
            <a:off x="4550634" y="3699768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 상품 조회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1" name="Google Shape;3721;p99"/>
          <p:cNvSpPr txBox="1"/>
          <p:nvPr/>
        </p:nvSpPr>
        <p:spPr>
          <a:xfrm>
            <a:off x="4666689" y="4279111"/>
            <a:ext cx="3144563" cy="209288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"global_id":"G001",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"update_time":"2026-04-28T04:30:00Z",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"dynamic_score":92.4,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"dynamic_grade":"VIP",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"next_best_action":"PB_CENTER",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"vip_prob":0.94,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"signup_prob":0.81,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"rec_prob":0.77,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"health_score":88.1,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"source":"GCP_LIFESYNC360",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"ttl":1777777777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3722" name="Google Shape;3722;p99"/>
          <p:cNvSpPr txBox="1"/>
          <p:nvPr/>
        </p:nvSpPr>
        <p:spPr>
          <a:xfrm>
            <a:off x="8472234" y="3699768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Aurora, 상품 데이터 생성 시나리오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3" name="Google Shape;3723;p99"/>
          <p:cNvSpPr txBox="1"/>
          <p:nvPr/>
        </p:nvSpPr>
        <p:spPr>
          <a:xfrm>
            <a:off x="8472235" y="4202884"/>
            <a:ext cx="361883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6개 계열사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10~15개 카테고리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120개 상품명을 Base Pool로 등록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Pool × Variant 조합으로 10,000개 상품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상품별 옵션 3~6개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등급/점수/카테고리 기반 추천 규칙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금융+헬스+보험 교차판매 규칙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등급별 캠페인 생성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7" name="Shape 3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8" name="Google Shape;3728;p10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1/11)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9" name="Google Shape;3729;p100"/>
          <p:cNvSpPr txBox="1"/>
          <p:nvPr/>
        </p:nvSpPr>
        <p:spPr>
          <a:xfrm>
            <a:off x="243509" y="707150"/>
            <a:ext cx="117497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company_master는 전체 추천 플랫폼의 최상위 기준 데이터로, LifeSync360 플랫폼에서 은행, 카드, 증권, 보험, 온라인 보험, 헬스케어 서비스를 통합 추천하기 위한 기준 회사 데이터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0" name="Google Shape;3730;p100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회사 마스터 (Company_master)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1" name="Google Shape;3731;p100"/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BANK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ONLINE_INS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32" name="Google Shape;3732;p100"/>
          <p:cNvGraphicFramePr/>
          <p:nvPr/>
        </p:nvGraphicFramePr>
        <p:xfrm>
          <a:off x="319040" y="40963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84400"/>
                <a:gridCol w="17783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역할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예금/적금/대출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카드/포인트/혜택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ETF/펀드/WM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ONLINE_INS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디지털 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 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33" name="Google Shape;3733;p100"/>
          <p:cNvSpPr txBox="1"/>
          <p:nvPr/>
        </p:nvSpPr>
        <p:spPr>
          <a:xfrm>
            <a:off x="6379958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4" name="Google Shape;3734;p100"/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회사 마스터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35" name="Google Shape;3735;p100"/>
          <p:cNvGraphicFramePr/>
          <p:nvPr/>
        </p:nvGraphicFramePr>
        <p:xfrm>
          <a:off x="6455488" y="2170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085700"/>
                <a:gridCol w="1351725"/>
                <a:gridCol w="1643275"/>
                <a:gridCol w="1298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 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 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 Securities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 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ONINS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 Direct 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ONLINE_INS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LifeSync 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36" name="Google Shape;3736;p100"/>
          <p:cNvSpPr txBox="1"/>
          <p:nvPr/>
        </p:nvSpPr>
        <p:spPr>
          <a:xfrm>
            <a:off x="6379958" y="4197986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Company/Category 매핑 기준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37" name="Google Shape;3737;p100"/>
          <p:cNvGraphicFramePr/>
          <p:nvPr/>
        </p:nvGraphicFramePr>
        <p:xfrm>
          <a:off x="6447631" y="4765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04325"/>
                <a:gridCol w="2181950"/>
                <a:gridCol w="17931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company_code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상품 범위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대표 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예금, 적금, 대출, IRP, CMA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DEPOSIT, SAVING, LOAN, PENSION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신용카드, 체크카드, 포인트, 멤버십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CARD, POINT, LIFESTYLE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ETF, 펀드, 랩, 포트폴리오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ETF, FUND, WM, PENSION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종신, 건강, 암, 실손, 연금보험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ONLINE_INS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모바일, 원데이, 펫, 여행보험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DIRECT_INSURANCE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검진, 코칭, 건강 리포트, 화상진료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1" name="Shape 3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2" name="Google Shape;3742;p10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2/11)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3" name="Google Shape;3743;p101"/>
          <p:cNvSpPr txBox="1"/>
          <p:nvPr/>
        </p:nvSpPr>
        <p:spPr>
          <a:xfrm>
            <a:off x="243509" y="707150"/>
            <a:ext cx="1180271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category_master는 상품을 추천할 때 사용하는 상품군 기준 테이블로, 특히 recommend_rule.category_code, cross_sell_rule.base_category, cross_sell_rule.target_category와 연결되는 기준값으로 사용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4" name="Google Shape;3744;p101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카테고리 마스터 (Category_master)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5" name="Google Shape;3745;p101"/>
          <p:cNvSpPr txBox="1"/>
          <p:nvPr/>
        </p:nvSpPr>
        <p:spPr>
          <a:xfrm>
            <a:off x="243510" y="2105561"/>
            <a:ext cx="361883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등급/점수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규칙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category_code 매칭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해당 카테고리의 상품 추천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6" name="Google Shape;3746;p101"/>
          <p:cNvSpPr txBox="1"/>
          <p:nvPr/>
        </p:nvSpPr>
        <p:spPr>
          <a:xfrm>
            <a:off x="5875683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카테고리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47" name="Google Shape;3747;p101"/>
          <p:cNvGraphicFramePr/>
          <p:nvPr/>
        </p:nvGraphicFramePr>
        <p:xfrm>
          <a:off x="5989308" y="2105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986400"/>
                <a:gridCol w="1986400"/>
                <a:gridCol w="1986400"/>
              </a:tblGrid>
              <a:tr h="27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category_code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category_name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주요 사용 계열사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SAVING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적금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LOAN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대출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PENSION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연금/IRP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BANK, SEC, INS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POINT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포인트/리워드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LIFESTYLE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생활혜택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FUND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펀드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WM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자산관리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DIRECT_INS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온라인보험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ONLINE_INS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WELLNESS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건강관리/웰니스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TELEMED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화상진료/상담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0800" marB="40800" marR="81600" marL="81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48" name="Google Shape;3748;p101"/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카테고리 마스터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49" name="Google Shape;3749;p101"/>
          <p:cNvGraphicFramePr/>
          <p:nvPr/>
        </p:nvGraphicFramePr>
        <p:xfrm>
          <a:off x="369061" y="416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340000"/>
                <a:gridCol w="23400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category_code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category_name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SAVING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적금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FUND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펀드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3" name="Shape 3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4" name="Google Shape;3754;p10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3/11)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5" name="Google Shape;3755;p102"/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Product_Pool은 product_master에 바로 10,000개를 넣기 전에, 실제 금융상품/서비스 기준 상품명 1,000개를 먼저 만들어서 저장하는 임시 기준 테이블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6" name="Google Shape;3756;p102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Product Pool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7" name="Google Shape;3757;p102"/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기존 120개 상품명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신규 추천 상품명 880개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Product Pool 1,000개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8" name="Google Shape;3758;p102"/>
          <p:cNvSpPr txBox="1"/>
          <p:nvPr/>
        </p:nvSpPr>
        <p:spPr>
          <a:xfrm>
            <a:off x="243509" y="3173846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권장 분배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9" name="Google Shape;3759;p102"/>
          <p:cNvSpPr txBox="1"/>
          <p:nvPr/>
        </p:nvSpPr>
        <p:spPr>
          <a:xfrm>
            <a:off x="6829839" y="1630201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Product Pool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60" name="Google Shape;3760;p102"/>
          <p:cNvGraphicFramePr/>
          <p:nvPr/>
        </p:nvGraphicFramePr>
        <p:xfrm>
          <a:off x="6935856" y="20765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098825"/>
                <a:gridCol w="2098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항목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base_product_name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기준 상품명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 / CARD / SEC / INS / ONINS / HLT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 / CARD / ETF / INSURANCE 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base_grade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/ GOLD / SILVER / BASIC / 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base_risk_level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LOW / MID / 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product_theme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성격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61" name="Google Shape;3761;p102"/>
          <p:cNvGraphicFramePr/>
          <p:nvPr/>
        </p:nvGraphicFramePr>
        <p:xfrm>
          <a:off x="380418" y="3612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494375"/>
                <a:gridCol w="1494375"/>
                <a:gridCol w="14943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계열사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건수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주요 상품군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예금, 적금, 대출, IRP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신용카드, 체크카드, 포인트, 멤버십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ETF, 펀드, WM, 포트폴리오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종신, 건강, 암, 실손, 연금보험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ONINS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모바일보험, 원데이보험, 펫보험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HLT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건강검진, AI 리포트, 코칭, 화상진료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합계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1,000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62" name="Google Shape;3762;p102"/>
          <p:cNvSpPr txBox="1"/>
          <p:nvPr/>
        </p:nvSpPr>
        <p:spPr>
          <a:xfrm>
            <a:off x="6935856" y="4440492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신규 상품명 생성용 Pool 테이블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3" name="Google Shape;3763;p102"/>
          <p:cNvSpPr txBox="1"/>
          <p:nvPr/>
        </p:nvSpPr>
        <p:spPr>
          <a:xfrm>
            <a:off x="6935856" y="4891856"/>
            <a:ext cx="4197626" cy="178510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product_name_seed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seed_id BIGINT AUTO_INCREMENT PRIMARY KEY,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company_code VARCHAR(30),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category_code VARCHAR(30),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keyword_name VARCHAR(100),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theme_name VARCHAR(100),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suffix_name VARCHAR(100),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base_grade VARCHAR(20),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risk_level VARCHAR(20)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ENGINE=InnoDB;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7" name="Shape 3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" name="Google Shape;3768;p10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4/11)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9" name="Google Shape;3769;p103"/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Variant는 base_product_pool에 등록된 1,000개 기준 상품명을 기반으로, Variant 10개를 조합하여 최종 product_master에 10,000개 추천 대상 상품을 생성하는 것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0" name="Google Shape;3770;p103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Variant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103"/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base_product_pool 1,000개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product_variant 10개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product_master 10,000개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2" name="Google Shape;3772;p103"/>
          <p:cNvSpPr txBox="1"/>
          <p:nvPr/>
        </p:nvSpPr>
        <p:spPr>
          <a:xfrm>
            <a:off x="7057566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Variant 테이블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3" name="Google Shape;3773;p103"/>
          <p:cNvSpPr txBox="1"/>
          <p:nvPr/>
        </p:nvSpPr>
        <p:spPr>
          <a:xfrm>
            <a:off x="243509" y="308838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Variant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4" name="Google Shape;3774;p103"/>
          <p:cNvSpPr txBox="1"/>
          <p:nvPr/>
        </p:nvSpPr>
        <p:spPr>
          <a:xfrm>
            <a:off x="7123826" y="2028319"/>
            <a:ext cx="4197626" cy="1954381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product_variant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variant_id BIGINT AUTO_INCREMENT PRIMARY KEY,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variant_code VARCHAR(30) NOT NULL,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variant_name VARCHAR(100) NOT NULL,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variant_desc VARCHAR(300),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score_bonus DECIMAL(8,2) DEFAULT 0,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priority_bonus INT DEFAULT 0,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active_flag CHAR(1) DEFAULT 'Y',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created_at DATETIME DEFAULT CURRENT_TIMESTAMP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ENGINE=InnoDB;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5" name="Google Shape;3775;p103"/>
          <p:cNvSpPr txBox="1"/>
          <p:nvPr/>
        </p:nvSpPr>
        <p:spPr>
          <a:xfrm>
            <a:off x="2938669" y="2105561"/>
            <a:ext cx="270675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프리미엄 정기예금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추천형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프리미엄 정기예금 AI 추천형</a:t>
            </a:r>
            <a:endParaRPr/>
          </a:p>
        </p:txBody>
      </p:sp>
      <p:graphicFrame>
        <p:nvGraphicFramePr>
          <p:cNvPr id="3776" name="Google Shape;3776;p103"/>
          <p:cNvGraphicFramePr/>
          <p:nvPr/>
        </p:nvGraphicFramePr>
        <p:xfrm>
          <a:off x="360584" y="3707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93750"/>
                <a:gridCol w="1484250"/>
                <a:gridCol w="29069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variant_id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variant_name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프리미엄 정기예금 6개월형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프리미엄 정기예금 12개월형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프리미엄 정기예금 VIP 우대형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7" name="Google Shape;3777;p103"/>
          <p:cNvSpPr txBox="1"/>
          <p:nvPr/>
        </p:nvSpPr>
        <p:spPr>
          <a:xfrm>
            <a:off x="7057566" y="4157357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Variant 유형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78" name="Google Shape;3778;p103"/>
          <p:cNvGraphicFramePr/>
          <p:nvPr/>
        </p:nvGraphicFramePr>
        <p:xfrm>
          <a:off x="7123826" y="44964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098825"/>
                <a:gridCol w="2098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variant_type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STANDARD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일반형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PREMIUM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프리미엄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전용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MOBILE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모바일 전용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EVENT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이벤트형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PB센터 전용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SENIOR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시니어 전용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YOUTH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청년 전용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2" name="Shape 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3" name="Google Shape;3783;p10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5/11)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4" name="Google Shape;3784;p104"/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Master는 10,000개 상품에 대해 추천 모델 Feature 역할을 하는 옵션 데이터를 생성하는 것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5" name="Google Shape;3785;p104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Master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6" name="Google Shape;3786;p104"/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고객에게 추천 가능한 상품과 서비스를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통합 표준 구조로 관리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Product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 Rule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10,000 Product Master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7" name="Google Shape;3787;p104"/>
          <p:cNvSpPr txBox="1"/>
          <p:nvPr/>
        </p:nvSpPr>
        <p:spPr>
          <a:xfrm>
            <a:off x="6444797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Master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8" name="Google Shape;3788;p104"/>
          <p:cNvSpPr txBox="1"/>
          <p:nvPr/>
        </p:nvSpPr>
        <p:spPr>
          <a:xfrm>
            <a:off x="243509" y="3598277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Master 생성 흐름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89" name="Google Shape;3789;p104"/>
          <p:cNvGraphicFramePr/>
          <p:nvPr/>
        </p:nvGraphicFramePr>
        <p:xfrm>
          <a:off x="341045" y="50970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116075"/>
                <a:gridCol w="1091000"/>
                <a:gridCol w="1060700"/>
                <a:gridCol w="19995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target_grade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min_score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max_score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PB, 프리미엄, 고액자산가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우량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SILVER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일반 우수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일반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헬스케어/관리 필요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90" name="Google Shape;3790;p104"/>
          <p:cNvSpPr txBox="1"/>
          <p:nvPr/>
        </p:nvSpPr>
        <p:spPr>
          <a:xfrm>
            <a:off x="243509" y="3912432"/>
            <a:ext cx="446260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company_master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category_master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base_product_pool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variant 조합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product_master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product_option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91" name="Google Shape;3791;p104"/>
          <p:cNvGraphicFramePr/>
          <p:nvPr/>
        </p:nvGraphicFramePr>
        <p:xfrm>
          <a:off x="6583682" y="20586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678800"/>
                <a:gridCol w="2678800"/>
              </a:tblGrid>
              <a:tr h="29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product_id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PK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company_id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그룹사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category_id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카테고리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product_code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코드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product_name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상품명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description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설명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target_grade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대상 고객 등급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min_score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최소 추천 점수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max_score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최대 추천 점수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risk_level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위험도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priority_rank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우선순위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사용 여부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start_date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시작일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end_date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종료일</a:t>
                      </a:r>
                      <a:endParaRPr/>
                    </a:p>
                  </a:txBody>
                  <a:tcPr marT="43525" marB="43525" marR="87025" marL="870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5" name="Shape 3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6" name="Google Shape;3796;p10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6/11)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7" name="Google Shape;3797;p105"/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Options 은 단순 부가정보가 아니라 AI 추천 시뮬레이션에서 Feature Store처럼 사용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8" name="Google Shape;3798;p105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Options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9" name="Google Shape;3799;p105"/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product_master 10,000개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상품별 옵션 3~6개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product_option 약 30,000~60,000건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1개 당 5개 기준, 10,000개 × 5개 = 약 50,000건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0" name="Google Shape;3800;p105"/>
          <p:cNvSpPr txBox="1"/>
          <p:nvPr/>
        </p:nvSpPr>
        <p:spPr>
          <a:xfrm>
            <a:off x="6779271" y="1594736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Option 생성 방식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1" name="Google Shape;3801;p105"/>
          <p:cNvSpPr txBox="1"/>
          <p:nvPr/>
        </p:nvSpPr>
        <p:spPr>
          <a:xfrm>
            <a:off x="243508" y="3625062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Options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02" name="Google Shape;3802;p105"/>
          <p:cNvGraphicFramePr/>
          <p:nvPr/>
        </p:nvGraphicFramePr>
        <p:xfrm>
          <a:off x="6877878" y="21055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90200"/>
                <a:gridCol w="1690200"/>
                <a:gridCol w="16902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상품군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option_name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option_value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interest_rate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3.80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min_deposit_amount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annual_fee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30000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reward_type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cashback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expected_return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volatility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monthly_premium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85000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coverage_type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cancer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health_sync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wearable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service_channel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mobile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03" name="Google Shape;3803;p105"/>
          <p:cNvSpPr txBox="1"/>
          <p:nvPr/>
        </p:nvSpPr>
        <p:spPr>
          <a:xfrm>
            <a:off x="6877878" y="5052107"/>
            <a:ext cx="507061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product_master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company_master JOIN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category_master JOIN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product_option_template JOIN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상품군별 option_value 자동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product_option INSERT</a:t>
            </a:r>
            <a:endParaRPr/>
          </a:p>
        </p:txBody>
      </p:sp>
      <p:graphicFrame>
        <p:nvGraphicFramePr>
          <p:cNvPr id="3804" name="Google Shape;3804;p105"/>
          <p:cNvGraphicFramePr/>
          <p:nvPr/>
        </p:nvGraphicFramePr>
        <p:xfrm>
          <a:off x="243508" y="41098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926250"/>
                <a:gridCol w="29262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상품군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주요 옵션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금리, 최소가입금액, 가입기간, 우대조건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연회비, 캐시백률, 마일리지, 주요혜택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SEC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예상수익률, 변동성, 투자지역, 투자성향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월보험료, 보장유형, 가입연령, 보장금액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ONLINE_INS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간편가입여부, 단기보장, 모바일가입, 보험료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건강연동, 서비스채널, 검진유형, 코칭주기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8" name="Shape 3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" name="Google Shape;3809;p106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7/11)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0" name="Google Shape;3810;p106"/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Recommend_rule에 고객 등급, 점수, 건강점수, 카테고리 기준 추천 조건을 등록하는 것으로,  Rule Engine 역할을 하며, product_master에서 어떤 상품군을 추천할지 결정하는 기준이 되는 구조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106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규칙 (Recommend Rule)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2" name="Google Shape;3812;p106"/>
          <p:cNvSpPr txBox="1"/>
          <p:nvPr/>
        </p:nvSpPr>
        <p:spPr>
          <a:xfrm>
            <a:off x="243510" y="2105561"/>
            <a:ext cx="361883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dynamic_grade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고객 dynamic_score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건강 점수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category_code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 startAt="2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recommend_rule 매칭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 startAt="2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product_master 후보 조회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 startAt="2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priority_rank 기준 추천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3" name="Google Shape;3813;p106"/>
          <p:cNvSpPr txBox="1"/>
          <p:nvPr/>
        </p:nvSpPr>
        <p:spPr>
          <a:xfrm>
            <a:off x="3266767" y="1659261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규칙 설계 기준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4" name="Google Shape;3814;p106"/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 Rule 구조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15" name="Google Shape;3815;p106"/>
          <p:cNvGraphicFramePr/>
          <p:nvPr/>
        </p:nvGraphicFramePr>
        <p:xfrm>
          <a:off x="323848" y="4165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435500"/>
                <a:gridCol w="24355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컬럼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target_grade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대상 고객 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action_code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액션 코드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min_score / max_score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추천 점수 범위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vip_required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필수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health_min_score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건강점수 최소 기준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category_code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대상 상품 카테고리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priority_rank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규칙 우선순위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active_flag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사용 여부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16" name="Google Shape;3816;p106"/>
          <p:cNvGraphicFramePr/>
          <p:nvPr/>
        </p:nvGraphicFramePr>
        <p:xfrm>
          <a:off x="3266767" y="20719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141775"/>
                <a:gridCol w="30785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고객 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 방향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PB, WM, 종신보험, VIP 카드, 프리미엄 검진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ETF, 펀드, 프리미엄 보험, Travel 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SILVER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적금, 배당 ETF, 건강보험, 생활혜택 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청년 적금, 체크카드, 간편보험, 생활형 상품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헬스케어, 건강관리, 실손보험, 웰니스 서비스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17" name="Google Shape;3817;p106"/>
          <p:cNvSpPr txBox="1"/>
          <p:nvPr/>
        </p:nvSpPr>
        <p:spPr>
          <a:xfrm>
            <a:off x="7686262" y="1659261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 Code 표준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18" name="Google Shape;3818;p106"/>
          <p:cNvGraphicFramePr/>
          <p:nvPr/>
        </p:nvGraphicFramePr>
        <p:xfrm>
          <a:off x="7726018" y="20458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173350"/>
                <a:gridCol w="21733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action_code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RECOMMEND_PB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PB/프리미엄 금융상품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RECOMMEND_SAVING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예금/적금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RECOMMEND_LOAN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대출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RECOMMEND_INVEST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투자상품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RECOMMEND_WM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자산관리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RECOMMEND_DIRECT_INS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온라인 간편보험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RECOMMEND_HEALTH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RECOMMEND_WELLNESS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건강관리/웰니스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RECOMMEND_TELEMED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화상진료/상담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RECOMMEND_CROSS_SELL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교차판매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2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3" name="Google Shape;3823;p107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7/11)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4" name="Google Shape;3824;p107"/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Recommend_rule에 고객 등급, 점수, 건강점수, 카테고리 기준 추천 조건을 등록하는 것으로,  Rule Engine 역할을 하며, product_master에서 어떤 상품군을 추천할지 결정하는 기준이 되는 구조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5" name="Google Shape;3825;p107"/>
          <p:cNvSpPr txBox="1"/>
          <p:nvPr/>
        </p:nvSpPr>
        <p:spPr>
          <a:xfrm>
            <a:off x="243508" y="2145310"/>
            <a:ext cx="36188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규칙 1. 고객 등급 기반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6" name="Google Shape;3826;p107"/>
          <p:cNvGraphicFramePr/>
          <p:nvPr/>
        </p:nvGraphicFramePr>
        <p:xfrm>
          <a:off x="341044" y="2479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091100"/>
                <a:gridCol w="20911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고객 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 방향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/ WM / VIP 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 / 투자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SILVER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생활금융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적금 / 체크카드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27" name="Google Shape;3827;p107"/>
          <p:cNvSpPr txBox="1"/>
          <p:nvPr/>
        </p:nvSpPr>
        <p:spPr>
          <a:xfrm>
            <a:off x="243508" y="4522750"/>
            <a:ext cx="36188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규칙 2. 점수 기반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8" name="Google Shape;3828;p107"/>
          <p:cNvGraphicFramePr/>
          <p:nvPr/>
        </p:nvGraphicFramePr>
        <p:xfrm>
          <a:off x="341044" y="49372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091100"/>
                <a:gridCol w="20911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점수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90~100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프리미엄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80~89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70~79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생활형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60~69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일반형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0~59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29" name="Google Shape;3829;p107"/>
          <p:cNvSpPr txBox="1"/>
          <p:nvPr/>
        </p:nvSpPr>
        <p:spPr>
          <a:xfrm>
            <a:off x="5242228" y="2145310"/>
            <a:ext cx="36188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규칙 3. 건강 점수 기반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0" name="Google Shape;3830;p107"/>
          <p:cNvSpPr txBox="1"/>
          <p:nvPr/>
        </p:nvSpPr>
        <p:spPr>
          <a:xfrm>
            <a:off x="5242229" y="4522750"/>
            <a:ext cx="212174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규칙 4. 교차 판매 기반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p107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규칙 (Recommend Rule)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32" name="Google Shape;3832;p107"/>
          <p:cNvGraphicFramePr/>
          <p:nvPr/>
        </p:nvGraphicFramePr>
        <p:xfrm>
          <a:off x="5339764" y="2479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091100"/>
                <a:gridCol w="20911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health_score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높음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웰니스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낮음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건강보험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중간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33" name="Google Shape;3833;p107"/>
          <p:cNvSpPr txBox="1"/>
          <p:nvPr/>
        </p:nvSpPr>
        <p:spPr>
          <a:xfrm>
            <a:off x="5242228" y="4926420"/>
            <a:ext cx="18535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이용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 추천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7" name="Shape 3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8" name="Google Shape;3838;p108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8/11)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9" name="Google Shape;3839;p108"/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Cross_sell_rule에 기준 카테고리 → 추천 카테고리 관계를 등록하는 것으로,  HEALTHCARE 이용 고객에게 INSURANCE를 추천하거나, CARD 이용 고객에게 DIRECT_INS를 추천하는 구조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0" name="Google Shape;3840;p108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교차 판매 (Cross_Sell_Rule)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1" name="Google Shape;3841;p108"/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고객이 관심을 보인 상품/서비스 카테고리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base_category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cross_sell_rule 매칭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target_category 상품 추천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클릭/가입 이력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108"/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Cross_Sell_Rule 생성 방식 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3" name="Google Shape;3843;p108"/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설계 기준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p108"/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이용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HEALTHCARE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INSURANCE 추천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프리미엄 건강보험 추천</a:t>
            </a:r>
            <a:endParaRPr/>
          </a:p>
        </p:txBody>
      </p:sp>
      <p:graphicFrame>
        <p:nvGraphicFramePr>
          <p:cNvPr id="3845" name="Google Shape;3845;p108"/>
          <p:cNvGraphicFramePr/>
          <p:nvPr/>
        </p:nvGraphicFramePr>
        <p:xfrm>
          <a:off x="6532194" y="1947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04550"/>
                <a:gridCol w="1548375"/>
                <a:gridCol w="25633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base_category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target_category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추천 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건강검진 고객에게 건강보험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WELLNESS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운동/식단 관리 고객에게 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TELEMED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DIRECT_INS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비대면 상담 고객에게 간편보험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DIRECT_INS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고객에게 모바일 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LIFESTYLE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고객에게 생활혜택 상품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FUND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 고객에게 펀드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안정형 고객에게 투자상품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SAVING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적금 고객에게 생활카드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대출 고객에게 보장성 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PENSION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 고객에게 연금상품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 고객에게 헬스케어 서비스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DIRECT_INS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WELLNESS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온라인보험 고객에게 건강관리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46" name="Google Shape;3846;p108"/>
          <p:cNvGraphicFramePr/>
          <p:nvPr/>
        </p:nvGraphicFramePr>
        <p:xfrm>
          <a:off x="328853" y="4281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41450"/>
                <a:gridCol w="1438650"/>
                <a:gridCol w="23286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base_category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target_category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고객에게 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건강검진 고객에게 건강보험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DEPOSIT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FUND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예금 고객에게 펀드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PENSION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 고객에게 연금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 가입자에게 헬스케어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LOAN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대출 고객에게 생활카드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47" name="Google Shape;3847;p108"/>
          <p:cNvSpPr txBox="1"/>
          <p:nvPr/>
        </p:nvSpPr>
        <p:spPr>
          <a:xfrm>
            <a:off x="6446850" y="5669403"/>
            <a:ext cx="433399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고객이 AI 건강 리포트 조회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카테고리 = HEALTHCARE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cross_sell_rule에서 HEALTHCARE 기준 조회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target_category = INSURANCE / DIRECT_INS / WELLNESS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보험/온라인보험/웰니스 상품 후보 조회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priority_rank 기준 추천</a:t>
            </a:r>
            <a:endParaRPr/>
          </a:p>
        </p:txBody>
      </p:sp>
      <p:sp>
        <p:nvSpPr>
          <p:cNvPr id="3848" name="Google Shape;3848;p108"/>
          <p:cNvSpPr txBox="1"/>
          <p:nvPr/>
        </p:nvSpPr>
        <p:spPr>
          <a:xfrm>
            <a:off x="6446850" y="5367233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프로세스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2" name="Shape 3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3" name="Google Shape;3853;p109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9/11)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4" name="Google Shape;3854;p109"/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campaign_master에 고객 등급별 배너/마케팅 캠페인을 등록하는 것으로,  추천 결과를 대시보드, 앱 메인, 상품 상세 화면 등에 노출하기 위한 기준 데이터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5" name="Google Shape;3855;p109"/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Campaign_master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6" name="Google Shape;3856;p109"/>
          <p:cNvSpPr txBox="1"/>
          <p:nvPr/>
        </p:nvSpPr>
        <p:spPr>
          <a:xfrm>
            <a:off x="243510" y="2105561"/>
            <a:ext cx="30727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dynamic_grade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campaign_master.target_grade 매칭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배너/추천 메시지 노출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customer_dashboard_log에 클릭 이력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7" name="Google Shape;3857;p109"/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campaign_master 생성 방식 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8" name="Google Shape;3858;p109"/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 캠페인 규칙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9" name="Google Shape;3859;p109"/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고객 로그인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전용 자산관리 캠페인 노출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PB 증권랩 / 종신보험 / 프리미엄 검진 추천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60" name="Google Shape;3860;p109"/>
          <p:cNvGraphicFramePr/>
          <p:nvPr/>
        </p:nvGraphicFramePr>
        <p:xfrm>
          <a:off x="243509" y="4173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86675"/>
                <a:gridCol w="1190975"/>
                <a:gridCol w="21823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campaign_name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target_grade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banner_title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자산관리 캠페인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 고객 전용 PB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건강관리 연계 보험 캠페인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건강점수 기반 맞춤 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청년 금융 시작 캠페인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청년 고객을 위한 첫 금융 패키지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글로벌 투자 캠페인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글로벌 ETF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61" name="Google Shape;3861;p109"/>
          <p:cNvGraphicFramePr/>
          <p:nvPr/>
        </p:nvGraphicFramePr>
        <p:xfrm>
          <a:off x="6559296" y="2066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60575"/>
                <a:gridCol w="32339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고객 등급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캠페인 방향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PB, WM, 상속, 프리미엄 검진, VIP 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GOLD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ETF, 펀드, 프리미엄 보험, 여행카드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SILVER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적금, 생활혜택 카드, 건강보험, 배당 ETF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BASIC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청년 적금, 체크카드, 간편보험, 생활형 금융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리포트, 웰니스, 실손/건강보험, 화상진료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62" name="Google Shape;3862;p109"/>
          <p:cNvSpPr txBox="1"/>
          <p:nvPr/>
        </p:nvSpPr>
        <p:spPr>
          <a:xfrm>
            <a:off x="6446850" y="403501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캠페인 Seed 테이블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3" name="Google Shape;3863;p109"/>
          <p:cNvSpPr txBox="1"/>
          <p:nvPr/>
        </p:nvSpPr>
        <p:spPr>
          <a:xfrm>
            <a:off x="6559296" y="4396524"/>
            <a:ext cx="4197626" cy="1785104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DROP TABLE IF EXISTS campaign_seed;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TABLE campaign_seed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seed_id        BIGINT AUTO_INCREMENT PRIMARY KEY,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target_grade   VARCHAR(20),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theme_name     VARCHAR(100),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banner_keyword VARCHAR(100),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campaign_desc  VARCHAR(300)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ENGINE=InnoDB;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7" name="Shape 3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8" name="Google Shape;3868;p110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10/11)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9" name="Google Shape;3869;p110"/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customer_recommend_history는 AI 추천 엔진이 고객의 등급, 점수, 행동 및 건강 데이터를 기반으로 어떤 상품을 언제 추천했는지와 그 결과(클릭·구매 여부)를 저장하는 추천 이력 테이블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0" name="Google Shape;3870;p110"/>
          <p:cNvSpPr txBox="1"/>
          <p:nvPr/>
        </p:nvSpPr>
        <p:spPr>
          <a:xfrm>
            <a:off x="243508" y="1602445"/>
            <a:ext cx="36188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이력 (Customer_recommend_history)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1" name="Google Shape;3871;p110"/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Customer_recommend_history 생성 흐름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2" name="Google Shape;3872;p110"/>
          <p:cNvSpPr txBox="1"/>
          <p:nvPr/>
        </p:nvSpPr>
        <p:spPr>
          <a:xfrm>
            <a:off x="4814084" y="162870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이력 목적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3" name="Google Shape;3873;p110"/>
          <p:cNvSpPr txBox="1"/>
          <p:nvPr/>
        </p:nvSpPr>
        <p:spPr>
          <a:xfrm>
            <a:off x="243509" y="4252153"/>
            <a:ext cx="3436719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데이터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등급 계산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규칙 매칭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선택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클릭/구매 확률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customer_recommend_history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4" name="Google Shape;3874;p110"/>
          <p:cNvSpPr txBox="1"/>
          <p:nvPr/>
        </p:nvSpPr>
        <p:spPr>
          <a:xfrm>
            <a:off x="243510" y="2105561"/>
            <a:ext cx="30727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맞춤형 추천 결과를 저장하고, 추천 성과를 분석하며, AI 모델 학습 데이터를 생성하는 것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75" name="Google Shape;3875;p110"/>
          <p:cNvGraphicFramePr/>
          <p:nvPr/>
        </p:nvGraphicFramePr>
        <p:xfrm>
          <a:off x="4864608" y="20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14575"/>
                <a:gridCol w="20460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목적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이력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고객별 추천 결과 저장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성과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클릭률 / 구매율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AI 학습 데이터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모델 학습용 Label 생성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캠페인 최적화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효과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교차판매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금융·보험·헬스 연계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실시간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행동 기반 재추천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대시보드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현황 시각화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6" name="Google Shape;3876;p110"/>
          <p:cNvSpPr txBox="1"/>
          <p:nvPr/>
        </p:nvSpPr>
        <p:spPr>
          <a:xfrm>
            <a:off x="4814084" y="4266221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Action_code 유형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77" name="Google Shape;3877;p110"/>
          <p:cNvGraphicFramePr/>
          <p:nvPr/>
        </p:nvGraphicFramePr>
        <p:xfrm>
          <a:off x="4864608" y="4671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2154800"/>
                <a:gridCol w="1105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action_code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RECOMMEND_PB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PB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RECOMMEND_SAVING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예적금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RECOMMEND_INVEST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투자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카드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보험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RECOMMEND_HEALTH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헬스케어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RECOMMEND_WELLNESS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웰니스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78" name="Google Shape;3878;p110"/>
          <p:cNvGraphicFramePr/>
          <p:nvPr/>
        </p:nvGraphicFramePr>
        <p:xfrm>
          <a:off x="8665466" y="2008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30300"/>
                <a:gridCol w="16303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활용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설명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성과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CTR/CVR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AI 학습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Label 데이터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고객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반응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마케팅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캠페인 분석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대시보드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실시간 시각화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재추천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행동 기반 추천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9" name="Google Shape;3879;p110"/>
          <p:cNvSpPr txBox="1"/>
          <p:nvPr/>
        </p:nvSpPr>
        <p:spPr>
          <a:xfrm>
            <a:off x="8619891" y="1604355"/>
            <a:ext cx="21217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이력 활용 영역 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3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4" name="Google Shape;3884;p111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11/11)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5" name="Google Shape;3885;p111"/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customer_dashboard_log는 고객의 화면 행동을 저장하는 테이블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6" name="Google Shape;3886;p111"/>
          <p:cNvSpPr txBox="1"/>
          <p:nvPr/>
        </p:nvSpPr>
        <p:spPr>
          <a:xfrm>
            <a:off x="243508" y="1602445"/>
            <a:ext cx="37310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클릭/구매 로그 (Customer_dashboard_log) 생성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7" name="Google Shape;3887;p111"/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customer_recommend_history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 노출 로그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clicked_flag='Y' 기준 상품 클릭 로그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purchased_flag='Y' 기준 구매 관심 로그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등급별 캠페인 배너 클릭 로그 생성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customer_dashboard_log 적재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8" name="Google Shape;3888;p111"/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Customer_dashboard_log 생성 방식 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9" name="Google Shape;3889;p111"/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클릭/구매 로그 생성 기준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90" name="Google Shape;3890;p111"/>
          <p:cNvGraphicFramePr/>
          <p:nvPr/>
        </p:nvGraphicFramePr>
        <p:xfrm>
          <a:off x="355543" y="5165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62100"/>
                <a:gridCol w="15621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page_type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의미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MAIN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메인 대시보드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상품 상세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HEALTH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건강 리포트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FINANCE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금융 리포트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CAMPAIGN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캠페인 배너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91" name="Google Shape;3891;p111"/>
          <p:cNvSpPr txBox="1"/>
          <p:nvPr/>
        </p:nvSpPr>
        <p:spPr>
          <a:xfrm>
            <a:off x="243509" y="4146790"/>
            <a:ext cx="326061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추천 이력이 있는 고객 기준 로그 생성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일부는 banner_click='Y'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일부는 product_click='Y'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product_click='Y'이면 click_product_id 입력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session_id는 고객별/시간별로 생성</a:t>
            </a:r>
            <a:endParaRPr/>
          </a:p>
        </p:txBody>
      </p:sp>
      <p:sp>
        <p:nvSpPr>
          <p:cNvPr id="3892" name="Google Shape;3892;p111"/>
          <p:cNvSpPr txBox="1"/>
          <p:nvPr/>
        </p:nvSpPr>
        <p:spPr>
          <a:xfrm>
            <a:off x="6446849" y="5039636"/>
            <a:ext cx="538960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 조회 로그 – 추천 이력이 발생하면, 고객이 메인 대시보드에서 추천을 본것으로 가정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클릭 로그 – clicked_flag = ‘Y’ 인 추천이력은 상품 상세 페이지 클릭으로 변환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구매/가입 관심 로그 – purchased_flag = ‘Y’는 page_type=’PURCHASE’로 저장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캠페인 배너 클릭 로그 – 고객 등급과 캠페인 등급을 매칭해 일부 고객이 배너를 클릭한 것으로 생성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111"/>
          <p:cNvSpPr txBox="1"/>
          <p:nvPr/>
        </p:nvSpPr>
        <p:spPr>
          <a:xfrm>
            <a:off x="6446850" y="4577677"/>
            <a:ext cx="32606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클릭/구매 로그 유형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94" name="Google Shape;3894;p111"/>
          <p:cNvGraphicFramePr/>
          <p:nvPr/>
        </p:nvGraphicFramePr>
        <p:xfrm>
          <a:off x="6547104" y="20644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625600"/>
                <a:gridCol w="1625600"/>
                <a:gridCol w="162560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로그 유형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생성 기준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예상 건수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MAIN 조회 로그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추천 노출 고객 전체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약 100만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 클릭 로그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clicked_flag = 'Y'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약 15만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PURCHASE 관심 로그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purchased_flag = 'Y'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약 2~3만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CAMPAIGN 배너 로그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일부 추천 고객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약 10~20만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8" name="Shape 3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9" name="Google Shape;3899;p112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- 예시)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0" name="Google Shape;3900;p112"/>
          <p:cNvSpPr txBox="1"/>
          <p:nvPr/>
        </p:nvSpPr>
        <p:spPr>
          <a:xfrm>
            <a:off x="353729" y="1408767"/>
            <a:ext cx="60976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종합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점수를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통해서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제공할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있는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 – Client 마다 Main 화면이 달라짐</a:t>
            </a:r>
            <a:r>
              <a:rPr b="0" i="0" lang="en-US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1" name="Google Shape;3901;p112"/>
          <p:cNvSpPr txBox="1"/>
          <p:nvPr/>
        </p:nvSpPr>
        <p:spPr>
          <a:xfrm>
            <a:off x="353729" y="2587039"/>
            <a:ext cx="22198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개인 맞춤 추천 </a:t>
            </a:r>
            <a:endParaRPr/>
          </a:p>
        </p:txBody>
      </p:sp>
      <p:sp>
        <p:nvSpPr>
          <p:cNvPr id="3902" name="Google Shape;3902;p112"/>
          <p:cNvSpPr txBox="1"/>
          <p:nvPr/>
        </p:nvSpPr>
        <p:spPr>
          <a:xfrm>
            <a:off x="353729" y="4521608"/>
            <a:ext cx="30380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금융 상품 추천 </a:t>
            </a:r>
            <a:endParaRPr/>
          </a:p>
        </p:txBody>
      </p:sp>
      <p:sp>
        <p:nvSpPr>
          <p:cNvPr id="3903" name="Google Shape;3903;p112"/>
          <p:cNvSpPr/>
          <p:nvPr/>
        </p:nvSpPr>
        <p:spPr>
          <a:xfrm>
            <a:off x="2215848" y="5282311"/>
            <a:ext cx="357704" cy="534146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4" name="Google Shape;3904;p112"/>
          <p:cNvSpPr txBox="1"/>
          <p:nvPr/>
        </p:nvSpPr>
        <p:spPr>
          <a:xfrm>
            <a:off x="6451333" y="2594800"/>
            <a:ext cx="22244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건강관리 서비스</a:t>
            </a:r>
            <a:endParaRPr/>
          </a:p>
        </p:txBody>
      </p:sp>
      <p:sp>
        <p:nvSpPr>
          <p:cNvPr id="3905" name="Google Shape;3905;p112"/>
          <p:cNvSpPr/>
          <p:nvPr/>
        </p:nvSpPr>
        <p:spPr>
          <a:xfrm>
            <a:off x="8318109" y="3068402"/>
            <a:ext cx="357704" cy="534146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112"/>
          <p:cNvSpPr txBox="1"/>
          <p:nvPr/>
        </p:nvSpPr>
        <p:spPr>
          <a:xfrm>
            <a:off x="6433170" y="4587303"/>
            <a:ext cx="2331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VIP 고객 자동 선별</a:t>
            </a:r>
            <a:endParaRPr/>
          </a:p>
        </p:txBody>
      </p:sp>
      <p:sp>
        <p:nvSpPr>
          <p:cNvPr id="3907" name="Google Shape;3907;p112"/>
          <p:cNvSpPr/>
          <p:nvPr/>
        </p:nvSpPr>
        <p:spPr>
          <a:xfrm>
            <a:off x="8345070" y="5282311"/>
            <a:ext cx="357704" cy="534146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08" name="Google Shape;3908;p112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709525"/>
                <a:gridCol w="17753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05:00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Dashboard 조회 정보 반영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09" name="Google Shape;3909;p112"/>
          <p:cNvSpPr txBox="1"/>
          <p:nvPr/>
        </p:nvSpPr>
        <p:spPr>
          <a:xfrm>
            <a:off x="243509" y="707150"/>
            <a:ext cx="85208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GCP 예측 결과를 DynamoDB에 저장한 뒤 Aurora DB에서 고객 등급별 상품·서비스를 조회하여 개인화 추천 데이터를 생성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0" name="Google Shape;3910;p112"/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GCP AI 예측 결과 수신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 상품/서비스 조회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캐시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ECS Main Dashboard 제공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1" name="Google Shape;3911;p112"/>
          <p:cNvSpPr txBox="1"/>
          <p:nvPr/>
        </p:nvSpPr>
        <p:spPr>
          <a:xfrm>
            <a:off x="361223" y="2993210"/>
            <a:ext cx="20334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dynamic_score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signup_prob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rec_prob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행동점수</a:t>
            </a:r>
            <a:endParaRPr/>
          </a:p>
        </p:txBody>
      </p:sp>
      <p:sp>
        <p:nvSpPr>
          <p:cNvPr id="3912" name="Google Shape;3912;p112"/>
          <p:cNvSpPr/>
          <p:nvPr/>
        </p:nvSpPr>
        <p:spPr>
          <a:xfrm>
            <a:off x="2215848" y="3082014"/>
            <a:ext cx="357704" cy="534146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3" name="Google Shape;3913;p112"/>
          <p:cNvSpPr txBox="1"/>
          <p:nvPr/>
        </p:nvSpPr>
        <p:spPr>
          <a:xfrm>
            <a:off x="3027621" y="3082014"/>
            <a:ext cx="192715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자산관리 상담 추천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 리워드 추천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투자 입문 추천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p112"/>
          <p:cNvSpPr txBox="1"/>
          <p:nvPr/>
        </p:nvSpPr>
        <p:spPr>
          <a:xfrm>
            <a:off x="361223" y="5041553"/>
            <a:ext cx="13718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예금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연금</a:t>
            </a:r>
            <a:endParaRPr/>
          </a:p>
        </p:txBody>
      </p:sp>
      <p:sp>
        <p:nvSpPr>
          <p:cNvPr id="3915" name="Google Shape;3915;p112"/>
          <p:cNvSpPr txBox="1"/>
          <p:nvPr/>
        </p:nvSpPr>
        <p:spPr>
          <a:xfrm>
            <a:off x="361223" y="6150850"/>
            <a:ext cx="253880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 DB 상품 Master 조회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112"/>
          <p:cNvSpPr txBox="1"/>
          <p:nvPr/>
        </p:nvSpPr>
        <p:spPr>
          <a:xfrm>
            <a:off x="1787478" y="4988247"/>
            <a:ext cx="124014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등급별 추천.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7" name="Google Shape;3917;p112"/>
          <p:cNvSpPr txBox="1"/>
          <p:nvPr/>
        </p:nvSpPr>
        <p:spPr>
          <a:xfrm>
            <a:off x="3027621" y="5282311"/>
            <a:ext cx="235995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→ PB 예금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GOLD → ETF 포트폴리오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→ 생활 할인 카드</a:t>
            </a:r>
            <a:endParaRPr/>
          </a:p>
        </p:txBody>
      </p:sp>
      <p:sp>
        <p:nvSpPr>
          <p:cNvPr id="3918" name="Google Shape;3918;p112"/>
          <p:cNvSpPr txBox="1"/>
          <p:nvPr/>
        </p:nvSpPr>
        <p:spPr>
          <a:xfrm>
            <a:off x="361223" y="3771033"/>
            <a:ext cx="8001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점수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9" name="Google Shape;3919;p112"/>
          <p:cNvSpPr txBox="1"/>
          <p:nvPr/>
        </p:nvSpPr>
        <p:spPr>
          <a:xfrm>
            <a:off x="1733107" y="2751382"/>
            <a:ext cx="149121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고객별 맞춤 액션 추천</a:t>
            </a:r>
            <a:endParaRPr/>
          </a:p>
        </p:txBody>
      </p:sp>
      <p:sp>
        <p:nvSpPr>
          <p:cNvPr id="3920" name="Google Shape;3920;p112"/>
          <p:cNvSpPr txBox="1"/>
          <p:nvPr/>
        </p:nvSpPr>
        <p:spPr>
          <a:xfrm>
            <a:off x="6518895" y="3092940"/>
            <a:ext cx="147678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health_prediction</a:t>
            </a:r>
            <a:endParaRPr/>
          </a:p>
        </p:txBody>
      </p:sp>
      <p:sp>
        <p:nvSpPr>
          <p:cNvPr id="3921" name="Google Shape;3921;p112"/>
          <p:cNvSpPr txBox="1"/>
          <p:nvPr/>
        </p:nvSpPr>
        <p:spPr>
          <a:xfrm>
            <a:off x="6490800" y="3771033"/>
            <a:ext cx="190588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 Score 기반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2" name="Google Shape;3922;p112"/>
          <p:cNvSpPr txBox="1"/>
          <p:nvPr/>
        </p:nvSpPr>
        <p:spPr>
          <a:xfrm>
            <a:off x="9206211" y="3015996"/>
            <a:ext cx="16719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종합 건강검진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식단 코칭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운동 프로그램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스트레스 케어 </a:t>
            </a:r>
            <a:endParaRPr/>
          </a:p>
        </p:txBody>
      </p:sp>
      <p:sp>
        <p:nvSpPr>
          <p:cNvPr id="3923" name="Google Shape;3923;p112"/>
          <p:cNvSpPr txBox="1"/>
          <p:nvPr/>
        </p:nvSpPr>
        <p:spPr>
          <a:xfrm>
            <a:off x="6518895" y="5188686"/>
            <a:ext cx="167197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vip_prob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dynamic_score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endParaRPr/>
          </a:p>
        </p:txBody>
      </p:sp>
      <p:sp>
        <p:nvSpPr>
          <p:cNvPr id="3924" name="Google Shape;3924;p112"/>
          <p:cNvSpPr txBox="1"/>
          <p:nvPr/>
        </p:nvSpPr>
        <p:spPr>
          <a:xfrm>
            <a:off x="6518895" y="5996961"/>
            <a:ext cx="120043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예측값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5" name="Google Shape;3925;p112"/>
          <p:cNvSpPr txBox="1"/>
          <p:nvPr/>
        </p:nvSpPr>
        <p:spPr>
          <a:xfrm>
            <a:off x="7563573" y="4988246"/>
            <a:ext cx="209503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/ GOLD / BASIC 자동 분류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6" name="Google Shape;3926;p112"/>
          <p:cNvSpPr txBox="1"/>
          <p:nvPr/>
        </p:nvSpPr>
        <p:spPr>
          <a:xfrm>
            <a:off x="9206211" y="5279994"/>
            <a:ext cx="175595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PB 센터 연결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전담 매니저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프리미엄 상품 노출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0" name="Shape 3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1" name="Google Shape;3931;p113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(결과 적용 – 추천 이력 정보 저장)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2" name="Google Shape;3932;p113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709525"/>
                <a:gridCol w="17753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05:00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Dashboard 조회 정보 반영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33" name="Google Shape;3933;p113"/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GCP 예측 결과를 DynamoDB에 저장한 뒤 Aurora DB에서 고객 등급별 상품·서비스를 조회하여 개인화 추천 데이터를 생성하고, 이를 ElastiCache(Redis)에 캐시하는 구조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113"/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GCP AI 예측 결과 수신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DynamoDB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 상품/서비스 조회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캐시 생성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ECS Main Dashboard 제공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113"/>
          <p:cNvSpPr txBox="1"/>
          <p:nvPr/>
        </p:nvSpPr>
        <p:spPr>
          <a:xfrm>
            <a:off x="243509" y="1370233"/>
            <a:ext cx="32606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– 메인 페이지, 응답 추천 캐시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(ECS Main 페이지 0.01초 응답)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p113"/>
          <p:cNvSpPr txBox="1"/>
          <p:nvPr/>
        </p:nvSpPr>
        <p:spPr>
          <a:xfrm>
            <a:off x="359564" y="1949576"/>
            <a:ext cx="3144563" cy="4662815"/>
          </a:xfrm>
          <a:prstGeom prst="rect">
            <a:avLst/>
          </a:prstGeom>
          <a:solidFill>
            <a:srgbClr val="E1EFD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"customer": "G001",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"grade": "VIP",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"score": 92.4,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"recommendations": [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{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"company": "LifeSync Bank",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"product": "PB 프리미엄 정기예금 VIP 전용"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},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{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"company": "LifeSync Card",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"product": "VIP Infinite Card VIP 전용"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},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{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"company": "LifeSync Healthcare",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"product": "VIP 라이프케어 VIP 전용"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},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{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"company": "LifeSync Insurance",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"product": "입원비 보장 보험 VIP 전용"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},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{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"company": "LifeSync Securities",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"product": "로보어드바이저 랩 VIP 전용"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}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]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p113"/>
          <p:cNvSpPr txBox="1"/>
          <p:nvPr/>
        </p:nvSpPr>
        <p:spPr>
          <a:xfrm>
            <a:off x="4356139" y="2629805"/>
            <a:ext cx="54006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 – 고객 추천 이력 (customer_recommend_history)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8" name="Google Shape;3938;p113"/>
          <p:cNvGraphicFramePr/>
          <p:nvPr/>
        </p:nvGraphicFramePr>
        <p:xfrm>
          <a:off x="4356139" y="30815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767725"/>
                <a:gridCol w="767725"/>
                <a:gridCol w="767725"/>
                <a:gridCol w="767725"/>
                <a:gridCol w="767725"/>
                <a:gridCol w="767725"/>
                <a:gridCol w="767725"/>
                <a:gridCol w="767725"/>
                <a:gridCol w="767725"/>
                <a:gridCol w="7677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hist_id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company_id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dynamic_grade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dynamic_score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action_code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recommended_at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clicked_flag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/>
                        <a:t>purchased_flag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92.4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RECOMMEND_PB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2026-04-27 13:31:00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92.4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RECOMMEND_CARD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2026-04-27 13:31:00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8100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92.4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RECOMMEND_HEALTH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2026-04-27 13:31:00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6200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92.4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RECOMMEND_INSURANCE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2026-04-27 13:31:00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3500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VIP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92.4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RECOMMEND_WM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2026-04-27 13:31:00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2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3" name="Google Shape;3943;p114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(메인 - 대시보드)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4" name="Google Shape;3944;p114"/>
          <p:cNvSpPr txBox="1"/>
          <p:nvPr/>
        </p:nvSpPr>
        <p:spPr>
          <a:xfrm>
            <a:off x="9530385" y="3679308"/>
            <a:ext cx="256129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 Score 87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VIP 후보입니다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ETF 추천드립니다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예약하시겠어요?</a:t>
            </a:r>
            <a:endParaRPr/>
          </a:p>
        </p:txBody>
      </p:sp>
      <p:sp>
        <p:nvSpPr>
          <p:cNvPr id="3945" name="Google Shape;3945;p114"/>
          <p:cNvSpPr txBox="1"/>
          <p:nvPr/>
        </p:nvSpPr>
        <p:spPr>
          <a:xfrm>
            <a:off x="9572404" y="5859276"/>
            <a:ext cx="256129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김철수님,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전담 PB 상담 대상입니다.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ETF 추천드립니다.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예약도 가능해요.</a:t>
            </a:r>
            <a:endParaRPr/>
          </a:p>
        </p:txBody>
      </p:sp>
      <p:sp>
        <p:nvSpPr>
          <p:cNvPr id="3946" name="Google Shape;3946;p114"/>
          <p:cNvSpPr txBox="1"/>
          <p:nvPr/>
        </p:nvSpPr>
        <p:spPr>
          <a:xfrm>
            <a:off x="9530384" y="4895296"/>
            <a:ext cx="256129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 점수 82점 (Good)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최근 스트레스 높음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건강검진 예약하시겠어요?</a:t>
            </a:r>
            <a:endParaRPr/>
          </a:p>
        </p:txBody>
      </p:sp>
      <p:graphicFrame>
        <p:nvGraphicFramePr>
          <p:cNvPr id="3947" name="Google Shape;3947;p114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05:30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Dashboard 호출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48" name="Google Shape;3948;p114"/>
          <p:cNvSpPr txBox="1"/>
          <p:nvPr/>
        </p:nvSpPr>
        <p:spPr>
          <a:xfrm>
            <a:off x="6763005" y="3679308"/>
            <a:ext cx="2240318" cy="2708434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상단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등급 VIP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점수 92.4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중간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이번달 맞춤 추천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[은행] PB 프리미엄 정기예금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[카드] Black Signature Card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[헬스케어] VIP 종합 건강검진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9" name="Google Shape;3949;p114"/>
          <p:cNvSpPr txBox="1"/>
          <p:nvPr/>
        </p:nvSpPr>
        <p:spPr>
          <a:xfrm>
            <a:off x="3246738" y="3679308"/>
            <a:ext cx="2873364" cy="1938992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"customer":"G001",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"grade":"VIP",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"score":92.4,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"recommendations":[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{"company":"은행","product":"PB 정기예금"},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{"company":"카드","product":"VIP 카드"},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{"company":"보험","product":"프리미엄 건강보험"}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0" name="Google Shape;3950;p114"/>
          <p:cNvSpPr txBox="1"/>
          <p:nvPr/>
        </p:nvSpPr>
        <p:spPr>
          <a:xfrm>
            <a:off x="3246738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화면 예시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1" name="Google Shape;3951;p114"/>
          <p:cNvSpPr txBox="1"/>
          <p:nvPr/>
        </p:nvSpPr>
        <p:spPr>
          <a:xfrm>
            <a:off x="367604" y="3679308"/>
            <a:ext cx="2610800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 앱(브라우저) 접속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ECS -&gt; EC2 앱 서비스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우선 조회 -&gt; 즉시 응답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없으면 Aurora + DynamoDB 조회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JSON 반환</a:t>
            </a:r>
            <a:b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캐시 저장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2" name="Google Shape;3952;p114"/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처리 프로세스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3" name="Google Shape;3953;p114"/>
          <p:cNvSpPr txBox="1"/>
          <p:nvPr/>
        </p:nvSpPr>
        <p:spPr>
          <a:xfrm>
            <a:off x="9530384" y="3192558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메시지 예시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4" name="Google Shape;3954;p114"/>
          <p:cNvSpPr txBox="1"/>
          <p:nvPr/>
        </p:nvSpPr>
        <p:spPr>
          <a:xfrm>
            <a:off x="6699040" y="3212952"/>
            <a:ext cx="2240318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화면 구성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5" name="Google Shape;3955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3956" name="Google Shape;3956;p114"/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3957" name="Google Shape;3957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8" name="Google Shape;3958;p114"/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3959" name="Google Shape;3959;p1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3960" name="Google Shape;3960;p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1" name="Google Shape;3961;p114"/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plication Load Balancer resource icon for the Elastic Load Balancing service." id="3962" name="Google Shape;3962;p1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63" name="Google Shape;3963;p114"/>
          <p:cNvCxnSpPr>
            <a:stCxn id="3964" idx="3"/>
            <a:endCxn id="3962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3964" name="Google Shape;3964;p1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5" name="Google Shape;3965;p114"/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6" name="Google Shape;3966;p114"/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3967" name="Google Shape;3967;p1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968" name="Google Shape;3968;p114"/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9" name="Google Shape;3969;p114"/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70" name="Google Shape;3970;p114"/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3971" name="Google Shape;3971;p1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972" name="Google Shape;3972;p114"/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3" name="Google Shape;3973;p114"/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3974" name="Google Shape;3974;p1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975" name="Google Shape;3975;p114"/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3976" name="Google Shape;3976;p1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3977" name="Google Shape;3977;p1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8" name="Google Shape;3978;p114"/>
          <p:cNvCxnSpPr>
            <a:stCxn id="3955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3979" name="Google Shape;3979;p114"/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3980" name="Google Shape;3980;p1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Aurora service icon." id="3981" name="Google Shape;3981;p1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3982" name="Google Shape;3982;p114"/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DynamoDB service icon." id="3983" name="Google Shape;3983;p1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3984" name="Google Shape;3984;p114"/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3985" name="Google Shape;3985;p1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3986" name="Google Shape;3986;p114"/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7" name="Google Shape;3987;p114"/>
          <p:cNvCxnSpPr>
            <a:stCxn id="3972" idx="1"/>
            <a:endCxn id="3983" idx="1"/>
          </p:cNvCxnSpPr>
          <p:nvPr/>
        </p:nvCxnSpPr>
        <p:spPr>
          <a:xfrm flipH="1" rot="10800000">
            <a:off x="4351799" y="1478157"/>
            <a:ext cx="762600" cy="854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88" name="Google Shape;3988;p114"/>
          <p:cNvCxnSpPr>
            <a:stCxn id="3972" idx="1"/>
          </p:cNvCxnSpPr>
          <p:nvPr/>
        </p:nvCxnSpPr>
        <p:spPr>
          <a:xfrm flipH="1" rot="10800000">
            <a:off x="4351799" y="1914357"/>
            <a:ext cx="1474800" cy="41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89" name="Google Shape;3989;p114"/>
          <p:cNvCxnSpPr>
            <a:stCxn id="3973" idx="2"/>
            <a:endCxn id="3986" idx="2"/>
          </p:cNvCxnSpPr>
          <p:nvPr/>
        </p:nvCxnSpPr>
        <p:spPr>
          <a:xfrm rot="-5400000">
            <a:off x="5558197" y="1027175"/>
            <a:ext cx="171000" cy="2874900"/>
          </a:xfrm>
          <a:prstGeom prst="bentConnector3">
            <a:avLst>
              <a:gd fmla="val -212115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90" name="Google Shape;3990;p114"/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1" name="Google Shape;3991;p114"/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2" name="Google Shape;3992;p114"/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3" name="Google Shape;3993;p114"/>
          <p:cNvSpPr txBox="1"/>
          <p:nvPr/>
        </p:nvSpPr>
        <p:spPr>
          <a:xfrm>
            <a:off x="3222974" y="5705387"/>
            <a:ext cx="136107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① 개인 맞춤 추천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② 금융상품 추천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③ 건강관리 추천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④ VIP 전용 영역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7" name="Shape 3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8" name="Google Shape;3998;p115"/>
          <p:cNvSpPr txBox="1"/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데이터 처리 프로세스 (메인 – 대시보드 – 클릭/구매 로그)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99" name="Google Shape;3999;p115"/>
          <p:cNvGraphicFramePr/>
          <p:nvPr/>
        </p:nvGraphicFramePr>
        <p:xfrm>
          <a:off x="9572404" y="983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242450"/>
                <a:gridCol w="12424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시간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작업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05:30</a:t>
                      </a:r>
                      <a:endParaRPr sz="10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Dashboard 호출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00" name="Google Shape;4000;p115"/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이력 기반 클릭 / 구매 로그 생성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1" name="Google Shape;4001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Google Shape;4002;p115"/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cap="flat" cmpd="sng" w="15875">
            <a:solidFill>
              <a:srgbClr val="8C4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PC group icon. " id="4003" name="Google Shape;4003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4" name="Google Shape;4004;p115"/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cap="flat" cmpd="sng" w="15875">
            <a:solidFill>
              <a:srgbClr val="7AA1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blic subnet group icon. " id="4005" name="Google Shape;4005;p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net gateway resource icon for the Amazon VPC service.&#10;" id="4006" name="Google Shape;4006;p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7" name="Google Shape;4007;p115"/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pplication Load Balancer resource icon for the Elastic Load Balancing service." id="4008" name="Google Shape;4008;p1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9" name="Google Shape;4009;p115"/>
          <p:cNvCxnSpPr>
            <a:stCxn id="4010" idx="3"/>
            <a:endCxn id="4008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AWS WAF service icon." id="4010" name="Google Shape;4010;p1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1" name="Google Shape;4011;p115"/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2" name="Google Shape;4012;p115"/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4013" name="Google Shape;4013;p1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4014" name="Google Shape;4014;p115"/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5" name="Google Shape;4015;p115"/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16" name="Google Shape;4016;p115"/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mpute Cloud (Amazon EC2) service icon." id="4017" name="Google Shape;4017;p1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4018" name="Google Shape;4018;p115"/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9" name="Google Shape;4019;p115"/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cap="flat" cmpd="sng" w="15875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 Container Service (Amazon ECS) service icon." id="4020" name="Google Shape;4020;p1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4021" name="Google Shape;4021;p115"/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4022" name="Google Shape;4022;p1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WS Auto Scaling service icon." id="4023" name="Google Shape;4023;p1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4" name="Google Shape;4024;p115"/>
          <p:cNvCxnSpPr>
            <a:stCxn id="4001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4025" name="Google Shape;4025;p115"/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cap="flat" cmpd="sng" w="15875">
            <a:solidFill>
              <a:srgbClr val="00A4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5029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ivate subnet group icon. " id="4026" name="Google Shape;4026;p1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mazon Aurora service icon." id="4027" name="Google Shape;4027;p1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028" name="Google Shape;4028;p115"/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DynamoDB service icon." id="4029" name="Google Shape;4029;p1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030" name="Google Shape;4030;p115"/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mazon ElastiCache service icon." id="4031" name="Google Shape;4031;p1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4032" name="Google Shape;4032;p115"/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3" name="Google Shape;4033;p115"/>
          <p:cNvCxnSpPr>
            <a:stCxn id="4018" idx="1"/>
            <a:endCxn id="4029" idx="1"/>
          </p:cNvCxnSpPr>
          <p:nvPr/>
        </p:nvCxnSpPr>
        <p:spPr>
          <a:xfrm flipH="1" rot="10800000">
            <a:off x="4351799" y="1478157"/>
            <a:ext cx="762600" cy="854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34" name="Google Shape;4034;p115"/>
          <p:cNvCxnSpPr>
            <a:stCxn id="4018" idx="1"/>
          </p:cNvCxnSpPr>
          <p:nvPr/>
        </p:nvCxnSpPr>
        <p:spPr>
          <a:xfrm flipH="1" rot="10800000">
            <a:off x="4351799" y="1914357"/>
            <a:ext cx="1474800" cy="41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035" name="Google Shape;4035;p115"/>
          <p:cNvCxnSpPr>
            <a:stCxn id="4019" idx="2"/>
            <a:endCxn id="4032" idx="2"/>
          </p:cNvCxnSpPr>
          <p:nvPr/>
        </p:nvCxnSpPr>
        <p:spPr>
          <a:xfrm rot="-5400000">
            <a:off x="5558197" y="1027175"/>
            <a:ext cx="171000" cy="2874900"/>
          </a:xfrm>
          <a:prstGeom prst="bentConnector3">
            <a:avLst>
              <a:gd fmla="val -212115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36" name="Google Shape;4036;p115"/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7" name="Google Shape;4037;p115"/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8" name="Google Shape;4038;p115"/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9" name="Google Shape;4039;p115"/>
          <p:cNvSpPr txBox="1"/>
          <p:nvPr/>
        </p:nvSpPr>
        <p:spPr>
          <a:xfrm>
            <a:off x="351055" y="3600798"/>
            <a:ext cx="296548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 로그인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추천 조회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대시보드 추천 노출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클릭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상세 조회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가입/구매 진행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Aurora 로그 저장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AutoNum type="arabicParenR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분석 및 재학습</a:t>
            </a:r>
            <a:endParaRPr/>
          </a:p>
        </p:txBody>
      </p:sp>
      <p:sp>
        <p:nvSpPr>
          <p:cNvPr id="4040" name="Google Shape;4040;p115"/>
          <p:cNvSpPr txBox="1"/>
          <p:nvPr/>
        </p:nvSpPr>
        <p:spPr>
          <a:xfrm>
            <a:off x="3828300" y="321295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노출 로그 저장  (Customer_dashboard_log)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1" name="Google Shape;4041;p115"/>
          <p:cNvGraphicFramePr/>
          <p:nvPr/>
        </p:nvGraphicFramePr>
        <p:xfrm>
          <a:off x="3898503" y="3609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675200"/>
                <a:gridCol w="987550"/>
                <a:gridCol w="829050"/>
                <a:gridCol w="1085100"/>
                <a:gridCol w="1133850"/>
                <a:gridCol w="1256500"/>
                <a:gridCol w="994550"/>
                <a:gridCol w="9945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log_id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page_type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banner_click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product_click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click_product_id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session_id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view_time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MAIN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NULL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S-20260512001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2026-05-12 09:00:00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2" name="Google Shape;4042;p115"/>
          <p:cNvSpPr txBox="1"/>
          <p:nvPr/>
        </p:nvSpPr>
        <p:spPr>
          <a:xfrm>
            <a:off x="3828300" y="4551194"/>
            <a:ext cx="4632948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 상품 클릭 (Customer_dashboard_log)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3" name="Google Shape;4043;p115"/>
          <p:cNvGraphicFramePr/>
          <p:nvPr/>
        </p:nvGraphicFramePr>
        <p:xfrm>
          <a:off x="3898502" y="4941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326050"/>
                <a:gridCol w="1326050"/>
                <a:gridCol w="1326050"/>
                <a:gridCol w="1326050"/>
                <a:gridCol w="1326050"/>
                <a:gridCol w="13260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log_id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page_type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product_click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click_product_id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session_id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S-20260512001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44" name="Google Shape;4044;p115"/>
          <p:cNvSpPr txBox="1"/>
          <p:nvPr/>
        </p:nvSpPr>
        <p:spPr>
          <a:xfrm>
            <a:off x="3828300" y="571827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/ 구매 로그 저장 (Customer_dashboard_log)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45" name="Google Shape;4045;p115"/>
          <p:cNvGraphicFramePr/>
          <p:nvPr/>
        </p:nvGraphicFramePr>
        <p:xfrm>
          <a:off x="3898502" y="6151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{41FB2459-1CD8-4063-B149-143C933E28A6}</a:tableStyleId>
              </a:tblPr>
              <a:tblGrid>
                <a:gridCol w="1591275"/>
                <a:gridCol w="1591275"/>
                <a:gridCol w="1591275"/>
                <a:gridCol w="1591275"/>
                <a:gridCol w="159127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log_id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global_id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page_type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product_click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/>
                        <a:t>click_product_id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G001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PURCHASE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/>
                        <a:t>1001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2023-09-08T07:40:16Z</dcterms:created>
  <dc:creator>Calvin Heo</dc:creator>
</cp:coreProperties>
</file>