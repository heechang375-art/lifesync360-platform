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63.svg" ContentType="image/sv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102"/>
  </p:notesMasterIdLst>
  <p:sldIdLst>
    <p:sldId id="404" r:id="rId3"/>
    <p:sldId id="256" r:id="rId4"/>
    <p:sldId id="258" r:id="rId5"/>
    <p:sldId id="308" r:id="rId6"/>
    <p:sldId id="310" r:id="rId7"/>
    <p:sldId id="407" r:id="rId8"/>
    <p:sldId id="309" r:id="rId9"/>
    <p:sldId id="319" r:id="rId10"/>
    <p:sldId id="322" r:id="rId11"/>
    <p:sldId id="409" r:id="rId12"/>
    <p:sldId id="321" r:id="rId13"/>
    <p:sldId id="406" r:id="rId14"/>
    <p:sldId id="334" r:id="rId15"/>
    <p:sldId id="350" r:id="rId16"/>
    <p:sldId id="357" r:id="rId17"/>
    <p:sldId id="358" r:id="rId18"/>
    <p:sldId id="351" r:id="rId19"/>
    <p:sldId id="402" r:id="rId20"/>
    <p:sldId id="403" r:id="rId21"/>
    <p:sldId id="405" r:id="rId22"/>
    <p:sldId id="338" r:id="rId23"/>
    <p:sldId id="343" r:id="rId24"/>
    <p:sldId id="342" r:id="rId25"/>
    <p:sldId id="340" r:id="rId26"/>
    <p:sldId id="427" r:id="rId27"/>
    <p:sldId id="311" r:id="rId28"/>
    <p:sldId id="352" r:id="rId29"/>
    <p:sldId id="353" r:id="rId30"/>
    <p:sldId id="354" r:id="rId31"/>
    <p:sldId id="325" r:id="rId32"/>
    <p:sldId id="355" r:id="rId33"/>
    <p:sldId id="339" r:id="rId34"/>
    <p:sldId id="359" r:id="rId35"/>
    <p:sldId id="361" r:id="rId36"/>
    <p:sldId id="362" r:id="rId37"/>
    <p:sldId id="363" r:id="rId38"/>
    <p:sldId id="364" r:id="rId39"/>
    <p:sldId id="365" r:id="rId40"/>
    <p:sldId id="366" r:id="rId41"/>
    <p:sldId id="367" r:id="rId42"/>
    <p:sldId id="368" r:id="rId43"/>
    <p:sldId id="360" r:id="rId44"/>
    <p:sldId id="370" r:id="rId45"/>
    <p:sldId id="371" r:id="rId46"/>
    <p:sldId id="369" r:id="rId47"/>
    <p:sldId id="313" r:id="rId48"/>
    <p:sldId id="345" r:id="rId49"/>
    <p:sldId id="344" r:id="rId50"/>
    <p:sldId id="346" r:id="rId51"/>
    <p:sldId id="372" r:id="rId52"/>
    <p:sldId id="379" r:id="rId53"/>
    <p:sldId id="373" r:id="rId54"/>
    <p:sldId id="387" r:id="rId55"/>
    <p:sldId id="388" r:id="rId56"/>
    <p:sldId id="374" r:id="rId57"/>
    <p:sldId id="380" r:id="rId58"/>
    <p:sldId id="381" r:id="rId59"/>
    <p:sldId id="375" r:id="rId60"/>
    <p:sldId id="389" r:id="rId61"/>
    <p:sldId id="390" r:id="rId62"/>
    <p:sldId id="376" r:id="rId63"/>
    <p:sldId id="382" r:id="rId64"/>
    <p:sldId id="383" r:id="rId65"/>
    <p:sldId id="377" r:id="rId66"/>
    <p:sldId id="384" r:id="rId67"/>
    <p:sldId id="385" r:id="rId68"/>
    <p:sldId id="386" r:id="rId69"/>
    <p:sldId id="349" r:id="rId70"/>
    <p:sldId id="378" r:id="rId71"/>
    <p:sldId id="314" r:id="rId72"/>
    <p:sldId id="391" r:id="rId73"/>
    <p:sldId id="392" r:id="rId74"/>
    <p:sldId id="335" r:id="rId75"/>
    <p:sldId id="394" r:id="rId76"/>
    <p:sldId id="393" r:id="rId77"/>
    <p:sldId id="395" r:id="rId78"/>
    <p:sldId id="396" r:id="rId79"/>
    <p:sldId id="397" r:id="rId80"/>
    <p:sldId id="348" r:id="rId81"/>
    <p:sldId id="398" r:id="rId82"/>
    <p:sldId id="399" r:id="rId83"/>
    <p:sldId id="400" r:id="rId84"/>
    <p:sldId id="401" r:id="rId85"/>
    <p:sldId id="411" r:id="rId86"/>
    <p:sldId id="415" r:id="rId87"/>
    <p:sldId id="416" r:id="rId88"/>
    <p:sldId id="417" r:id="rId89"/>
    <p:sldId id="418" r:id="rId90"/>
    <p:sldId id="419" r:id="rId91"/>
    <p:sldId id="420" r:id="rId92"/>
    <p:sldId id="426" r:id="rId93"/>
    <p:sldId id="421" r:id="rId94"/>
    <p:sldId id="422" r:id="rId95"/>
    <p:sldId id="423" r:id="rId96"/>
    <p:sldId id="424" r:id="rId97"/>
    <p:sldId id="315" r:id="rId98"/>
    <p:sldId id="413" r:id="rId99"/>
    <p:sldId id="324" r:id="rId100"/>
    <p:sldId id="412" r:id="rId10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D290EE01-CB67-4D4B-B3C6-65F8A0558F28}">
          <p14:sldIdLst>
            <p14:sldId id="404"/>
            <p14:sldId id="256"/>
            <p14:sldId id="258"/>
            <p14:sldId id="308"/>
          </p14:sldIdLst>
        </p14:section>
        <p14:section name="인프라 구축 프로세스" id="{22B10503-76E6-404D-B4BD-FCAE43B952A5}">
          <p14:sldIdLst>
            <p14:sldId id="310"/>
          </p14:sldIdLst>
        </p14:section>
        <p14:section name="CI/CD 파이프라인 프로세스" id="{8785AA4B-ABB3-094D-BB31-E8F6EAAA1BFE}">
          <p14:sldIdLst>
            <p14:sldId id="407"/>
            <p14:sldId id="309"/>
            <p14:sldId id="319"/>
            <p14:sldId id="322"/>
            <p14:sldId id="409"/>
            <p14:sldId id="321"/>
            <p14:sldId id="406"/>
          </p14:sldIdLst>
        </p14:section>
        <p14:section name="데이터 파이프라인" id="{D4400BE6-D46B-F142-84F7-A2F8E848BC60}">
          <p14:sldIdLst>
            <p14:sldId id="334"/>
          </p14:sldIdLst>
        </p14:section>
        <p14:section name="데이터 구조" id="{8A0ADDDC-564E-524B-B989-54F791C717AD}">
          <p14:sldIdLst>
            <p14:sldId id="350"/>
            <p14:sldId id="357"/>
            <p14:sldId id="358"/>
            <p14:sldId id="351"/>
            <p14:sldId id="402"/>
            <p14:sldId id="403"/>
            <p14:sldId id="405"/>
          </p14:sldIdLst>
        </p14:section>
        <p14:section name="데이터 사전 구축사항" id="{2F03A60B-9670-0A43-A4B2-4E2699251CC0}">
          <p14:sldIdLst>
            <p14:sldId id="338"/>
            <p14:sldId id="343"/>
            <p14:sldId id="342"/>
            <p14:sldId id="340"/>
            <p14:sldId id="427"/>
          </p14:sldIdLst>
        </p14:section>
        <p14:section name="데이터 처리 프로세스" id="{063A86A8-0738-9E45-BD7C-1EBB7106E16C}">
          <p14:sldIdLst>
            <p14:sldId id="311"/>
            <p14:sldId id="352"/>
            <p14:sldId id="353"/>
            <p14:sldId id="354"/>
            <p14:sldId id="325"/>
            <p14:sldId id="355"/>
            <p14:sldId id="339"/>
            <p14:sldId id="359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0"/>
            <p14:sldId id="370"/>
            <p14:sldId id="371"/>
            <p14:sldId id="369"/>
            <p14:sldId id="313"/>
            <p14:sldId id="345"/>
            <p14:sldId id="344"/>
            <p14:sldId id="346"/>
            <p14:sldId id="372"/>
            <p14:sldId id="379"/>
            <p14:sldId id="373"/>
            <p14:sldId id="387"/>
            <p14:sldId id="388"/>
            <p14:sldId id="374"/>
            <p14:sldId id="380"/>
            <p14:sldId id="381"/>
            <p14:sldId id="375"/>
            <p14:sldId id="389"/>
            <p14:sldId id="390"/>
            <p14:sldId id="376"/>
            <p14:sldId id="382"/>
            <p14:sldId id="383"/>
            <p14:sldId id="377"/>
            <p14:sldId id="384"/>
            <p14:sldId id="385"/>
            <p14:sldId id="386"/>
            <p14:sldId id="349"/>
            <p14:sldId id="378"/>
            <p14:sldId id="314"/>
            <p14:sldId id="391"/>
            <p14:sldId id="392"/>
            <p14:sldId id="335"/>
            <p14:sldId id="394"/>
            <p14:sldId id="393"/>
            <p14:sldId id="395"/>
            <p14:sldId id="396"/>
            <p14:sldId id="397"/>
            <p14:sldId id="348"/>
            <p14:sldId id="398"/>
            <p14:sldId id="399"/>
            <p14:sldId id="400"/>
            <p14:sldId id="401"/>
            <p14:sldId id="411"/>
            <p14:sldId id="415"/>
            <p14:sldId id="416"/>
            <p14:sldId id="417"/>
            <p14:sldId id="418"/>
            <p14:sldId id="419"/>
            <p14:sldId id="420"/>
            <p14:sldId id="426"/>
            <p14:sldId id="421"/>
            <p14:sldId id="422"/>
            <p14:sldId id="423"/>
            <p14:sldId id="424"/>
            <p14:sldId id="315"/>
            <p14:sldId id="413"/>
            <p14:sldId id="324"/>
            <p14:sldId id="412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3" roundtripDataSignature="AMtx7mjC2n5fPaG6kZhEgLr9R3gNyodz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5"/>
    <p:restoredTop sz="95991"/>
  </p:normalViewPr>
  <p:slideViewPr>
    <p:cSldViewPr snapToGrid="0" snapToObjects="1">
      <p:cViewPr varScale="1">
        <p:scale>
          <a:sx n="78" d="100"/>
          <a:sy n="78" d="100"/>
        </p:scale>
        <p:origin x="10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07" Type="http://schemas.openxmlformats.org/officeDocument/2006/relationships/tableStyles" Target="tableStyles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customschemas.google.com/relationships/presentationmetadata" Target="meta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?>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?>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?>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?>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?>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?>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?>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?>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?>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?>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?>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?>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?>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?>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?>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?>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?>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?>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?>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?>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?>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?>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?>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?>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?>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?>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?>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?>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?>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?>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?>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?>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?>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?>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?>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?>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?>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?>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?>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?>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?>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?>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?>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?>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?>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?>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?>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?>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?>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8072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652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0589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3125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3437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0403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086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8878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6492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24906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249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41334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65109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64501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48380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25580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7095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68155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52301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6954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73811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82018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17698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05314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5056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9939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98631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44449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36281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520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29432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69014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53104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1324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549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22269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390578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66240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60647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354370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85323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34081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898174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091631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642293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959281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80664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541349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265892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56233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296181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0203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773075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987174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198872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20347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489605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039001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486862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783550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859268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726716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633735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82986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48881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706981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9600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527741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039977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531219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894581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47732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3457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21296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91739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912318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808313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089213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681543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281287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104033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735502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625985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6306388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808465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814401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688983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031983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181484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993468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152378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520447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135823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860674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0275419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6510073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890402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Short Band: Text and Bullets">
  <p:cSld name="Content Short Band: Text and Bulle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370"/>
            <a:ext cx="12192127" cy="6441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body" idx="1"/>
          </p:nvPr>
        </p:nvSpPr>
        <p:spPr>
          <a:xfrm>
            <a:off x="608172" y="1137695"/>
            <a:ext cx="10975658" cy="507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title"/>
          </p:nvPr>
        </p:nvSpPr>
        <p:spPr>
          <a:xfrm>
            <a:off x="608172" y="2"/>
            <a:ext cx="10975658" cy="642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Short Band: Text and Bullets">
  <p:cSld name="Content Short Band: Text and Bullet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g3d6e2211149_2_3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370"/>
            <a:ext cx="12192128" cy="6441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d6e2211149_2_3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g3d6e2211149_2_382"/>
          <p:cNvSpPr txBox="1">
            <a:spLocks noGrp="1"/>
          </p:cNvSpPr>
          <p:nvPr>
            <p:ph type="body" idx="1"/>
          </p:nvPr>
        </p:nvSpPr>
        <p:spPr>
          <a:xfrm>
            <a:off x="608172" y="1137695"/>
            <a:ext cx="10975800" cy="50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g3d6e2211149_2_382"/>
          <p:cNvSpPr txBox="1">
            <a:spLocks noGrp="1"/>
          </p:cNvSpPr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6e2211149_2_38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g3d6e2211149_2_38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3" name="Google Shape;103;g3d6e2211149_2_38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3d6e2211149_2_38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d6e2211149_2_38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6e2211149_2_39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g3d6e2211149_2_39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g3d6e2211149_2_39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d6e2211149_2_39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3d6e2211149_2_3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6e2211149_2_39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d6e2211149_2_39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g3d6e2211149_2_39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g3d6e2211149_2_3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3d6e2211149_2_3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6e2211149_2_40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g3d6e2211149_2_40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g3d6e2211149_2_40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g3d6e2211149_2_40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g3d6e2211149_2_40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g3d6e2211149_2_40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6e2211149_2_4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3d6e2211149_2_4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8" name="Google Shape;128;g3d6e2211149_2_4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g3d6e2211149_2_4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0" name="Google Shape;130;g3d6e2211149_2_4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g3d6e2211149_2_4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g3d6e2211149_2_4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g3d6e2211149_2_4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6e2211149_2_4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3d6e2211149_2_4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g3d6e2211149_2_4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g3d6e2211149_2_4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6e2211149_2_4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3d6e2211149_2_4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3d6e2211149_2_4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6e2211149_2_4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3d6e2211149_2_43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6" name="Google Shape;146;g3d6e2211149_2_43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7" name="Google Shape;147;g3d6e2211149_2_4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g3d6e2211149_2_4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g3d6e2211149_2_4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6e2211149_2_4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g3d6e2211149_2_43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g3d6e2211149_2_43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4" name="Google Shape;154;g3d6e2211149_2_4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g3d6e2211149_2_4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g3d6e2211149_2_4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6e2211149_2_4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g3d6e2211149_2_444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g3d6e2211149_2_4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g3d6e2211149_2_4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g3d6e2211149_2_4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6e2211149_2_450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g3d6e2211149_2_450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g3d6e2211149_2_4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g3d6e2211149_2_4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g3d6e2211149_2_4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6e2211149_2_37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g3d6e2211149_2_37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Google Shape;92;g3d6e2211149_2_37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g3d6e2211149_2_37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g3d6e2211149_2_37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9" Type="http://schemas.openxmlformats.org/officeDocument/2006/relationships/image" Target="../media/image39.pn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42" Type="http://schemas.openxmlformats.org/officeDocument/2006/relationships/image" Target="../media/image4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41" Type="http://schemas.openxmlformats.org/officeDocument/2006/relationships/image" Target="../media/image4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37" Type="http://schemas.openxmlformats.org/officeDocument/2006/relationships/image" Target="../media/image37.png"/><Relationship Id="rId40" Type="http://schemas.openxmlformats.org/officeDocument/2006/relationships/image" Target="../media/image40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43" Type="http://schemas.openxmlformats.org/officeDocument/2006/relationships/image" Target="../media/image43.png"/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38.png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image" Target="../media/image3.jpg"/><Relationship Id="rId13" Type="http://schemas.openxmlformats.org/officeDocument/2006/relationships/image" Target="../media/image50.png"/><Relationship Id="rId18" Type="http://schemas.openxmlformats.org/officeDocument/2006/relationships/image" Target="../media/image55.svg"/><Relationship Id="rId3" Type="http://schemas.openxmlformats.org/officeDocument/2006/relationships/image" Target="../media/image44.png"/><Relationship Id="rId21" Type="http://schemas.openxmlformats.org/officeDocument/2006/relationships/image" Target="../media/image58.png"/><Relationship Id="rId7" Type="http://schemas.openxmlformats.org/officeDocument/2006/relationships/image" Target="../media/image26.png"/><Relationship Id="rId12" Type="http://schemas.openxmlformats.org/officeDocument/2006/relationships/image" Target="../media/image49.png"/><Relationship Id="rId17" Type="http://schemas.openxmlformats.org/officeDocument/2006/relationships/image" Target="../media/image54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3.png"/><Relationship Id="rId20" Type="http://schemas.openxmlformats.org/officeDocument/2006/relationships/image" Target="../media/image5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8.png"/><Relationship Id="rId5" Type="http://schemas.openxmlformats.org/officeDocument/2006/relationships/image" Target="../media/image13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5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5.xml.rels><?xml version="1.0" encoding="UTF-8"?>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.jpg"/><Relationship Id="rId18" Type="http://schemas.openxmlformats.org/officeDocument/2006/relationships/image" Target="../media/image46.png"/><Relationship Id="rId3" Type="http://schemas.openxmlformats.org/officeDocument/2006/relationships/image" Target="../media/image4.png"/><Relationship Id="rId21" Type="http://schemas.openxmlformats.org/officeDocument/2006/relationships/image" Target="../media/image60.png"/><Relationship Id="rId7" Type="http://schemas.openxmlformats.org/officeDocument/2006/relationships/image" Target="../media/image9.png"/><Relationship Id="rId12" Type="http://schemas.openxmlformats.org/officeDocument/2006/relationships/image" Target="../media/image26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8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5.png"/><Relationship Id="rId5" Type="http://schemas.openxmlformats.org/officeDocument/2006/relationships/image" Target="../media/image7.png"/><Relationship Id="rId15" Type="http://schemas.openxmlformats.org/officeDocument/2006/relationships/image" Target="../media/image31.png"/><Relationship Id="rId10" Type="http://schemas.openxmlformats.org/officeDocument/2006/relationships/image" Target="../media/image12.png"/><Relationship Id="rId19" Type="http://schemas.openxmlformats.org/officeDocument/2006/relationships/image" Target="../media/image59.sv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28.png"/><Relationship Id="rId22" Type="http://schemas.openxmlformats.org/officeDocument/2006/relationships/image" Target="../media/image61.png"/></Relationships>
</file>

<file path=ppt/slides/_rels/slide6.xml.rels><?xml version="1.0" encoding="UTF-8"?>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5.png"/><Relationship Id="rId18" Type="http://schemas.openxmlformats.org/officeDocument/2006/relationships/image" Target="../media/image65.svg"/><Relationship Id="rId3" Type="http://schemas.openxmlformats.org/officeDocument/2006/relationships/image" Target="../media/image59.svg"/><Relationship Id="rId21" Type="http://schemas.openxmlformats.org/officeDocument/2006/relationships/image" Target="../media/image67.sv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17" Type="http://schemas.openxmlformats.org/officeDocument/2006/relationships/image" Target="../media/image64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7.png"/><Relationship Id="rId20" Type="http://schemas.openxmlformats.org/officeDocument/2006/relationships/image" Target="../media/image6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1.png"/><Relationship Id="rId5" Type="http://schemas.openxmlformats.org/officeDocument/2006/relationships/image" Target="../media/image63.svg"/><Relationship Id="rId15" Type="http://schemas.openxmlformats.org/officeDocument/2006/relationships/image" Target="../media/image24.png"/><Relationship Id="rId23" Type="http://schemas.openxmlformats.org/officeDocument/2006/relationships/image" Target="../media/image61.png"/><Relationship Id="rId10" Type="http://schemas.openxmlformats.org/officeDocument/2006/relationships/image" Target="../media/image10.png"/><Relationship Id="rId19" Type="http://schemas.openxmlformats.org/officeDocument/2006/relationships/image" Target="../media/image13.png"/><Relationship Id="rId4" Type="http://schemas.openxmlformats.org/officeDocument/2006/relationships/image" Target="../media/image62.png"/><Relationship Id="rId9" Type="http://schemas.openxmlformats.org/officeDocument/2006/relationships/image" Target="../media/image9.png"/><Relationship Id="rId14" Type="http://schemas.openxmlformats.org/officeDocument/2006/relationships/image" Target="../media/image31.png"/><Relationship Id="rId22" Type="http://schemas.openxmlformats.org/officeDocument/2006/relationships/image" Target="../media/image60.png"/></Relationships>
</file>

<file path=ppt/slides/_rels/slide7.xml.rels><?xml version="1.0" encoding="UTF-8"?>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7.png"/><Relationship Id="rId18" Type="http://schemas.openxmlformats.org/officeDocument/2006/relationships/image" Target="../media/image62.png"/><Relationship Id="rId26" Type="http://schemas.openxmlformats.org/officeDocument/2006/relationships/image" Target="../media/image15.png"/><Relationship Id="rId3" Type="http://schemas.openxmlformats.org/officeDocument/2006/relationships/image" Target="../media/image4.png"/><Relationship Id="rId21" Type="http://schemas.openxmlformats.org/officeDocument/2006/relationships/image" Target="../media/image66.svg"/><Relationship Id="rId7" Type="http://schemas.openxmlformats.org/officeDocument/2006/relationships/image" Target="../media/image10.png"/><Relationship Id="rId12" Type="http://schemas.openxmlformats.org/officeDocument/2006/relationships/image" Target="../media/image3.jpg"/><Relationship Id="rId17" Type="http://schemas.openxmlformats.org/officeDocument/2006/relationships/image" Target="../media/image32.png"/><Relationship Id="rId25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1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24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openxmlformats.org/officeDocument/2006/relationships/image" Target="../media/image30.png"/><Relationship Id="rId23" Type="http://schemas.openxmlformats.org/officeDocument/2006/relationships/image" Target="../media/image63.svg"/><Relationship Id="rId28" Type="http://schemas.openxmlformats.org/officeDocument/2006/relationships/image" Target="../media/image21.png"/><Relationship Id="rId10" Type="http://schemas.openxmlformats.org/officeDocument/2006/relationships/image" Target="../media/image22.png"/><Relationship Id="rId19" Type="http://schemas.openxmlformats.org/officeDocument/2006/relationships/image" Target="../media/image68.svg"/><Relationship Id="rId4" Type="http://schemas.openxmlformats.org/officeDocument/2006/relationships/image" Target="../media/image6.png"/><Relationship Id="rId9" Type="http://schemas.openxmlformats.org/officeDocument/2006/relationships/image" Target="../media/image18.png"/><Relationship Id="rId14" Type="http://schemas.openxmlformats.org/officeDocument/2006/relationships/image" Target="../media/image12.png"/><Relationship Id="rId22" Type="http://schemas.openxmlformats.org/officeDocument/2006/relationships/image" Target="../media/image67.svg"/><Relationship Id="rId27" Type="http://schemas.openxmlformats.org/officeDocument/2006/relationships/image" Target="../media/image16.png"/></Relationships>
</file>

<file path=ppt/slides/_rels/slide8.xml.rels><?xml version="1.0" encoding="UTF-8"?>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0.png"/><Relationship Id="rId18" Type="http://schemas.openxmlformats.org/officeDocument/2006/relationships/image" Target="../media/image66.svg"/><Relationship Id="rId26" Type="http://schemas.openxmlformats.org/officeDocument/2006/relationships/image" Target="../media/image30.png"/><Relationship Id="rId3" Type="http://schemas.openxmlformats.org/officeDocument/2006/relationships/image" Target="../media/image4.png"/><Relationship Id="rId21" Type="http://schemas.openxmlformats.org/officeDocument/2006/relationships/image" Target="../media/image64.svg"/><Relationship Id="rId7" Type="http://schemas.openxmlformats.org/officeDocument/2006/relationships/image" Target="../media/image12.png"/><Relationship Id="rId12" Type="http://schemas.openxmlformats.org/officeDocument/2006/relationships/image" Target="../media/image22.png"/><Relationship Id="rId17" Type="http://schemas.openxmlformats.org/officeDocument/2006/relationships/image" Target="../media/image24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8.svg"/><Relationship Id="rId20" Type="http://schemas.openxmlformats.org/officeDocument/2006/relationships/image" Target="../media/image6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7.png"/><Relationship Id="rId24" Type="http://schemas.openxmlformats.org/officeDocument/2006/relationships/image" Target="../media/image18.png"/><Relationship Id="rId5" Type="http://schemas.openxmlformats.org/officeDocument/2006/relationships/image" Target="../media/image11.png"/><Relationship Id="rId15" Type="http://schemas.openxmlformats.org/officeDocument/2006/relationships/image" Target="../media/image62.png"/><Relationship Id="rId23" Type="http://schemas.openxmlformats.org/officeDocument/2006/relationships/image" Target="../media/image17.png"/><Relationship Id="rId28" Type="http://schemas.openxmlformats.org/officeDocument/2006/relationships/image" Target="../media/image16.png"/><Relationship Id="rId10" Type="http://schemas.openxmlformats.org/officeDocument/2006/relationships/image" Target="../media/image9.png"/><Relationship Id="rId19" Type="http://schemas.openxmlformats.org/officeDocument/2006/relationships/image" Target="../media/image67.svg"/><Relationship Id="rId4" Type="http://schemas.openxmlformats.org/officeDocument/2006/relationships/image" Target="../media/image6.png"/><Relationship Id="rId9" Type="http://schemas.openxmlformats.org/officeDocument/2006/relationships/image" Target="../media/image3.jpg"/><Relationship Id="rId14" Type="http://schemas.openxmlformats.org/officeDocument/2006/relationships/image" Target="../media/image31.png"/><Relationship Id="rId22" Type="http://schemas.openxmlformats.org/officeDocument/2006/relationships/image" Target="../media/image13.png"/><Relationship Id="rId27" Type="http://schemas.openxmlformats.org/officeDocument/2006/relationships/image" Target="../media/image14.png"/></Relationships>
</file>

<file path=ppt/slides/_rels/slide9.xml.rels><?xml version="1.0" encoding="UTF-8"?>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1.png"/><Relationship Id="rId18" Type="http://schemas.openxmlformats.org/officeDocument/2006/relationships/image" Target="../media/image67.svg"/><Relationship Id="rId26" Type="http://schemas.openxmlformats.org/officeDocument/2006/relationships/image" Target="../media/image30.png"/><Relationship Id="rId3" Type="http://schemas.openxmlformats.org/officeDocument/2006/relationships/image" Target="../media/image4.png"/><Relationship Id="rId21" Type="http://schemas.openxmlformats.org/officeDocument/2006/relationships/image" Target="../media/image21.png"/><Relationship Id="rId7" Type="http://schemas.openxmlformats.org/officeDocument/2006/relationships/image" Target="../media/image3.jpg"/><Relationship Id="rId12" Type="http://schemas.openxmlformats.org/officeDocument/2006/relationships/image" Target="../media/image10.png"/><Relationship Id="rId17" Type="http://schemas.openxmlformats.org/officeDocument/2006/relationships/image" Target="../media/image66.sv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4.png"/><Relationship Id="rId20" Type="http://schemas.openxmlformats.org/officeDocument/2006/relationships/image" Target="../media/image6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2.png"/><Relationship Id="rId24" Type="http://schemas.openxmlformats.org/officeDocument/2006/relationships/image" Target="../media/image18.png"/><Relationship Id="rId5" Type="http://schemas.openxmlformats.org/officeDocument/2006/relationships/image" Target="../media/image11.png"/><Relationship Id="rId15" Type="http://schemas.openxmlformats.org/officeDocument/2006/relationships/image" Target="../media/image68.svg"/><Relationship Id="rId23" Type="http://schemas.openxmlformats.org/officeDocument/2006/relationships/image" Target="../media/image17.png"/><Relationship Id="rId28" Type="http://schemas.openxmlformats.org/officeDocument/2006/relationships/image" Target="../media/image16.png"/><Relationship Id="rId10" Type="http://schemas.openxmlformats.org/officeDocument/2006/relationships/image" Target="../media/image27.png"/><Relationship Id="rId19" Type="http://schemas.openxmlformats.org/officeDocument/2006/relationships/image" Target="../media/image63.svg"/><Relationship Id="rId4" Type="http://schemas.openxmlformats.org/officeDocument/2006/relationships/image" Target="../media/image6.png"/><Relationship Id="rId9" Type="http://schemas.openxmlformats.org/officeDocument/2006/relationships/image" Target="../media/image12.png"/><Relationship Id="rId14" Type="http://schemas.openxmlformats.org/officeDocument/2006/relationships/image" Target="../media/image62.png"/><Relationship Id="rId22" Type="http://schemas.openxmlformats.org/officeDocument/2006/relationships/image" Target="../media/image13.png"/><Relationship Id="rId27" Type="http://schemas.openxmlformats.org/officeDocument/2006/relationships/image" Target="../media/image14.png"/></Relationships>
</file>

<file path=ppt/slides/_rels/slide10.xml.rels><?xml version="1.0" encoding="UTF-8"?>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60.png"/><Relationship Id="rId18" Type="http://schemas.openxmlformats.org/officeDocument/2006/relationships/image" Target="../media/image9.png"/><Relationship Id="rId3" Type="http://schemas.openxmlformats.org/officeDocument/2006/relationships/image" Target="../media/image3.jpg"/><Relationship Id="rId7" Type="http://schemas.openxmlformats.org/officeDocument/2006/relationships/image" Target="../media/image63.svg"/><Relationship Id="rId12" Type="http://schemas.openxmlformats.org/officeDocument/2006/relationships/image" Target="../media/image65.sv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22.png"/><Relationship Id="rId5" Type="http://schemas.openxmlformats.org/officeDocument/2006/relationships/image" Target="../media/image6.png"/><Relationship Id="rId15" Type="http://schemas.openxmlformats.org/officeDocument/2006/relationships/image" Target="../media/image26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image" Target="../media/image27.png"/></Relationships>
</file>

<file path=ppt/slides/_rels/slide11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3.jpg"/><Relationship Id="rId18" Type="http://schemas.openxmlformats.org/officeDocument/2006/relationships/image" Target="../media/image62.png"/><Relationship Id="rId26" Type="http://schemas.openxmlformats.org/officeDocument/2006/relationships/image" Target="../media/image13.png"/><Relationship Id="rId3" Type="http://schemas.openxmlformats.org/officeDocument/2006/relationships/image" Target="../media/image4.png"/><Relationship Id="rId21" Type="http://schemas.openxmlformats.org/officeDocument/2006/relationships/image" Target="../media/image67.svg"/><Relationship Id="rId7" Type="http://schemas.openxmlformats.org/officeDocument/2006/relationships/image" Target="../media/image10.png"/><Relationship Id="rId12" Type="http://schemas.openxmlformats.org/officeDocument/2006/relationships/image" Target="../media/image23.png"/><Relationship Id="rId17" Type="http://schemas.openxmlformats.org/officeDocument/2006/relationships/image" Target="../media/image31.png"/><Relationship Id="rId25" Type="http://schemas.openxmlformats.org/officeDocument/2006/relationships/image" Target="../media/image69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2.png"/><Relationship Id="rId24" Type="http://schemas.openxmlformats.org/officeDocument/2006/relationships/image" Target="../media/image21.png"/><Relationship Id="rId5" Type="http://schemas.openxmlformats.org/officeDocument/2006/relationships/image" Target="../media/image8.png"/><Relationship Id="rId15" Type="http://schemas.openxmlformats.org/officeDocument/2006/relationships/image" Target="../media/image27.png"/><Relationship Id="rId23" Type="http://schemas.openxmlformats.org/officeDocument/2006/relationships/image" Target="../media/image64.svg"/><Relationship Id="rId28" Type="http://schemas.openxmlformats.org/officeDocument/2006/relationships/image" Target="../media/image16.png"/><Relationship Id="rId10" Type="http://schemas.openxmlformats.org/officeDocument/2006/relationships/image" Target="../media/image18.png"/><Relationship Id="rId19" Type="http://schemas.openxmlformats.org/officeDocument/2006/relationships/image" Target="../media/image68.svg"/><Relationship Id="rId4" Type="http://schemas.openxmlformats.org/officeDocument/2006/relationships/image" Target="../media/image6.png"/><Relationship Id="rId9" Type="http://schemas.openxmlformats.org/officeDocument/2006/relationships/image" Target="../media/image17.png"/><Relationship Id="rId14" Type="http://schemas.openxmlformats.org/officeDocument/2006/relationships/image" Target="../media/image12.png"/><Relationship Id="rId22" Type="http://schemas.openxmlformats.org/officeDocument/2006/relationships/image" Target="../media/image63.svg"/><Relationship Id="rId27" Type="http://schemas.openxmlformats.org/officeDocument/2006/relationships/image" Target="../media/image14.png"/></Relationships>
</file>

<file path=ppt/slides/_rels/slide12.xml.rels><?xml version="1.0" encoding="UTF-8"?>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68.svg"/><Relationship Id="rId18" Type="http://schemas.openxmlformats.org/officeDocument/2006/relationships/image" Target="../media/image12.png"/><Relationship Id="rId26" Type="http://schemas.openxmlformats.org/officeDocument/2006/relationships/image" Target="../media/image30.png"/><Relationship Id="rId3" Type="http://schemas.openxmlformats.org/officeDocument/2006/relationships/image" Target="../media/image4.png"/><Relationship Id="rId21" Type="http://schemas.openxmlformats.org/officeDocument/2006/relationships/image" Target="../media/image20.png"/><Relationship Id="rId7" Type="http://schemas.openxmlformats.org/officeDocument/2006/relationships/image" Target="../media/image22.png"/><Relationship Id="rId12" Type="http://schemas.openxmlformats.org/officeDocument/2006/relationships/image" Target="../media/image62.png"/><Relationship Id="rId17" Type="http://schemas.openxmlformats.org/officeDocument/2006/relationships/image" Target="../media/image64.sv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63.sv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24" Type="http://schemas.openxmlformats.org/officeDocument/2006/relationships/image" Target="../media/image18.png"/><Relationship Id="rId5" Type="http://schemas.openxmlformats.org/officeDocument/2006/relationships/image" Target="../media/image3.jpg"/><Relationship Id="rId15" Type="http://schemas.openxmlformats.org/officeDocument/2006/relationships/image" Target="../media/image67.svg"/><Relationship Id="rId23" Type="http://schemas.openxmlformats.org/officeDocument/2006/relationships/image" Target="../media/image17.png"/><Relationship Id="rId28" Type="http://schemas.openxmlformats.org/officeDocument/2006/relationships/image" Target="../media/image16.png"/><Relationship Id="rId10" Type="http://schemas.openxmlformats.org/officeDocument/2006/relationships/image" Target="../media/image10.png"/><Relationship Id="rId19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14" Type="http://schemas.openxmlformats.org/officeDocument/2006/relationships/image" Target="../media/image24.png"/><Relationship Id="rId22" Type="http://schemas.openxmlformats.org/officeDocument/2006/relationships/image" Target="../media/image21.png"/><Relationship Id="rId27" Type="http://schemas.openxmlformats.org/officeDocument/2006/relationships/image" Target="../media/image14.png"/></Relationships>
</file>

<file path=ppt/slides/_rels/slide13.xml.rels><?xml version="1.0" encoding="UTF-8"?>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44.png"/><Relationship Id="rId18" Type="http://schemas.openxmlformats.org/officeDocument/2006/relationships/image" Target="../media/image70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12" Type="http://schemas.openxmlformats.org/officeDocument/2006/relationships/image" Target="../media/image35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51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5" Type="http://schemas.openxmlformats.org/officeDocument/2006/relationships/image" Target="../media/image50.png"/><Relationship Id="rId10" Type="http://schemas.openxmlformats.org/officeDocument/2006/relationships/image" Target="../media/image20.png"/><Relationship Id="rId19" Type="http://schemas.openxmlformats.org/officeDocument/2006/relationships/image" Target="../media/image60.png"/><Relationship Id="rId4" Type="http://schemas.openxmlformats.org/officeDocument/2006/relationships/image" Target="../media/image12.png"/><Relationship Id="rId9" Type="http://schemas.openxmlformats.org/officeDocument/2006/relationships/image" Target="../media/image19.png"/><Relationship Id="rId14" Type="http://schemas.openxmlformats.org/officeDocument/2006/relationships/image" Target="../media/image45.png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7.png"/><Relationship Id="rId18" Type="http://schemas.openxmlformats.org/officeDocument/2006/relationships/image" Target="../media/image61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12" Type="http://schemas.openxmlformats.org/officeDocument/2006/relationships/image" Target="../media/image30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6.png"/><Relationship Id="rId10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14" Type="http://schemas.openxmlformats.org/officeDocument/2006/relationships/image" Target="../media/image14.png"/></Relationships>
</file>

<file path=ppt/slides/_rels/slide27.xml.rels><?xml version="1.0" encoding="UTF-8"?>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18" Type="http://schemas.openxmlformats.org/officeDocument/2006/relationships/image" Target="../media/image6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4.png"/></Relationships>
</file>

<file path=ppt/slides/_rels/slide28.xml.rels><?xml version="1.0" encoding="UTF-8"?>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18" Type="http://schemas.openxmlformats.org/officeDocument/2006/relationships/image" Target="../media/image6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4.png"/></Relationships>
</file>

<file path=ppt/slides/_rels/slide29.xml.rels><?xml version="1.0" encoding="UTF-8"?>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18" Type="http://schemas.openxmlformats.org/officeDocument/2006/relationships/image" Target="../media/image6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4.png"/></Relationships>
</file>

<file path=ppt/slides/_rels/slide30.xml.rels><?xml version="1.0" encoding="UTF-8"?>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18" Type="http://schemas.openxmlformats.org/officeDocument/2006/relationships/image" Target="../media/image6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4.png"/></Relationships>
</file>

<file path=ppt/slides/_rels/slide31.xml.rels><?xml version="1.0" encoding="UTF-8"?>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18" Type="http://schemas.openxmlformats.org/officeDocument/2006/relationships/image" Target="../media/image6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4.png"/></Relationships>
</file>

<file path=ppt/slides/_rels/slide32.xml.rels><?xml version="1.0" encoding="UTF-8"?>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6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70.png"/></Relationships>
</file>

<file path=ppt/slides/_rels/slide33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4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5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6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7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8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9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40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41.xml.rels><?xml version="1.0" encoding="UTF-8"?>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70.png"/></Relationships>
</file>

<file path=ppt/slides/_rels/slide42.xml.rels><?xml version="1.0" encoding="UTF-8"?>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70.png"/></Relationships>
</file>

<file path=ppt/slides/_rels/slide43.xml.rels><?xml version="1.0" encoding="UTF-8"?>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70.png"/></Relationships>
</file>

<file path=ppt/slides/_rels/slide44.xml.rels><?xml version="1.0" encoding="UTF-8"?>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70.png"/></Relationships>
</file>

<file path=ppt/slides/_rels/slide45.xml.rels><?xml version="1.0" encoding="UTF-8"?>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70.png"/></Relationships>
</file>

<file path=ppt/slides/_rels/slide46.xml.rels><?xml version="1.0" encoding="UTF-8"?>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35.png"/></Relationships>
</file>

<file path=ppt/slides/_rels/slide47.xml.rels><?xml version="1.0" encoding="UTF-8"?>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35.png"/></Relationships>
</file>

<file path=ppt/slides/_rels/slide48.xml.rels><?xml version="1.0" encoding="UTF-8"?>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35.png"/></Relationships>
</file>

<file path=ppt/slides/_rels/slide49.xml.rels><?xml version="1.0" encoding="UTF-8"?>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35.png"/></Relationships>
</file>

<file path=ppt/slides/_rels/slide50.xml.rels><?xml version="1.0" encoding="UTF-8"?>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?>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?>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?>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?>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?>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?>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?>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?>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?>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?>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?>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?>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?>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?>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?>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?>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?>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?>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1.png"/><Relationship Id="rId3" Type="http://schemas.openxmlformats.org/officeDocument/2006/relationships/image" Target="../media/image44.png"/><Relationship Id="rId7" Type="http://schemas.openxmlformats.org/officeDocument/2006/relationships/image" Target="../media/image51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19.png"/><Relationship Id="rId5" Type="http://schemas.openxmlformats.org/officeDocument/2006/relationships/image" Target="../media/image45.png"/><Relationship Id="rId15" Type="http://schemas.openxmlformats.org/officeDocument/2006/relationships/image" Target="../media/image22.png"/><Relationship Id="rId10" Type="http://schemas.openxmlformats.org/officeDocument/2006/relationships/image" Target="../media/image13.png"/><Relationship Id="rId4" Type="http://schemas.openxmlformats.org/officeDocument/2006/relationships/image" Target="../media/image47.png"/><Relationship Id="rId9" Type="http://schemas.openxmlformats.org/officeDocument/2006/relationships/image" Target="../media/image12.png"/><Relationship Id="rId14" Type="http://schemas.openxmlformats.org/officeDocument/2006/relationships/image" Target="../media/image35.png"/></Relationships>
</file>

<file path=ppt/slides/_rels/slide69.xml.rels><?xml version="1.0" encoding="UTF-8"?>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?>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?>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?>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?>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?>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?>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?>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?>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?>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?>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?>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?>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?>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3.png"/><Relationship Id="rId3" Type="http://schemas.openxmlformats.org/officeDocument/2006/relationships/image" Target="../media/image44.png"/><Relationship Id="rId7" Type="http://schemas.openxmlformats.org/officeDocument/2006/relationships/image" Target="../media/image14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1.png"/><Relationship Id="rId5" Type="http://schemas.openxmlformats.org/officeDocument/2006/relationships/image" Target="../media/image8.png"/><Relationship Id="rId10" Type="http://schemas.openxmlformats.org/officeDocument/2006/relationships/image" Target="../media/image55.svg"/><Relationship Id="rId4" Type="http://schemas.openxmlformats.org/officeDocument/2006/relationships/image" Target="../media/image51.png"/><Relationship Id="rId9" Type="http://schemas.openxmlformats.org/officeDocument/2006/relationships/image" Target="../media/image16.png"/></Relationships>
</file>

<file path=ppt/slides/_rels/slide83.xml.rels><?xml version="1.0" encoding="UTF-8"?>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3.png"/><Relationship Id="rId3" Type="http://schemas.openxmlformats.org/officeDocument/2006/relationships/image" Target="../media/image44.png"/><Relationship Id="rId7" Type="http://schemas.openxmlformats.org/officeDocument/2006/relationships/image" Target="../media/image14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1.png"/><Relationship Id="rId5" Type="http://schemas.openxmlformats.org/officeDocument/2006/relationships/image" Target="../media/image8.png"/><Relationship Id="rId10" Type="http://schemas.openxmlformats.org/officeDocument/2006/relationships/image" Target="../media/image55.svg"/><Relationship Id="rId4" Type="http://schemas.openxmlformats.org/officeDocument/2006/relationships/image" Target="../media/image51.png"/><Relationship Id="rId9" Type="http://schemas.openxmlformats.org/officeDocument/2006/relationships/image" Target="../media/image16.png"/></Relationships>
</file>

<file path=ppt/slides/_rels/slide84.xml.rels><?xml version="1.0" encoding="UTF-8"?>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?>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?>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?>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?>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?>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?>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?>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?>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?>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?>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?>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?>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?>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?>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6.png"/><Relationship Id="rId10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14" Type="http://schemas.openxmlformats.org/officeDocument/2006/relationships/image" Target="../media/image15.png"/></Relationships>
</file>

<file path=ppt/slides/_rels/slide99.xml.rels><?xml version="1.0" encoding="UTF-8"?>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6.png"/><Relationship Id="rId10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DFEA49-0055-0C4D-9549-8185ACA5A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KR"/>
          </a:p>
        </p:txBody>
      </p:sp>
      <p:sp>
        <p:nvSpPr>
          <p:cNvPr id="4" name="Google Shape;180;p1">
            <a:extLst>
              <a:ext uri="{FF2B5EF4-FFF2-40B4-BE49-F238E27FC236}">
                <a16:creationId xmlns:a16="http://schemas.microsoft.com/office/drawing/2014/main" id="{81313078-DFE6-EE4D-BCC0-1779DC88E827}"/>
              </a:ext>
            </a:extLst>
          </p:cNvPr>
          <p:cNvSpPr txBox="1"/>
          <p:nvPr/>
        </p:nvSpPr>
        <p:spPr>
          <a:xfrm>
            <a:off x="4550215" y="3429000"/>
            <a:ext cx="384950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Lifesync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 xml:space="preserve"> 360,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ㅇㅇㅇㅇㅇㅇ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68F609-82CE-AF49-AC5D-199806095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8FC90421-0977-BE47-B061-422DDDACCA10}"/>
              </a:ext>
            </a:extLst>
          </p:cNvPr>
          <p:cNvSpPr txBox="1">
            <a:spLocks/>
          </p:cNvSpPr>
          <p:nvPr/>
        </p:nvSpPr>
        <p:spPr>
          <a:xfrm>
            <a:off x="1123056" y="1408618"/>
            <a:ext cx="10241279" cy="1035424"/>
          </a:xfrm>
          <a:prstGeom prst="rect">
            <a:avLst/>
          </a:prstGeom>
          <a:solidFill>
            <a:schemeClr val="bg1"/>
          </a:solidFill>
        </p:spPr>
        <p:txBody>
          <a:bodyPr vert="horz" lIns="121920" tIns="60960" rIns="121920" bIns="6096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500" b="1" dirty="0">
                <a:solidFill>
                  <a:schemeClr val="accent5">
                    <a:lumMod val="10000"/>
                  </a:schemeClr>
                </a:solidFill>
                <a:latin typeface="+mn-ea"/>
                <a:ea typeface="+mn-ea"/>
              </a:rPr>
              <a:t xml:space="preserve">아키텍처 구성도 </a:t>
            </a:r>
            <a:r>
              <a:rPr lang="en-US" altLang="ko-KR" sz="3500" b="1" dirty="0">
                <a:solidFill>
                  <a:schemeClr val="accent5">
                    <a:lumMod val="10000"/>
                  </a:schemeClr>
                </a:solidFill>
                <a:latin typeface="+mn-ea"/>
                <a:ea typeface="+mn-ea"/>
              </a:rPr>
              <a:t xml:space="preserve">&amp; </a:t>
            </a:r>
            <a:r>
              <a:rPr lang="ko-KR" altLang="en-US" sz="3500" b="1" dirty="0">
                <a:solidFill>
                  <a:schemeClr val="accent5">
                    <a:lumMod val="10000"/>
                  </a:schemeClr>
                </a:solidFill>
                <a:latin typeface="+mn-ea"/>
                <a:ea typeface="+mn-ea"/>
              </a:rPr>
              <a:t>프로세스</a:t>
            </a:r>
            <a:endParaRPr lang="en-US" altLang="ko-KR" sz="3500" b="1" dirty="0">
              <a:solidFill>
                <a:schemeClr val="accent5">
                  <a:lumMod val="10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225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"/>
          <p:cNvSpPr txBox="1">
            <a:spLocks noGrp="1"/>
          </p:cNvSpPr>
          <p:nvPr>
            <p:ph type="title"/>
          </p:nvPr>
        </p:nvSpPr>
        <p:spPr>
          <a:xfrm>
            <a:off x="608172" y="2"/>
            <a:ext cx="10975658" cy="642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하이브리드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멀티 클라우드 네트워크 구성도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"/>
          <p:cNvSpPr/>
          <p:nvPr/>
        </p:nvSpPr>
        <p:spPr>
          <a:xfrm>
            <a:off x="253008" y="1134942"/>
            <a:ext cx="2917993" cy="4986521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"/>
          <p:cNvSpPr/>
          <p:nvPr/>
        </p:nvSpPr>
        <p:spPr>
          <a:xfrm>
            <a:off x="69669" y="717384"/>
            <a:ext cx="12026537" cy="5821639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"/>
          <p:cNvSpPr/>
          <p:nvPr/>
        </p:nvSpPr>
        <p:spPr>
          <a:xfrm>
            <a:off x="1897745" y="4260166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"/>
          <p:cNvSpPr/>
          <p:nvPr/>
        </p:nvSpPr>
        <p:spPr>
          <a:xfrm>
            <a:off x="6319252" y="1507311"/>
            <a:ext cx="5630778" cy="2552542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"/>
          <p:cNvSpPr txBox="1"/>
          <p:nvPr/>
        </p:nvSpPr>
        <p:spPr>
          <a:xfrm>
            <a:off x="345131" y="1273762"/>
            <a:ext cx="5581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"/>
          <p:cNvSpPr txBox="1"/>
          <p:nvPr/>
        </p:nvSpPr>
        <p:spPr>
          <a:xfrm>
            <a:off x="329089" y="765610"/>
            <a:ext cx="17951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Cloud (Hub)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"/>
          <p:cNvSpPr txBox="1"/>
          <p:nvPr/>
        </p:nvSpPr>
        <p:spPr>
          <a:xfrm>
            <a:off x="6305538" y="1128637"/>
            <a:ext cx="14462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Cloud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"/>
          <p:cNvSpPr txBox="1"/>
          <p:nvPr/>
        </p:nvSpPr>
        <p:spPr>
          <a:xfrm>
            <a:off x="1411146" y="4934811"/>
            <a:ext cx="16790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Transit Gateway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"/>
          <p:cNvSpPr/>
          <p:nvPr/>
        </p:nvSpPr>
        <p:spPr>
          <a:xfrm>
            <a:off x="3009001" y="2919940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"/>
          <p:cNvSpPr txBox="1"/>
          <p:nvPr/>
        </p:nvSpPr>
        <p:spPr>
          <a:xfrm>
            <a:off x="2522402" y="3594585"/>
            <a:ext cx="16714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Site-to-Site VPN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"/>
          <p:cNvSpPr/>
          <p:nvPr/>
        </p:nvSpPr>
        <p:spPr>
          <a:xfrm>
            <a:off x="10884476" y="2221864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"/>
          <p:cNvSpPr txBox="1"/>
          <p:nvPr/>
        </p:nvSpPr>
        <p:spPr>
          <a:xfrm>
            <a:off x="10750803" y="2880467"/>
            <a:ext cx="10498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BigQuery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"/>
          <p:cNvSpPr txBox="1"/>
          <p:nvPr/>
        </p:nvSpPr>
        <p:spPr>
          <a:xfrm>
            <a:off x="7923215" y="1748421"/>
            <a:ext cx="9989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GCP VPC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"/>
          <p:cNvSpPr/>
          <p:nvPr/>
        </p:nvSpPr>
        <p:spPr>
          <a:xfrm>
            <a:off x="1037767" y="2321406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"/>
          <p:cNvSpPr txBox="1"/>
          <p:nvPr/>
        </p:nvSpPr>
        <p:spPr>
          <a:xfrm>
            <a:off x="551168" y="2996051"/>
            <a:ext cx="141840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Service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"/>
          <p:cNvSpPr/>
          <p:nvPr/>
        </p:nvSpPr>
        <p:spPr>
          <a:xfrm>
            <a:off x="5977128" y="2159849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"/>
          <p:cNvSpPr txBox="1"/>
          <p:nvPr/>
        </p:nvSpPr>
        <p:spPr>
          <a:xfrm>
            <a:off x="5716771" y="2832153"/>
            <a:ext cx="11785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VPN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"/>
          <p:cNvSpPr/>
          <p:nvPr/>
        </p:nvSpPr>
        <p:spPr>
          <a:xfrm>
            <a:off x="8542208" y="2191311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"/>
          <p:cNvSpPr txBox="1"/>
          <p:nvPr/>
        </p:nvSpPr>
        <p:spPr>
          <a:xfrm>
            <a:off x="8238455" y="2933679"/>
            <a:ext cx="164745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Service Connect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Endpoint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1"/>
          <p:cNvCxnSpPr>
            <a:stCxn id="193" idx="0"/>
            <a:endCxn id="203" idx="0"/>
          </p:cNvCxnSpPr>
          <p:nvPr/>
        </p:nvCxnSpPr>
        <p:spPr>
          <a:xfrm flipH="1">
            <a:off x="1063569" y="2996051"/>
            <a:ext cx="196800" cy="122130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4" name="Google Shape;204;p1"/>
          <p:cNvCxnSpPr>
            <a:stCxn id="176" idx="3"/>
            <a:endCxn id="184" idx="1"/>
          </p:cNvCxnSpPr>
          <p:nvPr/>
        </p:nvCxnSpPr>
        <p:spPr>
          <a:xfrm rot="10800000" flipH="1">
            <a:off x="2603597" y="3220063"/>
            <a:ext cx="405300" cy="134010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7" name="Google Shape;207;p1"/>
          <p:cNvCxnSpPr>
            <a:stCxn id="198" idx="3"/>
            <a:endCxn id="200" idx="1"/>
          </p:cNvCxnSpPr>
          <p:nvPr/>
        </p:nvCxnSpPr>
        <p:spPr>
          <a:xfrm>
            <a:off x="6682980" y="2459846"/>
            <a:ext cx="1859100" cy="3150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8" name="Google Shape;208;p1"/>
          <p:cNvCxnSpPr>
            <a:stCxn id="200" idx="3"/>
            <a:endCxn id="188" idx="1"/>
          </p:cNvCxnSpPr>
          <p:nvPr/>
        </p:nvCxnSpPr>
        <p:spPr>
          <a:xfrm>
            <a:off x="9248060" y="2491308"/>
            <a:ext cx="1636500" cy="3060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09" name="Google Shape;209;p1" descr="블루 클라우드 로고 디자인 아이콘 벡터, 구름 아이콘, 표지 그림, 파란색 아이콘 PNG, 일러스트 및 벡터 에 대한 무료 다운로드 -  Pngtre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8514" y="2445193"/>
            <a:ext cx="1549485" cy="15494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p1"/>
          <p:cNvCxnSpPr>
            <a:cxnSpLocks/>
            <a:endCxn id="198" idx="1"/>
          </p:cNvCxnSpPr>
          <p:nvPr/>
        </p:nvCxnSpPr>
        <p:spPr>
          <a:xfrm flipV="1">
            <a:off x="5210629" y="2459846"/>
            <a:ext cx="766499" cy="741639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212" name="Google Shape;212;p1"/>
          <p:cNvSpPr txBox="1"/>
          <p:nvPr/>
        </p:nvSpPr>
        <p:spPr>
          <a:xfrm>
            <a:off x="4076287" y="3620319"/>
            <a:ext cx="15056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(IPSec Tunnel)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7946099" y="1715534"/>
            <a:ext cx="3885439" cy="1953303"/>
          </a:xfrm>
          <a:prstGeom prst="rect">
            <a:avLst/>
          </a:prstGeom>
          <a:noFill/>
          <a:ln w="158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"/>
          <p:cNvSpPr/>
          <p:nvPr/>
        </p:nvSpPr>
        <p:spPr>
          <a:xfrm>
            <a:off x="7076054" y="2159849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"/>
          <p:cNvSpPr txBox="1"/>
          <p:nvPr/>
        </p:nvSpPr>
        <p:spPr>
          <a:xfrm>
            <a:off x="6847781" y="2832153"/>
            <a:ext cx="141333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Router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(BGP)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"/>
          <p:cNvSpPr/>
          <p:nvPr/>
        </p:nvSpPr>
        <p:spPr>
          <a:xfrm>
            <a:off x="9757076" y="2191311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"/>
          <p:cNvSpPr txBox="1"/>
          <p:nvPr/>
        </p:nvSpPr>
        <p:spPr>
          <a:xfrm>
            <a:off x="9728580" y="2880467"/>
            <a:ext cx="85151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1"/>
          <p:cNvCxnSpPr>
            <a:stCxn id="184" idx="3"/>
          </p:cNvCxnSpPr>
          <p:nvPr/>
        </p:nvCxnSpPr>
        <p:spPr>
          <a:xfrm>
            <a:off x="3714853" y="3219937"/>
            <a:ext cx="704400" cy="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2" name="Google Shape;222;p1"/>
          <p:cNvSpPr/>
          <p:nvPr/>
        </p:nvSpPr>
        <p:spPr>
          <a:xfrm>
            <a:off x="381129" y="1313303"/>
            <a:ext cx="1918208" cy="3113313"/>
          </a:xfrm>
          <a:prstGeom prst="rect">
            <a:avLst/>
          </a:prstGeom>
          <a:noFill/>
          <a:ln w="158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"/>
          <p:cNvSpPr/>
          <p:nvPr/>
        </p:nvSpPr>
        <p:spPr>
          <a:xfrm>
            <a:off x="710505" y="4217254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"/>
          <p:cNvSpPr txBox="1"/>
          <p:nvPr/>
        </p:nvSpPr>
        <p:spPr>
          <a:xfrm>
            <a:off x="320158" y="4891899"/>
            <a:ext cx="12863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 Table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1"/>
          <p:cNvCxnSpPr>
            <a:endCxn id="176" idx="1"/>
          </p:cNvCxnSpPr>
          <p:nvPr/>
        </p:nvCxnSpPr>
        <p:spPr>
          <a:xfrm>
            <a:off x="1391345" y="4560163"/>
            <a:ext cx="506400" cy="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7" name="Google Shape;227;p1"/>
          <p:cNvSpPr txBox="1"/>
          <p:nvPr/>
        </p:nvSpPr>
        <p:spPr>
          <a:xfrm>
            <a:off x="9583859" y="3692394"/>
            <a:ext cx="25123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Google Access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"/>
          <p:cNvSpPr/>
          <p:nvPr/>
        </p:nvSpPr>
        <p:spPr>
          <a:xfrm>
            <a:off x="477776" y="1664419"/>
            <a:ext cx="1660252" cy="1659048"/>
          </a:xfrm>
          <a:prstGeom prst="rect">
            <a:avLst/>
          </a:prstGeom>
          <a:noFill/>
          <a:ln w="15875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"/>
          <p:cNvSpPr txBox="1"/>
          <p:nvPr/>
        </p:nvSpPr>
        <p:spPr>
          <a:xfrm>
            <a:off x="551168" y="1747638"/>
            <a:ext cx="8470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Subnet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"/>
          <p:cNvSpPr txBox="1"/>
          <p:nvPr/>
        </p:nvSpPr>
        <p:spPr>
          <a:xfrm>
            <a:off x="6321828" y="3415995"/>
            <a:ext cx="223530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DNS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bigquery.googleapis.com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 xml:space="preserve"> → PSC Endpoint IP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178;p1">
            <a:extLst>
              <a:ext uri="{FF2B5EF4-FFF2-40B4-BE49-F238E27FC236}">
                <a16:creationId xmlns:a16="http://schemas.microsoft.com/office/drawing/2014/main" id="{D8A70621-E490-624D-931B-B8DC37291B82}"/>
              </a:ext>
            </a:extLst>
          </p:cNvPr>
          <p:cNvSpPr/>
          <p:nvPr/>
        </p:nvSpPr>
        <p:spPr>
          <a:xfrm>
            <a:off x="6319252" y="4717999"/>
            <a:ext cx="5630778" cy="1526937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182;p1">
            <a:extLst>
              <a:ext uri="{FF2B5EF4-FFF2-40B4-BE49-F238E27FC236}">
                <a16:creationId xmlns:a16="http://schemas.microsoft.com/office/drawing/2014/main" id="{882D43A8-C4C1-F648-9CB4-494AB7543DDA}"/>
              </a:ext>
            </a:extLst>
          </p:cNvPr>
          <p:cNvSpPr txBox="1"/>
          <p:nvPr/>
        </p:nvSpPr>
        <p:spPr>
          <a:xfrm>
            <a:off x="6319252" y="4311595"/>
            <a:ext cx="253392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Legacy System (Local)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198;p1">
            <a:extLst>
              <a:ext uri="{FF2B5EF4-FFF2-40B4-BE49-F238E27FC236}">
                <a16:creationId xmlns:a16="http://schemas.microsoft.com/office/drawing/2014/main" id="{8E2B953E-ED2B-5145-8B8C-294B05FED0C4}"/>
              </a:ext>
            </a:extLst>
          </p:cNvPr>
          <p:cNvSpPr/>
          <p:nvPr/>
        </p:nvSpPr>
        <p:spPr>
          <a:xfrm>
            <a:off x="6827189" y="5076565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199;p1">
            <a:extLst>
              <a:ext uri="{FF2B5EF4-FFF2-40B4-BE49-F238E27FC236}">
                <a16:creationId xmlns:a16="http://schemas.microsoft.com/office/drawing/2014/main" id="{2E6DCA11-45EF-0E4A-A438-ECA6C05B7F33}"/>
              </a:ext>
            </a:extLst>
          </p:cNvPr>
          <p:cNvSpPr txBox="1"/>
          <p:nvPr/>
        </p:nvSpPr>
        <p:spPr>
          <a:xfrm>
            <a:off x="6422623" y="5738968"/>
            <a:ext cx="152347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VPN Gateway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210;p1">
            <a:extLst>
              <a:ext uri="{FF2B5EF4-FFF2-40B4-BE49-F238E27FC236}">
                <a16:creationId xmlns:a16="http://schemas.microsoft.com/office/drawing/2014/main" id="{62BF3B03-D6A2-534E-8E8E-5D116E905A7A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5210629" y="3478484"/>
            <a:ext cx="1616560" cy="1898078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9" descr="블루 클라우드 로고 디자인 아이콘 벡터, 구름 아이콘, 표지 그림, 파란색 아이콘 PNG, 일러스트 및 벡터 에 대한 무료 다운로드 -  Pngtre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4553" y="5515635"/>
            <a:ext cx="622249" cy="622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 descr="블루 클라우드 로고 디자인 아이콘 벡터, 구름 아이콘, 표지 그림, 파란색 아이콘 PNG, 일러스트 및 벡터 에 대한 무료 다운로드 -  Pngtre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4764" y="4933437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/>
        </p:nvSpPr>
        <p:spPr>
          <a:xfrm>
            <a:off x="5398422" y="5371245"/>
            <a:ext cx="88554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Network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 txBox="1">
            <a:spLocks noGrp="1"/>
          </p:cNvSpPr>
          <p:nvPr>
            <p:ph type="title"/>
          </p:nvPr>
        </p:nvSpPr>
        <p:spPr>
          <a:xfrm>
            <a:off x="608100" y="12601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AWS Cloud 아키텍처 구성도 (Hybrid + Multi Cloud)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19" descr="AWS Cloud group icon with AWS log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4710" y="720600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/>
          <p:nvPr/>
        </p:nvSpPr>
        <p:spPr>
          <a:xfrm>
            <a:off x="1709531" y="5045831"/>
            <a:ext cx="3707555" cy="1488235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Legacy System (Local VM)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 i="0" u="none" strike="noStrike" cap="non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p19" descr="Region group."/>
          <p:cNvGrpSpPr/>
          <p:nvPr/>
        </p:nvGrpSpPr>
        <p:grpSpPr>
          <a:xfrm>
            <a:off x="1613914" y="1120563"/>
            <a:ext cx="10285800" cy="5562507"/>
            <a:chOff x="4215621" y="1197870"/>
            <a:chExt cx="10285800" cy="5870100"/>
          </a:xfrm>
        </p:grpSpPr>
        <p:sp>
          <p:nvSpPr>
            <p:cNvPr id="161" name="Google Shape;161;p19" descr="Region group"/>
            <p:cNvSpPr/>
            <p:nvPr/>
          </p:nvSpPr>
          <p:spPr>
            <a:xfrm>
              <a:off x="4215621" y="1197870"/>
              <a:ext cx="10285800" cy="5870100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2" name="Google Shape;162;p19" descr="Region group icon.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215623" y="1197872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3" name="Google Shape;163;p19" descr="AWS Transit Gateway service icon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53958" y="3516262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6859980" y="3958939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1711125" y="2413588"/>
            <a:ext cx="4823020" cy="211366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19" descr="VPC group icon.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99766" y="241358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/>
          <p:nvPr/>
        </p:nvSpPr>
        <p:spPr>
          <a:xfrm>
            <a:off x="1829332" y="2899632"/>
            <a:ext cx="152267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19" descr="Public subnet group icon.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27898" y="289798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nternet gateway resource icon for the Amazon VPC service.&#10;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455344" y="322619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1316926" y="3673136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19" descr="NAT gateway resource icon for the Amazon VPC service.&#10;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83957" y="223278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9285456" y="2666576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19"/>
          <p:cNvCxnSpPr>
            <a:stCxn id="165" idx="3"/>
            <a:endCxn id="163" idx="1"/>
          </p:cNvCxnSpPr>
          <p:nvPr/>
        </p:nvCxnSpPr>
        <p:spPr>
          <a:xfrm>
            <a:off x="6534145" y="3470418"/>
            <a:ext cx="619800" cy="269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74" name="Google Shape;174;p19"/>
          <p:cNvCxnSpPr>
            <a:stCxn id="164" idx="0"/>
            <a:endCxn id="175" idx="0"/>
          </p:cNvCxnSpPr>
          <p:nvPr/>
        </p:nvCxnSpPr>
        <p:spPr>
          <a:xfrm flipH="1">
            <a:off x="7074630" y="3958939"/>
            <a:ext cx="305100" cy="5667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6" name="Google Shape;176;p19"/>
          <p:cNvSpPr/>
          <p:nvPr/>
        </p:nvSpPr>
        <p:spPr>
          <a:xfrm>
            <a:off x="1494710" y="739524"/>
            <a:ext cx="10545000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8044131" y="5159864"/>
            <a:ext cx="3727890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19" descr="VPC group icon.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51768" y="516994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/>
          <p:nvPr/>
        </p:nvSpPr>
        <p:spPr>
          <a:xfrm>
            <a:off x="8140086" y="5573948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19" descr="Private subnet group icon.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55941" y="5577217"/>
            <a:ext cx="381000" cy="38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1" name="Google Shape;181;p19"/>
          <p:cNvCxnSpPr>
            <a:stCxn id="177" idx="1"/>
            <a:endCxn id="163" idx="3"/>
          </p:cNvCxnSpPr>
          <p:nvPr/>
        </p:nvCxnSpPr>
        <p:spPr>
          <a:xfrm rot="10800000">
            <a:off x="7601031" y="3739814"/>
            <a:ext cx="443100" cy="216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82" name="Google Shape;182;p19"/>
          <p:cNvCxnSpPr>
            <a:stCxn id="163" idx="0"/>
          </p:cNvCxnSpPr>
          <p:nvPr/>
        </p:nvCxnSpPr>
        <p:spPr>
          <a:xfrm rot="10800000">
            <a:off x="7057645" y="3301162"/>
            <a:ext cx="319800" cy="215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83" name="Google Shape;183;p19" descr="Amazon Simple Storage Service (Amazon S3) service icon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197851" y="468595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8332022" y="470713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19" descr="Amazon Aurora service icon.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215624" y="3279746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4967654" y="3644046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19" descr="Amazon DynamoDB service icon.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090691" y="1826855"/>
            <a:ext cx="294291" cy="27790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5893619" y="2087973"/>
            <a:ext cx="725781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19" descr="Amazon ElastiCache service icon.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822852" y="3279746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5487229" y="3647287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19" descr="Application Load Balancer resource icon for the Elastic Load Balancing service.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645562" y="33702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>
            <a:stCxn id="193" idx="3"/>
          </p:cNvCxnSpPr>
          <p:nvPr/>
        </p:nvCxnSpPr>
        <p:spPr>
          <a:xfrm>
            <a:off x="2377648" y="3598839"/>
            <a:ext cx="286800" cy="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93" name="Google Shape;193;p19" descr="AWS WAF service icon.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927373" y="3373702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1843770" y="3865861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2226579" y="38256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Application Load </a:t>
            </a:r>
            <a:b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9883945" y="556036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19" descr="Private subnet group icon.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883945" y="556848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AWS Glue service icon.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990736" y="605346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10392380" y="610845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19" descr="Amazon EMR service icon.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0817561" y="6053221"/>
            <a:ext cx="408936" cy="42456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11085532" y="6080836"/>
            <a:ext cx="954178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(Serverless)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19" descr="AWS Lambda service icon.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759690" y="608798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9083973" y="612076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19" descr="Amazon Elastic Compute Cloud (Amazon EC2) service icon.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4149455" y="3142239"/>
            <a:ext cx="296354" cy="31892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4360465" y="315213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19"/>
          <p:cNvCxnSpPr/>
          <p:nvPr/>
        </p:nvCxnSpPr>
        <p:spPr>
          <a:xfrm>
            <a:off x="3077072" y="3600381"/>
            <a:ext cx="350612" cy="2737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7" name="Google Shape;207;p19"/>
          <p:cNvSpPr txBox="1"/>
          <p:nvPr/>
        </p:nvSpPr>
        <p:spPr>
          <a:xfrm>
            <a:off x="4249418" y="5965661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2549336" y="5990366"/>
            <a:ext cx="18908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3269158" y="3517310"/>
            <a:ext cx="953298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19" descr="Amazon Elastic Compute Cloud (Amazon EC2) service icon.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4149455" y="3644795"/>
            <a:ext cx="311698" cy="326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4360465" y="3654689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3623541" y="3091507"/>
            <a:ext cx="1346572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19" descr="Amazon Elastic Container Service (Amazon ECS) service icon.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3525798" y="3195091"/>
            <a:ext cx="336735" cy="336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 descr="AWS CodePipeline service icon.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154745" y="1173508"/>
            <a:ext cx="310331" cy="31033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9"/>
          <p:cNvSpPr txBox="1"/>
          <p:nvPr/>
        </p:nvSpPr>
        <p:spPr>
          <a:xfrm>
            <a:off x="5774175" y="1479760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19" descr="Amazon Route 53 service icon.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3362243" y="761018"/>
            <a:ext cx="343546" cy="34354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/>
        </p:nvSpPr>
        <p:spPr>
          <a:xfrm>
            <a:off x="3618385" y="741552"/>
            <a:ext cx="75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 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8837700" y="1344188"/>
            <a:ext cx="2946938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19" descr="VPC group icon.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31644" y="13438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9901801" y="4247225"/>
            <a:ext cx="84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Ansible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(자동화 관리)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9" descr="AWS Site-to-Site VPN service icon.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840406" y="4525671"/>
            <a:ext cx="468149" cy="39501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 txBox="1"/>
          <p:nvPr/>
        </p:nvSpPr>
        <p:spPr>
          <a:xfrm>
            <a:off x="6416279" y="4964112"/>
            <a:ext cx="1442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Site-to-Site VPN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5550047" y="6007079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p19"/>
          <p:cNvCxnSpPr>
            <a:stCxn id="175" idx="2"/>
          </p:cNvCxnSpPr>
          <p:nvPr/>
        </p:nvCxnSpPr>
        <p:spPr>
          <a:xfrm flipH="1">
            <a:off x="5866980" y="4920689"/>
            <a:ext cx="1207500" cy="937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4" name="Google Shape;224;p19"/>
          <p:cNvSpPr/>
          <p:nvPr/>
        </p:nvSpPr>
        <p:spPr>
          <a:xfrm>
            <a:off x="8931476" y="1812949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Public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19" descr="Public subnet group icon.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930042" y="1811305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/>
          <p:nvPr/>
        </p:nvSpPr>
        <p:spPr>
          <a:xfrm>
            <a:off x="10105248" y="1797625"/>
            <a:ext cx="1602284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19" descr="Private subnet group icon.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115969" y="181084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9" descr="AWS CodeCommit service icon.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4776260" y="1167988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9"/>
          <p:cNvSpPr txBox="1"/>
          <p:nvPr/>
        </p:nvSpPr>
        <p:spPr>
          <a:xfrm>
            <a:off x="4383056" y="1455327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19" descr="Amazon Elastic Compute Cloud (Amazon EC2) service icon.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0509701" y="217781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 txBox="1"/>
          <p:nvPr/>
        </p:nvSpPr>
        <p:spPr>
          <a:xfrm>
            <a:off x="10738282" y="212950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(금융/병원)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19" descr="Amazon Elastic Compute Cloud (Amazon EC2) service icon.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406217" y="220753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9"/>
          <p:cNvSpPr txBox="1"/>
          <p:nvPr/>
        </p:nvSpPr>
        <p:spPr>
          <a:xfrm>
            <a:off x="7706414" y="2159876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19"/>
          <p:cNvCxnSpPr>
            <a:stCxn id="218" idx="1"/>
            <a:endCxn id="163" idx="0"/>
          </p:cNvCxnSpPr>
          <p:nvPr/>
        </p:nvCxnSpPr>
        <p:spPr>
          <a:xfrm flipH="1">
            <a:off x="7377300" y="2040488"/>
            <a:ext cx="1460400" cy="1475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235" name="Google Shape;235;p19"/>
          <p:cNvSpPr/>
          <p:nvPr/>
        </p:nvSpPr>
        <p:spPr>
          <a:xfrm>
            <a:off x="6821866" y="1344188"/>
            <a:ext cx="1769179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19" descr="VPC group icon.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17230" y="135553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9"/>
          <p:cNvSpPr/>
          <p:nvPr/>
        </p:nvSpPr>
        <p:spPr>
          <a:xfrm>
            <a:off x="6931398" y="1812949"/>
            <a:ext cx="1557451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19" descr="Public subnet group icon.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35796" y="1840491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9" descr="Internet gateway resource icon for the Amazon VPC service.&#10;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82325" y="197515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9"/>
          <p:cNvSpPr txBox="1"/>
          <p:nvPr/>
        </p:nvSpPr>
        <p:spPr>
          <a:xfrm>
            <a:off x="6710070" y="2344057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19" descr="Internet gateway resource icon for the Amazon VPC service.&#10;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1392" y="229355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9"/>
          <p:cNvSpPr txBox="1"/>
          <p:nvPr/>
        </p:nvSpPr>
        <p:spPr>
          <a:xfrm>
            <a:off x="8890482" y="2358079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3434928" y="2742733"/>
            <a:ext cx="1586268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19" descr="Private subnet group icon.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49597" y="2761791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9" descr="AWS CloudFormation service icon.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1715152" y="1581730"/>
            <a:ext cx="353969" cy="29790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9"/>
          <p:cNvSpPr txBox="1"/>
          <p:nvPr/>
        </p:nvSpPr>
        <p:spPr>
          <a:xfrm>
            <a:off x="1877141" y="1571630"/>
            <a:ext cx="119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CloudFormation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19" descr="Amazon CloudWatch service icon.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3031517" y="1455327"/>
            <a:ext cx="326283" cy="318387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9"/>
          <p:cNvSpPr txBox="1"/>
          <p:nvPr/>
        </p:nvSpPr>
        <p:spPr>
          <a:xfrm>
            <a:off x="2693837" y="1769216"/>
            <a:ext cx="1007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CloudWatch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19" descr="AWS Auto Scaling service icon.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3497741" y="3828633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9"/>
          <p:cNvSpPr txBox="1"/>
          <p:nvPr/>
        </p:nvSpPr>
        <p:spPr>
          <a:xfrm>
            <a:off x="3133739" y="4172037"/>
            <a:ext cx="119922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19" descr="AWS Identity and Access Management (IAM) service icon.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4440214" y="745147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9"/>
          <p:cNvSpPr txBox="1"/>
          <p:nvPr/>
        </p:nvSpPr>
        <p:spPr>
          <a:xfrm>
            <a:off x="4677457" y="823903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19" descr="Amazon Elastic Container Registry (Amazon ECR) Service icon.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5432397" y="1187491"/>
            <a:ext cx="310331" cy="31033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9"/>
          <p:cNvSpPr txBox="1"/>
          <p:nvPr/>
        </p:nvSpPr>
        <p:spPr>
          <a:xfrm>
            <a:off x="5105261" y="1555179"/>
            <a:ext cx="968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" name="Google Shape;255;p19"/>
          <p:cNvCxnSpPr>
            <a:stCxn id="239" idx="2"/>
            <a:endCxn id="256" idx="0"/>
          </p:cNvCxnSpPr>
          <p:nvPr/>
        </p:nvCxnSpPr>
        <p:spPr>
          <a:xfrm flipH="1">
            <a:off x="6167725" y="2432356"/>
            <a:ext cx="643200" cy="259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257" name="Google Shape;257;p19"/>
          <p:cNvSpPr txBox="1"/>
          <p:nvPr/>
        </p:nvSpPr>
        <p:spPr>
          <a:xfrm>
            <a:off x="6502885" y="61685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Kinesis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6075358" y="5029331"/>
            <a:ext cx="184500" cy="192900"/>
          </a:xfrm>
          <a:prstGeom prst="diamond">
            <a:avLst/>
          </a:prstGeom>
          <a:solidFill>
            <a:srgbClr val="833C0B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19"/>
          <p:cNvCxnSpPr>
            <a:stCxn id="256" idx="3"/>
          </p:cNvCxnSpPr>
          <p:nvPr/>
        </p:nvCxnSpPr>
        <p:spPr>
          <a:xfrm flipH="1">
            <a:off x="5810758" y="5125781"/>
            <a:ext cx="449100" cy="66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59" name="Google Shape;259;p19"/>
          <p:cNvCxnSpPr/>
          <p:nvPr/>
        </p:nvCxnSpPr>
        <p:spPr>
          <a:xfrm>
            <a:off x="5781014" y="5958217"/>
            <a:ext cx="903927" cy="35226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260" name="Google Shape;260;p19"/>
          <p:cNvSpPr txBox="1"/>
          <p:nvPr/>
        </p:nvSpPr>
        <p:spPr>
          <a:xfrm>
            <a:off x="6007726" y="5643246"/>
            <a:ext cx="1003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(IPSec Tunnel)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19"/>
          <p:cNvCxnSpPr>
            <a:endCxn id="202" idx="1"/>
          </p:cNvCxnSpPr>
          <p:nvPr/>
        </p:nvCxnSpPr>
        <p:spPr>
          <a:xfrm>
            <a:off x="7939790" y="6154428"/>
            <a:ext cx="819900" cy="13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62" name="Google Shape;262;p19"/>
          <p:cNvCxnSpPr/>
          <p:nvPr/>
        </p:nvCxnSpPr>
        <p:spPr>
          <a:xfrm rot="10800000" flipH="1">
            <a:off x="7214772" y="6040708"/>
            <a:ext cx="340200" cy="22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63" name="Google Shape;263;p19"/>
          <p:cNvCxnSpPr>
            <a:stCxn id="203" idx="1"/>
            <a:endCxn id="183" idx="1"/>
          </p:cNvCxnSpPr>
          <p:nvPr/>
        </p:nvCxnSpPr>
        <p:spPr>
          <a:xfrm rot="10800000" flipH="1">
            <a:off x="9083973" y="4888818"/>
            <a:ext cx="114000" cy="1401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64" name="Google Shape;264;p19"/>
          <p:cNvCxnSpPr>
            <a:endCxn id="198" idx="0"/>
          </p:cNvCxnSpPr>
          <p:nvPr/>
        </p:nvCxnSpPr>
        <p:spPr>
          <a:xfrm>
            <a:off x="9614973" y="505566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cxnSp>
        <p:nvCxnSpPr>
          <p:cNvPr id="265" name="Google Shape;265;p19"/>
          <p:cNvCxnSpPr>
            <a:stCxn id="158" idx="3"/>
          </p:cNvCxnSpPr>
          <p:nvPr/>
        </p:nvCxnSpPr>
        <p:spPr>
          <a:xfrm>
            <a:off x="806851" y="2792117"/>
            <a:ext cx="676500" cy="54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266" name="Google Shape;266;p19" descr="Amazon EventBridge service icon.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3610436" y="1673246"/>
            <a:ext cx="318401" cy="31840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9"/>
          <p:cNvSpPr txBox="1"/>
          <p:nvPr/>
        </p:nvSpPr>
        <p:spPr>
          <a:xfrm>
            <a:off x="3775655" y="1643689"/>
            <a:ext cx="109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EventBridge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19" descr="Amazon Simple Notification Service (Amazon SNS) service icon.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5124037" y="1911883"/>
            <a:ext cx="310571" cy="31057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9"/>
          <p:cNvSpPr txBox="1"/>
          <p:nvPr/>
        </p:nvSpPr>
        <p:spPr>
          <a:xfrm>
            <a:off x="5429753" y="1890581"/>
            <a:ext cx="63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19" descr="Amazon Kinesis Data Streams service icon.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7590922" y="5888549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9"/>
          <p:cNvSpPr txBox="1"/>
          <p:nvPr/>
        </p:nvSpPr>
        <p:spPr>
          <a:xfrm>
            <a:off x="7237489" y="6250128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19"/>
          <p:cNvCxnSpPr/>
          <p:nvPr/>
        </p:nvCxnSpPr>
        <p:spPr>
          <a:xfrm flipH="1">
            <a:off x="5547958" y="5927451"/>
            <a:ext cx="18524" cy="57830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73" name="Google Shape;273;p19" descr="Amazon Simple Storage Service (Amazon S3) service icon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957875" y="467379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9"/>
          <p:cNvSpPr txBox="1"/>
          <p:nvPr/>
        </p:nvSpPr>
        <p:spPr>
          <a:xfrm>
            <a:off x="9692651" y="508587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" name="Google Shape;275;p19"/>
          <p:cNvCxnSpPr>
            <a:stCxn id="273" idx="3"/>
            <a:endCxn id="200" idx="0"/>
          </p:cNvCxnSpPr>
          <p:nvPr/>
        </p:nvCxnSpPr>
        <p:spPr>
          <a:xfrm>
            <a:off x="10363890" y="4876800"/>
            <a:ext cx="658200" cy="117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76" name="Google Shape;276;p19" descr="Amazon Simple Storage Service (Amazon S3) service icon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1001829" y="466252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9"/>
          <p:cNvSpPr txBox="1"/>
          <p:nvPr/>
        </p:nvSpPr>
        <p:spPr>
          <a:xfrm>
            <a:off x="11204380" y="4741311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(Curated)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p19"/>
          <p:cNvCxnSpPr>
            <a:endCxn id="200" idx="0"/>
          </p:cNvCxnSpPr>
          <p:nvPr/>
        </p:nvCxnSpPr>
        <p:spPr>
          <a:xfrm flipH="1">
            <a:off x="11022029" y="5029321"/>
            <a:ext cx="182700" cy="10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279" name="Google Shape;279;p19"/>
          <p:cNvCxnSpPr>
            <a:stCxn id="273" idx="2"/>
          </p:cNvCxnSpPr>
          <p:nvPr/>
        </p:nvCxnSpPr>
        <p:spPr>
          <a:xfrm>
            <a:off x="10160883" y="5079807"/>
            <a:ext cx="50100" cy="97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pic>
        <p:nvPicPr>
          <p:cNvPr id="280" name="Google Shape;280;p19" descr="AWS Secrets Manager service icon.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3614907" y="2007806"/>
            <a:ext cx="306167" cy="292639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9"/>
          <p:cNvSpPr txBox="1"/>
          <p:nvPr/>
        </p:nvSpPr>
        <p:spPr>
          <a:xfrm>
            <a:off x="3855600" y="2010621"/>
            <a:ext cx="113969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Secrets Manager</a:t>
            </a:r>
            <a:endParaRPr/>
          </a:p>
        </p:txBody>
      </p:sp>
      <p:pic>
        <p:nvPicPr>
          <p:cNvPr id="282" name="Google Shape;282;p19" descr="AWS Systems Manager service icon.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1733753" y="2007966"/>
            <a:ext cx="289800" cy="28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9"/>
          <p:cNvSpPr txBox="1"/>
          <p:nvPr/>
        </p:nvSpPr>
        <p:spPr>
          <a:xfrm>
            <a:off x="1835284" y="2024324"/>
            <a:ext cx="113948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Systems Manager</a:t>
            </a:r>
            <a:endParaRPr/>
          </a:p>
        </p:txBody>
      </p:sp>
      <p:sp>
        <p:nvSpPr>
          <p:cNvPr id="284" name="Google Shape;284;p19"/>
          <p:cNvSpPr txBox="1"/>
          <p:nvPr/>
        </p:nvSpPr>
        <p:spPr>
          <a:xfrm>
            <a:off x="1628248" y="5985422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VM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(MySQL)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19" descr="Ansible 아이콘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10060268" y="3848386"/>
            <a:ext cx="454438" cy="454438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9"/>
          <p:cNvSpPr/>
          <p:nvPr/>
        </p:nvSpPr>
        <p:spPr>
          <a:xfrm>
            <a:off x="8699435" y="3056840"/>
            <a:ext cx="3096032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Management (VPC)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19" descr="VPC group icon.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10504" y="305650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9"/>
          <p:cNvSpPr/>
          <p:nvPr/>
        </p:nvSpPr>
        <p:spPr>
          <a:xfrm>
            <a:off x="9984531" y="3470924"/>
            <a:ext cx="170658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19" descr="Private subnet group icon.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984530" y="347401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9" descr="Amazon Elastic Compute Cloud (Amazon EC2) service icon.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0584703" y="3781864"/>
            <a:ext cx="321687" cy="31260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9"/>
          <p:cNvSpPr txBox="1"/>
          <p:nvPr/>
        </p:nvSpPr>
        <p:spPr>
          <a:xfrm>
            <a:off x="10819173" y="3756322"/>
            <a:ext cx="9585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Ansible Control Node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19"/>
          <p:cNvCxnSpPr>
            <a:stCxn id="286" idx="1"/>
            <a:endCxn id="163" idx="3"/>
          </p:cNvCxnSpPr>
          <p:nvPr/>
        </p:nvCxnSpPr>
        <p:spPr>
          <a:xfrm rot="10800000">
            <a:off x="7600835" y="3739790"/>
            <a:ext cx="1098600" cy="5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293" name="Google Shape;293;p19" descr="Amazon API Gateway service icon.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6767836" y="3133942"/>
            <a:ext cx="310321" cy="31032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9"/>
          <p:cNvSpPr txBox="1"/>
          <p:nvPr/>
        </p:nvSpPr>
        <p:spPr>
          <a:xfrm>
            <a:off x="7007006" y="2991821"/>
            <a:ext cx="9383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API Gateway</a:t>
            </a:r>
            <a:endParaRPr/>
          </a:p>
        </p:txBody>
      </p:sp>
      <p:pic>
        <p:nvPicPr>
          <p:cNvPr id="295" name="Google Shape;295;p19" descr="AWS Lambda service icon.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415465" y="4216708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9"/>
          <p:cNvSpPr txBox="1"/>
          <p:nvPr/>
        </p:nvSpPr>
        <p:spPr>
          <a:xfrm>
            <a:off x="5684475" y="4190079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19"/>
          <p:cNvCxnSpPr>
            <a:stCxn id="296" idx="1"/>
            <a:endCxn id="293" idx="2"/>
          </p:cNvCxnSpPr>
          <p:nvPr/>
        </p:nvCxnSpPr>
        <p:spPr>
          <a:xfrm rot="10800000" flipH="1">
            <a:off x="5684475" y="3444129"/>
            <a:ext cx="1238400" cy="915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98" name="Google Shape;298;p19" descr="AWS Command Line Interface (AWS CLI) service icon.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482825" y="4011780"/>
            <a:ext cx="343783" cy="34378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9"/>
          <p:cNvSpPr txBox="1"/>
          <p:nvPr/>
        </p:nvSpPr>
        <p:spPr>
          <a:xfrm>
            <a:off x="269766" y="4384998"/>
            <a:ext cx="76989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CLI</a:t>
            </a:r>
            <a:endParaRPr/>
          </a:p>
        </p:txBody>
      </p:sp>
      <p:cxnSp>
        <p:nvCxnSpPr>
          <p:cNvPr id="300" name="Google Shape;300;p19"/>
          <p:cNvCxnSpPr/>
          <p:nvPr/>
        </p:nvCxnSpPr>
        <p:spPr>
          <a:xfrm rot="10800000" flipH="1">
            <a:off x="829109" y="4124912"/>
            <a:ext cx="638908" cy="521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301" name="Google Shape;301;p19" descr="Amazon Simple Storage Service (Amazon S3) service icon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99783" y="1195914"/>
            <a:ext cx="258080" cy="282383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9"/>
          <p:cNvSpPr txBox="1"/>
          <p:nvPr/>
        </p:nvSpPr>
        <p:spPr>
          <a:xfrm>
            <a:off x="3908001" y="1169974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(CI/CD)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5056874" y="2742733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p19" descr="Private subnet group icon.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71543" y="2761791"/>
            <a:ext cx="394624" cy="28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5" name="Google Shape;305;p19"/>
          <p:cNvCxnSpPr/>
          <p:nvPr/>
        </p:nvCxnSpPr>
        <p:spPr>
          <a:xfrm>
            <a:off x="1699766" y="4634693"/>
            <a:ext cx="4834379" cy="0"/>
          </a:xfrm>
          <a:prstGeom prst="straightConnector1">
            <a:avLst/>
          </a:prstGeom>
          <a:noFill/>
          <a:ln w="15875" cap="flat" cmpd="sng">
            <a:solidFill>
              <a:srgbClr val="00A4A6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306" name="Google Shape;306;p19"/>
          <p:cNvCxnSpPr/>
          <p:nvPr/>
        </p:nvCxnSpPr>
        <p:spPr>
          <a:xfrm>
            <a:off x="6572501" y="4615547"/>
            <a:ext cx="22923" cy="2024217"/>
          </a:xfrm>
          <a:prstGeom prst="straightConnector1">
            <a:avLst/>
          </a:prstGeom>
          <a:noFill/>
          <a:ln w="15875" cap="flat" cmpd="sng">
            <a:solidFill>
              <a:srgbClr val="00A4A6"/>
            </a:solidFill>
            <a:prstDash val="dash"/>
            <a:miter lim="800000"/>
            <a:headEnd type="none" w="sm" len="sm"/>
            <a:tailEnd type="none" w="sm" len="sm"/>
          </a:ln>
        </p:spPr>
      </p:cxnSp>
      <p:grpSp>
        <p:nvGrpSpPr>
          <p:cNvPr id="307" name="Google Shape;307;p19"/>
          <p:cNvGrpSpPr/>
          <p:nvPr/>
        </p:nvGrpSpPr>
        <p:grpSpPr>
          <a:xfrm>
            <a:off x="1366572" y="4741313"/>
            <a:ext cx="5047106" cy="2053143"/>
            <a:chOff x="1366572" y="4741313"/>
            <a:chExt cx="5047106" cy="2053143"/>
          </a:xfrm>
        </p:grpSpPr>
        <p:pic>
          <p:nvPicPr>
            <p:cNvPr id="308" name="Google Shape;308;p19"/>
            <p:cNvPicPr preferRelativeResize="0"/>
            <p:nvPr/>
          </p:nvPicPr>
          <p:blipFill rotWithShape="1">
            <a:blip r:embed="rId41">
              <a:alphaModFix/>
            </a:blip>
            <a:srcRect/>
            <a:stretch/>
          </p:blipFill>
          <p:spPr>
            <a:xfrm>
              <a:off x="1366573" y="6569266"/>
              <a:ext cx="5047104" cy="225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19"/>
            <p:cNvPicPr preferRelativeResize="0"/>
            <p:nvPr/>
          </p:nvPicPr>
          <p:blipFill rotWithShape="1">
            <a:blip r:embed="rId41">
              <a:alphaModFix/>
            </a:blip>
            <a:srcRect/>
            <a:stretch/>
          </p:blipFill>
          <p:spPr>
            <a:xfrm rot="5400000">
              <a:off x="525654" y="5582231"/>
              <a:ext cx="2002415" cy="3205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0" name="Google Shape;310;p19" descr="VirtualBox macOS BigSur - free Icon PNG, SVG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1871457" y="5402350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9" descr="VirtualBox macOS BigSur - free Icon PNG, SVG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3197665" y="5402350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9" descr="VirtualBox macOS BigSur - free Icon PNG, SVG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4488368" y="5402350"/>
            <a:ext cx="562105" cy="5621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3" name="Google Shape;313;p19"/>
          <p:cNvCxnSpPr/>
          <p:nvPr/>
        </p:nvCxnSpPr>
        <p:spPr>
          <a:xfrm rot="10800000" flipH="1">
            <a:off x="5655437" y="5354806"/>
            <a:ext cx="166008" cy="424064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14" name="Google Shape;314;p19"/>
          <p:cNvCxnSpPr/>
          <p:nvPr/>
        </p:nvCxnSpPr>
        <p:spPr>
          <a:xfrm>
            <a:off x="5390965" y="5121878"/>
            <a:ext cx="366757" cy="76686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315" name="Google Shape;315;p19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1748170" y="5056697"/>
            <a:ext cx="358405" cy="3678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p19"/>
          <p:cNvCxnSpPr/>
          <p:nvPr/>
        </p:nvCxnSpPr>
        <p:spPr>
          <a:xfrm>
            <a:off x="1494710" y="4746197"/>
            <a:ext cx="4921569" cy="0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7" name="Google Shape;317;p19"/>
          <p:cNvCxnSpPr/>
          <p:nvPr/>
        </p:nvCxnSpPr>
        <p:spPr>
          <a:xfrm>
            <a:off x="6428568" y="4756893"/>
            <a:ext cx="0" cy="1986831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8" name="Google Shape;318;p19"/>
          <p:cNvSpPr txBox="1"/>
          <p:nvPr/>
        </p:nvSpPr>
        <p:spPr>
          <a:xfrm>
            <a:off x="5169402" y="6534393"/>
            <a:ext cx="85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GCP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" name="Google Shape;319;p19" descr="NAT gateway resource icon for the Amazon VPC service.&#10;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440353" y="392841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9"/>
          <p:cNvSpPr txBox="1"/>
          <p:nvPr/>
        </p:nvSpPr>
        <p:spPr>
          <a:xfrm>
            <a:off x="9141852" y="4362203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8787872" y="3508576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Public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19" descr="Public subnet group icon.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786438" y="3506932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9" descr="Internet gateway resource icon for the Amazon VPC service.&#10;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87788" y="398918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9"/>
          <p:cNvSpPr txBox="1"/>
          <p:nvPr/>
        </p:nvSpPr>
        <p:spPr>
          <a:xfrm>
            <a:off x="8746878" y="4053706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9" descr="Amazon Elastic Compute Cloud (Amazon EC2) service icon.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0584703" y="4116180"/>
            <a:ext cx="321687" cy="31260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9"/>
          <p:cNvSpPr txBox="1"/>
          <p:nvPr/>
        </p:nvSpPr>
        <p:spPr>
          <a:xfrm>
            <a:off x="10819173" y="4172832"/>
            <a:ext cx="958500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639;p69">
            <a:extLst>
              <a:ext uri="{FF2B5EF4-FFF2-40B4-BE49-F238E27FC236}">
                <a16:creationId xmlns:a16="http://schemas.microsoft.com/office/drawing/2014/main" id="{B769070F-8C20-3242-A60A-81AA7686212F}"/>
              </a:ext>
            </a:extLst>
          </p:cNvPr>
          <p:cNvSpPr/>
          <p:nvPr/>
        </p:nvSpPr>
        <p:spPr>
          <a:xfrm>
            <a:off x="2084474" y="952500"/>
            <a:ext cx="10010186" cy="5651500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25" name="Google Shape;3518;p84">
            <a:extLst>
              <a:ext uri="{FF2B5EF4-FFF2-40B4-BE49-F238E27FC236}">
                <a16:creationId xmlns:a16="http://schemas.microsoft.com/office/drawing/2014/main" id="{72554162-3F51-4442-AC6D-0BED90B7CCAD}"/>
              </a:ext>
            </a:extLst>
          </p:cNvPr>
          <p:cNvSpPr/>
          <p:nvPr/>
        </p:nvSpPr>
        <p:spPr>
          <a:xfrm>
            <a:off x="2329099" y="1374374"/>
            <a:ext cx="9597395" cy="5001025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658" cy="642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GCP Cloud 아키텍처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구성도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2756;p69">
            <a:extLst>
              <a:ext uri="{FF2B5EF4-FFF2-40B4-BE49-F238E27FC236}">
                <a16:creationId xmlns:a16="http://schemas.microsoft.com/office/drawing/2014/main" id="{554ECC8E-C752-D94E-A127-10011C8BB7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6931" t="-49479" r="-5592" b="-59116"/>
          <a:stretch/>
        </p:blipFill>
        <p:spPr>
          <a:xfrm>
            <a:off x="2138836" y="964515"/>
            <a:ext cx="1309579" cy="42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3519;p84">
            <a:extLst>
              <a:ext uri="{FF2B5EF4-FFF2-40B4-BE49-F238E27FC236}">
                <a16:creationId xmlns:a16="http://schemas.microsoft.com/office/drawing/2014/main" id="{EB1C260B-1CE5-BC4A-8969-2AE7AD958D84}"/>
              </a:ext>
            </a:extLst>
          </p:cNvPr>
          <p:cNvSpPr txBox="1"/>
          <p:nvPr/>
        </p:nvSpPr>
        <p:spPr>
          <a:xfrm>
            <a:off x="2329099" y="1411456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Region</a:t>
            </a:r>
            <a:endParaRPr sz="9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" name="Google Shape;2648;p69">
            <a:extLst>
              <a:ext uri="{FF2B5EF4-FFF2-40B4-BE49-F238E27FC236}">
                <a16:creationId xmlns:a16="http://schemas.microsoft.com/office/drawing/2014/main" id="{52221D31-0873-0F4C-BDC0-68934C4C873A}"/>
              </a:ext>
            </a:extLst>
          </p:cNvPr>
          <p:cNvGrpSpPr/>
          <p:nvPr/>
        </p:nvGrpSpPr>
        <p:grpSpPr>
          <a:xfrm>
            <a:off x="4082275" y="2281780"/>
            <a:ext cx="820995" cy="424443"/>
            <a:chOff x="-1296834" y="-949801"/>
            <a:chExt cx="615746" cy="280714"/>
          </a:xfrm>
        </p:grpSpPr>
        <p:sp>
          <p:nvSpPr>
            <p:cNvPr id="20" name="Google Shape;2649;p69">
              <a:extLst>
                <a:ext uri="{FF2B5EF4-FFF2-40B4-BE49-F238E27FC236}">
                  <a16:creationId xmlns:a16="http://schemas.microsoft.com/office/drawing/2014/main" id="{9F5682DF-F401-3448-ABEE-7CECD2F3393C}"/>
                </a:ext>
              </a:extLst>
            </p:cNvPr>
            <p:cNvSpPr/>
            <p:nvPr/>
          </p:nvSpPr>
          <p:spPr>
            <a:xfrm>
              <a:off x="-1296834" y="-949801"/>
              <a:ext cx="615746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spcFirstLastPara="1" wrap="square" lIns="390133" tIns="109700" rIns="60933" bIns="121900" anchor="ctr" anchorCtr="0">
              <a:noAutofit/>
            </a:bodyPr>
            <a:lstStyle/>
            <a:p>
              <a:pPr>
                <a:buClr>
                  <a:schemeClr val="dk1"/>
                </a:buClr>
              </a:pPr>
              <a:r>
                <a:rPr lang="en-US" sz="9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Bucket</a:t>
              </a:r>
              <a:endParaRPr sz="9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1" name="Google Shape;2650;p69">
              <a:extLst>
                <a:ext uri="{FF2B5EF4-FFF2-40B4-BE49-F238E27FC236}">
                  <a16:creationId xmlns:a16="http://schemas.microsoft.com/office/drawing/2014/main" id="{6C2B6FAB-04D4-AA40-AE70-1C8E88E51252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1244126" y="-911045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7" name="Google Shape;2669;p69">
            <a:extLst>
              <a:ext uri="{FF2B5EF4-FFF2-40B4-BE49-F238E27FC236}">
                <a16:creationId xmlns:a16="http://schemas.microsoft.com/office/drawing/2014/main" id="{616F49DE-733B-3244-A960-98DEFF540C4E}"/>
              </a:ext>
            </a:extLst>
          </p:cNvPr>
          <p:cNvCxnSpPr>
            <a:cxnSpLocks/>
          </p:cNvCxnSpPr>
          <p:nvPr/>
        </p:nvCxnSpPr>
        <p:spPr>
          <a:xfrm>
            <a:off x="3263597" y="4799248"/>
            <a:ext cx="648836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pic>
        <p:nvPicPr>
          <p:cNvPr id="130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50C21F79-1883-B64E-9E12-91F749AC23E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2936" y="119288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378;g3d6e2211149_2_228">
            <a:extLst>
              <a:ext uri="{FF2B5EF4-FFF2-40B4-BE49-F238E27FC236}">
                <a16:creationId xmlns:a16="http://schemas.microsoft.com/office/drawing/2014/main" id="{A2B0B653-EE95-7041-91A1-BF0B6FAF168D}"/>
              </a:ext>
            </a:extLst>
          </p:cNvPr>
          <p:cNvSpPr txBox="1"/>
          <p:nvPr/>
        </p:nvSpPr>
        <p:spPr>
          <a:xfrm>
            <a:off x="282452" y="868209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(Curated)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366;g3d6e2211149_2_228">
            <a:extLst>
              <a:ext uri="{FF2B5EF4-FFF2-40B4-BE49-F238E27FC236}">
                <a16:creationId xmlns:a16="http://schemas.microsoft.com/office/drawing/2014/main" id="{C64BD290-C783-EE47-AEF4-8F3C00422B36}"/>
              </a:ext>
            </a:extLst>
          </p:cNvPr>
          <p:cNvCxnSpPr>
            <a:cxnSpLocks/>
          </p:cNvCxnSpPr>
          <p:nvPr/>
        </p:nvCxnSpPr>
        <p:spPr>
          <a:xfrm>
            <a:off x="792902" y="1623849"/>
            <a:ext cx="0" cy="71250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33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550494A0-61F4-4741-B6C3-D4D099B8016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2936" y="2361304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249;g3d6e2211149_2_228">
            <a:extLst>
              <a:ext uri="{FF2B5EF4-FFF2-40B4-BE49-F238E27FC236}">
                <a16:creationId xmlns:a16="http://schemas.microsoft.com/office/drawing/2014/main" id="{1AB405C3-F59E-4C48-936B-EA8AC77B5D59}"/>
              </a:ext>
            </a:extLst>
          </p:cNvPr>
          <p:cNvSpPr txBox="1"/>
          <p:nvPr/>
        </p:nvSpPr>
        <p:spPr>
          <a:xfrm>
            <a:off x="318958" y="2803981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pic>
        <p:nvPicPr>
          <p:cNvPr id="135" name="Google Shape;260;g3d6e2211149_2_228" descr="AWS Site-to-Site VPN service icon.">
            <a:extLst>
              <a:ext uri="{FF2B5EF4-FFF2-40B4-BE49-F238E27FC236}">
                <a16:creationId xmlns:a16="http://schemas.microsoft.com/office/drawing/2014/main" id="{8BFCFF2A-AE2D-FC44-B963-221EEB5EB1D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7229" y="3545588"/>
            <a:ext cx="468149" cy="39501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316;g3d6e2211149_2_228">
            <a:extLst>
              <a:ext uri="{FF2B5EF4-FFF2-40B4-BE49-F238E27FC236}">
                <a16:creationId xmlns:a16="http://schemas.microsoft.com/office/drawing/2014/main" id="{E549FDD0-BA7A-2A44-9D39-5F19E2C06F81}"/>
              </a:ext>
            </a:extLst>
          </p:cNvPr>
          <p:cNvSpPr txBox="1"/>
          <p:nvPr/>
        </p:nvSpPr>
        <p:spPr>
          <a:xfrm>
            <a:off x="193102" y="3984029"/>
            <a:ext cx="1442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Site-to-Site VPN</a:t>
            </a:r>
            <a:endParaRPr/>
          </a:p>
        </p:txBody>
      </p:sp>
      <p:cxnSp>
        <p:nvCxnSpPr>
          <p:cNvPr id="137" name="Google Shape;366;g3d6e2211149_2_228">
            <a:extLst>
              <a:ext uri="{FF2B5EF4-FFF2-40B4-BE49-F238E27FC236}">
                <a16:creationId xmlns:a16="http://schemas.microsoft.com/office/drawing/2014/main" id="{C88A4F7A-FC7E-AA42-AE86-1EB4BCE17A0A}"/>
              </a:ext>
            </a:extLst>
          </p:cNvPr>
          <p:cNvCxnSpPr>
            <a:cxnSpLocks/>
          </p:cNvCxnSpPr>
          <p:nvPr/>
        </p:nvCxnSpPr>
        <p:spPr>
          <a:xfrm>
            <a:off x="792902" y="2833085"/>
            <a:ext cx="0" cy="71250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38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81F72E42-6E41-1649-A5C6-617CFD4A612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6465" y="4470829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318;g3d6e2211149_2_228">
            <a:extLst>
              <a:ext uri="{FF2B5EF4-FFF2-40B4-BE49-F238E27FC236}">
                <a16:creationId xmlns:a16="http://schemas.microsoft.com/office/drawing/2014/main" id="{8043AE25-ACFE-9241-842C-48AE46324024}"/>
              </a:ext>
            </a:extLst>
          </p:cNvPr>
          <p:cNvSpPr txBox="1"/>
          <p:nvPr/>
        </p:nvSpPr>
        <p:spPr>
          <a:xfrm>
            <a:off x="515109" y="4922377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140" name="Google Shape;366;g3d6e2211149_2_228">
            <a:extLst>
              <a:ext uri="{FF2B5EF4-FFF2-40B4-BE49-F238E27FC236}">
                <a16:creationId xmlns:a16="http://schemas.microsoft.com/office/drawing/2014/main" id="{FC27D3BC-F1B1-A44C-9552-5D06F150F5D0}"/>
              </a:ext>
            </a:extLst>
          </p:cNvPr>
          <p:cNvCxnSpPr>
            <a:cxnSpLocks/>
          </p:cNvCxnSpPr>
          <p:nvPr/>
        </p:nvCxnSpPr>
        <p:spPr>
          <a:xfrm>
            <a:off x="792902" y="3940606"/>
            <a:ext cx="0" cy="71250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41" name="Google Shape;1925;p57">
            <a:extLst>
              <a:ext uri="{FF2B5EF4-FFF2-40B4-BE49-F238E27FC236}">
                <a16:creationId xmlns:a16="http://schemas.microsoft.com/office/drawing/2014/main" id="{A7B92532-2231-894E-9BE6-EEE5FC29EA44}"/>
              </a:ext>
            </a:extLst>
          </p:cNvPr>
          <p:cNvSpPr/>
          <p:nvPr/>
        </p:nvSpPr>
        <p:spPr>
          <a:xfrm>
            <a:off x="2382707" y="4585048"/>
            <a:ext cx="934498" cy="428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VPN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2" name="Google Shape;1972;p57">
            <a:extLst>
              <a:ext uri="{FF2B5EF4-FFF2-40B4-BE49-F238E27FC236}">
                <a16:creationId xmlns:a16="http://schemas.microsoft.com/office/drawing/2014/main" id="{1F1ED37E-A43E-0645-8B82-F317E1B0783B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83342" y="4640975"/>
            <a:ext cx="244825" cy="2711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366;g3d6e2211149_2_228">
            <a:extLst>
              <a:ext uri="{FF2B5EF4-FFF2-40B4-BE49-F238E27FC236}">
                <a16:creationId xmlns:a16="http://schemas.microsoft.com/office/drawing/2014/main" id="{6501E4E6-5CA8-2343-AB68-DEB2F18DCF0C}"/>
              </a:ext>
            </a:extLst>
          </p:cNvPr>
          <p:cNvCxnSpPr>
            <a:cxnSpLocks/>
            <a:stCxn id="141" idx="1"/>
          </p:cNvCxnSpPr>
          <p:nvPr/>
        </p:nvCxnSpPr>
        <p:spPr>
          <a:xfrm flipH="1">
            <a:off x="903758" y="4799248"/>
            <a:ext cx="147894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44" name="Google Shape;426;p29">
            <a:extLst>
              <a:ext uri="{FF2B5EF4-FFF2-40B4-BE49-F238E27FC236}">
                <a16:creationId xmlns:a16="http://schemas.microsoft.com/office/drawing/2014/main" id="{E1065A1B-4C5B-5B42-A25F-618AC3C49A3F}"/>
              </a:ext>
            </a:extLst>
          </p:cNvPr>
          <p:cNvSpPr txBox="1"/>
          <p:nvPr/>
        </p:nvSpPr>
        <p:spPr>
          <a:xfrm>
            <a:off x="3908920" y="3678480"/>
            <a:ext cx="1197394" cy="39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Storage Transfer Service</a:t>
            </a:r>
            <a:endParaRPr sz="900"/>
          </a:p>
        </p:txBody>
      </p:sp>
      <p:pic>
        <p:nvPicPr>
          <p:cNvPr id="145" name="Google Shape;427;p29">
            <a:extLst>
              <a:ext uri="{FF2B5EF4-FFF2-40B4-BE49-F238E27FC236}">
                <a16:creationId xmlns:a16="http://schemas.microsoft.com/office/drawing/2014/main" id="{65BC1ECF-6899-194C-90AF-B6803313E233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24693" y="3322607"/>
            <a:ext cx="389175" cy="38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926;p57">
            <a:extLst>
              <a:ext uri="{FF2B5EF4-FFF2-40B4-BE49-F238E27FC236}">
                <a16:creationId xmlns:a16="http://schemas.microsoft.com/office/drawing/2014/main" id="{564CDD79-36E4-F241-AE31-9F2B253B0B92}"/>
              </a:ext>
            </a:extLst>
          </p:cNvPr>
          <p:cNvSpPr/>
          <p:nvPr/>
        </p:nvSpPr>
        <p:spPr>
          <a:xfrm>
            <a:off x="4019737" y="4592023"/>
            <a:ext cx="934497" cy="428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Router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970;p57">
            <a:extLst>
              <a:ext uri="{FF2B5EF4-FFF2-40B4-BE49-F238E27FC236}">
                <a16:creationId xmlns:a16="http://schemas.microsoft.com/office/drawing/2014/main" id="{06736C24-7715-4740-8ADF-B036AD220DED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082276" y="4660711"/>
            <a:ext cx="244825" cy="244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2669;p69">
            <a:extLst>
              <a:ext uri="{FF2B5EF4-FFF2-40B4-BE49-F238E27FC236}">
                <a16:creationId xmlns:a16="http://schemas.microsoft.com/office/drawing/2014/main" id="{9D185F36-1847-434B-A2C8-C82E371EB874}"/>
              </a:ext>
            </a:extLst>
          </p:cNvPr>
          <p:cNvCxnSpPr>
            <a:cxnSpLocks/>
            <a:endCxn id="144" idx="2"/>
          </p:cNvCxnSpPr>
          <p:nvPr/>
        </p:nvCxnSpPr>
        <p:spPr>
          <a:xfrm flipV="1">
            <a:off x="4501734" y="4075255"/>
            <a:ext cx="5883" cy="53288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51" name="Google Shape;779;p36">
            <a:extLst>
              <a:ext uri="{FF2B5EF4-FFF2-40B4-BE49-F238E27FC236}">
                <a16:creationId xmlns:a16="http://schemas.microsoft.com/office/drawing/2014/main" id="{94991469-281B-9D4F-8A9E-7BE16F89EB0D}"/>
              </a:ext>
            </a:extLst>
          </p:cNvPr>
          <p:cNvSpPr/>
          <p:nvPr/>
        </p:nvSpPr>
        <p:spPr>
          <a:xfrm>
            <a:off x="5758267" y="2293935"/>
            <a:ext cx="1007259" cy="412288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813;p36">
            <a:extLst>
              <a:ext uri="{FF2B5EF4-FFF2-40B4-BE49-F238E27FC236}">
                <a16:creationId xmlns:a16="http://schemas.microsoft.com/office/drawing/2014/main" id="{938E9CE9-E2F5-6F40-9EDB-4FDD3EBE92C0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836979" y="2354125"/>
            <a:ext cx="205922" cy="279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2669;p69">
            <a:extLst>
              <a:ext uri="{FF2B5EF4-FFF2-40B4-BE49-F238E27FC236}">
                <a16:creationId xmlns:a16="http://schemas.microsoft.com/office/drawing/2014/main" id="{F76A8185-3DB8-644C-B95C-F15239F2489C}"/>
              </a:ext>
            </a:extLst>
          </p:cNvPr>
          <p:cNvCxnSpPr>
            <a:cxnSpLocks/>
          </p:cNvCxnSpPr>
          <p:nvPr/>
        </p:nvCxnSpPr>
        <p:spPr>
          <a:xfrm>
            <a:off x="4943518" y="2485048"/>
            <a:ext cx="648836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56" name="Google Shape;2669;p69">
            <a:extLst>
              <a:ext uri="{FF2B5EF4-FFF2-40B4-BE49-F238E27FC236}">
                <a16:creationId xmlns:a16="http://schemas.microsoft.com/office/drawing/2014/main" id="{E6B9568E-AA3B-9643-9A4A-1D6C1EBE8D0C}"/>
              </a:ext>
            </a:extLst>
          </p:cNvPr>
          <p:cNvCxnSpPr>
            <a:cxnSpLocks/>
            <a:stCxn id="181" idx="1"/>
            <a:endCxn id="146" idx="3"/>
          </p:cNvCxnSpPr>
          <p:nvPr/>
        </p:nvCxnSpPr>
        <p:spPr>
          <a:xfrm flipH="1" flipV="1">
            <a:off x="4954234" y="4806223"/>
            <a:ext cx="2720199" cy="1044383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57" name="Google Shape;1650;p53">
            <a:extLst>
              <a:ext uri="{FF2B5EF4-FFF2-40B4-BE49-F238E27FC236}">
                <a16:creationId xmlns:a16="http://schemas.microsoft.com/office/drawing/2014/main" id="{AB0207CF-98EB-4048-ACBC-20AC65E3D4CB}"/>
              </a:ext>
            </a:extLst>
          </p:cNvPr>
          <p:cNvSpPr/>
          <p:nvPr/>
        </p:nvSpPr>
        <p:spPr>
          <a:xfrm>
            <a:off x="7516415" y="3950135"/>
            <a:ext cx="10782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Vertex AI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8" name="Google Shape;1659;p53">
            <a:extLst>
              <a:ext uri="{FF2B5EF4-FFF2-40B4-BE49-F238E27FC236}">
                <a16:creationId xmlns:a16="http://schemas.microsoft.com/office/drawing/2014/main" id="{89BE97A4-2E3D-F447-B306-4A9B931212DD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562164" y="4010590"/>
            <a:ext cx="256100" cy="2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3440;p83">
            <a:extLst>
              <a:ext uri="{FF2B5EF4-FFF2-40B4-BE49-F238E27FC236}">
                <a16:creationId xmlns:a16="http://schemas.microsoft.com/office/drawing/2014/main" id="{99D4230C-8C38-A348-8C5C-0AD403EED3DE}"/>
              </a:ext>
            </a:extLst>
          </p:cNvPr>
          <p:cNvSpPr txBox="1"/>
          <p:nvPr/>
        </p:nvSpPr>
        <p:spPr>
          <a:xfrm>
            <a:off x="8465055" y="4420968"/>
            <a:ext cx="910965" cy="15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 xml:space="preserve">Vertex AI Job </a:t>
            </a: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완료</a:t>
            </a:r>
            <a:endParaRPr sz="800">
              <a:solidFill>
                <a:srgbClr val="434343"/>
              </a:solidFill>
              <a:latin typeface="Roboto"/>
              <a:cs typeface="Roboto"/>
              <a:sym typeface="Roboto"/>
            </a:endParaRPr>
          </a:p>
        </p:txBody>
      </p:sp>
      <p:cxnSp>
        <p:nvCxnSpPr>
          <p:cNvPr id="163" name="Google Shape;2669;p69">
            <a:extLst>
              <a:ext uri="{FF2B5EF4-FFF2-40B4-BE49-F238E27FC236}">
                <a16:creationId xmlns:a16="http://schemas.microsoft.com/office/drawing/2014/main" id="{1365F368-0E52-F943-B3DD-E2CE569AF716}"/>
              </a:ext>
            </a:extLst>
          </p:cNvPr>
          <p:cNvCxnSpPr>
            <a:cxnSpLocks/>
          </p:cNvCxnSpPr>
          <p:nvPr/>
        </p:nvCxnSpPr>
        <p:spPr>
          <a:xfrm flipV="1">
            <a:off x="4501734" y="2733198"/>
            <a:ext cx="5883" cy="53288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65" name="Google Shape;2669;p69">
            <a:extLst>
              <a:ext uri="{FF2B5EF4-FFF2-40B4-BE49-F238E27FC236}">
                <a16:creationId xmlns:a16="http://schemas.microsoft.com/office/drawing/2014/main" id="{F1C054A5-DCB0-E346-A98C-011F98D3264B}"/>
              </a:ext>
            </a:extLst>
          </p:cNvPr>
          <p:cNvCxnSpPr>
            <a:cxnSpLocks/>
          </p:cNvCxnSpPr>
          <p:nvPr/>
        </p:nvCxnSpPr>
        <p:spPr>
          <a:xfrm>
            <a:off x="6760998" y="2485048"/>
            <a:ext cx="648836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166" name="Google Shape;3407;p83">
            <a:extLst>
              <a:ext uri="{FF2B5EF4-FFF2-40B4-BE49-F238E27FC236}">
                <a16:creationId xmlns:a16="http://schemas.microsoft.com/office/drawing/2014/main" id="{82014822-888E-974C-ACDD-E09DCB3255F7}"/>
              </a:ext>
            </a:extLst>
          </p:cNvPr>
          <p:cNvGrpSpPr/>
          <p:nvPr/>
        </p:nvGrpSpPr>
        <p:grpSpPr>
          <a:xfrm>
            <a:off x="7480527" y="1948281"/>
            <a:ext cx="3817013" cy="1360527"/>
            <a:chOff x="2178018" y="1054758"/>
            <a:chExt cx="1220580" cy="637517"/>
          </a:xfrm>
        </p:grpSpPr>
        <p:sp>
          <p:nvSpPr>
            <p:cNvPr id="167" name="Google Shape;3408;p83">
              <a:extLst>
                <a:ext uri="{FF2B5EF4-FFF2-40B4-BE49-F238E27FC236}">
                  <a16:creationId xmlns:a16="http://schemas.microsoft.com/office/drawing/2014/main" id="{E4E06D11-74BC-7740-8ABF-447F3C97AD00}"/>
                </a:ext>
              </a:extLst>
            </p:cNvPr>
            <p:cNvSpPr/>
            <p:nvPr/>
          </p:nvSpPr>
          <p:spPr>
            <a:xfrm>
              <a:off x="2178037" y="1054764"/>
              <a:ext cx="1220561" cy="637511"/>
            </a:xfrm>
            <a:prstGeom prst="roundRect">
              <a:avLst>
                <a:gd name="adj" fmla="val 827"/>
              </a:avLst>
            </a:prstGeom>
            <a:solidFill>
              <a:srgbClr val="FFF3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3409;p83">
              <a:extLst>
                <a:ext uri="{FF2B5EF4-FFF2-40B4-BE49-F238E27FC236}">
                  <a16:creationId xmlns:a16="http://schemas.microsoft.com/office/drawing/2014/main" id="{F0E2A2DA-A602-FE49-9AFC-D5F1FAE62CC9}"/>
                </a:ext>
              </a:extLst>
            </p:cNvPr>
            <p:cNvSpPr txBox="1"/>
            <p:nvPr/>
          </p:nvSpPr>
          <p:spPr>
            <a:xfrm>
              <a:off x="2178018" y="1054758"/>
              <a:ext cx="11394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en-US" sz="75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Data Processing</a:t>
              </a:r>
              <a:endParaRPr sz="6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3" name="Google Shape;892;p37">
            <a:extLst>
              <a:ext uri="{FF2B5EF4-FFF2-40B4-BE49-F238E27FC236}">
                <a16:creationId xmlns:a16="http://schemas.microsoft.com/office/drawing/2014/main" id="{11574922-875D-4C48-AFE9-12CA63A628DC}"/>
              </a:ext>
            </a:extLst>
          </p:cNvPr>
          <p:cNvSpPr/>
          <p:nvPr/>
        </p:nvSpPr>
        <p:spPr>
          <a:xfrm>
            <a:off x="7474036" y="2290888"/>
            <a:ext cx="1007259" cy="438441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10"/>
              </a:schemeClr>
            </a:outerShdw>
          </a:effectLst>
        </p:spPr>
        <p:txBody>
          <a:bodyPr spcFirstLastPara="1" wrap="square" lIns="429750" tIns="118850" rIns="45700" bIns="1463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4" name="Google Shape;911;p37">
            <a:extLst>
              <a:ext uri="{FF2B5EF4-FFF2-40B4-BE49-F238E27FC236}">
                <a16:creationId xmlns:a16="http://schemas.microsoft.com/office/drawing/2014/main" id="{76B4B202-685C-F94B-81C5-7D0BD372EAC2}"/>
              </a:ext>
            </a:extLst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570463" y="2391354"/>
            <a:ext cx="242325" cy="2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" name="Google Shape;2669;p69">
            <a:extLst>
              <a:ext uri="{FF2B5EF4-FFF2-40B4-BE49-F238E27FC236}">
                <a16:creationId xmlns:a16="http://schemas.microsoft.com/office/drawing/2014/main" id="{3ADDAF95-7950-2749-A0DA-1FCC86FBAC82}"/>
              </a:ext>
            </a:extLst>
          </p:cNvPr>
          <p:cNvCxnSpPr>
            <a:cxnSpLocks/>
          </p:cNvCxnSpPr>
          <p:nvPr/>
        </p:nvCxnSpPr>
        <p:spPr>
          <a:xfrm rot="10800000" flipV="1">
            <a:off x="8033214" y="3308808"/>
            <a:ext cx="0" cy="624107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74" name="Google Shape;3359;p82">
            <a:extLst>
              <a:ext uri="{FF2B5EF4-FFF2-40B4-BE49-F238E27FC236}">
                <a16:creationId xmlns:a16="http://schemas.microsoft.com/office/drawing/2014/main" id="{96C88D02-40C0-3F45-9093-C9F79EFCDE7B}"/>
              </a:ext>
            </a:extLst>
          </p:cNvPr>
          <p:cNvSpPr/>
          <p:nvPr/>
        </p:nvSpPr>
        <p:spPr>
          <a:xfrm>
            <a:off x="9243451" y="3966844"/>
            <a:ext cx="1151790" cy="382226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5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Result table</a:t>
            </a:r>
            <a:b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7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3396;p82">
            <a:extLst>
              <a:ext uri="{FF2B5EF4-FFF2-40B4-BE49-F238E27FC236}">
                <a16:creationId xmlns:a16="http://schemas.microsoft.com/office/drawing/2014/main" id="{1C39D8E0-F437-A643-BAA2-F846D78BAA98}"/>
              </a:ext>
            </a:extLst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330639" y="4057307"/>
            <a:ext cx="201300" cy="2012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2669;p69">
            <a:extLst>
              <a:ext uri="{FF2B5EF4-FFF2-40B4-BE49-F238E27FC236}">
                <a16:creationId xmlns:a16="http://schemas.microsoft.com/office/drawing/2014/main" id="{751A0EEC-9C3E-4545-AA58-7F2932542B25}"/>
              </a:ext>
            </a:extLst>
          </p:cNvPr>
          <p:cNvCxnSpPr>
            <a:cxnSpLocks/>
          </p:cNvCxnSpPr>
          <p:nvPr/>
        </p:nvCxnSpPr>
        <p:spPr>
          <a:xfrm>
            <a:off x="8594615" y="4132750"/>
            <a:ext cx="648836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pic>
        <p:nvPicPr>
          <p:cNvPr id="177" name="Google Shape;337;p26">
            <a:extLst>
              <a:ext uri="{FF2B5EF4-FFF2-40B4-BE49-F238E27FC236}">
                <a16:creationId xmlns:a16="http://schemas.microsoft.com/office/drawing/2014/main" id="{8BBE12D4-B1AC-B348-89D2-633D3A7D4870}"/>
              </a:ext>
            </a:extLst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513919" y="4873504"/>
            <a:ext cx="454100" cy="4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338;p26">
            <a:extLst>
              <a:ext uri="{FF2B5EF4-FFF2-40B4-BE49-F238E27FC236}">
                <a16:creationId xmlns:a16="http://schemas.microsoft.com/office/drawing/2014/main" id="{D4B6ACF4-F6D1-1744-B2FE-EA380D79950B}"/>
              </a:ext>
            </a:extLst>
          </p:cNvPr>
          <p:cNvSpPr txBox="1"/>
          <p:nvPr/>
        </p:nvSpPr>
        <p:spPr>
          <a:xfrm>
            <a:off x="8296024" y="5257732"/>
            <a:ext cx="9378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Eventarc</a:t>
            </a:r>
            <a:endParaRPr sz="900" b="1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" name="Google Shape;2669;p69">
            <a:extLst>
              <a:ext uri="{FF2B5EF4-FFF2-40B4-BE49-F238E27FC236}">
                <a16:creationId xmlns:a16="http://schemas.microsoft.com/office/drawing/2014/main" id="{EDFB0E90-26D4-5E4C-8682-217341ED7E5D}"/>
              </a:ext>
            </a:extLst>
          </p:cNvPr>
          <p:cNvCxnSpPr>
            <a:cxnSpLocks/>
            <a:endCxn id="181" idx="0"/>
          </p:cNvCxnSpPr>
          <p:nvPr/>
        </p:nvCxnSpPr>
        <p:spPr>
          <a:xfrm flipH="1">
            <a:off x="8175747" y="5189262"/>
            <a:ext cx="418868" cy="470244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80" name="Google Shape;3440;p83">
            <a:extLst>
              <a:ext uri="{FF2B5EF4-FFF2-40B4-BE49-F238E27FC236}">
                <a16:creationId xmlns:a16="http://schemas.microsoft.com/office/drawing/2014/main" id="{DB6958D4-A307-354E-810F-BA70B5D43445}"/>
              </a:ext>
            </a:extLst>
          </p:cNvPr>
          <p:cNvSpPr txBox="1"/>
          <p:nvPr/>
        </p:nvSpPr>
        <p:spPr>
          <a:xfrm>
            <a:off x="9152844" y="4873415"/>
            <a:ext cx="910965" cy="32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Job State Event</a:t>
            </a:r>
          </a:p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altLang="ko-KR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(</a:t>
            </a: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완료 이벤트 발생</a:t>
            </a:r>
            <a:r>
              <a:rPr lang="en-US" altLang="ko-KR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)</a:t>
            </a:r>
            <a:endParaRPr sz="800">
              <a:solidFill>
                <a:srgbClr val="434343"/>
              </a:solidFill>
              <a:latin typeface="Roboto"/>
              <a:cs typeface="Roboto"/>
              <a:sym typeface="Roboto"/>
            </a:endParaRPr>
          </a:p>
        </p:txBody>
      </p:sp>
      <p:sp>
        <p:nvSpPr>
          <p:cNvPr id="181" name="Google Shape;1312;p48">
            <a:extLst>
              <a:ext uri="{FF2B5EF4-FFF2-40B4-BE49-F238E27FC236}">
                <a16:creationId xmlns:a16="http://schemas.microsoft.com/office/drawing/2014/main" id="{F2130F27-E0BA-FD49-A31B-89AB6675006C}"/>
              </a:ext>
            </a:extLst>
          </p:cNvPr>
          <p:cNvSpPr/>
          <p:nvPr/>
        </p:nvSpPr>
        <p:spPr>
          <a:xfrm>
            <a:off x="7674433" y="5659506"/>
            <a:ext cx="1002627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2" name="Google Shape;1340;p48">
            <a:extLst>
              <a:ext uri="{FF2B5EF4-FFF2-40B4-BE49-F238E27FC236}">
                <a16:creationId xmlns:a16="http://schemas.microsoft.com/office/drawing/2014/main" id="{B9E0A873-FE7D-BE46-86D2-4785FB028AE6}"/>
              </a:ext>
            </a:extLst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796852" y="5742857"/>
            <a:ext cx="235100" cy="245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2669;p69">
            <a:extLst>
              <a:ext uri="{FF2B5EF4-FFF2-40B4-BE49-F238E27FC236}">
                <a16:creationId xmlns:a16="http://schemas.microsoft.com/office/drawing/2014/main" id="{BE67148E-63F0-BF4F-BEFB-CF5CC108D855}"/>
              </a:ext>
            </a:extLst>
          </p:cNvPr>
          <p:cNvCxnSpPr>
            <a:cxnSpLocks/>
          </p:cNvCxnSpPr>
          <p:nvPr/>
        </p:nvCxnSpPr>
        <p:spPr>
          <a:xfrm flipH="1" flipV="1">
            <a:off x="6513010" y="4144955"/>
            <a:ext cx="2093149" cy="840421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pic>
        <p:nvPicPr>
          <p:cNvPr id="187" name="lambda" descr="Lambda service icon.">
            <a:extLst>
              <a:ext uri="{FF2B5EF4-FFF2-40B4-BE49-F238E27FC236}">
                <a16:creationId xmlns:a16="http://schemas.microsoft.com/office/drawing/2014/main" id="{3593DD1F-B33D-A74A-B66B-08EF78D064C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1489785" y="1068394"/>
            <a:ext cx="398567" cy="398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8" name="label5">
            <a:extLst>
              <a:ext uri="{FF2B5EF4-FFF2-40B4-BE49-F238E27FC236}">
                <a16:creationId xmlns:a16="http://schemas.microsoft.com/office/drawing/2014/main" id="{CF6D44DD-8E6B-0F49-BA20-B9E48CCF4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279" y="1470987"/>
            <a:ext cx="90394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AWS Lambda</a:t>
            </a:r>
          </a:p>
        </p:txBody>
      </p:sp>
      <p:pic>
        <p:nvPicPr>
          <p:cNvPr id="189" name="Graphic 7" descr="Amazon API Gateway service icon.">
            <a:extLst>
              <a:ext uri="{FF2B5EF4-FFF2-40B4-BE49-F238E27FC236}">
                <a16:creationId xmlns:a16="http://schemas.microsoft.com/office/drawing/2014/main" id="{4FE7FEBA-4A72-EA45-8FB0-021B50570246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1486974" y="2361304"/>
            <a:ext cx="402599" cy="402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0" name="TextBox 9">
            <a:extLst>
              <a:ext uri="{FF2B5EF4-FFF2-40B4-BE49-F238E27FC236}">
                <a16:creationId xmlns:a16="http://schemas.microsoft.com/office/drawing/2014/main" id="{AA1F0BDE-1DC8-614F-9CDB-53B4BF079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117" y="2766836"/>
            <a:ext cx="9383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 xml:space="preserve">Amazon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 Gateway</a:t>
            </a:r>
          </a:p>
        </p:txBody>
      </p:sp>
      <p:cxnSp>
        <p:nvCxnSpPr>
          <p:cNvPr id="191" name="Google Shape;366;g3d6e2211149_2_228">
            <a:extLst>
              <a:ext uri="{FF2B5EF4-FFF2-40B4-BE49-F238E27FC236}">
                <a16:creationId xmlns:a16="http://schemas.microsoft.com/office/drawing/2014/main" id="{4B948624-7F8E-414F-9833-44932E22460B}"/>
              </a:ext>
            </a:extLst>
          </p:cNvPr>
          <p:cNvCxnSpPr>
            <a:cxnSpLocks/>
          </p:cNvCxnSpPr>
          <p:nvPr/>
        </p:nvCxnSpPr>
        <p:spPr>
          <a:xfrm flipH="1">
            <a:off x="1077072" y="2567184"/>
            <a:ext cx="403094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93" name="Google Shape;366;g3d6e2211149_2_228">
            <a:extLst>
              <a:ext uri="{FF2B5EF4-FFF2-40B4-BE49-F238E27FC236}">
                <a16:creationId xmlns:a16="http://schemas.microsoft.com/office/drawing/2014/main" id="{40F169B1-64CD-BE4F-ADB6-2743682C3A58}"/>
              </a:ext>
            </a:extLst>
          </p:cNvPr>
          <p:cNvCxnSpPr>
            <a:cxnSpLocks/>
          </p:cNvCxnSpPr>
          <p:nvPr/>
        </p:nvCxnSpPr>
        <p:spPr>
          <a:xfrm>
            <a:off x="1708354" y="1642275"/>
            <a:ext cx="0" cy="71250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6FD4B97F-6256-734D-9CFE-4144B0BAD5FE}"/>
              </a:ext>
            </a:extLst>
          </p:cNvPr>
          <p:cNvSpPr txBox="1"/>
          <p:nvPr/>
        </p:nvSpPr>
        <p:spPr>
          <a:xfrm>
            <a:off x="6662380" y="5231874"/>
            <a:ext cx="1162656" cy="22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</a:rPr>
              <a:t xml:space="preserve">AWS Private API </a:t>
            </a: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</a:rPr>
              <a:t>호출</a:t>
            </a:r>
            <a:endParaRPr lang="en-KR" sz="800">
              <a:solidFill>
                <a:srgbClr val="434343"/>
              </a:solidFill>
              <a:latin typeface="Roboto"/>
              <a:cs typeface="Roboto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3A00DEA7-C9E3-0244-9001-479FC1BC9D2A}"/>
              </a:ext>
            </a:extLst>
          </p:cNvPr>
          <p:cNvSpPr txBox="1"/>
          <p:nvPr/>
        </p:nvSpPr>
        <p:spPr>
          <a:xfrm>
            <a:off x="5584225" y="3521907"/>
            <a:ext cx="1800799" cy="22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</a:rPr>
              <a:t xml:space="preserve">Vertex AI Batch Prediction Job </a:t>
            </a: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</a:rPr>
              <a:t>실행</a:t>
            </a:r>
            <a:endParaRPr lang="en-KR" sz="800">
              <a:solidFill>
                <a:srgbClr val="434343"/>
              </a:solidFill>
              <a:latin typeface="Roboto"/>
              <a:cs typeface="Roboto"/>
            </a:endParaRPr>
          </a:p>
        </p:txBody>
      </p:sp>
      <p:sp>
        <p:nvSpPr>
          <p:cNvPr id="200" name="Google Shape;3440;p83">
            <a:extLst>
              <a:ext uri="{FF2B5EF4-FFF2-40B4-BE49-F238E27FC236}">
                <a16:creationId xmlns:a16="http://schemas.microsoft.com/office/drawing/2014/main" id="{C755283D-FCA3-EA45-8AD2-BD6203647C73}"/>
              </a:ext>
            </a:extLst>
          </p:cNvPr>
          <p:cNvSpPr txBox="1"/>
          <p:nvPr/>
        </p:nvSpPr>
        <p:spPr>
          <a:xfrm>
            <a:off x="9394160" y="3743760"/>
            <a:ext cx="910965" cy="15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예측 결과 저장</a:t>
            </a:r>
            <a:endParaRPr sz="800">
              <a:solidFill>
                <a:srgbClr val="434343"/>
              </a:solidFill>
              <a:latin typeface="Roboto"/>
              <a:cs typeface="Roboto"/>
              <a:sym typeface="Roboto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6F4527B-7D6F-7046-A8B4-3C19D46B4A12}"/>
              </a:ext>
            </a:extLst>
          </p:cNvPr>
          <p:cNvSpPr txBox="1"/>
          <p:nvPr/>
        </p:nvSpPr>
        <p:spPr>
          <a:xfrm>
            <a:off x="2023098" y="5815571"/>
            <a:ext cx="2301595" cy="38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KR" sz="800">
                <a:solidFill>
                  <a:srgbClr val="434343"/>
                </a:solidFill>
                <a:latin typeface="Roboto"/>
                <a:cs typeface="Roboto"/>
              </a:rPr>
              <a:t>Storage Transfer Service가</a:t>
            </a:r>
          </a:p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KR" sz="800">
                <a:solidFill>
                  <a:srgbClr val="434343"/>
                </a:solidFill>
                <a:latin typeface="Roboto"/>
                <a:cs typeface="Roboto"/>
              </a:rPr>
              <a:t>AWS Access Key 또는 IAM Role 기반으로 읽음</a:t>
            </a:r>
          </a:p>
        </p:txBody>
      </p:sp>
      <p:sp>
        <p:nvSpPr>
          <p:cNvPr id="74" name="Google Shape;1925;p57">
            <a:extLst>
              <a:ext uri="{FF2B5EF4-FFF2-40B4-BE49-F238E27FC236}">
                <a16:creationId xmlns:a16="http://schemas.microsoft.com/office/drawing/2014/main" id="{6E6133BF-A4DD-9E4E-A4B8-FBD7C7B8F6BE}"/>
              </a:ext>
            </a:extLst>
          </p:cNvPr>
          <p:cNvSpPr/>
          <p:nvPr/>
        </p:nvSpPr>
        <p:spPr>
          <a:xfrm>
            <a:off x="2449600" y="2281780"/>
            <a:ext cx="934498" cy="428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Secret Manager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913C26-CCA6-7844-953B-A4F83D59E11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77354" y="2342313"/>
            <a:ext cx="326453" cy="326453"/>
          </a:xfrm>
          <a:prstGeom prst="rect">
            <a:avLst/>
          </a:prstGeom>
        </p:spPr>
      </p:pic>
      <p:cxnSp>
        <p:nvCxnSpPr>
          <p:cNvPr id="75" name="Google Shape;2669;p69">
            <a:extLst>
              <a:ext uri="{FF2B5EF4-FFF2-40B4-BE49-F238E27FC236}">
                <a16:creationId xmlns:a16="http://schemas.microsoft.com/office/drawing/2014/main" id="{7C3CB1CD-1638-3942-95C7-C273C2FA17C0}"/>
              </a:ext>
            </a:extLst>
          </p:cNvPr>
          <p:cNvCxnSpPr>
            <a:cxnSpLocks/>
            <a:endCxn id="145" idx="1"/>
          </p:cNvCxnSpPr>
          <p:nvPr/>
        </p:nvCxnSpPr>
        <p:spPr>
          <a:xfrm>
            <a:off x="3384098" y="2480681"/>
            <a:ext cx="940595" cy="1036514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3D24C2EC-7393-EB44-A344-372442D706D9}"/>
              </a:ext>
            </a:extLst>
          </p:cNvPr>
          <p:cNvSpPr txBox="1"/>
          <p:nvPr/>
        </p:nvSpPr>
        <p:spPr>
          <a:xfrm>
            <a:off x="2410552" y="2788436"/>
            <a:ext cx="1226674" cy="681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</a:rPr>
              <a:t>AWS IAM User</a:t>
            </a:r>
          </a:p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US" altLang="ko-KR" sz="800">
                <a:solidFill>
                  <a:srgbClr val="434343"/>
                </a:solidFill>
                <a:latin typeface="Roboto"/>
                <a:cs typeface="Roboto"/>
              </a:rPr>
              <a:t>:</a:t>
            </a: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</a:rPr>
              <a:t xml:space="preserve"> </a:t>
            </a:r>
            <a:r>
              <a:rPr lang="en-US" altLang="ko-KR" sz="800">
                <a:solidFill>
                  <a:srgbClr val="434343"/>
                </a:solidFill>
                <a:latin typeface="Roboto"/>
                <a:cs typeface="Roboto"/>
              </a:rPr>
              <a:t>gcp-transfer-user</a:t>
            </a:r>
          </a:p>
          <a:p>
            <a:pPr marL="171450" indent="-171450">
              <a:lnSpc>
                <a:spcPct val="121666"/>
              </a:lnSpc>
              <a:buClr>
                <a:srgbClr val="757575"/>
              </a:buClr>
              <a:buFontTx/>
              <a:buChar char="-"/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</a:rPr>
              <a:t>Access Key ID</a:t>
            </a:r>
          </a:p>
          <a:p>
            <a:pPr marL="171450" indent="-171450">
              <a:lnSpc>
                <a:spcPct val="121666"/>
              </a:lnSpc>
              <a:buClr>
                <a:srgbClr val="757575"/>
              </a:buClr>
              <a:buFontTx/>
              <a:buChar char="-"/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</a:rPr>
              <a:t>Secret Access Key</a:t>
            </a:r>
            <a:endParaRPr lang="en-KR" sz="800">
              <a:solidFill>
                <a:srgbClr val="434343"/>
              </a:solidFill>
              <a:latin typeface="Roboto"/>
              <a:cs typeface="Roboto"/>
            </a:endParaRPr>
          </a:p>
        </p:txBody>
      </p:sp>
      <p:pic>
        <p:nvPicPr>
          <p:cNvPr id="79" name="Graphic 78" descr="Scheduler resource icon for the Amazon EventBridge service.">
            <a:extLst>
              <a:ext uri="{FF2B5EF4-FFF2-40B4-BE49-F238E27FC236}">
                <a16:creationId xmlns:a16="http://schemas.microsoft.com/office/drawing/2014/main" id="{4071C5A9-1ADF-EE4E-A353-02B11CC23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65251" y="3675428"/>
            <a:ext cx="285428" cy="285428"/>
          </a:xfrm>
          <a:prstGeom prst="rect">
            <a:avLst/>
          </a:prstGeom>
        </p:spPr>
      </p:pic>
      <p:sp>
        <p:nvSpPr>
          <p:cNvPr id="80" name="TextBox 26">
            <a:extLst>
              <a:ext uri="{FF2B5EF4-FFF2-40B4-BE49-F238E27FC236}">
                <a16:creationId xmlns:a16="http://schemas.microsoft.com/office/drawing/2014/main" id="{BE9F054C-2AD6-BC4C-BDC5-64114DEF6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31" y="3955980"/>
            <a:ext cx="119552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Scheduler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(Transfer Job)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Every 5 minutes</a:t>
            </a:r>
          </a:p>
        </p:txBody>
      </p:sp>
      <p:pic>
        <p:nvPicPr>
          <p:cNvPr id="77" name="Google Shape;354;g3d6e2211149_2_228" descr="Terraform Icon | Unofficial 2FA Entry Icons For Open Source ...">
            <a:extLst>
              <a:ext uri="{FF2B5EF4-FFF2-40B4-BE49-F238E27FC236}">
                <a16:creationId xmlns:a16="http://schemas.microsoft.com/office/drawing/2014/main" id="{3B433A23-1192-0A47-883E-7D2BC7AE4EEF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470093" y="558539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355;g3d6e2211149_2_228">
            <a:extLst>
              <a:ext uri="{FF2B5EF4-FFF2-40B4-BE49-F238E27FC236}">
                <a16:creationId xmlns:a16="http://schemas.microsoft.com/office/drawing/2014/main" id="{19299128-EA74-A14C-89FF-8ABDD896D8D0}"/>
              </a:ext>
            </a:extLst>
          </p:cNvPr>
          <p:cNvSpPr txBox="1"/>
          <p:nvPr/>
        </p:nvSpPr>
        <p:spPr>
          <a:xfrm>
            <a:off x="296275" y="6070760"/>
            <a:ext cx="84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Terraform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(인프라 관리)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366;g3d6e2211149_2_228">
            <a:extLst>
              <a:ext uri="{FF2B5EF4-FFF2-40B4-BE49-F238E27FC236}">
                <a16:creationId xmlns:a16="http://schemas.microsoft.com/office/drawing/2014/main" id="{3595D269-3B72-2E42-BDDC-8342A5999191}"/>
              </a:ext>
            </a:extLst>
          </p:cNvPr>
          <p:cNvCxnSpPr>
            <a:cxnSpLocks/>
          </p:cNvCxnSpPr>
          <p:nvPr/>
        </p:nvCxnSpPr>
        <p:spPr>
          <a:xfrm flipV="1">
            <a:off x="911641" y="5189262"/>
            <a:ext cx="1223613" cy="62421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4" name="Google Shape;3519;p84">
            <a:extLst>
              <a:ext uri="{FF2B5EF4-FFF2-40B4-BE49-F238E27FC236}">
                <a16:creationId xmlns:a16="http://schemas.microsoft.com/office/drawing/2014/main" id="{872E5080-C63B-4E4C-AAD0-853EA49766C5}"/>
              </a:ext>
            </a:extLst>
          </p:cNvPr>
          <p:cNvSpPr txBox="1"/>
          <p:nvPr/>
        </p:nvSpPr>
        <p:spPr>
          <a:xfrm>
            <a:off x="3509791" y="1002138"/>
            <a:ext cx="1563866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Google Cloud Project</a:t>
            </a:r>
            <a:endParaRPr sz="9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94EF92A-8513-3C47-B007-26F5C053A2B2}"/>
              </a:ext>
            </a:extLst>
          </p:cNvPr>
          <p:cNvSpPr txBox="1"/>
          <p:nvPr/>
        </p:nvSpPr>
        <p:spPr>
          <a:xfrm>
            <a:off x="8644859" y="2070309"/>
            <a:ext cx="214089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 dirty="0"/>
              <a:t>customer360</a:t>
            </a:r>
          </a:p>
          <a:p>
            <a:r>
              <a:rPr lang="en-KR" sz="1000" dirty="0"/>
              <a:t>score_mart</a:t>
            </a:r>
          </a:p>
          <a:p>
            <a:r>
              <a:rPr lang="en-KR" sz="1000" dirty="0"/>
              <a:t>prediction_result</a:t>
            </a:r>
          </a:p>
          <a:p>
            <a:r>
              <a:rPr lang="en-KR" sz="1000" dirty="0"/>
              <a:t>dynamic_score_mart</a:t>
            </a:r>
          </a:p>
          <a:p>
            <a:r>
              <a:rPr lang="en-KR" sz="1000" dirty="0"/>
              <a:t>v_user_dashboard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BD444A0-CF2F-6643-9437-530DEBA64BF3}"/>
              </a:ext>
            </a:extLst>
          </p:cNvPr>
          <p:cNvSpPr txBox="1"/>
          <p:nvPr/>
        </p:nvSpPr>
        <p:spPr>
          <a:xfrm>
            <a:off x="8127846" y="3327886"/>
            <a:ext cx="10782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VIP 확률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가입 확률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추천 반응률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건강 점수</a:t>
            </a:r>
          </a:p>
        </p:txBody>
      </p:sp>
      <p:sp>
        <p:nvSpPr>
          <p:cNvPr id="86" name="Google Shape;1312;p48">
            <a:extLst>
              <a:ext uri="{FF2B5EF4-FFF2-40B4-BE49-F238E27FC236}">
                <a16:creationId xmlns:a16="http://schemas.microsoft.com/office/drawing/2014/main" id="{2E75D739-410C-D841-9EC4-1A8260FB3A66}"/>
              </a:ext>
            </a:extLst>
          </p:cNvPr>
          <p:cNvSpPr/>
          <p:nvPr/>
        </p:nvSpPr>
        <p:spPr>
          <a:xfrm>
            <a:off x="5991144" y="3758877"/>
            <a:ext cx="1002627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7" name="Google Shape;1340;p48">
            <a:extLst>
              <a:ext uri="{FF2B5EF4-FFF2-40B4-BE49-F238E27FC236}">
                <a16:creationId xmlns:a16="http://schemas.microsoft.com/office/drawing/2014/main" id="{3C3331EC-F317-3243-9D90-3DAD55C247CE}"/>
              </a:ext>
            </a:extLst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113563" y="3842228"/>
            <a:ext cx="235100" cy="245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2669;p69">
            <a:extLst>
              <a:ext uri="{FF2B5EF4-FFF2-40B4-BE49-F238E27FC236}">
                <a16:creationId xmlns:a16="http://schemas.microsoft.com/office/drawing/2014/main" id="{D835597A-44C4-B34D-9608-0E9E3DBBFAE1}"/>
              </a:ext>
            </a:extLst>
          </p:cNvPr>
          <p:cNvCxnSpPr>
            <a:cxnSpLocks/>
          </p:cNvCxnSpPr>
          <p:nvPr/>
        </p:nvCxnSpPr>
        <p:spPr>
          <a:xfrm>
            <a:off x="6982671" y="3922818"/>
            <a:ext cx="523173" cy="205854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97" name="Google Shape;2669;p69">
            <a:extLst>
              <a:ext uri="{FF2B5EF4-FFF2-40B4-BE49-F238E27FC236}">
                <a16:creationId xmlns:a16="http://schemas.microsoft.com/office/drawing/2014/main" id="{9A4DBDFE-1D6E-914E-A171-E1B09754872A}"/>
              </a:ext>
            </a:extLst>
          </p:cNvPr>
          <p:cNvCxnSpPr>
            <a:cxnSpLocks/>
          </p:cNvCxnSpPr>
          <p:nvPr/>
        </p:nvCxnSpPr>
        <p:spPr>
          <a:xfrm flipH="1">
            <a:off x="8876783" y="4347219"/>
            <a:ext cx="1038535" cy="659887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305219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965" y="2633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인프라 구축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(AWS + GCP)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A3552E78-00F9-064A-B585-C1449FE69A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4710" y="720600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242;g3d6e2211149_2_228">
            <a:extLst>
              <a:ext uri="{FF2B5EF4-FFF2-40B4-BE49-F238E27FC236}">
                <a16:creationId xmlns:a16="http://schemas.microsoft.com/office/drawing/2014/main" id="{671E38F9-5344-EF42-93C4-5552D2D8B28F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6" name="Google Shape;245;g3d6e2211149_2_228" descr="Region group.">
            <a:extLst>
              <a:ext uri="{FF2B5EF4-FFF2-40B4-BE49-F238E27FC236}">
                <a16:creationId xmlns:a16="http://schemas.microsoft.com/office/drawing/2014/main" id="{1714CD4F-4B4E-B040-8DAD-BA2C8694FDF1}"/>
              </a:ext>
            </a:extLst>
          </p:cNvPr>
          <p:cNvGrpSpPr/>
          <p:nvPr/>
        </p:nvGrpSpPr>
        <p:grpSpPr>
          <a:xfrm>
            <a:off x="1613914" y="1120563"/>
            <a:ext cx="5441995" cy="5556583"/>
            <a:chOff x="4215621" y="1197870"/>
            <a:chExt cx="4012057" cy="5863848"/>
          </a:xfrm>
        </p:grpSpPr>
        <p:sp>
          <p:nvSpPr>
            <p:cNvPr id="457" name="Google Shape;246;g3d6e2211149_2_228" descr="Region group">
              <a:extLst>
                <a:ext uri="{FF2B5EF4-FFF2-40B4-BE49-F238E27FC236}">
                  <a16:creationId xmlns:a16="http://schemas.microsoft.com/office/drawing/2014/main" id="{27FCF64D-2FC7-1E40-A9C1-136A82AA789B}"/>
                </a:ext>
              </a:extLst>
            </p:cNvPr>
            <p:cNvSpPr/>
            <p:nvPr/>
          </p:nvSpPr>
          <p:spPr>
            <a:xfrm>
              <a:off x="4215621" y="1197870"/>
              <a:ext cx="4012057" cy="5863848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Region</a:t>
              </a:r>
              <a:r>
                <a:rPr lang="ko-KR" alt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 xml:space="preserve"> </a:t>
              </a:r>
              <a:r>
                <a:rPr lang="en-US" altLang="ko-KR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pic>
          <p:nvPicPr>
            <p:cNvPr id="458" name="Google Shape;247;g3d6e2211149_2_228" descr="Region group icon.">
              <a:extLst>
                <a:ext uri="{FF2B5EF4-FFF2-40B4-BE49-F238E27FC236}">
                  <a16:creationId xmlns:a16="http://schemas.microsoft.com/office/drawing/2014/main" id="{1D801C13-8F09-2E45-A52F-0DC7E5EAFA23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215623" y="1197872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61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A163B63F-CDA7-3742-A72B-CC2E634250A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9443" y="3687430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249;g3d6e2211149_2_228">
            <a:extLst>
              <a:ext uri="{FF2B5EF4-FFF2-40B4-BE49-F238E27FC236}">
                <a16:creationId xmlns:a16="http://schemas.microsoft.com/office/drawing/2014/main" id="{D7582208-9BBA-A64B-A554-6DD739AEB64D}"/>
              </a:ext>
            </a:extLst>
          </p:cNvPr>
          <p:cNvSpPr txBox="1"/>
          <p:nvPr/>
        </p:nvSpPr>
        <p:spPr>
          <a:xfrm>
            <a:off x="6086866" y="409784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463" name="Google Shape;250;g3d6e2211149_2_228">
            <a:extLst>
              <a:ext uri="{FF2B5EF4-FFF2-40B4-BE49-F238E27FC236}">
                <a16:creationId xmlns:a16="http://schemas.microsoft.com/office/drawing/2014/main" id="{351CA426-A381-FA4A-BF20-3BD424D06FBF}"/>
              </a:ext>
            </a:extLst>
          </p:cNvPr>
          <p:cNvSpPr/>
          <p:nvPr/>
        </p:nvSpPr>
        <p:spPr>
          <a:xfrm>
            <a:off x="1680738" y="2669526"/>
            <a:ext cx="1887665" cy="2760293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464" name="Google Shape;251;g3d6e2211149_2_228" descr="VPC group icon. ">
            <a:extLst>
              <a:ext uri="{FF2B5EF4-FFF2-40B4-BE49-F238E27FC236}">
                <a16:creationId xmlns:a16="http://schemas.microsoft.com/office/drawing/2014/main" id="{84D09060-2026-7E4D-91A0-2C7CEAA00A4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80739" y="266560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252;g3d6e2211149_2_228">
            <a:extLst>
              <a:ext uri="{FF2B5EF4-FFF2-40B4-BE49-F238E27FC236}">
                <a16:creationId xmlns:a16="http://schemas.microsoft.com/office/drawing/2014/main" id="{8E70A8B5-E523-6E46-9E41-5974D0AF43E5}"/>
              </a:ext>
            </a:extLst>
          </p:cNvPr>
          <p:cNvSpPr/>
          <p:nvPr/>
        </p:nvSpPr>
        <p:spPr>
          <a:xfrm>
            <a:off x="1798944" y="3164327"/>
            <a:ext cx="1719300" cy="602843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466" name="Google Shape;253;g3d6e2211149_2_228" descr="Public subnet group icon. ">
            <a:extLst>
              <a:ext uri="{FF2B5EF4-FFF2-40B4-BE49-F238E27FC236}">
                <a16:creationId xmlns:a16="http://schemas.microsoft.com/office/drawing/2014/main" id="{C0A5F8B5-DCF1-D04D-850B-14AC9263415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97510" y="316268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0083533F-2946-AB41-BF42-8E5A28CFF49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12696" y="318183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255;g3d6e2211149_2_228">
            <a:extLst>
              <a:ext uri="{FF2B5EF4-FFF2-40B4-BE49-F238E27FC236}">
                <a16:creationId xmlns:a16="http://schemas.microsoft.com/office/drawing/2014/main" id="{069587C1-A7F5-564F-9E36-57184DE83ADD}"/>
              </a:ext>
            </a:extLst>
          </p:cNvPr>
          <p:cNvSpPr txBox="1"/>
          <p:nvPr/>
        </p:nvSpPr>
        <p:spPr>
          <a:xfrm>
            <a:off x="1260396" y="3650855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469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A6705E8D-1437-3B47-BFA8-A88FE0B426E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106788" y="207280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257;g3d6e2211149_2_228">
            <a:extLst>
              <a:ext uri="{FF2B5EF4-FFF2-40B4-BE49-F238E27FC236}">
                <a16:creationId xmlns:a16="http://schemas.microsoft.com/office/drawing/2014/main" id="{0851B687-2EDE-7C42-9949-E8644DC7B580}"/>
              </a:ext>
            </a:extLst>
          </p:cNvPr>
          <p:cNvSpPr txBox="1"/>
          <p:nvPr/>
        </p:nvSpPr>
        <p:spPr>
          <a:xfrm>
            <a:off x="4741256" y="2532643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cxnSp>
        <p:nvCxnSpPr>
          <p:cNvPr id="471" name="Google Shape;258;g3d6e2211149_2_228">
            <a:extLst>
              <a:ext uri="{FF2B5EF4-FFF2-40B4-BE49-F238E27FC236}">
                <a16:creationId xmlns:a16="http://schemas.microsoft.com/office/drawing/2014/main" id="{35501722-F0E9-C641-BF67-9F08584BC0AD}"/>
              </a:ext>
            </a:extLst>
          </p:cNvPr>
          <p:cNvCxnSpPr>
            <a:cxnSpLocks/>
            <a:stCxn id="551" idx="3"/>
          </p:cNvCxnSpPr>
          <p:nvPr/>
        </p:nvCxnSpPr>
        <p:spPr>
          <a:xfrm flipV="1">
            <a:off x="3507948" y="3846428"/>
            <a:ext cx="2808016" cy="32987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472" name="Google Shape;259;g3d6e2211149_2_228">
            <a:extLst>
              <a:ext uri="{FF2B5EF4-FFF2-40B4-BE49-F238E27FC236}">
                <a16:creationId xmlns:a16="http://schemas.microsoft.com/office/drawing/2014/main" id="{CBD7563C-05B9-F042-808E-821963B88F4B}"/>
              </a:ext>
            </a:extLst>
          </p:cNvPr>
          <p:cNvCxnSpPr>
            <a:stCxn id="462" idx="0"/>
            <a:endCxn id="527" idx="0"/>
          </p:cNvCxnSpPr>
          <p:nvPr/>
        </p:nvCxnSpPr>
        <p:spPr>
          <a:xfrm flipH="1">
            <a:off x="6595966" y="4097845"/>
            <a:ext cx="10650" cy="35679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73" name="Google Shape;261;g3d6e2211149_2_228">
            <a:extLst>
              <a:ext uri="{FF2B5EF4-FFF2-40B4-BE49-F238E27FC236}">
                <a16:creationId xmlns:a16="http://schemas.microsoft.com/office/drawing/2014/main" id="{F473BE65-6F6A-E140-B38B-D5BD3C7C7A14}"/>
              </a:ext>
            </a:extLst>
          </p:cNvPr>
          <p:cNvSpPr/>
          <p:nvPr/>
        </p:nvSpPr>
        <p:spPr>
          <a:xfrm>
            <a:off x="1494710" y="739524"/>
            <a:ext cx="10545000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sp>
        <p:nvSpPr>
          <p:cNvPr id="474" name="Google Shape;262;g3d6e2211149_2_228">
            <a:extLst>
              <a:ext uri="{FF2B5EF4-FFF2-40B4-BE49-F238E27FC236}">
                <a16:creationId xmlns:a16="http://schemas.microsoft.com/office/drawing/2014/main" id="{0017F8D4-B4C2-604F-8FBC-6AD7DEEA79D9}"/>
              </a:ext>
            </a:extLst>
          </p:cNvPr>
          <p:cNvSpPr/>
          <p:nvPr/>
        </p:nvSpPr>
        <p:spPr>
          <a:xfrm>
            <a:off x="1720759" y="5510432"/>
            <a:ext cx="3573035" cy="1040681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475" name="Google Shape;263;g3d6e2211149_2_228" descr="VPC group icon. ">
            <a:extLst>
              <a:ext uri="{FF2B5EF4-FFF2-40B4-BE49-F238E27FC236}">
                <a16:creationId xmlns:a16="http://schemas.microsoft.com/office/drawing/2014/main" id="{F235BE04-3F11-B848-B048-68B3B5F66EA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20759" y="552114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265;g3d6e2211149_2_228" descr="Private subnet group icon. ">
            <a:extLst>
              <a:ext uri="{FF2B5EF4-FFF2-40B4-BE49-F238E27FC236}">
                <a16:creationId xmlns:a16="http://schemas.microsoft.com/office/drawing/2014/main" id="{584F381B-A692-4247-AB77-867A14FE4C2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13651" y="592778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268;g3d6e2211149_2_228">
            <a:extLst>
              <a:ext uri="{FF2B5EF4-FFF2-40B4-BE49-F238E27FC236}">
                <a16:creationId xmlns:a16="http://schemas.microsoft.com/office/drawing/2014/main" id="{AEB62D6D-9E12-2744-9299-FD061E53F0A2}"/>
              </a:ext>
            </a:extLst>
          </p:cNvPr>
          <p:cNvSpPr/>
          <p:nvPr/>
        </p:nvSpPr>
        <p:spPr>
          <a:xfrm>
            <a:off x="1819122" y="4603368"/>
            <a:ext cx="1665933" cy="687379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481" name="Google Shape;269;g3d6e2211149_2_228" descr="Private subnet group icon. ">
            <a:extLst>
              <a:ext uri="{FF2B5EF4-FFF2-40B4-BE49-F238E27FC236}">
                <a16:creationId xmlns:a16="http://schemas.microsoft.com/office/drawing/2014/main" id="{05D267AD-EA73-3948-BC43-116641FB5A4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19122" y="4618561"/>
            <a:ext cx="381000" cy="2965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3" name="Google Shape;271;g3d6e2211149_2_228">
            <a:extLst>
              <a:ext uri="{FF2B5EF4-FFF2-40B4-BE49-F238E27FC236}">
                <a16:creationId xmlns:a16="http://schemas.microsoft.com/office/drawing/2014/main" id="{267C0655-8E03-9E44-8390-6DF95137F42F}"/>
              </a:ext>
            </a:extLst>
          </p:cNvPr>
          <p:cNvCxnSpPr>
            <a:cxnSpLocks/>
            <a:stCxn id="598" idx="3"/>
            <a:endCxn id="461" idx="1"/>
          </p:cNvCxnSpPr>
          <p:nvPr/>
        </p:nvCxnSpPr>
        <p:spPr>
          <a:xfrm flipV="1">
            <a:off x="5440018" y="3910917"/>
            <a:ext cx="939425" cy="9205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00" name="Google Shape;288;g3d6e2211149_2_228">
            <a:extLst>
              <a:ext uri="{FF2B5EF4-FFF2-40B4-BE49-F238E27FC236}">
                <a16:creationId xmlns:a16="http://schemas.microsoft.com/office/drawing/2014/main" id="{57BF08E0-E55E-7041-9752-CEADB552E425}"/>
              </a:ext>
            </a:extLst>
          </p:cNvPr>
          <p:cNvSpPr/>
          <p:nvPr/>
        </p:nvSpPr>
        <p:spPr>
          <a:xfrm>
            <a:off x="3625155" y="5910934"/>
            <a:ext cx="1591364" cy="564527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501" name="Google Shape;289;g3d6e2211149_2_228" descr="Private subnet group icon. ">
            <a:extLst>
              <a:ext uri="{FF2B5EF4-FFF2-40B4-BE49-F238E27FC236}">
                <a16:creationId xmlns:a16="http://schemas.microsoft.com/office/drawing/2014/main" id="{2E992D89-52AF-9846-AB20-B38FBF6CAA8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611431" y="591895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310;g3d6e2211149_2_228" descr="Amazon Route 53 service icon.">
            <a:extLst>
              <a:ext uri="{FF2B5EF4-FFF2-40B4-BE49-F238E27FC236}">
                <a16:creationId xmlns:a16="http://schemas.microsoft.com/office/drawing/2014/main" id="{917B8C4B-2222-1543-AEBB-420CD709906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362243" y="761018"/>
            <a:ext cx="343546" cy="343546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311;g3d6e2211149_2_228">
            <a:extLst>
              <a:ext uri="{FF2B5EF4-FFF2-40B4-BE49-F238E27FC236}">
                <a16:creationId xmlns:a16="http://schemas.microsoft.com/office/drawing/2014/main" id="{840D9065-D101-D24A-82B4-8F57DFC2A54F}"/>
              </a:ext>
            </a:extLst>
          </p:cNvPr>
          <p:cNvSpPr txBox="1"/>
          <p:nvPr/>
        </p:nvSpPr>
        <p:spPr>
          <a:xfrm>
            <a:off x="3618385" y="741552"/>
            <a:ext cx="75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 53</a:t>
            </a:r>
            <a:endParaRPr/>
          </a:p>
        </p:txBody>
      </p:sp>
      <p:sp>
        <p:nvSpPr>
          <p:cNvPr id="524" name="Google Shape;312;g3d6e2211149_2_228">
            <a:extLst>
              <a:ext uri="{FF2B5EF4-FFF2-40B4-BE49-F238E27FC236}">
                <a16:creationId xmlns:a16="http://schemas.microsoft.com/office/drawing/2014/main" id="{75489123-215B-D84D-91A4-A76E08984DC9}"/>
              </a:ext>
            </a:extLst>
          </p:cNvPr>
          <p:cNvSpPr/>
          <p:nvPr/>
        </p:nvSpPr>
        <p:spPr>
          <a:xfrm>
            <a:off x="4390828" y="1201511"/>
            <a:ext cx="2513445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525" name="Google Shape;313;g3d6e2211149_2_228" descr="VPC group icon. ">
            <a:extLst>
              <a:ext uri="{FF2B5EF4-FFF2-40B4-BE49-F238E27FC236}">
                <a16:creationId xmlns:a16="http://schemas.microsoft.com/office/drawing/2014/main" id="{2CEFDD0C-A0AB-EF43-BD9B-209068E9A82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90828" y="120114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260;g3d6e2211149_2_228" descr="AWS Site-to-Site VPN service icon.">
            <a:extLst>
              <a:ext uri="{FF2B5EF4-FFF2-40B4-BE49-F238E27FC236}">
                <a16:creationId xmlns:a16="http://schemas.microsoft.com/office/drawing/2014/main" id="{B264BEBE-6C72-7B44-9A6B-50AE07447CB3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61891" y="4454635"/>
            <a:ext cx="468149" cy="395018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316;g3d6e2211149_2_228">
            <a:extLst>
              <a:ext uri="{FF2B5EF4-FFF2-40B4-BE49-F238E27FC236}">
                <a16:creationId xmlns:a16="http://schemas.microsoft.com/office/drawing/2014/main" id="{5793C565-0DE5-3E46-B469-D5C550A2D8B2}"/>
              </a:ext>
            </a:extLst>
          </p:cNvPr>
          <p:cNvSpPr txBox="1"/>
          <p:nvPr/>
        </p:nvSpPr>
        <p:spPr>
          <a:xfrm>
            <a:off x="5937764" y="4893076"/>
            <a:ext cx="1442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Site-to-Site VPN</a:t>
            </a:r>
            <a:endParaRPr/>
          </a:p>
        </p:txBody>
      </p:sp>
      <p:pic>
        <p:nvPicPr>
          <p:cNvPr id="529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A3CE1E26-7309-9545-8F31-63763423A1D6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323310" y="4411731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318;g3d6e2211149_2_228">
            <a:extLst>
              <a:ext uri="{FF2B5EF4-FFF2-40B4-BE49-F238E27FC236}">
                <a16:creationId xmlns:a16="http://schemas.microsoft.com/office/drawing/2014/main" id="{17998872-4822-0E47-ACC7-D5C43E7A0FF2}"/>
              </a:ext>
            </a:extLst>
          </p:cNvPr>
          <p:cNvSpPr txBox="1"/>
          <p:nvPr/>
        </p:nvSpPr>
        <p:spPr>
          <a:xfrm>
            <a:off x="7420752" y="4835510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531" name="Google Shape;319;g3d6e2211149_2_228">
            <a:extLst>
              <a:ext uri="{FF2B5EF4-FFF2-40B4-BE49-F238E27FC236}">
                <a16:creationId xmlns:a16="http://schemas.microsoft.com/office/drawing/2014/main" id="{7F351962-C5B8-5144-86F4-7F6101721F95}"/>
              </a:ext>
            </a:extLst>
          </p:cNvPr>
          <p:cNvCxnSpPr>
            <a:cxnSpLocks/>
            <a:stCxn id="527" idx="3"/>
          </p:cNvCxnSpPr>
          <p:nvPr/>
        </p:nvCxnSpPr>
        <p:spPr>
          <a:xfrm>
            <a:off x="6830040" y="4652144"/>
            <a:ext cx="653949" cy="6854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2" name="Google Shape;320;g3d6e2211149_2_228">
            <a:extLst>
              <a:ext uri="{FF2B5EF4-FFF2-40B4-BE49-F238E27FC236}">
                <a16:creationId xmlns:a16="http://schemas.microsoft.com/office/drawing/2014/main" id="{9F3DBADB-D163-EC4C-80FB-0B45099A7A9E}"/>
              </a:ext>
            </a:extLst>
          </p:cNvPr>
          <p:cNvSpPr/>
          <p:nvPr/>
        </p:nvSpPr>
        <p:spPr>
          <a:xfrm>
            <a:off x="4454307" y="1652967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533" name="Google Shape;321;g3d6e2211149_2_228" descr="Public subnet group icon. ">
            <a:extLst>
              <a:ext uri="{FF2B5EF4-FFF2-40B4-BE49-F238E27FC236}">
                <a16:creationId xmlns:a16="http://schemas.microsoft.com/office/drawing/2014/main" id="{B86191B6-D8F6-A641-AD0D-A55549FF2AB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52873" y="1651323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322;g3d6e2211149_2_228">
            <a:extLst>
              <a:ext uri="{FF2B5EF4-FFF2-40B4-BE49-F238E27FC236}">
                <a16:creationId xmlns:a16="http://schemas.microsoft.com/office/drawing/2014/main" id="{BB2D471C-C19D-8C43-B423-337913FFC43A}"/>
              </a:ext>
            </a:extLst>
          </p:cNvPr>
          <p:cNvSpPr/>
          <p:nvPr/>
        </p:nvSpPr>
        <p:spPr>
          <a:xfrm>
            <a:off x="5679162" y="1654948"/>
            <a:ext cx="114800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535" name="Google Shape;323;g3d6e2211149_2_228" descr="Private subnet group icon. ">
            <a:extLst>
              <a:ext uri="{FF2B5EF4-FFF2-40B4-BE49-F238E27FC236}">
                <a16:creationId xmlns:a16="http://schemas.microsoft.com/office/drawing/2014/main" id="{FC877706-CC9B-BF46-9BFF-044BDE4F69B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697866" y="1668628"/>
            <a:ext cx="381000" cy="38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2" name="Google Shape;332;g3d6e2211149_2_228">
            <a:extLst>
              <a:ext uri="{FF2B5EF4-FFF2-40B4-BE49-F238E27FC236}">
                <a16:creationId xmlns:a16="http://schemas.microsoft.com/office/drawing/2014/main" id="{B0BFC82D-5A91-2045-A4D6-D0BF531E4EAE}"/>
              </a:ext>
            </a:extLst>
          </p:cNvPr>
          <p:cNvCxnSpPr>
            <a:cxnSpLocks/>
            <a:endCxn id="461" idx="0"/>
          </p:cNvCxnSpPr>
          <p:nvPr/>
        </p:nvCxnSpPr>
        <p:spPr>
          <a:xfrm>
            <a:off x="6345831" y="2625197"/>
            <a:ext cx="257099" cy="106223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43" name="Google Shape;333;g3d6e2211149_2_228">
            <a:extLst>
              <a:ext uri="{FF2B5EF4-FFF2-40B4-BE49-F238E27FC236}">
                <a16:creationId xmlns:a16="http://schemas.microsoft.com/office/drawing/2014/main" id="{B39B6896-D594-244A-88F5-9191DDAF476E}"/>
              </a:ext>
            </a:extLst>
          </p:cNvPr>
          <p:cNvSpPr/>
          <p:nvPr/>
        </p:nvSpPr>
        <p:spPr>
          <a:xfrm>
            <a:off x="3824194" y="2679070"/>
            <a:ext cx="1722839" cy="114987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544" name="Google Shape;334;g3d6e2211149_2_228" descr="VPC group icon. ">
            <a:extLst>
              <a:ext uri="{FF2B5EF4-FFF2-40B4-BE49-F238E27FC236}">
                <a16:creationId xmlns:a16="http://schemas.microsoft.com/office/drawing/2014/main" id="{AE007B0F-9C52-F449-B324-7AAD33F57EE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25102" y="26896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335;g3d6e2211149_2_228">
            <a:extLst>
              <a:ext uri="{FF2B5EF4-FFF2-40B4-BE49-F238E27FC236}">
                <a16:creationId xmlns:a16="http://schemas.microsoft.com/office/drawing/2014/main" id="{22AC1319-48AC-9541-B7D9-BDC2449C5FAD}"/>
              </a:ext>
            </a:extLst>
          </p:cNvPr>
          <p:cNvSpPr/>
          <p:nvPr/>
        </p:nvSpPr>
        <p:spPr>
          <a:xfrm>
            <a:off x="4161678" y="3102698"/>
            <a:ext cx="1275960" cy="600005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46" name="Google Shape;336;g3d6e2211149_2_228" descr="Public subnet group icon. ">
            <a:extLst>
              <a:ext uri="{FF2B5EF4-FFF2-40B4-BE49-F238E27FC236}">
                <a16:creationId xmlns:a16="http://schemas.microsoft.com/office/drawing/2014/main" id="{49AFCAA5-7F26-8949-93F1-838282498A1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166076" y="3130240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72F04579-5505-B14A-A3F0-65AA642DFE4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75264" y="339717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338;g3d6e2211149_2_228">
            <a:extLst>
              <a:ext uri="{FF2B5EF4-FFF2-40B4-BE49-F238E27FC236}">
                <a16:creationId xmlns:a16="http://schemas.microsoft.com/office/drawing/2014/main" id="{FE2AE809-048A-3A43-BF6D-ACEE14FD253B}"/>
              </a:ext>
            </a:extLst>
          </p:cNvPr>
          <p:cNvSpPr txBox="1"/>
          <p:nvPr/>
        </p:nvSpPr>
        <p:spPr>
          <a:xfrm>
            <a:off x="3419198" y="3146809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549" name="Google Shape;339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C325FF3D-9C1B-6B46-A70F-AE60150DC1E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39298" y="213242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340;g3d6e2211149_2_228">
            <a:extLst>
              <a:ext uri="{FF2B5EF4-FFF2-40B4-BE49-F238E27FC236}">
                <a16:creationId xmlns:a16="http://schemas.microsoft.com/office/drawing/2014/main" id="{CC4C0602-F83F-D84E-B04B-920941D6FA8D}"/>
              </a:ext>
            </a:extLst>
          </p:cNvPr>
          <p:cNvSpPr txBox="1"/>
          <p:nvPr/>
        </p:nvSpPr>
        <p:spPr>
          <a:xfrm>
            <a:off x="4413313" y="2198097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551" name="Google Shape;341;g3d6e2211149_2_228">
            <a:extLst>
              <a:ext uri="{FF2B5EF4-FFF2-40B4-BE49-F238E27FC236}">
                <a16:creationId xmlns:a16="http://schemas.microsoft.com/office/drawing/2014/main" id="{C4EA5280-16C1-D74F-B193-9514F76A9717}"/>
              </a:ext>
            </a:extLst>
          </p:cNvPr>
          <p:cNvSpPr/>
          <p:nvPr/>
        </p:nvSpPr>
        <p:spPr>
          <a:xfrm>
            <a:off x="1839348" y="3831021"/>
            <a:ext cx="1668600" cy="690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552" name="Google Shape;342;g3d6e2211149_2_228" descr="Private subnet group icon. ">
            <a:extLst>
              <a:ext uri="{FF2B5EF4-FFF2-40B4-BE49-F238E27FC236}">
                <a16:creationId xmlns:a16="http://schemas.microsoft.com/office/drawing/2014/main" id="{07F7A243-37E5-FF49-83EE-627A9137F802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54017" y="3850079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343;g3d6e2211149_2_228" descr="AWS CloudFormation service icon.">
            <a:extLst>
              <a:ext uri="{FF2B5EF4-FFF2-40B4-BE49-F238E27FC236}">
                <a16:creationId xmlns:a16="http://schemas.microsoft.com/office/drawing/2014/main" id="{D6E9ED9A-77B9-D445-96A6-E59D31690D62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805768" y="1620325"/>
            <a:ext cx="369332" cy="369332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344;g3d6e2211149_2_228">
            <a:extLst>
              <a:ext uri="{FF2B5EF4-FFF2-40B4-BE49-F238E27FC236}">
                <a16:creationId xmlns:a16="http://schemas.microsoft.com/office/drawing/2014/main" id="{31A892F9-6148-7644-8591-3C5AC5A09AD3}"/>
              </a:ext>
            </a:extLst>
          </p:cNvPr>
          <p:cNvSpPr txBox="1"/>
          <p:nvPr/>
        </p:nvSpPr>
        <p:spPr>
          <a:xfrm>
            <a:off x="2039632" y="1646400"/>
            <a:ext cx="119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CloudFormation</a:t>
            </a:r>
            <a:endParaRPr/>
          </a:p>
        </p:txBody>
      </p:sp>
      <p:pic>
        <p:nvPicPr>
          <p:cNvPr id="559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20A0DFA1-6E09-C345-B2C6-2EFF97EB6CA8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891723" y="733543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350;g3d6e2211149_2_228">
            <a:extLst>
              <a:ext uri="{FF2B5EF4-FFF2-40B4-BE49-F238E27FC236}">
                <a16:creationId xmlns:a16="http://schemas.microsoft.com/office/drawing/2014/main" id="{3BC62915-0B18-B344-821B-0218FDD9AF44}"/>
              </a:ext>
            </a:extLst>
          </p:cNvPr>
          <p:cNvSpPr txBox="1"/>
          <p:nvPr/>
        </p:nvSpPr>
        <p:spPr>
          <a:xfrm>
            <a:off x="5128966" y="812299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564" name="Google Shape;354;g3d6e2211149_2_228" descr="Terraform Icon | Unofficial 2FA Entry Icons For Open Source ...">
            <a:extLst>
              <a:ext uri="{FF2B5EF4-FFF2-40B4-BE49-F238E27FC236}">
                <a16:creationId xmlns:a16="http://schemas.microsoft.com/office/drawing/2014/main" id="{8A1495EE-F08B-FF4E-805E-4585C5DF650C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44250" y="503202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355;g3d6e2211149_2_228">
            <a:extLst>
              <a:ext uri="{FF2B5EF4-FFF2-40B4-BE49-F238E27FC236}">
                <a16:creationId xmlns:a16="http://schemas.microsoft.com/office/drawing/2014/main" id="{4168EF90-6BA6-1947-B1AB-67619DE6CABF}"/>
              </a:ext>
            </a:extLst>
          </p:cNvPr>
          <p:cNvSpPr txBox="1"/>
          <p:nvPr/>
        </p:nvSpPr>
        <p:spPr>
          <a:xfrm>
            <a:off x="269415" y="5589537"/>
            <a:ext cx="84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Terraform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(인프라 관리)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356;g3d6e2211149_2_228">
            <a:extLst>
              <a:ext uri="{FF2B5EF4-FFF2-40B4-BE49-F238E27FC236}">
                <a16:creationId xmlns:a16="http://schemas.microsoft.com/office/drawing/2014/main" id="{EEC0DA4B-CFD4-E346-A8AE-BB0D8098A085}"/>
              </a:ext>
            </a:extLst>
          </p:cNvPr>
          <p:cNvSpPr txBox="1"/>
          <p:nvPr/>
        </p:nvSpPr>
        <p:spPr>
          <a:xfrm>
            <a:off x="5782036" y="5978436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sp>
        <p:nvSpPr>
          <p:cNvPr id="567" name="Google Shape;357;g3d6e2211149_2_228">
            <a:extLst>
              <a:ext uri="{FF2B5EF4-FFF2-40B4-BE49-F238E27FC236}">
                <a16:creationId xmlns:a16="http://schemas.microsoft.com/office/drawing/2014/main" id="{7777E290-97AD-F04C-9FA7-38D7566D64D5}"/>
              </a:ext>
            </a:extLst>
          </p:cNvPr>
          <p:cNvSpPr/>
          <p:nvPr/>
        </p:nvSpPr>
        <p:spPr>
          <a:xfrm>
            <a:off x="6118822" y="5839729"/>
            <a:ext cx="184500" cy="192900"/>
          </a:xfrm>
          <a:prstGeom prst="diamond">
            <a:avLst/>
          </a:prstGeom>
          <a:solidFill>
            <a:srgbClr val="833C0B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9" name="Google Shape;359;g3d6e2211149_2_228">
            <a:extLst>
              <a:ext uri="{FF2B5EF4-FFF2-40B4-BE49-F238E27FC236}">
                <a16:creationId xmlns:a16="http://schemas.microsoft.com/office/drawing/2014/main" id="{62D95571-D574-AB41-9676-F7902391B67E}"/>
              </a:ext>
            </a:extLst>
          </p:cNvPr>
          <p:cNvCxnSpPr>
            <a:cxnSpLocks/>
            <a:stCxn id="530" idx="0"/>
            <a:endCxn id="567" idx="3"/>
          </p:cNvCxnSpPr>
          <p:nvPr/>
        </p:nvCxnSpPr>
        <p:spPr>
          <a:xfrm flipH="1">
            <a:off x="6303322" y="4835510"/>
            <a:ext cx="1401380" cy="110066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70" name="Google Shape;360;g3d6e2211149_2_228">
            <a:extLst>
              <a:ext uri="{FF2B5EF4-FFF2-40B4-BE49-F238E27FC236}">
                <a16:creationId xmlns:a16="http://schemas.microsoft.com/office/drawing/2014/main" id="{563F29C7-C27B-DD47-8DE5-F3C6562A60C9}"/>
              </a:ext>
            </a:extLst>
          </p:cNvPr>
          <p:cNvSpPr txBox="1"/>
          <p:nvPr/>
        </p:nvSpPr>
        <p:spPr>
          <a:xfrm>
            <a:off x="7617397" y="4310785"/>
            <a:ext cx="1003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(IPSec Tunnel)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2" name="Google Shape;363;g3d6e2211149_2_228">
            <a:extLst>
              <a:ext uri="{FF2B5EF4-FFF2-40B4-BE49-F238E27FC236}">
                <a16:creationId xmlns:a16="http://schemas.microsoft.com/office/drawing/2014/main" id="{CDD733FD-6ED9-DC44-93AD-020E1F937C4D}"/>
              </a:ext>
            </a:extLst>
          </p:cNvPr>
          <p:cNvCxnSpPr>
            <a:cxnSpLocks/>
            <a:stCxn id="500" idx="3"/>
            <a:endCxn id="567" idx="1"/>
          </p:cNvCxnSpPr>
          <p:nvPr/>
        </p:nvCxnSpPr>
        <p:spPr>
          <a:xfrm flipV="1">
            <a:off x="5216519" y="5936179"/>
            <a:ext cx="902303" cy="25701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98" name="Google Shape;262;g3d6e2211149_2_228">
            <a:extLst>
              <a:ext uri="{FF2B5EF4-FFF2-40B4-BE49-F238E27FC236}">
                <a16:creationId xmlns:a16="http://schemas.microsoft.com/office/drawing/2014/main" id="{3F520516-4002-334D-A2BF-B7D81047F41C}"/>
              </a:ext>
            </a:extLst>
          </p:cNvPr>
          <p:cNvSpPr/>
          <p:nvPr/>
        </p:nvSpPr>
        <p:spPr>
          <a:xfrm>
            <a:off x="3624498" y="4271826"/>
            <a:ext cx="1815520" cy="1119223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Management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(VPC)</a:t>
            </a:r>
            <a:endParaRPr/>
          </a:p>
        </p:txBody>
      </p:sp>
      <p:pic>
        <p:nvPicPr>
          <p:cNvPr id="599" name="Google Shape;263;g3d6e2211149_2_228" descr="VPC group icon. ">
            <a:extLst>
              <a:ext uri="{FF2B5EF4-FFF2-40B4-BE49-F238E27FC236}">
                <a16:creationId xmlns:a16="http://schemas.microsoft.com/office/drawing/2014/main" id="{3DDEE7C9-F0B2-5F43-8B46-9FC396B9B73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23726" y="427109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264;g3d6e2211149_2_228">
            <a:extLst>
              <a:ext uri="{FF2B5EF4-FFF2-40B4-BE49-F238E27FC236}">
                <a16:creationId xmlns:a16="http://schemas.microsoft.com/office/drawing/2014/main" id="{643B5512-A1F1-B54D-90D7-83940ECF2EFE}"/>
              </a:ext>
            </a:extLst>
          </p:cNvPr>
          <p:cNvSpPr/>
          <p:nvPr/>
        </p:nvSpPr>
        <p:spPr>
          <a:xfrm>
            <a:off x="3785261" y="4826988"/>
            <a:ext cx="1593730" cy="460271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601" name="Google Shape;265;g3d6e2211149_2_228" descr="Private subnet group icon. ">
            <a:extLst>
              <a:ext uri="{FF2B5EF4-FFF2-40B4-BE49-F238E27FC236}">
                <a16:creationId xmlns:a16="http://schemas.microsoft.com/office/drawing/2014/main" id="{F9942152-38B2-0040-98CB-179DD4522E8E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799018" y="483551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264;g3d6e2211149_2_228">
            <a:extLst>
              <a:ext uri="{FF2B5EF4-FFF2-40B4-BE49-F238E27FC236}">
                <a16:creationId xmlns:a16="http://schemas.microsoft.com/office/drawing/2014/main" id="{CB9758BC-47C5-A646-8DC2-99A5F0B16843}"/>
              </a:ext>
            </a:extLst>
          </p:cNvPr>
          <p:cNvSpPr/>
          <p:nvPr/>
        </p:nvSpPr>
        <p:spPr>
          <a:xfrm>
            <a:off x="1797796" y="5924516"/>
            <a:ext cx="1695900" cy="550945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sp>
        <p:nvSpPr>
          <p:cNvPr id="610" name="Google Shape;2639;p69">
            <a:extLst>
              <a:ext uri="{FF2B5EF4-FFF2-40B4-BE49-F238E27FC236}">
                <a16:creationId xmlns:a16="http://schemas.microsoft.com/office/drawing/2014/main" id="{C8C78263-3E52-CD4F-B291-470E34F47EE0}"/>
              </a:ext>
            </a:extLst>
          </p:cNvPr>
          <p:cNvSpPr/>
          <p:nvPr/>
        </p:nvSpPr>
        <p:spPr>
          <a:xfrm>
            <a:off x="8638037" y="3361390"/>
            <a:ext cx="3292069" cy="3315756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611" name="Google Shape;3518;p84">
            <a:extLst>
              <a:ext uri="{FF2B5EF4-FFF2-40B4-BE49-F238E27FC236}">
                <a16:creationId xmlns:a16="http://schemas.microsoft.com/office/drawing/2014/main" id="{B1648DD1-DCC2-5F44-A970-A43703A56BB0}"/>
              </a:ext>
            </a:extLst>
          </p:cNvPr>
          <p:cNvSpPr/>
          <p:nvPr/>
        </p:nvSpPr>
        <p:spPr>
          <a:xfrm>
            <a:off x="8858286" y="3705807"/>
            <a:ext cx="2954678" cy="2789860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2" name="Google Shape;2756;p69">
            <a:extLst>
              <a:ext uri="{FF2B5EF4-FFF2-40B4-BE49-F238E27FC236}">
                <a16:creationId xmlns:a16="http://schemas.microsoft.com/office/drawing/2014/main" id="{72A672B8-208E-F24F-8841-8CB6A23FE1C5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 l="-6931" t="-49479" r="-5592" b="-59116"/>
          <a:stretch/>
        </p:blipFill>
        <p:spPr>
          <a:xfrm>
            <a:off x="8672815" y="3379766"/>
            <a:ext cx="755735" cy="307664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3519;p84">
            <a:extLst>
              <a:ext uri="{FF2B5EF4-FFF2-40B4-BE49-F238E27FC236}">
                <a16:creationId xmlns:a16="http://schemas.microsoft.com/office/drawing/2014/main" id="{5CA0101D-5035-1A49-96B0-BC0914752DDB}"/>
              </a:ext>
            </a:extLst>
          </p:cNvPr>
          <p:cNvSpPr txBox="1"/>
          <p:nvPr/>
        </p:nvSpPr>
        <p:spPr>
          <a:xfrm>
            <a:off x="8845794" y="3674394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VPC (Global)</a:t>
            </a:r>
            <a:endParaRPr sz="900" b="0" i="0" u="none" strike="noStrike" cap="none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7" name="Google Shape;271;g3d6e2211149_2_228">
            <a:extLst>
              <a:ext uri="{FF2B5EF4-FFF2-40B4-BE49-F238E27FC236}">
                <a16:creationId xmlns:a16="http://schemas.microsoft.com/office/drawing/2014/main" id="{8330CAD8-FB5B-AD4F-9437-C1750D17F784}"/>
              </a:ext>
            </a:extLst>
          </p:cNvPr>
          <p:cNvCxnSpPr>
            <a:cxnSpLocks/>
            <a:stCxn id="474" idx="3"/>
          </p:cNvCxnSpPr>
          <p:nvPr/>
        </p:nvCxnSpPr>
        <p:spPr>
          <a:xfrm flipV="1">
            <a:off x="5293794" y="4032176"/>
            <a:ext cx="1081559" cy="199859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618" name="Google Shape;2669;p69">
            <a:extLst>
              <a:ext uri="{FF2B5EF4-FFF2-40B4-BE49-F238E27FC236}">
                <a16:creationId xmlns:a16="http://schemas.microsoft.com/office/drawing/2014/main" id="{A12F93DB-9353-9D48-B963-87BD250E5072}"/>
              </a:ext>
            </a:extLst>
          </p:cNvPr>
          <p:cNvCxnSpPr>
            <a:cxnSpLocks/>
          </p:cNvCxnSpPr>
          <p:nvPr/>
        </p:nvCxnSpPr>
        <p:spPr>
          <a:xfrm>
            <a:off x="9446710" y="5147195"/>
            <a:ext cx="480395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619" name="Google Shape;1925;p57">
            <a:extLst>
              <a:ext uri="{FF2B5EF4-FFF2-40B4-BE49-F238E27FC236}">
                <a16:creationId xmlns:a16="http://schemas.microsoft.com/office/drawing/2014/main" id="{AC9FBE3D-58D6-7A40-B659-AE8CD7DFE43B}"/>
              </a:ext>
            </a:extLst>
          </p:cNvPr>
          <p:cNvSpPr/>
          <p:nvPr/>
        </p:nvSpPr>
        <p:spPr>
          <a:xfrm>
            <a:off x="8486599" y="4932995"/>
            <a:ext cx="934498" cy="428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VPN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0" name="Google Shape;1972;p57">
            <a:extLst>
              <a:ext uri="{FF2B5EF4-FFF2-40B4-BE49-F238E27FC236}">
                <a16:creationId xmlns:a16="http://schemas.microsoft.com/office/drawing/2014/main" id="{6085834B-E124-554A-B03D-9F518568A269}"/>
              </a:ext>
            </a:extLst>
          </p:cNvPr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587234" y="4988922"/>
            <a:ext cx="244825" cy="2711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3" name="Google Shape;373;g3d6e2211149_2_228">
            <a:extLst>
              <a:ext uri="{FF2B5EF4-FFF2-40B4-BE49-F238E27FC236}">
                <a16:creationId xmlns:a16="http://schemas.microsoft.com/office/drawing/2014/main" id="{4EB153A2-E371-BB4D-BC54-6E2EB4F4B056}"/>
              </a:ext>
            </a:extLst>
          </p:cNvPr>
          <p:cNvCxnSpPr>
            <a:cxnSpLocks/>
            <a:endCxn id="619" idx="1"/>
          </p:cNvCxnSpPr>
          <p:nvPr/>
        </p:nvCxnSpPr>
        <p:spPr>
          <a:xfrm>
            <a:off x="7829536" y="4716679"/>
            <a:ext cx="657063" cy="43051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23" name="Graphic 18" descr="AWS Command Line Interface (AWS CLI) service icon.">
            <a:extLst>
              <a:ext uri="{FF2B5EF4-FFF2-40B4-BE49-F238E27FC236}">
                <a16:creationId xmlns:a16="http://schemas.microsoft.com/office/drawing/2014/main" id="{038F4C52-2A35-1945-90D4-A83A135D7DE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459712" y="1842627"/>
            <a:ext cx="343783" cy="343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" name="TextBox 11">
            <a:extLst>
              <a:ext uri="{FF2B5EF4-FFF2-40B4-BE49-F238E27FC236}">
                <a16:creationId xmlns:a16="http://schemas.microsoft.com/office/drawing/2014/main" id="{3B1B5DAE-F461-3E45-8525-A5114FCE1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53" y="2215845"/>
            <a:ext cx="7698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CLI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인프라 및 서비스 관리</a:t>
            </a:r>
            <a:r>
              <a:rPr lang="en-US" altLang="ko-KR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)</a:t>
            </a:r>
            <a:endParaRPr lang="en-US" altLang="en-US" sz="8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629" name="Google Shape;366;g3d6e2211149_2_228">
            <a:extLst>
              <a:ext uri="{FF2B5EF4-FFF2-40B4-BE49-F238E27FC236}">
                <a16:creationId xmlns:a16="http://schemas.microsoft.com/office/drawing/2014/main" id="{431A7F9C-1BEB-3542-8A6B-3F9A1D023CDF}"/>
              </a:ext>
            </a:extLst>
          </p:cNvPr>
          <p:cNvCxnSpPr>
            <a:cxnSpLocks/>
            <a:stCxn id="623" idx="3"/>
            <a:endCxn id="553" idx="1"/>
          </p:cNvCxnSpPr>
          <p:nvPr/>
        </p:nvCxnSpPr>
        <p:spPr>
          <a:xfrm flipV="1">
            <a:off x="803495" y="1804991"/>
            <a:ext cx="1002273" cy="209528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31" name="Google Shape;366;g3d6e2211149_2_228">
            <a:extLst>
              <a:ext uri="{FF2B5EF4-FFF2-40B4-BE49-F238E27FC236}">
                <a16:creationId xmlns:a16="http://schemas.microsoft.com/office/drawing/2014/main" id="{50EA1578-F8D4-D449-8642-A7EB6FAB0031}"/>
              </a:ext>
            </a:extLst>
          </p:cNvPr>
          <p:cNvCxnSpPr>
            <a:cxnSpLocks/>
          </p:cNvCxnSpPr>
          <p:nvPr/>
        </p:nvCxnSpPr>
        <p:spPr>
          <a:xfrm>
            <a:off x="803495" y="5261244"/>
            <a:ext cx="7834542" cy="397146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634" name="Google Shape;1254;p47">
            <a:extLst>
              <a:ext uri="{FF2B5EF4-FFF2-40B4-BE49-F238E27FC236}">
                <a16:creationId xmlns:a16="http://schemas.microsoft.com/office/drawing/2014/main" id="{D819D8C0-FB8A-8B46-835A-B027470B9A1D}"/>
              </a:ext>
            </a:extLst>
          </p:cNvPr>
          <p:cNvGrpSpPr/>
          <p:nvPr/>
        </p:nvGrpSpPr>
        <p:grpSpPr>
          <a:xfrm>
            <a:off x="10202994" y="3968429"/>
            <a:ext cx="1566830" cy="2430055"/>
            <a:chOff x="2178032" y="1054764"/>
            <a:chExt cx="1230625" cy="637511"/>
          </a:xfrm>
        </p:grpSpPr>
        <p:sp>
          <p:nvSpPr>
            <p:cNvPr id="635" name="Google Shape;1255;p47">
              <a:extLst>
                <a:ext uri="{FF2B5EF4-FFF2-40B4-BE49-F238E27FC236}">
                  <a16:creationId xmlns:a16="http://schemas.microsoft.com/office/drawing/2014/main" id="{DB9401CE-8D63-3B49-A5F1-DBC617313104}"/>
                </a:ext>
              </a:extLst>
            </p:cNvPr>
            <p:cNvSpPr/>
            <p:nvPr/>
          </p:nvSpPr>
          <p:spPr>
            <a:xfrm>
              <a:off x="2178036" y="1054764"/>
              <a:ext cx="1230621" cy="637511"/>
            </a:xfrm>
            <a:prstGeom prst="roundRect">
              <a:avLst>
                <a:gd name="adj" fmla="val 827"/>
              </a:avLst>
            </a:prstGeom>
            <a:solidFill>
              <a:srgbClr val="ECEF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1256;p47">
              <a:extLst>
                <a:ext uri="{FF2B5EF4-FFF2-40B4-BE49-F238E27FC236}">
                  <a16:creationId xmlns:a16="http://schemas.microsoft.com/office/drawing/2014/main" id="{6A4EFEEE-43AF-AF41-86E6-17DCF646ADFD}"/>
                </a:ext>
              </a:extLst>
            </p:cNvPr>
            <p:cNvSpPr txBox="1"/>
            <p:nvPr/>
          </p:nvSpPr>
          <p:spPr>
            <a:xfrm>
              <a:off x="2178032" y="1054765"/>
              <a:ext cx="1035156" cy="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Region</a:t>
              </a:r>
              <a:r>
                <a:rPr lang="ko-KR" altLang="en-US" sz="750" b="0" i="0" u="none" strike="noStrike" cap="non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 xml:space="preserve"> </a:t>
              </a:r>
              <a:r>
                <a:rPr lang="en-US" altLang="ko-KR" sz="750" b="0" i="0" u="none" strike="noStrike" cap="non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(</a:t>
              </a:r>
              <a:r>
                <a:rPr lang="en-US" altLang="ko-KR" sz="75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asia-northeast3)</a:t>
              </a:r>
              <a:endParaRPr sz="600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37" name="Google Shape;698;p35">
            <a:extLst>
              <a:ext uri="{FF2B5EF4-FFF2-40B4-BE49-F238E27FC236}">
                <a16:creationId xmlns:a16="http://schemas.microsoft.com/office/drawing/2014/main" id="{20FF7C02-5E41-C14A-9A0D-7F75991B00F3}"/>
              </a:ext>
            </a:extLst>
          </p:cNvPr>
          <p:cNvGrpSpPr/>
          <p:nvPr/>
        </p:nvGrpSpPr>
        <p:grpSpPr>
          <a:xfrm>
            <a:off x="10284801" y="4259266"/>
            <a:ext cx="1378282" cy="1200440"/>
            <a:chOff x="2628329" y="1054764"/>
            <a:chExt cx="736421" cy="204256"/>
          </a:xfrm>
        </p:grpSpPr>
        <p:sp>
          <p:nvSpPr>
            <p:cNvPr id="638" name="Google Shape;699;p35">
              <a:extLst>
                <a:ext uri="{FF2B5EF4-FFF2-40B4-BE49-F238E27FC236}">
                  <a16:creationId xmlns:a16="http://schemas.microsoft.com/office/drawing/2014/main" id="{C7C3F8E7-84F1-964B-A155-C6B7E8A08246}"/>
                </a:ext>
              </a:extLst>
            </p:cNvPr>
            <p:cNvSpPr/>
            <p:nvPr/>
          </p:nvSpPr>
          <p:spPr>
            <a:xfrm>
              <a:off x="2628329" y="1054764"/>
              <a:ext cx="736421" cy="204256"/>
            </a:xfrm>
            <a:prstGeom prst="roundRect">
              <a:avLst>
                <a:gd name="adj" fmla="val 827"/>
              </a:avLst>
            </a:prstGeom>
            <a:solidFill>
              <a:srgbClr val="EDE7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700;p35">
              <a:extLst>
                <a:ext uri="{FF2B5EF4-FFF2-40B4-BE49-F238E27FC236}">
                  <a16:creationId xmlns:a16="http://schemas.microsoft.com/office/drawing/2014/main" id="{20906C2B-6E8E-EB45-A4B3-1AC3131EEEB4}"/>
                </a:ext>
              </a:extLst>
            </p:cNvPr>
            <p:cNvSpPr txBox="1"/>
            <p:nvPr/>
          </p:nvSpPr>
          <p:spPr>
            <a:xfrm>
              <a:off x="2637068" y="1062622"/>
              <a:ext cx="704190" cy="534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SubNetwork (Regional)</a:t>
              </a:r>
              <a:endParaRPr sz="600" b="0" i="0" u="none" strike="noStrike" cap="non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21" name="Google Shape;1926;p57">
            <a:extLst>
              <a:ext uri="{FF2B5EF4-FFF2-40B4-BE49-F238E27FC236}">
                <a16:creationId xmlns:a16="http://schemas.microsoft.com/office/drawing/2014/main" id="{307814C4-7347-4448-A346-D63ADAFA4931}"/>
              </a:ext>
            </a:extLst>
          </p:cNvPr>
          <p:cNvSpPr/>
          <p:nvPr/>
        </p:nvSpPr>
        <p:spPr>
          <a:xfrm>
            <a:off x="9927105" y="4932995"/>
            <a:ext cx="934497" cy="428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Router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2" name="Google Shape;1970;p57">
            <a:extLst>
              <a:ext uri="{FF2B5EF4-FFF2-40B4-BE49-F238E27FC236}">
                <a16:creationId xmlns:a16="http://schemas.microsoft.com/office/drawing/2014/main" id="{1C67F400-8748-9F44-B547-21FD6A12A775}"/>
              </a:ext>
            </a:extLst>
          </p:cNvPr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9980109" y="5012492"/>
            <a:ext cx="244825" cy="244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8912EE18-7496-974D-BFB7-8BB2CFACF2E4}"/>
              </a:ext>
            </a:extLst>
          </p:cNvPr>
          <p:cNvCxnSpPr>
            <a:cxnSpLocks/>
            <a:endCxn id="570" idx="1"/>
          </p:cNvCxnSpPr>
          <p:nvPr/>
        </p:nvCxnSpPr>
        <p:spPr>
          <a:xfrm>
            <a:off x="5539574" y="3236340"/>
            <a:ext cx="2077823" cy="1189795"/>
          </a:xfrm>
          <a:prstGeom prst="bentConnector3">
            <a:avLst>
              <a:gd name="adj1" fmla="val 99596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20" name="Google Shape;238;g3d6e2211149_2_228">
            <a:extLst>
              <a:ext uri="{FF2B5EF4-FFF2-40B4-BE49-F238E27FC236}">
                <a16:creationId xmlns:a16="http://schemas.microsoft.com/office/drawing/2014/main" id="{A39DC4EB-1675-1E4D-9627-F15325C0E46C}"/>
              </a:ext>
            </a:extLst>
          </p:cNvPr>
          <p:cNvSpPr/>
          <p:nvPr/>
        </p:nvSpPr>
        <p:spPr>
          <a:xfrm>
            <a:off x="8159379" y="1113104"/>
            <a:ext cx="3707555" cy="1488235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(Local VM)</a:t>
            </a:r>
            <a:endParaRPr/>
          </a:p>
        </p:txBody>
      </p:sp>
      <p:sp>
        <p:nvSpPr>
          <p:cNvPr id="121" name="Google Shape;300;g3d6e2211149_2_228">
            <a:extLst>
              <a:ext uri="{FF2B5EF4-FFF2-40B4-BE49-F238E27FC236}">
                <a16:creationId xmlns:a16="http://schemas.microsoft.com/office/drawing/2014/main" id="{BA824D2A-AA91-6E49-BCF6-09543B2C2837}"/>
              </a:ext>
            </a:extLst>
          </p:cNvPr>
          <p:cNvSpPr txBox="1"/>
          <p:nvPr/>
        </p:nvSpPr>
        <p:spPr>
          <a:xfrm>
            <a:off x="10699266" y="2032934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122" name="Google Shape;302;g3d6e2211149_2_228">
            <a:extLst>
              <a:ext uri="{FF2B5EF4-FFF2-40B4-BE49-F238E27FC236}">
                <a16:creationId xmlns:a16="http://schemas.microsoft.com/office/drawing/2014/main" id="{0D895286-5AB8-D849-8C0C-2308A9F4158A}"/>
              </a:ext>
            </a:extLst>
          </p:cNvPr>
          <p:cNvSpPr txBox="1"/>
          <p:nvPr/>
        </p:nvSpPr>
        <p:spPr>
          <a:xfrm>
            <a:off x="8999184" y="2057639"/>
            <a:ext cx="18908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123" name="Google Shape;302;g3d6e2211149_2_228">
            <a:extLst>
              <a:ext uri="{FF2B5EF4-FFF2-40B4-BE49-F238E27FC236}">
                <a16:creationId xmlns:a16="http://schemas.microsoft.com/office/drawing/2014/main" id="{40C89AC5-D4D9-9E45-81AE-EA230DABE1C2}"/>
              </a:ext>
            </a:extLst>
          </p:cNvPr>
          <p:cNvSpPr txBox="1"/>
          <p:nvPr/>
        </p:nvSpPr>
        <p:spPr>
          <a:xfrm>
            <a:off x="8078096" y="2052695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124" name="Picture 2" descr="VirtualBox macOS BigSur - free Icon PNG, SVG">
            <a:extLst>
              <a:ext uri="{FF2B5EF4-FFF2-40B4-BE49-F238E27FC236}">
                <a16:creationId xmlns:a16="http://schemas.microsoft.com/office/drawing/2014/main" id="{1258CFE9-6AAB-0340-9CCE-1F6D64548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1305" y="1469623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2" descr="VirtualBox macOS BigSur - free Icon PNG, SVG">
            <a:extLst>
              <a:ext uri="{FF2B5EF4-FFF2-40B4-BE49-F238E27FC236}">
                <a16:creationId xmlns:a16="http://schemas.microsoft.com/office/drawing/2014/main" id="{6EC2C40E-B6AC-8E44-BC39-A76A6ADF1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7513" y="1469623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Picture 2" descr="VirtualBox macOS BigSur - free Icon PNG, SVG">
            <a:extLst>
              <a:ext uri="{FF2B5EF4-FFF2-40B4-BE49-F238E27FC236}">
                <a16:creationId xmlns:a16="http://schemas.microsoft.com/office/drawing/2014/main" id="{F2D89E71-8598-5A46-8E78-1F5D554B6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8216" y="1469623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38ABDB08-D3BD-824A-81B7-60105806843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08005" y="1124622"/>
            <a:ext cx="358405" cy="367878"/>
          </a:xfrm>
          <a:prstGeom prst="rect">
            <a:avLst/>
          </a:prstGeom>
        </p:spPr>
      </p:pic>
      <p:pic>
        <p:nvPicPr>
          <p:cNvPr id="128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F11CFF0B-3285-B24E-860A-813DEA68A790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498109" y="2395934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318;g3d6e2211149_2_228">
            <a:extLst>
              <a:ext uri="{FF2B5EF4-FFF2-40B4-BE49-F238E27FC236}">
                <a16:creationId xmlns:a16="http://schemas.microsoft.com/office/drawing/2014/main" id="{8041D6A6-5CF7-4346-976E-29EEB9BB488E}"/>
              </a:ext>
            </a:extLst>
          </p:cNvPr>
          <p:cNvSpPr txBox="1"/>
          <p:nvPr/>
        </p:nvSpPr>
        <p:spPr>
          <a:xfrm>
            <a:off x="7401767" y="2833742"/>
            <a:ext cx="88554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Local Network</a:t>
            </a:r>
            <a:endParaRPr/>
          </a:p>
        </p:txBody>
      </p:sp>
      <p:cxnSp>
        <p:nvCxnSpPr>
          <p:cNvPr id="130" name="Elbow Connector 129">
            <a:extLst>
              <a:ext uri="{FF2B5EF4-FFF2-40B4-BE49-F238E27FC236}">
                <a16:creationId xmlns:a16="http://schemas.microsoft.com/office/drawing/2014/main" id="{EA9AD186-5B7E-8349-9C04-54BCB7803FE4}"/>
              </a:ext>
            </a:extLst>
          </p:cNvPr>
          <p:cNvCxnSpPr>
            <a:cxnSpLocks/>
            <a:stCxn id="120" idx="1"/>
          </p:cNvCxnSpPr>
          <p:nvPr/>
        </p:nvCxnSpPr>
        <p:spPr>
          <a:xfrm rot="10800000" flipV="1">
            <a:off x="7829541" y="1857222"/>
            <a:ext cx="329839" cy="792028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35" name="Google Shape;332;g3d6e2211149_2_228">
            <a:extLst>
              <a:ext uri="{FF2B5EF4-FFF2-40B4-BE49-F238E27FC236}">
                <a16:creationId xmlns:a16="http://schemas.microsoft.com/office/drawing/2014/main" id="{E92EF7BF-F5B0-EC4B-A35D-CFB21F803844}"/>
              </a:ext>
            </a:extLst>
          </p:cNvPr>
          <p:cNvCxnSpPr>
            <a:cxnSpLocks/>
          </p:cNvCxnSpPr>
          <p:nvPr/>
        </p:nvCxnSpPr>
        <p:spPr>
          <a:xfrm>
            <a:off x="7738555" y="3009076"/>
            <a:ext cx="0" cy="160930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18898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965" y="2633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파이프라인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전체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242;g3d6e2211149_2_228">
            <a:extLst>
              <a:ext uri="{FF2B5EF4-FFF2-40B4-BE49-F238E27FC236}">
                <a16:creationId xmlns:a16="http://schemas.microsoft.com/office/drawing/2014/main" id="{671E38F9-5344-EF42-93C4-5552D2D8B28F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3" name="Graphic 18" descr="AWS Command Line Interface (AWS CLI) service icon.">
            <a:extLst>
              <a:ext uri="{FF2B5EF4-FFF2-40B4-BE49-F238E27FC236}">
                <a16:creationId xmlns:a16="http://schemas.microsoft.com/office/drawing/2014/main" id="{038F4C52-2A35-1945-90D4-A83A135D7DE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481455" y="3947285"/>
            <a:ext cx="343783" cy="343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" name="TextBox 11">
            <a:extLst>
              <a:ext uri="{FF2B5EF4-FFF2-40B4-BE49-F238E27FC236}">
                <a16:creationId xmlns:a16="http://schemas.microsoft.com/office/drawing/2014/main" id="{3B1B5DAE-F461-3E45-8525-A5114FCE1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396" y="4320503"/>
            <a:ext cx="7698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CLI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인프라 및 서비스 관리</a:t>
            </a:r>
            <a:r>
              <a:rPr lang="en-US" altLang="ko-KR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)</a:t>
            </a:r>
            <a:endParaRPr lang="en-US" altLang="en-US" sz="8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60F9A38-0CBB-9448-A337-5477963BB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26" y="1614147"/>
            <a:ext cx="343546" cy="343546"/>
          </a:xfrm>
          <a:prstGeom prst="rect">
            <a:avLst/>
          </a:prstGeom>
        </p:spPr>
      </p:pic>
      <p:sp>
        <p:nvSpPr>
          <p:cNvPr id="24" name="Google Shape;244;g3d6e2211149_2_228">
            <a:extLst>
              <a:ext uri="{FF2B5EF4-FFF2-40B4-BE49-F238E27FC236}">
                <a16:creationId xmlns:a16="http://schemas.microsoft.com/office/drawing/2014/main" id="{0B321580-3F50-264E-B12C-F931AE798A63}"/>
              </a:ext>
            </a:extLst>
          </p:cNvPr>
          <p:cNvSpPr txBox="1"/>
          <p:nvPr/>
        </p:nvSpPr>
        <p:spPr>
          <a:xfrm>
            <a:off x="266289" y="1978812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Picture 71">
            <a:extLst>
              <a:ext uri="{FF2B5EF4-FFF2-40B4-BE49-F238E27FC236}">
                <a16:creationId xmlns:a16="http://schemas.microsoft.com/office/drawing/2014/main" id="{8B5C73A8-CD1E-E847-A338-2CF69619A7C9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32564" y="2572339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6" name="Google Shape;244;g3d6e2211149_2_228">
            <a:extLst>
              <a:ext uri="{FF2B5EF4-FFF2-40B4-BE49-F238E27FC236}">
                <a16:creationId xmlns:a16="http://schemas.microsoft.com/office/drawing/2014/main" id="{8BD4544C-FCC3-4C4E-BC66-644DA70AA6A4}"/>
              </a:ext>
            </a:extLst>
          </p:cNvPr>
          <p:cNvSpPr txBox="1"/>
          <p:nvPr/>
        </p:nvSpPr>
        <p:spPr>
          <a:xfrm>
            <a:off x="272671" y="3062519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Google Shape;366;g3d6e2211149_2_228">
            <a:extLst>
              <a:ext uri="{FF2B5EF4-FFF2-40B4-BE49-F238E27FC236}">
                <a16:creationId xmlns:a16="http://schemas.microsoft.com/office/drawing/2014/main" id="{2D2DAEAD-10C3-2D40-877B-5E59FF72FB9B}"/>
              </a:ext>
            </a:extLst>
          </p:cNvPr>
          <p:cNvCxnSpPr>
            <a:cxnSpLocks/>
            <a:stCxn id="25" idx="0"/>
            <a:endCxn id="24" idx="0"/>
          </p:cNvCxnSpPr>
          <p:nvPr/>
        </p:nvCxnSpPr>
        <p:spPr>
          <a:xfrm flipH="1" flipV="1">
            <a:off x="624220" y="1978812"/>
            <a:ext cx="34085" cy="59352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0" name="Google Shape;366;g3d6e2211149_2_228">
            <a:extLst>
              <a:ext uri="{FF2B5EF4-FFF2-40B4-BE49-F238E27FC236}">
                <a16:creationId xmlns:a16="http://schemas.microsoft.com/office/drawing/2014/main" id="{25B7DD17-FF07-9341-BC61-877D693E1F23}"/>
              </a:ext>
            </a:extLst>
          </p:cNvPr>
          <p:cNvCxnSpPr>
            <a:cxnSpLocks/>
            <a:stCxn id="161" idx="1"/>
            <a:endCxn id="23" idx="3"/>
          </p:cNvCxnSpPr>
          <p:nvPr/>
        </p:nvCxnSpPr>
        <p:spPr>
          <a:xfrm flipH="1" flipV="1">
            <a:off x="801272" y="1785920"/>
            <a:ext cx="1132149" cy="267684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36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D99D09D-51D4-6F41-9D1B-D1D1FEE92F5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94710" y="720600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246;g3d6e2211149_2_228" descr="Region group">
            <a:extLst>
              <a:ext uri="{FF2B5EF4-FFF2-40B4-BE49-F238E27FC236}">
                <a16:creationId xmlns:a16="http://schemas.microsoft.com/office/drawing/2014/main" id="{F6216A07-B78A-7E45-B977-C8BDA1279D07}"/>
              </a:ext>
            </a:extLst>
          </p:cNvPr>
          <p:cNvSpPr/>
          <p:nvPr/>
        </p:nvSpPr>
        <p:spPr>
          <a:xfrm>
            <a:off x="1613914" y="1243862"/>
            <a:ext cx="10285794" cy="3592311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Shared Platform Zone</a:t>
            </a:r>
            <a:endParaRPr/>
          </a:p>
        </p:txBody>
      </p:sp>
      <p:pic>
        <p:nvPicPr>
          <p:cNvPr id="43" name="Google Shape;247;g3d6e2211149_2_228" descr="Region group icon.">
            <a:extLst>
              <a:ext uri="{FF2B5EF4-FFF2-40B4-BE49-F238E27FC236}">
                <a16:creationId xmlns:a16="http://schemas.microsoft.com/office/drawing/2014/main" id="{BE551E94-B62A-6449-BD94-576EEB937AE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3914" y="1237719"/>
            <a:ext cx="381000" cy="36103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50;g3d6e2211149_2_228">
            <a:extLst>
              <a:ext uri="{FF2B5EF4-FFF2-40B4-BE49-F238E27FC236}">
                <a16:creationId xmlns:a16="http://schemas.microsoft.com/office/drawing/2014/main" id="{33552EF5-8751-4149-9283-D3BFE4E1D526}"/>
              </a:ext>
            </a:extLst>
          </p:cNvPr>
          <p:cNvSpPr/>
          <p:nvPr/>
        </p:nvSpPr>
        <p:spPr>
          <a:xfrm>
            <a:off x="1720173" y="1854441"/>
            <a:ext cx="3796423" cy="205479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49" name="Google Shape;251;g3d6e2211149_2_228" descr="VPC group icon. ">
            <a:extLst>
              <a:ext uri="{FF2B5EF4-FFF2-40B4-BE49-F238E27FC236}">
                <a16:creationId xmlns:a16="http://schemas.microsoft.com/office/drawing/2014/main" id="{7D36DB6E-11B2-BC4B-89E8-374AEF49FFD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20174" y="185051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252;g3d6e2211149_2_228">
            <a:extLst>
              <a:ext uri="{FF2B5EF4-FFF2-40B4-BE49-F238E27FC236}">
                <a16:creationId xmlns:a16="http://schemas.microsoft.com/office/drawing/2014/main" id="{4886DAC2-C99E-DC45-8465-355FE75B1475}"/>
              </a:ext>
            </a:extLst>
          </p:cNvPr>
          <p:cNvSpPr/>
          <p:nvPr/>
        </p:nvSpPr>
        <p:spPr>
          <a:xfrm>
            <a:off x="1838379" y="2349241"/>
            <a:ext cx="1719300" cy="602843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1" name="Google Shape;253;g3d6e2211149_2_228" descr="Public subnet group icon. ">
            <a:extLst>
              <a:ext uri="{FF2B5EF4-FFF2-40B4-BE49-F238E27FC236}">
                <a16:creationId xmlns:a16="http://schemas.microsoft.com/office/drawing/2014/main" id="{820E940D-D918-9C44-9F40-5DCE4BDABF0A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36945" y="234759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3EFD4437-DC63-D440-A47B-8518285F681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452131" y="236675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3FA6DB47-D951-944E-8A2A-01868545F45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001874" y="283178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57;g3d6e2211149_2_228">
            <a:extLst>
              <a:ext uri="{FF2B5EF4-FFF2-40B4-BE49-F238E27FC236}">
                <a16:creationId xmlns:a16="http://schemas.microsoft.com/office/drawing/2014/main" id="{1A8C4965-582B-4847-8A02-703596AB0FEE}"/>
              </a:ext>
            </a:extLst>
          </p:cNvPr>
          <p:cNvSpPr txBox="1"/>
          <p:nvPr/>
        </p:nvSpPr>
        <p:spPr>
          <a:xfrm>
            <a:off x="8605618" y="3288986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sp>
        <p:nvSpPr>
          <p:cNvPr id="58" name="Google Shape;261;g3d6e2211149_2_228">
            <a:extLst>
              <a:ext uri="{FF2B5EF4-FFF2-40B4-BE49-F238E27FC236}">
                <a16:creationId xmlns:a16="http://schemas.microsoft.com/office/drawing/2014/main" id="{0C1FEACE-7240-4B47-8F82-3EB96CA535D7}"/>
              </a:ext>
            </a:extLst>
          </p:cNvPr>
          <p:cNvSpPr/>
          <p:nvPr/>
        </p:nvSpPr>
        <p:spPr>
          <a:xfrm>
            <a:off x="1494710" y="739524"/>
            <a:ext cx="10545000" cy="6004200"/>
          </a:xfrm>
          <a:prstGeom prst="rect">
            <a:avLst/>
          </a:prstGeom>
          <a:noFill/>
          <a:ln w="15875" cap="flat" cmpd="sng">
            <a:solidFill>
              <a:schemeClr val="accent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sp>
        <p:nvSpPr>
          <p:cNvPr id="59" name="Google Shape;262;g3d6e2211149_2_228">
            <a:extLst>
              <a:ext uri="{FF2B5EF4-FFF2-40B4-BE49-F238E27FC236}">
                <a16:creationId xmlns:a16="http://schemas.microsoft.com/office/drawing/2014/main" id="{027F1B34-090A-3741-9527-1276E70C7313}"/>
              </a:ext>
            </a:extLst>
          </p:cNvPr>
          <p:cNvSpPr/>
          <p:nvPr/>
        </p:nvSpPr>
        <p:spPr>
          <a:xfrm>
            <a:off x="6213250" y="3664613"/>
            <a:ext cx="3573035" cy="1040681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60" name="Google Shape;263;g3d6e2211149_2_228" descr="VPC group icon. ">
            <a:extLst>
              <a:ext uri="{FF2B5EF4-FFF2-40B4-BE49-F238E27FC236}">
                <a16:creationId xmlns:a16="http://schemas.microsoft.com/office/drawing/2014/main" id="{75098F7B-5FA9-4948-9165-8B2685EBA06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13250" y="367532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265;g3d6e2211149_2_228" descr="Private subnet group icon. ">
            <a:extLst>
              <a:ext uri="{FF2B5EF4-FFF2-40B4-BE49-F238E27FC236}">
                <a16:creationId xmlns:a16="http://schemas.microsoft.com/office/drawing/2014/main" id="{37E261CD-69EF-CB44-AE41-892BE45A9BC0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06142" y="408196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288;g3d6e2211149_2_228">
            <a:extLst>
              <a:ext uri="{FF2B5EF4-FFF2-40B4-BE49-F238E27FC236}">
                <a16:creationId xmlns:a16="http://schemas.microsoft.com/office/drawing/2014/main" id="{A206F63D-EDB0-C545-A92B-F34AF147818E}"/>
              </a:ext>
            </a:extLst>
          </p:cNvPr>
          <p:cNvSpPr/>
          <p:nvPr/>
        </p:nvSpPr>
        <p:spPr>
          <a:xfrm>
            <a:off x="8117646" y="4065115"/>
            <a:ext cx="1591364" cy="564527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70" name="Google Shape;289;g3d6e2211149_2_228" descr="Private subnet group icon. ">
            <a:extLst>
              <a:ext uri="{FF2B5EF4-FFF2-40B4-BE49-F238E27FC236}">
                <a16:creationId xmlns:a16="http://schemas.microsoft.com/office/drawing/2014/main" id="{C05DF6B8-EDD0-5243-BD99-3B3F962EAF3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03922" y="407313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310;g3d6e2211149_2_228" descr="Amazon Route 53 service icon.">
            <a:extLst>
              <a:ext uri="{FF2B5EF4-FFF2-40B4-BE49-F238E27FC236}">
                <a16:creationId xmlns:a16="http://schemas.microsoft.com/office/drawing/2014/main" id="{66A0CB62-EBB6-884A-9E58-4C166527B1C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362243" y="761018"/>
            <a:ext cx="343546" cy="34354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311;g3d6e2211149_2_228">
            <a:extLst>
              <a:ext uri="{FF2B5EF4-FFF2-40B4-BE49-F238E27FC236}">
                <a16:creationId xmlns:a16="http://schemas.microsoft.com/office/drawing/2014/main" id="{7BFC65D7-54BA-D145-AAB1-AB06580490AF}"/>
              </a:ext>
            </a:extLst>
          </p:cNvPr>
          <p:cNvSpPr txBox="1"/>
          <p:nvPr/>
        </p:nvSpPr>
        <p:spPr>
          <a:xfrm>
            <a:off x="3618385" y="741552"/>
            <a:ext cx="75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 53</a:t>
            </a:r>
            <a:endParaRPr/>
          </a:p>
        </p:txBody>
      </p:sp>
      <p:sp>
        <p:nvSpPr>
          <p:cNvPr id="73" name="Google Shape;312;g3d6e2211149_2_228">
            <a:extLst>
              <a:ext uri="{FF2B5EF4-FFF2-40B4-BE49-F238E27FC236}">
                <a16:creationId xmlns:a16="http://schemas.microsoft.com/office/drawing/2014/main" id="{9DD7E038-F1DC-3143-B3DE-B6B9F05195B4}"/>
              </a:ext>
            </a:extLst>
          </p:cNvPr>
          <p:cNvSpPr/>
          <p:nvPr/>
        </p:nvSpPr>
        <p:spPr>
          <a:xfrm>
            <a:off x="8285914" y="1960495"/>
            <a:ext cx="2513445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sp>
        <p:nvSpPr>
          <p:cNvPr id="80" name="Google Shape;320;g3d6e2211149_2_228">
            <a:extLst>
              <a:ext uri="{FF2B5EF4-FFF2-40B4-BE49-F238E27FC236}">
                <a16:creationId xmlns:a16="http://schemas.microsoft.com/office/drawing/2014/main" id="{CA68E767-29BB-9B44-A835-567F411CB97C}"/>
              </a:ext>
            </a:extLst>
          </p:cNvPr>
          <p:cNvSpPr/>
          <p:nvPr/>
        </p:nvSpPr>
        <p:spPr>
          <a:xfrm>
            <a:off x="8349393" y="2411951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81" name="Google Shape;321;g3d6e2211149_2_228" descr="Public subnet group icon. ">
            <a:extLst>
              <a:ext uri="{FF2B5EF4-FFF2-40B4-BE49-F238E27FC236}">
                <a16:creationId xmlns:a16="http://schemas.microsoft.com/office/drawing/2014/main" id="{FA860176-B996-B840-8803-E574412028BA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47959" y="2410307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322;g3d6e2211149_2_228">
            <a:extLst>
              <a:ext uri="{FF2B5EF4-FFF2-40B4-BE49-F238E27FC236}">
                <a16:creationId xmlns:a16="http://schemas.microsoft.com/office/drawing/2014/main" id="{F4E8F1F9-16EC-8D42-AF01-DA90AA4D915D}"/>
              </a:ext>
            </a:extLst>
          </p:cNvPr>
          <p:cNvSpPr/>
          <p:nvPr/>
        </p:nvSpPr>
        <p:spPr>
          <a:xfrm>
            <a:off x="9574248" y="2413932"/>
            <a:ext cx="114800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83" name="Google Shape;323;g3d6e2211149_2_228" descr="Private subnet group icon. ">
            <a:extLst>
              <a:ext uri="{FF2B5EF4-FFF2-40B4-BE49-F238E27FC236}">
                <a16:creationId xmlns:a16="http://schemas.microsoft.com/office/drawing/2014/main" id="{808835B7-C0BA-1B41-93CE-35D9F017639D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592952" y="24276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333;g3d6e2211149_2_228">
            <a:extLst>
              <a:ext uri="{FF2B5EF4-FFF2-40B4-BE49-F238E27FC236}">
                <a16:creationId xmlns:a16="http://schemas.microsoft.com/office/drawing/2014/main" id="{6A16140A-142E-284C-AB5A-C10EDBE827CC}"/>
              </a:ext>
            </a:extLst>
          </p:cNvPr>
          <p:cNvSpPr/>
          <p:nvPr/>
        </p:nvSpPr>
        <p:spPr>
          <a:xfrm>
            <a:off x="6220591" y="1970653"/>
            <a:ext cx="1722839" cy="1360282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86" name="Google Shape;334;g3d6e2211149_2_228" descr="VPC group icon. ">
            <a:extLst>
              <a:ext uri="{FF2B5EF4-FFF2-40B4-BE49-F238E27FC236}">
                <a16:creationId xmlns:a16="http://schemas.microsoft.com/office/drawing/2014/main" id="{639471EE-2006-FF43-AFBF-7C0E7AB8567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21499" y="198119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335;g3d6e2211149_2_228">
            <a:extLst>
              <a:ext uri="{FF2B5EF4-FFF2-40B4-BE49-F238E27FC236}">
                <a16:creationId xmlns:a16="http://schemas.microsoft.com/office/drawing/2014/main" id="{B9C4306D-900A-F64D-B37D-ADA99C07B352}"/>
              </a:ext>
            </a:extLst>
          </p:cNvPr>
          <p:cNvSpPr/>
          <p:nvPr/>
        </p:nvSpPr>
        <p:spPr>
          <a:xfrm>
            <a:off x="6558075" y="2394281"/>
            <a:ext cx="1275960" cy="600005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88" name="Google Shape;336;g3d6e2211149_2_228" descr="Public subnet group icon. ">
            <a:extLst>
              <a:ext uri="{FF2B5EF4-FFF2-40B4-BE49-F238E27FC236}">
                <a16:creationId xmlns:a16="http://schemas.microsoft.com/office/drawing/2014/main" id="{74A502F8-9801-9B4E-B981-97AC0AFFBF3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62473" y="2421823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E1BABF9-7A08-8642-A7F3-3D55A67C540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03897" y="27902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338;g3d6e2211149_2_228">
            <a:extLst>
              <a:ext uri="{FF2B5EF4-FFF2-40B4-BE49-F238E27FC236}">
                <a16:creationId xmlns:a16="http://schemas.microsoft.com/office/drawing/2014/main" id="{8A01E4B3-4EE6-3148-B2F1-DF2932C4108C}"/>
              </a:ext>
            </a:extLst>
          </p:cNvPr>
          <p:cNvSpPr txBox="1"/>
          <p:nvPr/>
        </p:nvSpPr>
        <p:spPr>
          <a:xfrm>
            <a:off x="5878107" y="3220387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91" name="Google Shape;339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E7845358-BD2C-0746-B460-202B5D3BC2D8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34384" y="289140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340;g3d6e2211149_2_228">
            <a:extLst>
              <a:ext uri="{FF2B5EF4-FFF2-40B4-BE49-F238E27FC236}">
                <a16:creationId xmlns:a16="http://schemas.microsoft.com/office/drawing/2014/main" id="{28689FA4-B6F2-7142-83E7-CFECE8FB54B6}"/>
              </a:ext>
            </a:extLst>
          </p:cNvPr>
          <p:cNvSpPr txBox="1"/>
          <p:nvPr/>
        </p:nvSpPr>
        <p:spPr>
          <a:xfrm>
            <a:off x="8308399" y="2957081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93" name="Google Shape;341;g3d6e2211149_2_228">
            <a:extLst>
              <a:ext uri="{FF2B5EF4-FFF2-40B4-BE49-F238E27FC236}">
                <a16:creationId xmlns:a16="http://schemas.microsoft.com/office/drawing/2014/main" id="{BB5DDCB1-B62F-8E41-A335-68620DB7730B}"/>
              </a:ext>
            </a:extLst>
          </p:cNvPr>
          <p:cNvSpPr/>
          <p:nvPr/>
        </p:nvSpPr>
        <p:spPr>
          <a:xfrm>
            <a:off x="1878783" y="3015935"/>
            <a:ext cx="1668600" cy="690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94" name="Google Shape;342;g3d6e2211149_2_228" descr="Private subnet group icon. ">
            <a:extLst>
              <a:ext uri="{FF2B5EF4-FFF2-40B4-BE49-F238E27FC236}">
                <a16:creationId xmlns:a16="http://schemas.microsoft.com/office/drawing/2014/main" id="{949B83FE-4395-DD43-AE89-8446AE964EA1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893452" y="303499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DCAA82F8-2E01-0A4A-BA0D-75D844CC3B85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891723" y="733543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350;g3d6e2211149_2_228">
            <a:extLst>
              <a:ext uri="{FF2B5EF4-FFF2-40B4-BE49-F238E27FC236}">
                <a16:creationId xmlns:a16="http://schemas.microsoft.com/office/drawing/2014/main" id="{38C26E9F-D35C-B444-A667-EBCB304C57FF}"/>
              </a:ext>
            </a:extLst>
          </p:cNvPr>
          <p:cNvSpPr txBox="1"/>
          <p:nvPr/>
        </p:nvSpPr>
        <p:spPr>
          <a:xfrm>
            <a:off x="5128966" y="812299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sp>
        <p:nvSpPr>
          <p:cNvPr id="106" name="Google Shape;262;g3d6e2211149_2_228">
            <a:extLst>
              <a:ext uri="{FF2B5EF4-FFF2-40B4-BE49-F238E27FC236}">
                <a16:creationId xmlns:a16="http://schemas.microsoft.com/office/drawing/2014/main" id="{221515BB-58B6-6C42-979E-8039D3D6451A}"/>
              </a:ext>
            </a:extLst>
          </p:cNvPr>
          <p:cNvSpPr/>
          <p:nvPr/>
        </p:nvSpPr>
        <p:spPr>
          <a:xfrm>
            <a:off x="9918068" y="3601183"/>
            <a:ext cx="1815520" cy="1119223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Management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(VPC)</a:t>
            </a:r>
            <a:endParaRPr/>
          </a:p>
        </p:txBody>
      </p:sp>
      <p:pic>
        <p:nvPicPr>
          <p:cNvPr id="108" name="Google Shape;263;g3d6e2211149_2_228" descr="VPC group icon. ">
            <a:extLst>
              <a:ext uri="{FF2B5EF4-FFF2-40B4-BE49-F238E27FC236}">
                <a16:creationId xmlns:a16="http://schemas.microsoft.com/office/drawing/2014/main" id="{F601A7BE-1B8B-C94B-9B01-62328BF8F31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17296" y="360045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264;g3d6e2211149_2_228">
            <a:extLst>
              <a:ext uri="{FF2B5EF4-FFF2-40B4-BE49-F238E27FC236}">
                <a16:creationId xmlns:a16="http://schemas.microsoft.com/office/drawing/2014/main" id="{D02C2DD5-F3CF-6345-BDD8-2DC7A7AEE305}"/>
              </a:ext>
            </a:extLst>
          </p:cNvPr>
          <p:cNvSpPr/>
          <p:nvPr/>
        </p:nvSpPr>
        <p:spPr>
          <a:xfrm>
            <a:off x="10078831" y="4201105"/>
            <a:ext cx="1593730" cy="415511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12" name="Google Shape;265;g3d6e2211149_2_228" descr="Private subnet group icon. ">
            <a:extLst>
              <a:ext uri="{FF2B5EF4-FFF2-40B4-BE49-F238E27FC236}">
                <a16:creationId xmlns:a16="http://schemas.microsoft.com/office/drawing/2014/main" id="{C30C202B-C8CC-7043-9455-8BFE212065DA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078831" y="421200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264;g3d6e2211149_2_228">
            <a:extLst>
              <a:ext uri="{FF2B5EF4-FFF2-40B4-BE49-F238E27FC236}">
                <a16:creationId xmlns:a16="http://schemas.microsoft.com/office/drawing/2014/main" id="{4EAB507E-3284-C94F-B399-5BD66DE33BF2}"/>
              </a:ext>
            </a:extLst>
          </p:cNvPr>
          <p:cNvSpPr/>
          <p:nvPr/>
        </p:nvSpPr>
        <p:spPr>
          <a:xfrm>
            <a:off x="6290287" y="4078697"/>
            <a:ext cx="1695900" cy="550945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cxnSp>
        <p:nvCxnSpPr>
          <p:cNvPr id="143" name="Google Shape;366;g3d6e2211149_2_228">
            <a:extLst>
              <a:ext uri="{FF2B5EF4-FFF2-40B4-BE49-F238E27FC236}">
                <a16:creationId xmlns:a16="http://schemas.microsoft.com/office/drawing/2014/main" id="{AF07E109-2F26-F345-A1D0-D0D9185D1276}"/>
              </a:ext>
            </a:extLst>
          </p:cNvPr>
          <p:cNvCxnSpPr>
            <a:cxnSpLocks/>
            <a:stCxn id="122" idx="3"/>
            <a:endCxn id="161" idx="1"/>
          </p:cNvCxnSpPr>
          <p:nvPr/>
        </p:nvCxnSpPr>
        <p:spPr>
          <a:xfrm flipV="1">
            <a:off x="884046" y="4462765"/>
            <a:ext cx="1049375" cy="125392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59" name="Google Shape;308;g3d6e2211149_2_228" descr="AWS CodePipeline service icon.">
            <a:extLst>
              <a:ext uri="{FF2B5EF4-FFF2-40B4-BE49-F238E27FC236}">
                <a16:creationId xmlns:a16="http://schemas.microsoft.com/office/drawing/2014/main" id="{F191849D-B2E6-4740-9073-8E18C1FA6F6E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189488" y="4320058"/>
            <a:ext cx="310331" cy="31033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309;g3d6e2211149_2_228">
            <a:extLst>
              <a:ext uri="{FF2B5EF4-FFF2-40B4-BE49-F238E27FC236}">
                <a16:creationId xmlns:a16="http://schemas.microsoft.com/office/drawing/2014/main" id="{8ABF57FD-DD56-EB43-9850-E2F2E1635656}"/>
              </a:ext>
            </a:extLst>
          </p:cNvPr>
          <p:cNvSpPr txBox="1"/>
          <p:nvPr/>
        </p:nvSpPr>
        <p:spPr>
          <a:xfrm>
            <a:off x="3356225" y="4310329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pic>
        <p:nvPicPr>
          <p:cNvPr id="161" name="Google Shape;324;g3d6e2211149_2_228" descr="AWS CodeCommit service icon.">
            <a:extLst>
              <a:ext uri="{FF2B5EF4-FFF2-40B4-BE49-F238E27FC236}">
                <a16:creationId xmlns:a16="http://schemas.microsoft.com/office/drawing/2014/main" id="{DAAF46B5-8E35-9047-8789-DE692B53C110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933421" y="4320503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325;g3d6e2211149_2_228">
            <a:extLst>
              <a:ext uri="{FF2B5EF4-FFF2-40B4-BE49-F238E27FC236}">
                <a16:creationId xmlns:a16="http://schemas.microsoft.com/office/drawing/2014/main" id="{0FFEFFBC-705D-5548-834E-616A603E16AE}"/>
              </a:ext>
            </a:extLst>
          </p:cNvPr>
          <p:cNvSpPr txBox="1"/>
          <p:nvPr/>
        </p:nvSpPr>
        <p:spPr>
          <a:xfrm>
            <a:off x="2197528" y="4305851"/>
            <a:ext cx="784118" cy="343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CodeCommit</a:t>
            </a:r>
            <a:endParaRPr/>
          </a:p>
        </p:txBody>
      </p:sp>
      <p:pic>
        <p:nvPicPr>
          <p:cNvPr id="163" name="Graphic 17" descr="AWS Secrets Manager service icon.">
            <a:extLst>
              <a:ext uri="{FF2B5EF4-FFF2-40B4-BE49-F238E27FC236}">
                <a16:creationId xmlns:a16="http://schemas.microsoft.com/office/drawing/2014/main" id="{4F2F4368-CCFB-5345-A347-A63A3828A17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6667386" y="1389198"/>
            <a:ext cx="306167" cy="29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" name="TextBox 11">
            <a:extLst>
              <a:ext uri="{FF2B5EF4-FFF2-40B4-BE49-F238E27FC236}">
                <a16:creationId xmlns:a16="http://schemas.microsoft.com/office/drawing/2014/main" id="{5236C4E3-EDD0-9A46-A79E-45368EC41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5076" y="1378689"/>
            <a:ext cx="11396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 xml:space="preserve">AWS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pic>
        <p:nvPicPr>
          <p:cNvPr id="165" name="Graphic 15" descr="AWS Systems Manager service icon.">
            <a:extLst>
              <a:ext uri="{FF2B5EF4-FFF2-40B4-BE49-F238E27FC236}">
                <a16:creationId xmlns:a16="http://schemas.microsoft.com/office/drawing/2014/main" id="{275FC7F4-65E9-0B46-B25D-C01DADB5F8B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7950630" y="1385608"/>
            <a:ext cx="289800" cy="28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6" name="TextBox 11">
            <a:extLst>
              <a:ext uri="{FF2B5EF4-FFF2-40B4-BE49-F238E27FC236}">
                <a16:creationId xmlns:a16="http://schemas.microsoft.com/office/drawing/2014/main" id="{F40FC78D-357E-D543-A51D-ADAE8D03A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9849" y="1363026"/>
            <a:ext cx="11394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AWS Systems Manager</a:t>
            </a:r>
          </a:p>
        </p:txBody>
      </p:sp>
      <p:pic>
        <p:nvPicPr>
          <p:cNvPr id="167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B526A9C6-8166-164D-AAE0-092183D4D367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4417924" y="3996503"/>
            <a:ext cx="258080" cy="28238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274;g3d6e2211149_2_228">
            <a:extLst>
              <a:ext uri="{FF2B5EF4-FFF2-40B4-BE49-F238E27FC236}">
                <a16:creationId xmlns:a16="http://schemas.microsoft.com/office/drawing/2014/main" id="{BB752B24-FD4C-AC4A-AB96-1382514253EB}"/>
              </a:ext>
            </a:extLst>
          </p:cNvPr>
          <p:cNvSpPr txBox="1"/>
          <p:nvPr/>
        </p:nvSpPr>
        <p:spPr>
          <a:xfrm>
            <a:off x="4526142" y="3970563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raphic 23" descr="AWS CodeDeploy service icon.">
            <a:extLst>
              <a:ext uri="{FF2B5EF4-FFF2-40B4-BE49-F238E27FC236}">
                <a16:creationId xmlns:a16="http://schemas.microsoft.com/office/drawing/2014/main" id="{773ED1E4-45E2-7742-ACA3-96829E9C77D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5490722" y="1396189"/>
            <a:ext cx="291353" cy="28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0" name="TextBox 15">
            <a:extLst>
              <a:ext uri="{FF2B5EF4-FFF2-40B4-BE49-F238E27FC236}">
                <a16:creationId xmlns:a16="http://schemas.microsoft.com/office/drawing/2014/main" id="{BB94FA23-345E-2C4A-AFF2-5AA283C74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0053" y="1370808"/>
            <a:ext cx="7459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dk1"/>
                </a:solidFill>
                <a:latin typeface="Arial"/>
              </a:rPr>
              <a:t>AWS CodeDeploy</a:t>
            </a:r>
          </a:p>
        </p:txBody>
      </p:sp>
      <p:pic>
        <p:nvPicPr>
          <p:cNvPr id="171" name="Graphic 19" descr="AWS CodeBuild service icon.">
            <a:extLst>
              <a:ext uri="{FF2B5EF4-FFF2-40B4-BE49-F238E27FC236}">
                <a16:creationId xmlns:a16="http://schemas.microsoft.com/office/drawing/2014/main" id="{E4540E71-E302-4B46-B3A7-2D8301B46C83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4396667" y="4331843"/>
            <a:ext cx="310331" cy="31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2" name="TextBox 11">
            <a:extLst>
              <a:ext uri="{FF2B5EF4-FFF2-40B4-BE49-F238E27FC236}">
                <a16:creationId xmlns:a16="http://schemas.microsoft.com/office/drawing/2014/main" id="{ED2091BD-4D24-7A4A-A2D1-227DE9F56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4794" y="4338320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sp>
        <p:nvSpPr>
          <p:cNvPr id="105" name="Google Shape;341;g3d6e2211149_2_228">
            <a:extLst>
              <a:ext uri="{FF2B5EF4-FFF2-40B4-BE49-F238E27FC236}">
                <a16:creationId xmlns:a16="http://schemas.microsoft.com/office/drawing/2014/main" id="{F75BFE92-EDF7-7340-B3CE-E68F48DC4E3B}"/>
              </a:ext>
            </a:extLst>
          </p:cNvPr>
          <p:cNvSpPr/>
          <p:nvPr/>
        </p:nvSpPr>
        <p:spPr>
          <a:xfrm>
            <a:off x="3659795" y="3015935"/>
            <a:ext cx="1668600" cy="690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07" name="Google Shape;342;g3d6e2211149_2_228" descr="Private subnet group icon. ">
            <a:extLst>
              <a:ext uri="{FF2B5EF4-FFF2-40B4-BE49-F238E27FC236}">
                <a16:creationId xmlns:a16="http://schemas.microsoft.com/office/drawing/2014/main" id="{0B8DA5C1-0B48-5C41-A56F-82CD25294C4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74464" y="303499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255;g3d6e2211149_2_228">
            <a:extLst>
              <a:ext uri="{FF2B5EF4-FFF2-40B4-BE49-F238E27FC236}">
                <a16:creationId xmlns:a16="http://schemas.microsoft.com/office/drawing/2014/main" id="{FCD19401-6EC0-9A4F-A7B0-FE24F14AEB50}"/>
              </a:ext>
            </a:extLst>
          </p:cNvPr>
          <p:cNvSpPr txBox="1"/>
          <p:nvPr/>
        </p:nvSpPr>
        <p:spPr>
          <a:xfrm>
            <a:off x="1314532" y="2748619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113" name="Google Shape;238;g3d6e2211149_2_228">
            <a:extLst>
              <a:ext uri="{FF2B5EF4-FFF2-40B4-BE49-F238E27FC236}">
                <a16:creationId xmlns:a16="http://schemas.microsoft.com/office/drawing/2014/main" id="{24FADD33-E6A5-E24A-ADF7-03A4431DEE9B}"/>
              </a:ext>
            </a:extLst>
          </p:cNvPr>
          <p:cNvSpPr/>
          <p:nvPr/>
        </p:nvSpPr>
        <p:spPr>
          <a:xfrm>
            <a:off x="2278811" y="5046505"/>
            <a:ext cx="3707555" cy="1346889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(Local VM)</a:t>
            </a:r>
            <a:endParaRPr/>
          </a:p>
        </p:txBody>
      </p:sp>
      <p:sp>
        <p:nvSpPr>
          <p:cNvPr id="114" name="Google Shape;300;g3d6e2211149_2_228">
            <a:extLst>
              <a:ext uri="{FF2B5EF4-FFF2-40B4-BE49-F238E27FC236}">
                <a16:creationId xmlns:a16="http://schemas.microsoft.com/office/drawing/2014/main" id="{1A1B3263-1E60-934E-B73E-12DBDF4D2E22}"/>
              </a:ext>
            </a:extLst>
          </p:cNvPr>
          <p:cNvSpPr txBox="1"/>
          <p:nvPr/>
        </p:nvSpPr>
        <p:spPr>
          <a:xfrm>
            <a:off x="4818698" y="5966335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116" name="Google Shape;302;g3d6e2211149_2_228">
            <a:extLst>
              <a:ext uri="{FF2B5EF4-FFF2-40B4-BE49-F238E27FC236}">
                <a16:creationId xmlns:a16="http://schemas.microsoft.com/office/drawing/2014/main" id="{1304D4FD-CC40-3740-8C44-262ED40F4E7D}"/>
              </a:ext>
            </a:extLst>
          </p:cNvPr>
          <p:cNvSpPr txBox="1"/>
          <p:nvPr/>
        </p:nvSpPr>
        <p:spPr>
          <a:xfrm>
            <a:off x="3118616" y="5991040"/>
            <a:ext cx="18908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117" name="Google Shape;302;g3d6e2211149_2_228">
            <a:extLst>
              <a:ext uri="{FF2B5EF4-FFF2-40B4-BE49-F238E27FC236}">
                <a16:creationId xmlns:a16="http://schemas.microsoft.com/office/drawing/2014/main" id="{C7083A2A-A651-1D4B-B49A-914171C7EDD3}"/>
              </a:ext>
            </a:extLst>
          </p:cNvPr>
          <p:cNvSpPr txBox="1"/>
          <p:nvPr/>
        </p:nvSpPr>
        <p:spPr>
          <a:xfrm>
            <a:off x="2197528" y="598609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118" name="Picture 2" descr="VirtualBox macOS BigSur - free Icon PNG, SVG">
            <a:extLst>
              <a:ext uri="{FF2B5EF4-FFF2-40B4-BE49-F238E27FC236}">
                <a16:creationId xmlns:a16="http://schemas.microsoft.com/office/drawing/2014/main" id="{BE63F650-AE25-3D4F-B512-35C8628C1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737" y="5403024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" name="Picture 2" descr="VirtualBox macOS BigSur - free Icon PNG, SVG">
            <a:extLst>
              <a:ext uri="{FF2B5EF4-FFF2-40B4-BE49-F238E27FC236}">
                <a16:creationId xmlns:a16="http://schemas.microsoft.com/office/drawing/2014/main" id="{E504032A-17AD-1945-80C8-48D7CC44A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6945" y="5403024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Picture 2" descr="VirtualBox macOS BigSur - free Icon PNG, SVG">
            <a:extLst>
              <a:ext uri="{FF2B5EF4-FFF2-40B4-BE49-F238E27FC236}">
                <a16:creationId xmlns:a16="http://schemas.microsoft.com/office/drawing/2014/main" id="{1C8042B1-DBA9-F442-8BBE-73B8F8C89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648" y="5403024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71">
            <a:extLst>
              <a:ext uri="{FF2B5EF4-FFF2-40B4-BE49-F238E27FC236}">
                <a16:creationId xmlns:a16="http://schemas.microsoft.com/office/drawing/2014/main" id="{092D0457-B14E-B54F-8F39-84AF832710FC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32564" y="5490944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Google Shape;244;g3d6e2211149_2_228">
            <a:extLst>
              <a:ext uri="{FF2B5EF4-FFF2-40B4-BE49-F238E27FC236}">
                <a16:creationId xmlns:a16="http://schemas.microsoft.com/office/drawing/2014/main" id="{8F8B1FFE-F452-9044-87F0-8D11903EF4CC}"/>
              </a:ext>
            </a:extLst>
          </p:cNvPr>
          <p:cNvSpPr txBox="1"/>
          <p:nvPr/>
        </p:nvSpPr>
        <p:spPr>
          <a:xfrm>
            <a:off x="272671" y="5981124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6D25B6C3-0AA9-3C4D-9D2D-B1E3DA1AC6C4}"/>
              </a:ext>
            </a:extLst>
          </p:cNvPr>
          <p:cNvCxnSpPr>
            <a:cxnSpLocks/>
            <a:stCxn id="161" idx="2"/>
            <a:endCxn id="159" idx="2"/>
          </p:cNvCxnSpPr>
          <p:nvPr/>
        </p:nvCxnSpPr>
        <p:spPr>
          <a:xfrm rot="16200000" flipH="1">
            <a:off x="2697487" y="3983222"/>
            <a:ext cx="25362" cy="1268971"/>
          </a:xfrm>
          <a:prstGeom prst="bentConnector3">
            <a:avLst>
              <a:gd name="adj1" fmla="val 1001348"/>
            </a:avLst>
          </a:prstGeom>
          <a:ln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1" name="Elbow Connector 130">
            <a:extLst>
              <a:ext uri="{FF2B5EF4-FFF2-40B4-BE49-F238E27FC236}">
                <a16:creationId xmlns:a16="http://schemas.microsoft.com/office/drawing/2014/main" id="{0971276B-21B7-4A4B-944B-3E231B9919A6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00407" y="4032691"/>
            <a:ext cx="11785" cy="1207179"/>
          </a:xfrm>
          <a:prstGeom prst="bentConnector3">
            <a:avLst>
              <a:gd name="adj1" fmla="val 2039754"/>
            </a:avLst>
          </a:prstGeom>
          <a:ln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5" name="Elbow Connector 134">
            <a:extLst>
              <a:ext uri="{FF2B5EF4-FFF2-40B4-BE49-F238E27FC236}">
                <a16:creationId xmlns:a16="http://schemas.microsoft.com/office/drawing/2014/main" id="{7D955F7C-31B1-774F-8A72-F31FA8D1CB1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700970" y="2772862"/>
            <a:ext cx="2931798" cy="950696"/>
          </a:xfrm>
          <a:prstGeom prst="bentConnector3">
            <a:avLst>
              <a:gd name="adj1" fmla="val -1"/>
            </a:avLst>
          </a:prstGeom>
          <a:ln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4" name="Elbow Connector 143">
            <a:extLst>
              <a:ext uri="{FF2B5EF4-FFF2-40B4-BE49-F238E27FC236}">
                <a16:creationId xmlns:a16="http://schemas.microsoft.com/office/drawing/2014/main" id="{16263B88-ADF3-8B42-A5BA-8458D6247691}"/>
              </a:ext>
            </a:extLst>
          </p:cNvPr>
          <p:cNvCxnSpPr>
            <a:cxnSpLocks/>
            <a:endCxn id="106" idx="2"/>
          </p:cNvCxnSpPr>
          <p:nvPr/>
        </p:nvCxnSpPr>
        <p:spPr>
          <a:xfrm>
            <a:off x="1933420" y="4616618"/>
            <a:ext cx="8892408" cy="103788"/>
          </a:xfrm>
          <a:prstGeom prst="bentConnector4">
            <a:avLst>
              <a:gd name="adj1" fmla="val 500"/>
              <a:gd name="adj2" fmla="val 320257"/>
            </a:avLst>
          </a:prstGeom>
          <a:ln>
            <a:solidFill>
              <a:schemeClr val="accent1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6" name="Elbow Connector 145">
            <a:extLst>
              <a:ext uri="{FF2B5EF4-FFF2-40B4-BE49-F238E27FC236}">
                <a16:creationId xmlns:a16="http://schemas.microsoft.com/office/drawing/2014/main" id="{6BA53735-0D70-F34D-BC7B-B084ACC95087}"/>
              </a:ext>
            </a:extLst>
          </p:cNvPr>
          <p:cNvCxnSpPr>
            <a:cxnSpLocks/>
            <a:stCxn id="113" idx="2"/>
            <a:endCxn id="106" idx="2"/>
          </p:cNvCxnSpPr>
          <p:nvPr/>
        </p:nvCxnSpPr>
        <p:spPr>
          <a:xfrm rot="5400000" flipH="1" flipV="1">
            <a:off x="6642714" y="2210280"/>
            <a:ext cx="1672988" cy="6693239"/>
          </a:xfrm>
          <a:prstGeom prst="bentConnector3">
            <a:avLst>
              <a:gd name="adj1" fmla="val -13664"/>
            </a:avLst>
          </a:prstGeom>
          <a:ln>
            <a:solidFill>
              <a:schemeClr val="accent1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50" name="Picture 149">
            <a:extLst>
              <a:ext uri="{FF2B5EF4-FFF2-40B4-BE49-F238E27FC236}">
                <a16:creationId xmlns:a16="http://schemas.microsoft.com/office/drawing/2014/main" id="{CFFB6555-1F48-6242-98E8-4C73F1FA2AD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08956" y="5059915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287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 – LifeSync 360 Service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0" name="Google Shape;250;g3d6e2211149_2_228">
            <a:extLst>
              <a:ext uri="{FF2B5EF4-FFF2-40B4-BE49-F238E27FC236}">
                <a16:creationId xmlns:a16="http://schemas.microsoft.com/office/drawing/2014/main" id="{BA74F6FE-EE91-114B-947D-6F37AE6296E8}"/>
              </a:ext>
            </a:extLst>
          </p:cNvPr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161" name="Google Shape;251;g3d6e2211149_2_228" descr="VPC group icon. ">
            <a:extLst>
              <a:ext uri="{FF2B5EF4-FFF2-40B4-BE49-F238E27FC236}">
                <a16:creationId xmlns:a16="http://schemas.microsoft.com/office/drawing/2014/main" id="{4268959A-C5C2-8A4D-83F8-C8AFF269066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252;g3d6e2211149_2_228">
            <a:extLst>
              <a:ext uri="{FF2B5EF4-FFF2-40B4-BE49-F238E27FC236}">
                <a16:creationId xmlns:a16="http://schemas.microsoft.com/office/drawing/2014/main" id="{06AFBEF4-2450-FA4D-AA51-A6A24674F433}"/>
              </a:ext>
            </a:extLst>
          </p:cNvPr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63" name="Google Shape;253;g3d6e2211149_2_228" descr="Public subnet group icon. ">
            <a:extLst>
              <a:ext uri="{FF2B5EF4-FFF2-40B4-BE49-F238E27FC236}">
                <a16:creationId xmlns:a16="http://schemas.microsoft.com/office/drawing/2014/main" id="{86B504F0-9BEE-544D-833C-5A27C1FD65D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69DD9EFB-BB94-664D-9425-E04CCB53AA3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pic>
        <p:nvPicPr>
          <p:cNvPr id="192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C167B4B5-6F56-D047-8E61-9D00E00647B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284;g3d6e2211149_2_228">
            <a:extLst>
              <a:ext uri="{FF2B5EF4-FFF2-40B4-BE49-F238E27FC236}">
                <a16:creationId xmlns:a16="http://schemas.microsoft.com/office/drawing/2014/main" id="{07F571D2-3B33-3846-B4D5-F1B9E6D74498}"/>
              </a:ext>
            </a:extLst>
          </p:cNvPr>
          <p:cNvCxnSpPr>
            <a:stCxn id="194" idx="3"/>
            <a:endCxn id="192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94" name="Google Shape;285;g3d6e2211149_2_228" descr="AWS WAF service icon.">
            <a:extLst>
              <a:ext uri="{FF2B5EF4-FFF2-40B4-BE49-F238E27FC236}">
                <a16:creationId xmlns:a16="http://schemas.microsoft.com/office/drawing/2014/main" id="{575CF415-27C3-0D4A-A5C8-949A23E2674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286;g3d6e2211149_2_228">
            <a:extLst>
              <a:ext uri="{FF2B5EF4-FFF2-40B4-BE49-F238E27FC236}">
                <a16:creationId xmlns:a16="http://schemas.microsoft.com/office/drawing/2014/main" id="{5A9E31CC-BFFF-9542-A9BE-12297EC145E9}"/>
              </a:ext>
            </a:extLst>
          </p:cNvPr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96" name="Google Shape;287;g3d6e2211149_2_228">
            <a:extLst>
              <a:ext uri="{FF2B5EF4-FFF2-40B4-BE49-F238E27FC236}">
                <a16:creationId xmlns:a16="http://schemas.microsoft.com/office/drawing/2014/main" id="{673B814E-36A1-0E4A-BCB5-DB5763CE4769}"/>
              </a:ext>
            </a:extLst>
          </p:cNvPr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205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D3974A5-A6EC-AF4F-8F74-382297BB4E2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97;g3d6e2211149_2_228">
            <a:extLst>
              <a:ext uri="{FF2B5EF4-FFF2-40B4-BE49-F238E27FC236}">
                <a16:creationId xmlns:a16="http://schemas.microsoft.com/office/drawing/2014/main" id="{1065138C-84AB-5341-AD93-D8E9652063DF}"/>
              </a:ext>
            </a:extLst>
          </p:cNvPr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207" name="Google Shape;298;g3d6e2211149_2_228">
            <a:extLst>
              <a:ext uri="{FF2B5EF4-FFF2-40B4-BE49-F238E27FC236}">
                <a16:creationId xmlns:a16="http://schemas.microsoft.com/office/drawing/2014/main" id="{C15DBC94-DDCE-0546-8AC4-C8B5B1DA27C3}"/>
              </a:ext>
            </a:extLst>
          </p:cNvPr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2" name="Google Shape;303;g3d6e2211149_2_228">
            <a:extLst>
              <a:ext uri="{FF2B5EF4-FFF2-40B4-BE49-F238E27FC236}">
                <a16:creationId xmlns:a16="http://schemas.microsoft.com/office/drawing/2014/main" id="{E7E8AF5D-DB5C-B148-A96D-E754401D51A3}"/>
              </a:ext>
            </a:extLst>
          </p:cNvPr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21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C9FFDAD-91FD-C44F-B4D1-4A3BCE0457E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305;g3d6e2211149_2_228">
            <a:extLst>
              <a:ext uri="{FF2B5EF4-FFF2-40B4-BE49-F238E27FC236}">
                <a16:creationId xmlns:a16="http://schemas.microsoft.com/office/drawing/2014/main" id="{72D4DE1D-29A8-CC4A-926F-AFC09825818C}"/>
              </a:ext>
            </a:extLst>
          </p:cNvPr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215" name="Google Shape;306;g3d6e2211149_2_228">
            <a:extLst>
              <a:ext uri="{FF2B5EF4-FFF2-40B4-BE49-F238E27FC236}">
                <a16:creationId xmlns:a16="http://schemas.microsoft.com/office/drawing/2014/main" id="{65F6A31D-6551-9846-9F17-50B380EDFF89}"/>
              </a:ext>
            </a:extLst>
          </p:cNvPr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93D73FC7-41DF-D247-B8A5-CB72CB1796D6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pic>
        <p:nvPicPr>
          <p:cNvPr id="234" name="Google Shape;324;g3d6e2211149_2_228" descr="AWS CodeCommit service icon.">
            <a:extLst>
              <a:ext uri="{FF2B5EF4-FFF2-40B4-BE49-F238E27FC236}">
                <a16:creationId xmlns:a16="http://schemas.microsoft.com/office/drawing/2014/main" id="{3FA5E6E8-2A9F-3A4F-B3EA-8D5C0CE0AC18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476344" y="5187671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325;g3d6e2211149_2_228">
            <a:extLst>
              <a:ext uri="{FF2B5EF4-FFF2-40B4-BE49-F238E27FC236}">
                <a16:creationId xmlns:a16="http://schemas.microsoft.com/office/drawing/2014/main" id="{DCCB0AE8-B0E1-0C41-A34B-FA06C9603AE8}"/>
              </a:ext>
            </a:extLst>
          </p:cNvPr>
          <p:cNvSpPr txBox="1"/>
          <p:nvPr/>
        </p:nvSpPr>
        <p:spPr>
          <a:xfrm>
            <a:off x="4083140" y="5475010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83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7EC0B57-A912-2E4C-A9BA-5879AA25DB55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29;g3d6e2211149_2_228">
            <a:extLst>
              <a:ext uri="{FF2B5EF4-FFF2-40B4-BE49-F238E27FC236}">
                <a16:creationId xmlns:a16="http://schemas.microsoft.com/office/drawing/2014/main" id="{21A90825-E47C-174F-BF0A-811C35AD9844}"/>
              </a:ext>
            </a:extLst>
          </p:cNvPr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33;g3d6e2211149_2_228">
            <a:extLst>
              <a:ext uri="{FF2B5EF4-FFF2-40B4-BE49-F238E27FC236}">
                <a16:creationId xmlns:a16="http://schemas.microsoft.com/office/drawing/2014/main" id="{DCBCC5B9-0FB1-B242-80DC-5AF1D1DE88C0}"/>
              </a:ext>
            </a:extLst>
          </p:cNvPr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89" name="Google Shape;334;g3d6e2211149_2_228" descr="VPC group icon. ">
            <a:extLst>
              <a:ext uri="{FF2B5EF4-FFF2-40B4-BE49-F238E27FC236}">
                <a16:creationId xmlns:a16="http://schemas.microsoft.com/office/drawing/2014/main" id="{DA60BF6E-2624-FA4C-8CEA-DE20C58D963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35;g3d6e2211149_2_228">
            <a:extLst>
              <a:ext uri="{FF2B5EF4-FFF2-40B4-BE49-F238E27FC236}">
                <a16:creationId xmlns:a16="http://schemas.microsoft.com/office/drawing/2014/main" id="{800BE764-B4E9-164F-80DB-CD77960CB2B1}"/>
              </a:ext>
            </a:extLst>
          </p:cNvPr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91" name="Google Shape;336;g3d6e2211149_2_228" descr="Public subnet group icon. ">
            <a:extLst>
              <a:ext uri="{FF2B5EF4-FFF2-40B4-BE49-F238E27FC236}">
                <a16:creationId xmlns:a16="http://schemas.microsoft.com/office/drawing/2014/main" id="{AF945080-C342-CA41-A943-1A9A71FFF4E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724C84A-EA7E-CB47-902B-89384207BC2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38;g3d6e2211149_2_228">
            <a:extLst>
              <a:ext uri="{FF2B5EF4-FFF2-40B4-BE49-F238E27FC236}">
                <a16:creationId xmlns:a16="http://schemas.microsoft.com/office/drawing/2014/main" id="{F454A5CD-24AC-B64C-A0E3-CA42311BB862}"/>
              </a:ext>
            </a:extLst>
          </p:cNvPr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396" name="Google Shape;341;g3d6e2211149_2_228">
            <a:extLst>
              <a:ext uri="{FF2B5EF4-FFF2-40B4-BE49-F238E27FC236}">
                <a16:creationId xmlns:a16="http://schemas.microsoft.com/office/drawing/2014/main" id="{AF98E89D-A091-2B45-8380-E544192677FB}"/>
              </a:ext>
            </a:extLst>
          </p:cNvPr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97" name="Google Shape;342;g3d6e2211149_2_228" descr="Private subnet group icon. ">
            <a:extLst>
              <a:ext uri="{FF2B5EF4-FFF2-40B4-BE49-F238E27FC236}">
                <a16:creationId xmlns:a16="http://schemas.microsoft.com/office/drawing/2014/main" id="{D434D351-0AAE-FD43-9D0E-DB67853E542C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347;g3d6e2211149_2_228" descr="AWS Auto Scaling service icon.">
            <a:extLst>
              <a:ext uri="{FF2B5EF4-FFF2-40B4-BE49-F238E27FC236}">
                <a16:creationId xmlns:a16="http://schemas.microsoft.com/office/drawing/2014/main" id="{12CC341F-B0A4-D648-8710-F0933B305CBD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348;g3d6e2211149_2_228">
            <a:extLst>
              <a:ext uri="{FF2B5EF4-FFF2-40B4-BE49-F238E27FC236}">
                <a16:creationId xmlns:a16="http://schemas.microsoft.com/office/drawing/2014/main" id="{8D9399CC-6B99-2C42-BFCC-94EE01B1C52B}"/>
              </a:ext>
            </a:extLst>
          </p:cNvPr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406" name="Google Shape;351;g3d6e2211149_2_228" descr="Amazon Elastic Container Registry (Amazon ECR) Service icon.">
            <a:extLst>
              <a:ext uri="{FF2B5EF4-FFF2-40B4-BE49-F238E27FC236}">
                <a16:creationId xmlns:a16="http://schemas.microsoft.com/office/drawing/2014/main" id="{8759E6EA-9290-E34E-AF46-E63AC037975F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047178" y="4569542"/>
            <a:ext cx="310331" cy="310331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352;g3d6e2211149_2_228">
            <a:extLst>
              <a:ext uri="{FF2B5EF4-FFF2-40B4-BE49-F238E27FC236}">
                <a16:creationId xmlns:a16="http://schemas.microsoft.com/office/drawing/2014/main" id="{8A9FF8BB-195E-B64F-B542-120167D1DBA0}"/>
              </a:ext>
            </a:extLst>
          </p:cNvPr>
          <p:cNvSpPr txBox="1"/>
          <p:nvPr/>
        </p:nvSpPr>
        <p:spPr>
          <a:xfrm>
            <a:off x="6720042" y="4937230"/>
            <a:ext cx="968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ECR</a:t>
            </a:r>
            <a:endParaRPr/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3FF0D3FF-9F0E-B145-B883-13801622238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99290" y="1844576"/>
            <a:ext cx="343546" cy="343546"/>
          </a:xfrm>
          <a:prstGeom prst="rect">
            <a:avLst/>
          </a:prstGeom>
        </p:spPr>
      </p:pic>
      <p:sp>
        <p:nvSpPr>
          <p:cNvPr id="437" name="Google Shape;244;g3d6e2211149_2_228">
            <a:extLst>
              <a:ext uri="{FF2B5EF4-FFF2-40B4-BE49-F238E27FC236}">
                <a16:creationId xmlns:a16="http://schemas.microsoft.com/office/drawing/2014/main" id="{A2EAA181-7531-EE45-A7F0-12D0359CCD23}"/>
              </a:ext>
            </a:extLst>
          </p:cNvPr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raphic 437">
            <a:extLst>
              <a:ext uri="{FF2B5EF4-FFF2-40B4-BE49-F238E27FC236}">
                <a16:creationId xmlns:a16="http://schemas.microsoft.com/office/drawing/2014/main" id="{77A74984-FF2E-444A-ACB1-8A97A7F3B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523289" y="1818344"/>
            <a:ext cx="397735" cy="397735"/>
          </a:xfrm>
          <a:prstGeom prst="rect">
            <a:avLst/>
          </a:prstGeom>
        </p:spPr>
      </p:pic>
      <p:sp>
        <p:nvSpPr>
          <p:cNvPr id="439" name="Google Shape;244;g3d6e2211149_2_228">
            <a:extLst>
              <a:ext uri="{FF2B5EF4-FFF2-40B4-BE49-F238E27FC236}">
                <a16:creationId xmlns:a16="http://schemas.microsoft.com/office/drawing/2014/main" id="{7A84FFBE-2A8F-584B-9616-ECCF1A3E33D4}"/>
              </a:ext>
            </a:extLst>
          </p:cNvPr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Actions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외부망 개발 = GitHub Enterprise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sp>
        <p:nvSpPr>
          <p:cNvPr id="165" name="Google Shape;255;g3d6e2211149_2_228">
            <a:extLst>
              <a:ext uri="{FF2B5EF4-FFF2-40B4-BE49-F238E27FC236}">
                <a16:creationId xmlns:a16="http://schemas.microsoft.com/office/drawing/2014/main" id="{7BCE4F92-CCC8-1F4E-B86A-2FB4AF149266}"/>
              </a:ext>
            </a:extLst>
          </p:cNvPr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447" name="Google Shape;358;g3d6e2211149_2_228">
            <a:extLst>
              <a:ext uri="{FF2B5EF4-FFF2-40B4-BE49-F238E27FC236}">
                <a16:creationId xmlns:a16="http://schemas.microsoft.com/office/drawing/2014/main" id="{0F0CE645-B64F-0E48-BD0D-5BF4C3FAAD62}"/>
              </a:ext>
            </a:extLst>
          </p:cNvPr>
          <p:cNvCxnSpPr>
            <a:cxnSpLocks/>
            <a:stCxn id="439" idx="2"/>
          </p:cNvCxnSpPr>
          <p:nvPr/>
        </p:nvCxnSpPr>
        <p:spPr>
          <a:xfrm>
            <a:off x="2775789" y="2547755"/>
            <a:ext cx="223677" cy="110357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450" name="Google Shape;308;g3d6e2211149_2_228" descr="AWS CodePipeline service icon.">
            <a:extLst>
              <a:ext uri="{FF2B5EF4-FFF2-40B4-BE49-F238E27FC236}">
                <a16:creationId xmlns:a16="http://schemas.microsoft.com/office/drawing/2014/main" id="{54F2BD4E-CCDF-5E43-8425-07F71136F922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338065" y="5187670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309;g3d6e2211149_2_228">
            <a:extLst>
              <a:ext uri="{FF2B5EF4-FFF2-40B4-BE49-F238E27FC236}">
                <a16:creationId xmlns:a16="http://schemas.microsoft.com/office/drawing/2014/main" id="{544405CA-AB75-0844-A2F1-545BB8BE1DF0}"/>
              </a:ext>
            </a:extLst>
          </p:cNvPr>
          <p:cNvSpPr txBox="1"/>
          <p:nvPr/>
        </p:nvSpPr>
        <p:spPr>
          <a:xfrm>
            <a:off x="4917473" y="5467176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pic>
        <p:nvPicPr>
          <p:cNvPr id="452" name="Graphic 23" descr="AWS CodeDeploy service icon.">
            <a:extLst>
              <a:ext uri="{FF2B5EF4-FFF2-40B4-BE49-F238E27FC236}">
                <a16:creationId xmlns:a16="http://schemas.microsoft.com/office/drawing/2014/main" id="{F85531E9-FB5C-DB44-8673-B0B09C65D12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6777206" y="3667419"/>
            <a:ext cx="291353" cy="28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3" name="TextBox 15">
            <a:extLst>
              <a:ext uri="{FF2B5EF4-FFF2-40B4-BE49-F238E27FC236}">
                <a16:creationId xmlns:a16="http://schemas.microsoft.com/office/drawing/2014/main" id="{8CDE172E-07A9-E245-9096-2652D0201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7570" y="3974095"/>
            <a:ext cx="7459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dk1"/>
                </a:solidFill>
                <a:latin typeface="Arial"/>
              </a:rPr>
              <a:t>AWS CodeDeploy</a:t>
            </a:r>
          </a:p>
        </p:txBody>
      </p:sp>
      <p:cxnSp>
        <p:nvCxnSpPr>
          <p:cNvPr id="454" name="Google Shape;358;g3d6e2211149_2_228">
            <a:extLst>
              <a:ext uri="{FF2B5EF4-FFF2-40B4-BE49-F238E27FC236}">
                <a16:creationId xmlns:a16="http://schemas.microsoft.com/office/drawing/2014/main" id="{96DAD22A-A7A1-D94E-8C92-5986E2396726}"/>
              </a:ext>
            </a:extLst>
          </p:cNvPr>
          <p:cNvCxnSpPr>
            <a:cxnSpLocks/>
            <a:stCxn id="234" idx="3"/>
            <a:endCxn id="450" idx="1"/>
          </p:cNvCxnSpPr>
          <p:nvPr/>
        </p:nvCxnSpPr>
        <p:spPr>
          <a:xfrm flipV="1">
            <a:off x="4760868" y="5327423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5" name="Google Shape;358;g3d6e2211149_2_228">
            <a:extLst>
              <a:ext uri="{FF2B5EF4-FFF2-40B4-BE49-F238E27FC236}">
                <a16:creationId xmlns:a16="http://schemas.microsoft.com/office/drawing/2014/main" id="{59176ED2-7214-D043-851C-7F945AEEC799}"/>
              </a:ext>
            </a:extLst>
          </p:cNvPr>
          <p:cNvCxnSpPr>
            <a:cxnSpLocks/>
          </p:cNvCxnSpPr>
          <p:nvPr/>
        </p:nvCxnSpPr>
        <p:spPr>
          <a:xfrm flipV="1">
            <a:off x="5612576" y="5327423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6" name="Google Shape;358;g3d6e2211149_2_228">
            <a:extLst>
              <a:ext uri="{FF2B5EF4-FFF2-40B4-BE49-F238E27FC236}">
                <a16:creationId xmlns:a16="http://schemas.microsoft.com/office/drawing/2014/main" id="{9E3C16A9-0AB4-1C44-8A75-1D517828A231}"/>
              </a:ext>
            </a:extLst>
          </p:cNvPr>
          <p:cNvCxnSpPr>
            <a:cxnSpLocks/>
            <a:stCxn id="452" idx="0"/>
            <a:endCxn id="216" idx="2"/>
          </p:cNvCxnSpPr>
          <p:nvPr/>
        </p:nvCxnSpPr>
        <p:spPr>
          <a:xfrm flipH="1" flipV="1">
            <a:off x="6346606" y="2723200"/>
            <a:ext cx="576277" cy="94421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1464852" y="1623322"/>
            <a:ext cx="133684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dk1"/>
                </a:solidFill>
              </a:rPr>
              <a:t>ECS Service Repo</a:t>
            </a:r>
          </a:p>
        </p:txBody>
      </p:sp>
      <p:cxnSp>
        <p:nvCxnSpPr>
          <p:cNvPr id="466" name="Google Shape;358;g3d6e2211149_2_228">
            <a:extLst>
              <a:ext uri="{FF2B5EF4-FFF2-40B4-BE49-F238E27FC236}">
                <a16:creationId xmlns:a16="http://schemas.microsoft.com/office/drawing/2014/main" id="{F0ACEA8E-B844-1946-9EE5-7DADCA515003}"/>
              </a:ext>
            </a:extLst>
          </p:cNvPr>
          <p:cNvCxnSpPr>
            <a:cxnSpLocks/>
            <a:stCxn id="228" idx="0"/>
            <a:endCxn id="234" idx="1"/>
          </p:cNvCxnSpPr>
          <p:nvPr/>
        </p:nvCxnSpPr>
        <p:spPr>
          <a:xfrm>
            <a:off x="2991968" y="3733373"/>
            <a:ext cx="1484376" cy="159656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3" name="TextBox 472">
            <a:extLst>
              <a:ext uri="{FF2B5EF4-FFF2-40B4-BE49-F238E27FC236}">
                <a16:creationId xmlns:a16="http://schemas.microsoft.com/office/drawing/2014/main" id="{AA2AD6E9-8461-B94D-8654-5DD572D36A40}"/>
              </a:ext>
            </a:extLst>
          </p:cNvPr>
          <p:cNvSpPr txBox="1"/>
          <p:nvPr/>
        </p:nvSpPr>
        <p:spPr>
          <a:xfrm>
            <a:off x="4767650" y="5845326"/>
            <a:ext cx="13825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LifeSync360 Pipeline</a:t>
            </a:r>
            <a:endParaRPr lang="en-KR" sz="800" b="1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82A682A4-FB7B-7646-ADF5-60319A97CC31}"/>
              </a:ext>
            </a:extLst>
          </p:cNvPr>
          <p:cNvSpPr txBox="1"/>
          <p:nvPr/>
        </p:nvSpPr>
        <p:spPr>
          <a:xfrm>
            <a:off x="2926199" y="1816179"/>
            <a:ext cx="1191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Unit Test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Security Scan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Docker Build Test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476" name="Graphic 19" descr="AWS CodeBuild service icon.">
            <a:extLst>
              <a:ext uri="{FF2B5EF4-FFF2-40B4-BE49-F238E27FC236}">
                <a16:creationId xmlns:a16="http://schemas.microsoft.com/office/drawing/2014/main" id="{44C4C64B-175D-B24D-BF8F-100F818DF0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6263122" y="5171319"/>
            <a:ext cx="345022" cy="34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" name="TextBox 11">
            <a:extLst>
              <a:ext uri="{FF2B5EF4-FFF2-40B4-BE49-F238E27FC236}">
                <a16:creationId xmlns:a16="http://schemas.microsoft.com/office/drawing/2014/main" id="{24D1B86C-8C61-8249-B920-EE10E637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901" y="5533023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cxnSp>
        <p:nvCxnSpPr>
          <p:cNvPr id="478" name="Google Shape;358;g3d6e2211149_2_228">
            <a:extLst>
              <a:ext uri="{FF2B5EF4-FFF2-40B4-BE49-F238E27FC236}">
                <a16:creationId xmlns:a16="http://schemas.microsoft.com/office/drawing/2014/main" id="{3E6249BF-4E53-C142-99BE-05770D42A5F4}"/>
              </a:ext>
            </a:extLst>
          </p:cNvPr>
          <p:cNvCxnSpPr>
            <a:cxnSpLocks/>
            <a:stCxn id="406" idx="0"/>
            <a:endCxn id="453" idx="0"/>
          </p:cNvCxnSpPr>
          <p:nvPr/>
        </p:nvCxnSpPr>
        <p:spPr>
          <a:xfrm flipH="1" flipV="1">
            <a:off x="6930551" y="3974095"/>
            <a:ext cx="271793" cy="59544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81" name="Google Shape;358;g3d6e2211149_2_228">
            <a:extLst>
              <a:ext uri="{FF2B5EF4-FFF2-40B4-BE49-F238E27FC236}">
                <a16:creationId xmlns:a16="http://schemas.microsoft.com/office/drawing/2014/main" id="{B0936E7C-CB73-6F4B-9690-1CED790BFCA0}"/>
              </a:ext>
            </a:extLst>
          </p:cNvPr>
          <p:cNvCxnSpPr>
            <a:cxnSpLocks/>
            <a:stCxn id="476" idx="3"/>
            <a:endCxn id="407" idx="0"/>
          </p:cNvCxnSpPr>
          <p:nvPr/>
        </p:nvCxnSpPr>
        <p:spPr>
          <a:xfrm flipV="1">
            <a:off x="6608144" y="4937230"/>
            <a:ext cx="596098" cy="4066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  <a:endCxn id="437" idx="0"/>
          </p:cNvCxnSpPr>
          <p:nvPr/>
        </p:nvCxnSpPr>
        <p:spPr>
          <a:xfrm flipH="1" flipV="1">
            <a:off x="2165784" y="2209241"/>
            <a:ext cx="27703" cy="106808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90" name="Google Shape;303;g3d6896b4338_0_0">
            <a:extLst>
              <a:ext uri="{FF2B5EF4-FFF2-40B4-BE49-F238E27FC236}">
                <a16:creationId xmlns:a16="http://schemas.microsoft.com/office/drawing/2014/main" id="{B9101083-54F1-6644-88C1-99C6A1CDC26F}"/>
              </a:ext>
            </a:extLst>
          </p:cNvPr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303;g3d6896b4338_0_0">
            <a:extLst>
              <a:ext uri="{FF2B5EF4-FFF2-40B4-BE49-F238E27FC236}">
                <a16:creationId xmlns:a16="http://schemas.microsoft.com/office/drawing/2014/main" id="{4D4A651C-89C5-474C-9BD7-C8403DCFA6BD}"/>
              </a:ext>
            </a:extLst>
          </p:cNvPr>
          <p:cNvSpPr/>
          <p:nvPr/>
        </p:nvSpPr>
        <p:spPr>
          <a:xfrm>
            <a:off x="4455193" y="578939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303;g3d6896b4338_0_0">
            <a:extLst>
              <a:ext uri="{FF2B5EF4-FFF2-40B4-BE49-F238E27FC236}">
                <a16:creationId xmlns:a16="http://schemas.microsoft.com/office/drawing/2014/main" id="{FA11BCF6-793A-7245-B674-4C4A80490EB0}"/>
              </a:ext>
            </a:extLst>
          </p:cNvPr>
          <p:cNvSpPr/>
          <p:nvPr/>
        </p:nvSpPr>
        <p:spPr>
          <a:xfrm>
            <a:off x="5926433" y="578939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303;g3d6896b4338_0_0">
            <a:extLst>
              <a:ext uri="{FF2B5EF4-FFF2-40B4-BE49-F238E27FC236}">
                <a16:creationId xmlns:a16="http://schemas.microsoft.com/office/drawing/2014/main" id="{1F6A8B33-E739-AC49-8C4D-C5B04ADA6327}"/>
              </a:ext>
            </a:extLst>
          </p:cNvPr>
          <p:cNvSpPr/>
          <p:nvPr/>
        </p:nvSpPr>
        <p:spPr>
          <a:xfrm>
            <a:off x="7440170" y="460237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303;g3d6896b4338_0_0">
            <a:extLst>
              <a:ext uri="{FF2B5EF4-FFF2-40B4-BE49-F238E27FC236}">
                <a16:creationId xmlns:a16="http://schemas.microsoft.com/office/drawing/2014/main" id="{BDF1B5E8-04C2-6340-A50E-8EABD54DF0FF}"/>
              </a:ext>
            </a:extLst>
          </p:cNvPr>
          <p:cNvSpPr/>
          <p:nvPr/>
        </p:nvSpPr>
        <p:spPr>
          <a:xfrm>
            <a:off x="7139842" y="367304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303;g3d6896b4338_0_0">
            <a:extLst>
              <a:ext uri="{FF2B5EF4-FFF2-40B4-BE49-F238E27FC236}">
                <a16:creationId xmlns:a16="http://schemas.microsoft.com/office/drawing/2014/main" id="{BF9920C8-7C46-3146-BA65-D188924EBFD2}"/>
              </a:ext>
            </a:extLst>
          </p:cNvPr>
          <p:cNvSpPr/>
          <p:nvPr/>
        </p:nvSpPr>
        <p:spPr>
          <a:xfrm>
            <a:off x="6553489" y="243004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10026216" y="1529880"/>
            <a:ext cx="174701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 xml:space="preserve"> </a:t>
            </a:r>
            <a:r>
              <a:rPr lang="en-US" altLang="ko-KR" sz="900"/>
              <a:t>Push</a:t>
            </a:r>
            <a:r>
              <a:rPr lang="en-KR" altLang="ko-KR" sz="900"/>
              <a:t xml:space="preserve"> -&gt; </a:t>
            </a:r>
            <a:r>
              <a:rPr lang="en-KR" sz="900"/>
              <a:t>GitHub Repo</a:t>
            </a:r>
          </a:p>
          <a:p>
            <a:endParaRPr lang="en-KR" sz="900"/>
          </a:p>
          <a:p>
            <a:r>
              <a:rPr lang="en-KR" sz="900"/>
              <a:t>2. GitHub Actions</a:t>
            </a:r>
          </a:p>
          <a:p>
            <a:pPr marL="171450" indent="-171450">
              <a:buFontTx/>
              <a:buChar char="-"/>
            </a:pPr>
            <a:r>
              <a:rPr lang="en-KR" sz="900"/>
              <a:t>Unit Test</a:t>
            </a:r>
          </a:p>
          <a:p>
            <a:pPr marL="171450" indent="-171450">
              <a:buFontTx/>
              <a:buChar char="-"/>
            </a:pPr>
            <a:r>
              <a:rPr lang="en-KR" sz="900"/>
              <a:t>Security Scan</a:t>
            </a:r>
          </a:p>
          <a:p>
            <a:pPr marL="171450" indent="-171450">
              <a:buFontTx/>
              <a:buChar char="-"/>
            </a:pPr>
            <a:r>
              <a:rPr lang="en-KR" sz="900"/>
              <a:t>Docker Build Test</a:t>
            </a:r>
          </a:p>
          <a:p>
            <a:pPr marL="171450" indent="-171450">
              <a:buFontTx/>
              <a:buChar char="-"/>
            </a:pPr>
            <a:endParaRPr lang="en-KR" sz="900"/>
          </a:p>
          <a:p>
            <a:r>
              <a:rPr lang="en-US" altLang="ko-KR" sz="900"/>
              <a:t>3.</a:t>
            </a:r>
            <a:r>
              <a:rPr lang="ko-KR" altLang="en-US" sz="900"/>
              <a:t xml:space="preserve"> 테스트 통과 시</a:t>
            </a:r>
            <a:r>
              <a:rPr lang="en-US" altLang="ko-KR" sz="900"/>
              <a:t>,</a:t>
            </a:r>
            <a:r>
              <a:rPr lang="ko-KR" altLang="en-US" sz="900"/>
              <a:t xml:space="preserve"> </a:t>
            </a:r>
            <a:r>
              <a:rPr lang="en-US" altLang="ko-KR" sz="900"/>
              <a:t xml:space="preserve">GitHub Action </a:t>
            </a:r>
            <a:r>
              <a:rPr lang="ko-KR" altLang="en-US" sz="900"/>
              <a:t xml:space="preserve">자동 승인 </a:t>
            </a:r>
            <a:endParaRPr lang="en-KR" sz="900"/>
          </a:p>
          <a:p>
            <a:endParaRPr lang="en-KR" sz="900"/>
          </a:p>
          <a:p>
            <a:r>
              <a:rPr lang="en-KR" sz="900"/>
              <a:t>4. CodeCommit Mirror</a:t>
            </a:r>
          </a:p>
          <a:p>
            <a:endParaRPr lang="en-KR" sz="900"/>
          </a:p>
          <a:p>
            <a:r>
              <a:rPr lang="en-KR" sz="900"/>
              <a:t>5. CodePipeline -&gt; CodeBuild -&gt; Docker Build</a:t>
            </a:r>
          </a:p>
          <a:p>
            <a:endParaRPr lang="en-KR" sz="900"/>
          </a:p>
          <a:p>
            <a:r>
              <a:rPr lang="en-KR" sz="900"/>
              <a:t>6. Amazon ECR Push</a:t>
            </a:r>
          </a:p>
          <a:p>
            <a:endParaRPr lang="en-KR" sz="900"/>
          </a:p>
          <a:p>
            <a:r>
              <a:rPr lang="en-KR" sz="900"/>
              <a:t>7. AWS CodeDeploy -&gt; ECS Rolling Deploy</a:t>
            </a:r>
          </a:p>
          <a:p>
            <a:endParaRPr lang="en-KR" sz="900"/>
          </a:p>
          <a:p>
            <a:r>
              <a:rPr lang="en-KR" sz="900"/>
              <a:t>8. ALB 연결</a:t>
            </a:r>
          </a:p>
        </p:txBody>
      </p:sp>
      <p:sp>
        <p:nvSpPr>
          <p:cNvPr id="499" name="Google Shape;303;g3d6896b4338_0_0">
            <a:extLst>
              <a:ext uri="{FF2B5EF4-FFF2-40B4-BE49-F238E27FC236}">
                <a16:creationId xmlns:a16="http://schemas.microsoft.com/office/drawing/2014/main" id="{2C2AA00E-C437-9346-AA66-E1C3DE8A0E93}"/>
              </a:ext>
            </a:extLst>
          </p:cNvPr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01C240C1-79A2-7749-9953-6180DF22ACD4}"/>
              </a:ext>
            </a:extLst>
          </p:cNvPr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ko-KR" altLang="en-US" sz="800">
                <a:solidFill>
                  <a:schemeClr val="dk1"/>
                </a:solidFill>
              </a:rPr>
              <a:t xml:space="preserve">자동 승인 </a:t>
            </a:r>
            <a:endParaRPr lang="en-KR" sz="800">
              <a:solidFill>
                <a:schemeClr val="dk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72F8999-7195-FE49-BA10-621CA17ADD1E}"/>
              </a:ext>
            </a:extLst>
          </p:cNvPr>
          <p:cNvSpPr txBox="1"/>
          <p:nvPr/>
        </p:nvSpPr>
        <p:spPr>
          <a:xfrm>
            <a:off x="-13938" y="1330595"/>
            <a:ext cx="189306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lifesync360-service-repo/</a:t>
            </a:r>
            <a:endParaRPr lang="en-US" sz="800"/>
          </a:p>
          <a:p>
            <a:r>
              <a:rPr lang="en-US" sz="800"/>
              <a:t>├── backend/</a:t>
            </a:r>
            <a:br>
              <a:rPr lang="en-US" sz="800"/>
            </a:br>
            <a:r>
              <a:rPr lang="en-US" sz="800"/>
              <a:t>│ ├── auth/</a:t>
            </a:r>
            <a:br>
              <a:rPr lang="en-US" sz="800"/>
            </a:br>
            <a:r>
              <a:rPr lang="en-US" sz="800"/>
              <a:t>│ │ ├── user-register-api.py</a:t>
            </a:r>
            <a:br>
              <a:rPr lang="en-US" sz="800"/>
            </a:br>
            <a:r>
              <a:rPr lang="en-US" sz="800"/>
              <a:t>│ │ ├── user-login-api.py</a:t>
            </a:r>
            <a:br>
              <a:rPr lang="en-US" sz="800"/>
            </a:br>
            <a:r>
              <a:rPr lang="en-US" sz="800"/>
              <a:t>│ │ └── user-consent-api.py</a:t>
            </a:r>
            <a:br>
              <a:rPr lang="en-US" sz="800"/>
            </a:br>
            <a:r>
              <a:rPr lang="en-US" sz="800"/>
              <a:t>│ │</a:t>
            </a:r>
            <a:br>
              <a:rPr lang="en-US" sz="800"/>
            </a:br>
            <a:r>
              <a:rPr lang="en-US" sz="800"/>
              <a:t>│ ├── dashboard/</a:t>
            </a:r>
            <a:br>
              <a:rPr lang="en-US" sz="800"/>
            </a:br>
            <a:r>
              <a:rPr lang="en-US" sz="800"/>
              <a:t>│ │ └── lifesync360_ECS_Main.py</a:t>
            </a:r>
            <a:br>
              <a:rPr lang="en-US" sz="800"/>
            </a:br>
            <a:r>
              <a:rPr lang="en-US" sz="800"/>
              <a:t>│ │</a:t>
            </a:r>
            <a:br>
              <a:rPr lang="en-US" sz="800"/>
            </a:br>
            <a:r>
              <a:rPr lang="en-US" sz="800"/>
              <a:t>│ ├── requirements.txt</a:t>
            </a:r>
            <a:br>
              <a:rPr lang="en-US" sz="800"/>
            </a:br>
            <a:r>
              <a:rPr lang="en-US" sz="800"/>
              <a:t>│ └── config.py</a:t>
            </a:r>
            <a:br>
              <a:rPr lang="en-US" sz="800"/>
            </a:br>
            <a:r>
              <a:rPr lang="en-US" sz="800"/>
              <a:t>│</a:t>
            </a:r>
            <a:br>
              <a:rPr lang="en-US" sz="800"/>
            </a:br>
            <a:r>
              <a:rPr lang="en-US" sz="800"/>
              <a:t>├── frontend/</a:t>
            </a:r>
            <a:br>
              <a:rPr lang="en-US" sz="800"/>
            </a:br>
            <a:r>
              <a:rPr lang="en-US" sz="800"/>
              <a:t>│ ├── register/</a:t>
            </a:r>
            <a:br>
              <a:rPr lang="en-US" sz="800"/>
            </a:br>
            <a:r>
              <a:rPr lang="en-US" sz="800"/>
              <a:t>│ │ └── user-register.html</a:t>
            </a:r>
            <a:br>
              <a:rPr lang="en-US" sz="800"/>
            </a:br>
            <a:r>
              <a:rPr lang="en-US" sz="800"/>
              <a:t>│ ├── login/</a:t>
            </a:r>
            <a:br>
              <a:rPr lang="en-US" sz="800"/>
            </a:br>
            <a:r>
              <a:rPr lang="en-US" sz="800"/>
              <a:t>│ │ └── user-login.html</a:t>
            </a:r>
            <a:br>
              <a:rPr lang="en-US" sz="800"/>
            </a:br>
            <a:r>
              <a:rPr lang="en-US" sz="800"/>
              <a:t>│ ├── consent/</a:t>
            </a:r>
            <a:br>
              <a:rPr lang="en-US" sz="800"/>
            </a:br>
            <a:r>
              <a:rPr lang="en-US" sz="800"/>
              <a:t>│ │ └── user-consent.html</a:t>
            </a:r>
            <a:br>
              <a:rPr lang="en-US" sz="800"/>
            </a:br>
            <a:r>
              <a:rPr lang="en-US" sz="800"/>
              <a:t>│ └── dashboard/</a:t>
            </a:r>
            <a:br>
              <a:rPr lang="en-US" sz="800"/>
            </a:br>
            <a:r>
              <a:rPr lang="en-US" sz="800"/>
              <a:t>│ └── main.html</a:t>
            </a:r>
            <a:br>
              <a:rPr lang="en-US" sz="800"/>
            </a:br>
            <a:r>
              <a:rPr lang="en-US" sz="800"/>
              <a:t>│</a:t>
            </a:r>
            <a:br>
              <a:rPr lang="en-US" sz="800"/>
            </a:br>
            <a:r>
              <a:rPr lang="en-US" sz="800"/>
              <a:t>├── docker/</a:t>
            </a:r>
            <a:br>
              <a:rPr lang="en-US" sz="800"/>
            </a:br>
            <a:r>
              <a:rPr lang="en-US" sz="800"/>
              <a:t>│ ├── Dockerfile</a:t>
            </a:r>
            <a:br>
              <a:rPr lang="en-US" sz="800"/>
            </a:br>
            <a:r>
              <a:rPr lang="en-US" sz="800"/>
              <a:t>│ ├── nginx.conf</a:t>
            </a:r>
            <a:br>
              <a:rPr lang="en-US" sz="800"/>
            </a:br>
            <a:r>
              <a:rPr lang="en-US" sz="800"/>
              <a:t>│ └── supervisord.conf</a:t>
            </a:r>
            <a:br>
              <a:rPr lang="en-US" sz="800"/>
            </a:br>
            <a:r>
              <a:rPr lang="en-US" sz="800"/>
              <a:t>│</a:t>
            </a:r>
            <a:br>
              <a:rPr lang="en-US" sz="800"/>
            </a:br>
            <a:r>
              <a:rPr lang="en-US" sz="800"/>
              <a:t>├── deploy/</a:t>
            </a:r>
            <a:br>
              <a:rPr lang="en-US" sz="800"/>
            </a:br>
            <a:r>
              <a:rPr lang="en-US" sz="800"/>
              <a:t>│ ├── appspec.yml</a:t>
            </a:r>
            <a:br>
              <a:rPr lang="en-US" sz="800"/>
            </a:br>
            <a:r>
              <a:rPr lang="en-US" sz="800"/>
              <a:t>│ ├── buildspec.yml</a:t>
            </a:r>
            <a:br>
              <a:rPr lang="en-US" sz="800"/>
            </a:br>
            <a:r>
              <a:rPr lang="en-US" sz="800"/>
              <a:t>│ ├── taskdef.json</a:t>
            </a:r>
            <a:br>
              <a:rPr lang="en-US" sz="800"/>
            </a:br>
            <a:r>
              <a:rPr lang="en-US" sz="800"/>
              <a:t>│ └── deploy.sh</a:t>
            </a:r>
            <a:endParaRPr lang="en-KR" sz="80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85D0B98-7C41-1049-8692-6D39D6DFA452}"/>
              </a:ext>
            </a:extLst>
          </p:cNvPr>
          <p:cNvSpPr txBox="1"/>
          <p:nvPr/>
        </p:nvSpPr>
        <p:spPr>
          <a:xfrm>
            <a:off x="7046387" y="5642705"/>
            <a:ext cx="30627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 xml:space="preserve">s3-script-bucket ← </a:t>
            </a:r>
            <a:r>
              <a:rPr lang="ko-KR" altLang="en-US" sz="1000"/>
              <a:t>코드 전용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 xml:space="preserve">s3-artifact-bucket ← CI/CD </a:t>
            </a:r>
            <a:r>
              <a:rPr lang="ko-KR" altLang="en-US" sz="1000"/>
              <a:t>산출물</a:t>
            </a:r>
            <a:endParaRPr lang="en-KR" sz="1000"/>
          </a:p>
        </p:txBody>
      </p:sp>
      <p:pic>
        <p:nvPicPr>
          <p:cNvPr id="11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A908E17A-9F84-9E45-9FC7-1F8EB03841B1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7154907" y="5232195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274;g3d6e2211149_2_228">
            <a:extLst>
              <a:ext uri="{FF2B5EF4-FFF2-40B4-BE49-F238E27FC236}">
                <a16:creationId xmlns:a16="http://schemas.microsoft.com/office/drawing/2014/main" id="{420B7F15-5C6A-9843-9A3D-94D24F1A3B36}"/>
              </a:ext>
            </a:extLst>
          </p:cNvPr>
          <p:cNvSpPr txBox="1"/>
          <p:nvPr/>
        </p:nvSpPr>
        <p:spPr>
          <a:xfrm>
            <a:off x="7431390" y="5287989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275;g3d6e2211149_2_228" descr="Amazon Aurora service icon.">
            <a:extLst>
              <a:ext uri="{FF2B5EF4-FFF2-40B4-BE49-F238E27FC236}">
                <a16:creationId xmlns:a16="http://schemas.microsoft.com/office/drawing/2014/main" id="{540377A0-4F2A-8846-90D4-3E0716CC327D}"/>
              </a:ext>
            </a:extLst>
          </p:cNvPr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808060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276;g3d6e2211149_2_228">
            <a:extLst>
              <a:ext uri="{FF2B5EF4-FFF2-40B4-BE49-F238E27FC236}">
                <a16:creationId xmlns:a16="http://schemas.microsoft.com/office/drawing/2014/main" id="{637A40DE-EF24-1C4E-9C18-CED18C25E990}"/>
              </a:ext>
            </a:extLst>
          </p:cNvPr>
          <p:cNvSpPr txBox="1"/>
          <p:nvPr/>
        </p:nvSpPr>
        <p:spPr>
          <a:xfrm>
            <a:off x="783263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88" name="Google Shape;277;g3d6e2211149_2_228" descr="Amazon DynamoDB service icon.">
            <a:extLst>
              <a:ext uri="{FF2B5EF4-FFF2-40B4-BE49-F238E27FC236}">
                <a16:creationId xmlns:a16="http://schemas.microsoft.com/office/drawing/2014/main" id="{2A7F6E03-E745-0F48-8EFC-E0A7C4FC4D42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7125266" y="1240196"/>
            <a:ext cx="294291" cy="27790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278;g3d6e2211149_2_228">
            <a:extLst>
              <a:ext uri="{FF2B5EF4-FFF2-40B4-BE49-F238E27FC236}">
                <a16:creationId xmlns:a16="http://schemas.microsoft.com/office/drawing/2014/main" id="{D12D74EA-A61D-3844-91B8-03E5D7508C1D}"/>
              </a:ext>
            </a:extLst>
          </p:cNvPr>
          <p:cNvSpPr txBox="1"/>
          <p:nvPr/>
        </p:nvSpPr>
        <p:spPr>
          <a:xfrm>
            <a:off x="7392161" y="1206214"/>
            <a:ext cx="725781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90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5A4550A2-57BF-FC44-B452-AAF10992BB83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868783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280;g3d6e2211149_2_228">
            <a:extLst>
              <a:ext uri="{FF2B5EF4-FFF2-40B4-BE49-F238E27FC236}">
                <a16:creationId xmlns:a16="http://schemas.microsoft.com/office/drawing/2014/main" id="{F9DB0536-A5BF-0345-9C08-001143F911CE}"/>
              </a:ext>
            </a:extLst>
          </p:cNvPr>
          <p:cNvSpPr txBox="1"/>
          <p:nvPr/>
        </p:nvSpPr>
        <p:spPr>
          <a:xfrm>
            <a:off x="835220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92" name="Google Shape;294;g3d6e2211149_2_228" descr="AWS Lambda service icon.">
            <a:extLst>
              <a:ext uri="{FF2B5EF4-FFF2-40B4-BE49-F238E27FC236}">
                <a16:creationId xmlns:a16="http://schemas.microsoft.com/office/drawing/2014/main" id="{7173CB64-5153-564C-8563-5BF49685265E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30520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295;g3d6e2211149_2_228">
            <a:extLst>
              <a:ext uri="{FF2B5EF4-FFF2-40B4-BE49-F238E27FC236}">
                <a16:creationId xmlns:a16="http://schemas.microsoft.com/office/drawing/2014/main" id="{12F9EB7A-EA39-134E-AFCD-ACE75DF95CCD}"/>
              </a:ext>
            </a:extLst>
          </p:cNvPr>
          <p:cNvSpPr txBox="1"/>
          <p:nvPr/>
        </p:nvSpPr>
        <p:spPr>
          <a:xfrm>
            <a:off x="857421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94" name="Google Shape;341;g3d6e2211149_2_228">
            <a:extLst>
              <a:ext uri="{FF2B5EF4-FFF2-40B4-BE49-F238E27FC236}">
                <a16:creationId xmlns:a16="http://schemas.microsoft.com/office/drawing/2014/main" id="{756E8625-120A-A741-8E72-E4853E602B84}"/>
              </a:ext>
            </a:extLst>
          </p:cNvPr>
          <p:cNvSpPr/>
          <p:nvPr/>
        </p:nvSpPr>
        <p:spPr>
          <a:xfrm>
            <a:off x="7921852" y="1924379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95" name="Google Shape;342;g3d6e2211149_2_228" descr="Private subnet group icon. ">
            <a:extLst>
              <a:ext uri="{FF2B5EF4-FFF2-40B4-BE49-F238E27FC236}">
                <a16:creationId xmlns:a16="http://schemas.microsoft.com/office/drawing/2014/main" id="{5AAEFD78-2BDC-CB42-8497-6CA0A20D570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93652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164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 – Wearable EC2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lang="en-US" sz="1200"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6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27DAEBE3-0CEB-ED4A-B0C9-D25C4320D40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10514" y="44599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257;g3d6e2211149_2_228">
            <a:extLst>
              <a:ext uri="{FF2B5EF4-FFF2-40B4-BE49-F238E27FC236}">
                <a16:creationId xmlns:a16="http://schemas.microsoft.com/office/drawing/2014/main" id="{4F4B1242-5B05-624D-A385-3A7F195F199D}"/>
              </a:ext>
            </a:extLst>
          </p:cNvPr>
          <p:cNvSpPr txBox="1"/>
          <p:nvPr/>
        </p:nvSpPr>
        <p:spPr>
          <a:xfrm>
            <a:off x="9014258" y="4917137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sp>
        <p:nvSpPr>
          <p:cNvPr id="171" name="Google Shape;262;g3d6e2211149_2_228">
            <a:extLst>
              <a:ext uri="{FF2B5EF4-FFF2-40B4-BE49-F238E27FC236}">
                <a16:creationId xmlns:a16="http://schemas.microsoft.com/office/drawing/2014/main" id="{4D29ED5D-00DD-824D-98F9-B14FFA7D16C9}"/>
              </a:ext>
            </a:extLst>
          </p:cNvPr>
          <p:cNvSpPr/>
          <p:nvPr/>
        </p:nvSpPr>
        <p:spPr>
          <a:xfrm>
            <a:off x="9669312" y="5119676"/>
            <a:ext cx="2080794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172" name="Google Shape;263;g3d6e2211149_2_228" descr="VPC group icon. ">
            <a:extLst>
              <a:ext uri="{FF2B5EF4-FFF2-40B4-BE49-F238E27FC236}">
                <a16:creationId xmlns:a16="http://schemas.microsoft.com/office/drawing/2014/main" id="{5E432AEB-53EC-7E42-B7AC-7CE863A4B4E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80663" y="511941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264;g3d6e2211149_2_228">
            <a:extLst>
              <a:ext uri="{FF2B5EF4-FFF2-40B4-BE49-F238E27FC236}">
                <a16:creationId xmlns:a16="http://schemas.microsoft.com/office/drawing/2014/main" id="{CF77F36F-7014-494B-BF5E-700A25D4113E}"/>
              </a:ext>
            </a:extLst>
          </p:cNvPr>
          <p:cNvSpPr/>
          <p:nvPr/>
        </p:nvSpPr>
        <p:spPr>
          <a:xfrm>
            <a:off x="9860367" y="5533760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174" name="Google Shape;265;g3d6e2211149_2_228" descr="Private subnet group icon. ">
            <a:extLst>
              <a:ext uri="{FF2B5EF4-FFF2-40B4-BE49-F238E27FC236}">
                <a16:creationId xmlns:a16="http://schemas.microsoft.com/office/drawing/2014/main" id="{C998BBA2-D138-0447-BD06-C7F1279FCDE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53079" y="5536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94;g3d6e2211149_2_228" descr="AWS Lambda service icon.">
            <a:extLst>
              <a:ext uri="{FF2B5EF4-FFF2-40B4-BE49-F238E27FC236}">
                <a16:creationId xmlns:a16="http://schemas.microsoft.com/office/drawing/2014/main" id="{36EDCFD5-E347-4345-9EC9-339FD744708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79971" y="6047800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95;g3d6e2211149_2_228">
            <a:extLst>
              <a:ext uri="{FF2B5EF4-FFF2-40B4-BE49-F238E27FC236}">
                <a16:creationId xmlns:a16="http://schemas.microsoft.com/office/drawing/2014/main" id="{BE7DDD83-C46A-C54A-82ED-ACB15535AF62}"/>
              </a:ext>
            </a:extLst>
          </p:cNvPr>
          <p:cNvSpPr txBox="1"/>
          <p:nvPr/>
        </p:nvSpPr>
        <p:spPr>
          <a:xfrm>
            <a:off x="10804254" y="6080580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221" name="Google Shape;312;g3d6e2211149_2_228">
            <a:extLst>
              <a:ext uri="{FF2B5EF4-FFF2-40B4-BE49-F238E27FC236}">
                <a16:creationId xmlns:a16="http://schemas.microsoft.com/office/drawing/2014/main" id="{0BE63228-5717-E647-B82F-E46FE96D9FE8}"/>
              </a:ext>
            </a:extLst>
          </p:cNvPr>
          <p:cNvSpPr/>
          <p:nvPr/>
        </p:nvSpPr>
        <p:spPr>
          <a:xfrm>
            <a:off x="8651407" y="3571341"/>
            <a:ext cx="30939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222" name="Google Shape;313;g3d6e2211149_2_228" descr="VPC group icon. ">
            <a:extLst>
              <a:ext uri="{FF2B5EF4-FFF2-40B4-BE49-F238E27FC236}">
                <a16:creationId xmlns:a16="http://schemas.microsoft.com/office/drawing/2014/main" id="{D050969A-F721-534A-BEE9-ACA3DD4B1F7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9576" y="357236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230" name="Google Shape;320;g3d6e2211149_2_228">
            <a:extLst>
              <a:ext uri="{FF2B5EF4-FFF2-40B4-BE49-F238E27FC236}">
                <a16:creationId xmlns:a16="http://schemas.microsoft.com/office/drawing/2014/main" id="{003E6474-7820-0744-8B93-69B5AF48CACC}"/>
              </a:ext>
            </a:extLst>
          </p:cNvPr>
          <p:cNvSpPr/>
          <p:nvPr/>
        </p:nvSpPr>
        <p:spPr>
          <a:xfrm>
            <a:off x="8758033" y="4040102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231" name="Google Shape;321;g3d6e2211149_2_228" descr="Public subnet group icon. ">
            <a:extLst>
              <a:ext uri="{FF2B5EF4-FFF2-40B4-BE49-F238E27FC236}">
                <a16:creationId xmlns:a16="http://schemas.microsoft.com/office/drawing/2014/main" id="{CB9EE438-43CC-564F-B7BF-725D0FA016E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56599" y="4038458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322;g3d6e2211149_2_228">
            <a:extLst>
              <a:ext uri="{FF2B5EF4-FFF2-40B4-BE49-F238E27FC236}">
                <a16:creationId xmlns:a16="http://schemas.microsoft.com/office/drawing/2014/main" id="{3511DAEE-742D-464B-BD3E-2B16BD1A8147}"/>
              </a:ext>
            </a:extLst>
          </p:cNvPr>
          <p:cNvSpPr/>
          <p:nvPr/>
        </p:nvSpPr>
        <p:spPr>
          <a:xfrm>
            <a:off x="9969601" y="4024778"/>
            <a:ext cx="1698600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233" name="Google Shape;323;g3d6e2211149_2_228" descr="Private subnet group icon. ">
            <a:extLst>
              <a:ext uri="{FF2B5EF4-FFF2-40B4-BE49-F238E27FC236}">
                <a16:creationId xmlns:a16="http://schemas.microsoft.com/office/drawing/2014/main" id="{75AE7F28-3326-AD46-8030-71710C6A8FD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53276" y="402804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324;g3d6e2211149_2_228" descr="AWS CodeCommit service icon.">
            <a:extLst>
              <a:ext uri="{FF2B5EF4-FFF2-40B4-BE49-F238E27FC236}">
                <a16:creationId xmlns:a16="http://schemas.microsoft.com/office/drawing/2014/main" id="{3FA5E6E8-2A9F-3A4F-B3EA-8D5C0CE0AC18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47803" y="5623812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325;g3d6e2211149_2_228">
            <a:extLst>
              <a:ext uri="{FF2B5EF4-FFF2-40B4-BE49-F238E27FC236}">
                <a16:creationId xmlns:a16="http://schemas.microsoft.com/office/drawing/2014/main" id="{DCCB0AE8-B0E1-0C41-A34B-FA06C9603AE8}"/>
              </a:ext>
            </a:extLst>
          </p:cNvPr>
          <p:cNvSpPr txBox="1"/>
          <p:nvPr/>
        </p:nvSpPr>
        <p:spPr>
          <a:xfrm>
            <a:off x="4054599" y="5911151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8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4D42E47-B053-614F-948E-30D13B770B27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470370" y="440497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27;g3d6e2211149_2_228">
            <a:extLst>
              <a:ext uri="{FF2B5EF4-FFF2-40B4-BE49-F238E27FC236}">
                <a16:creationId xmlns:a16="http://schemas.microsoft.com/office/drawing/2014/main" id="{E00CCAF4-26A1-9A45-8524-469226FAF8BD}"/>
              </a:ext>
            </a:extLst>
          </p:cNvPr>
          <p:cNvSpPr txBox="1"/>
          <p:nvPr/>
        </p:nvSpPr>
        <p:spPr>
          <a:xfrm>
            <a:off x="10698951" y="4356654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(금융/병원)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7EC0B57-A912-2E4C-A9BA-5879AA25DB5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29;g3d6e2211149_2_228">
            <a:extLst>
              <a:ext uri="{FF2B5EF4-FFF2-40B4-BE49-F238E27FC236}">
                <a16:creationId xmlns:a16="http://schemas.microsoft.com/office/drawing/2014/main" id="{21A90825-E47C-174F-BF0A-811C35AD9844}"/>
              </a:ext>
            </a:extLst>
          </p:cNvPr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33;g3d6e2211149_2_228">
            <a:extLst>
              <a:ext uri="{FF2B5EF4-FFF2-40B4-BE49-F238E27FC236}">
                <a16:creationId xmlns:a16="http://schemas.microsoft.com/office/drawing/2014/main" id="{DCBCC5B9-0FB1-B242-80DC-5AF1D1DE88C0}"/>
              </a:ext>
            </a:extLst>
          </p:cNvPr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89" name="Google Shape;334;g3d6e2211149_2_228" descr="VPC group icon. ">
            <a:extLst>
              <a:ext uri="{FF2B5EF4-FFF2-40B4-BE49-F238E27FC236}">
                <a16:creationId xmlns:a16="http://schemas.microsoft.com/office/drawing/2014/main" id="{DA60BF6E-2624-FA4C-8CEA-DE20C58D963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35;g3d6e2211149_2_228">
            <a:extLst>
              <a:ext uri="{FF2B5EF4-FFF2-40B4-BE49-F238E27FC236}">
                <a16:creationId xmlns:a16="http://schemas.microsoft.com/office/drawing/2014/main" id="{800BE764-B4E9-164F-80DB-CD77960CB2B1}"/>
              </a:ext>
            </a:extLst>
          </p:cNvPr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91" name="Google Shape;336;g3d6e2211149_2_228" descr="Public subnet group icon. ">
            <a:extLst>
              <a:ext uri="{FF2B5EF4-FFF2-40B4-BE49-F238E27FC236}">
                <a16:creationId xmlns:a16="http://schemas.microsoft.com/office/drawing/2014/main" id="{AF945080-C342-CA41-A943-1A9A71FFF4E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724C84A-EA7E-CB47-902B-89384207BC2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38;g3d6e2211149_2_228">
            <a:extLst>
              <a:ext uri="{FF2B5EF4-FFF2-40B4-BE49-F238E27FC236}">
                <a16:creationId xmlns:a16="http://schemas.microsoft.com/office/drawing/2014/main" id="{F454A5CD-24AC-B64C-A0E3-CA42311BB862}"/>
              </a:ext>
            </a:extLst>
          </p:cNvPr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394" name="Google Shape;339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6D19BF28-E173-8047-90F0-3335FDB5F174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443024" y="451955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40;g3d6e2211149_2_228">
            <a:extLst>
              <a:ext uri="{FF2B5EF4-FFF2-40B4-BE49-F238E27FC236}">
                <a16:creationId xmlns:a16="http://schemas.microsoft.com/office/drawing/2014/main" id="{1B618041-4361-9F42-BF51-6DEC0D245B48}"/>
              </a:ext>
            </a:extLst>
          </p:cNvPr>
          <p:cNvSpPr txBox="1"/>
          <p:nvPr/>
        </p:nvSpPr>
        <p:spPr>
          <a:xfrm>
            <a:off x="8305325" y="4917606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3FF0D3FF-9F0E-B145-B883-13801622238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99290" y="1844576"/>
            <a:ext cx="343546" cy="343546"/>
          </a:xfrm>
          <a:prstGeom prst="rect">
            <a:avLst/>
          </a:prstGeom>
        </p:spPr>
      </p:pic>
      <p:sp>
        <p:nvSpPr>
          <p:cNvPr id="437" name="Google Shape;244;g3d6e2211149_2_228">
            <a:extLst>
              <a:ext uri="{FF2B5EF4-FFF2-40B4-BE49-F238E27FC236}">
                <a16:creationId xmlns:a16="http://schemas.microsoft.com/office/drawing/2014/main" id="{A2EAA181-7531-EE45-A7F0-12D0359CCD23}"/>
              </a:ext>
            </a:extLst>
          </p:cNvPr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raphic 437">
            <a:extLst>
              <a:ext uri="{FF2B5EF4-FFF2-40B4-BE49-F238E27FC236}">
                <a16:creationId xmlns:a16="http://schemas.microsoft.com/office/drawing/2014/main" id="{77A74984-FF2E-444A-ACB1-8A97A7F3B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523289" y="1818344"/>
            <a:ext cx="397735" cy="397735"/>
          </a:xfrm>
          <a:prstGeom prst="rect">
            <a:avLst/>
          </a:prstGeom>
        </p:spPr>
      </p:pic>
      <p:sp>
        <p:nvSpPr>
          <p:cNvPr id="439" name="Google Shape;244;g3d6e2211149_2_228">
            <a:extLst>
              <a:ext uri="{FF2B5EF4-FFF2-40B4-BE49-F238E27FC236}">
                <a16:creationId xmlns:a16="http://schemas.microsoft.com/office/drawing/2014/main" id="{7A84FFBE-2A8F-584B-9616-ECCF1A3E33D4}"/>
              </a:ext>
            </a:extLst>
          </p:cNvPr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Actions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외부망 개발 = GitHub Enterprise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cxnSp>
        <p:nvCxnSpPr>
          <p:cNvPr id="447" name="Google Shape;358;g3d6e2211149_2_228">
            <a:extLst>
              <a:ext uri="{FF2B5EF4-FFF2-40B4-BE49-F238E27FC236}">
                <a16:creationId xmlns:a16="http://schemas.microsoft.com/office/drawing/2014/main" id="{0F0CE645-B64F-0E48-BD0D-5BF4C3FAAD62}"/>
              </a:ext>
            </a:extLst>
          </p:cNvPr>
          <p:cNvCxnSpPr>
            <a:cxnSpLocks/>
            <a:stCxn id="439" idx="2"/>
          </p:cNvCxnSpPr>
          <p:nvPr/>
        </p:nvCxnSpPr>
        <p:spPr>
          <a:xfrm>
            <a:off x="2775789" y="2547755"/>
            <a:ext cx="223677" cy="110357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450" name="Google Shape;308;g3d6e2211149_2_228" descr="AWS CodePipeline service icon.">
            <a:extLst>
              <a:ext uri="{FF2B5EF4-FFF2-40B4-BE49-F238E27FC236}">
                <a16:creationId xmlns:a16="http://schemas.microsoft.com/office/drawing/2014/main" id="{54F2BD4E-CCDF-5E43-8425-07F71136F922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309524" y="5623811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309;g3d6e2211149_2_228">
            <a:extLst>
              <a:ext uri="{FF2B5EF4-FFF2-40B4-BE49-F238E27FC236}">
                <a16:creationId xmlns:a16="http://schemas.microsoft.com/office/drawing/2014/main" id="{544405CA-AB75-0844-A2F1-545BB8BE1DF0}"/>
              </a:ext>
            </a:extLst>
          </p:cNvPr>
          <p:cNvSpPr txBox="1"/>
          <p:nvPr/>
        </p:nvSpPr>
        <p:spPr>
          <a:xfrm>
            <a:off x="4962060" y="5889677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pic>
        <p:nvPicPr>
          <p:cNvPr id="452" name="Graphic 23" descr="AWS CodeDeploy service icon.">
            <a:extLst>
              <a:ext uri="{FF2B5EF4-FFF2-40B4-BE49-F238E27FC236}">
                <a16:creationId xmlns:a16="http://schemas.microsoft.com/office/drawing/2014/main" id="{F85531E9-FB5C-DB44-8673-B0B09C65D12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6821005" y="4668807"/>
            <a:ext cx="291353" cy="28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3" name="TextBox 15">
            <a:extLst>
              <a:ext uri="{FF2B5EF4-FFF2-40B4-BE49-F238E27FC236}">
                <a16:creationId xmlns:a16="http://schemas.microsoft.com/office/drawing/2014/main" id="{8CDE172E-07A9-E245-9096-2652D0201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1369" y="4975483"/>
            <a:ext cx="7459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dk1"/>
                </a:solidFill>
                <a:latin typeface="Arial"/>
              </a:rPr>
              <a:t>AWS CodeDeploy</a:t>
            </a:r>
          </a:p>
        </p:txBody>
      </p:sp>
      <p:cxnSp>
        <p:nvCxnSpPr>
          <p:cNvPr id="454" name="Google Shape;358;g3d6e2211149_2_228">
            <a:extLst>
              <a:ext uri="{FF2B5EF4-FFF2-40B4-BE49-F238E27FC236}">
                <a16:creationId xmlns:a16="http://schemas.microsoft.com/office/drawing/2014/main" id="{96DAD22A-A7A1-D94E-8C92-5986E2396726}"/>
              </a:ext>
            </a:extLst>
          </p:cNvPr>
          <p:cNvCxnSpPr>
            <a:cxnSpLocks/>
            <a:stCxn id="234" idx="3"/>
            <a:endCxn id="450" idx="1"/>
          </p:cNvCxnSpPr>
          <p:nvPr/>
        </p:nvCxnSpPr>
        <p:spPr>
          <a:xfrm flipV="1">
            <a:off x="4732327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5" name="Google Shape;358;g3d6e2211149_2_228">
            <a:extLst>
              <a:ext uri="{FF2B5EF4-FFF2-40B4-BE49-F238E27FC236}">
                <a16:creationId xmlns:a16="http://schemas.microsoft.com/office/drawing/2014/main" id="{59176ED2-7214-D043-851C-7F945AEEC799}"/>
              </a:ext>
            </a:extLst>
          </p:cNvPr>
          <p:cNvCxnSpPr>
            <a:cxnSpLocks/>
          </p:cNvCxnSpPr>
          <p:nvPr/>
        </p:nvCxnSpPr>
        <p:spPr>
          <a:xfrm flipV="1">
            <a:off x="5584035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6" name="Google Shape;358;g3d6e2211149_2_228">
            <a:extLst>
              <a:ext uri="{FF2B5EF4-FFF2-40B4-BE49-F238E27FC236}">
                <a16:creationId xmlns:a16="http://schemas.microsoft.com/office/drawing/2014/main" id="{9E3C16A9-0AB4-1C44-8A75-1D517828A231}"/>
              </a:ext>
            </a:extLst>
          </p:cNvPr>
          <p:cNvCxnSpPr>
            <a:cxnSpLocks/>
            <a:stCxn id="452" idx="1"/>
            <a:endCxn id="384" idx="1"/>
          </p:cNvCxnSpPr>
          <p:nvPr/>
        </p:nvCxnSpPr>
        <p:spPr>
          <a:xfrm flipH="1" flipV="1">
            <a:off x="5264066" y="4737123"/>
            <a:ext cx="1556939" cy="73946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1175793" y="1568506"/>
            <a:ext cx="153771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dk1"/>
                </a:solidFill>
              </a:rPr>
              <a:t>wearalbe-agent Repo</a:t>
            </a:r>
          </a:p>
        </p:txBody>
      </p:sp>
      <p:cxnSp>
        <p:nvCxnSpPr>
          <p:cNvPr id="466" name="Google Shape;358;g3d6e2211149_2_228">
            <a:extLst>
              <a:ext uri="{FF2B5EF4-FFF2-40B4-BE49-F238E27FC236}">
                <a16:creationId xmlns:a16="http://schemas.microsoft.com/office/drawing/2014/main" id="{F0ACEA8E-B844-1946-9EE5-7DADCA515003}"/>
              </a:ext>
            </a:extLst>
          </p:cNvPr>
          <p:cNvCxnSpPr>
            <a:cxnSpLocks/>
            <a:stCxn id="228" idx="0"/>
            <a:endCxn id="234" idx="1"/>
          </p:cNvCxnSpPr>
          <p:nvPr/>
        </p:nvCxnSpPr>
        <p:spPr>
          <a:xfrm>
            <a:off x="2991968" y="3733373"/>
            <a:ext cx="1455835" cy="203270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3" name="TextBox 472">
            <a:extLst>
              <a:ext uri="{FF2B5EF4-FFF2-40B4-BE49-F238E27FC236}">
                <a16:creationId xmlns:a16="http://schemas.microsoft.com/office/drawing/2014/main" id="{AA2AD6E9-8461-B94D-8654-5DD572D36A40}"/>
              </a:ext>
            </a:extLst>
          </p:cNvPr>
          <p:cNvSpPr txBox="1"/>
          <p:nvPr/>
        </p:nvSpPr>
        <p:spPr>
          <a:xfrm>
            <a:off x="4832969" y="6208022"/>
            <a:ext cx="13825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Wearable Pipeline</a:t>
            </a:r>
            <a:endParaRPr lang="en-KR" sz="800" b="1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82A682A4-FB7B-7646-ADF5-60319A97CC31}"/>
              </a:ext>
            </a:extLst>
          </p:cNvPr>
          <p:cNvSpPr txBox="1"/>
          <p:nvPr/>
        </p:nvSpPr>
        <p:spPr>
          <a:xfrm>
            <a:off x="2926199" y="1816179"/>
            <a:ext cx="1191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Unit Test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Security Scan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Docker Build Test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476" name="Graphic 19" descr="AWS CodeBuild service icon.">
            <a:extLst>
              <a:ext uri="{FF2B5EF4-FFF2-40B4-BE49-F238E27FC236}">
                <a16:creationId xmlns:a16="http://schemas.microsoft.com/office/drawing/2014/main" id="{44C4C64B-175D-B24D-BF8F-100F818DF0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6234581" y="5607460"/>
            <a:ext cx="345022" cy="34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" name="TextBox 11">
            <a:extLst>
              <a:ext uri="{FF2B5EF4-FFF2-40B4-BE49-F238E27FC236}">
                <a16:creationId xmlns:a16="http://schemas.microsoft.com/office/drawing/2014/main" id="{24D1B86C-8C61-8249-B920-EE10E637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360" y="5969164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cxnSp>
        <p:nvCxnSpPr>
          <p:cNvPr id="481" name="Google Shape;358;g3d6e2211149_2_228">
            <a:extLst>
              <a:ext uri="{FF2B5EF4-FFF2-40B4-BE49-F238E27FC236}">
                <a16:creationId xmlns:a16="http://schemas.microsoft.com/office/drawing/2014/main" id="{B0936E7C-CB73-6F4B-9690-1CED790BFCA0}"/>
              </a:ext>
            </a:extLst>
          </p:cNvPr>
          <p:cNvCxnSpPr>
            <a:cxnSpLocks/>
            <a:stCxn id="476" idx="3"/>
            <a:endCxn id="453" idx="0"/>
          </p:cNvCxnSpPr>
          <p:nvPr/>
        </p:nvCxnSpPr>
        <p:spPr>
          <a:xfrm flipV="1">
            <a:off x="6579603" y="4975483"/>
            <a:ext cx="394747" cy="8044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  <a:endCxn id="437" idx="0"/>
          </p:cNvCxnSpPr>
          <p:nvPr/>
        </p:nvCxnSpPr>
        <p:spPr>
          <a:xfrm flipH="1" flipV="1">
            <a:off x="2165784" y="2209241"/>
            <a:ext cx="27703" cy="106808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90" name="Google Shape;303;g3d6896b4338_0_0">
            <a:extLst>
              <a:ext uri="{FF2B5EF4-FFF2-40B4-BE49-F238E27FC236}">
                <a16:creationId xmlns:a16="http://schemas.microsoft.com/office/drawing/2014/main" id="{B9101083-54F1-6644-88C1-99C6A1CDC26F}"/>
              </a:ext>
            </a:extLst>
          </p:cNvPr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303;g3d6896b4338_0_0">
            <a:extLst>
              <a:ext uri="{FF2B5EF4-FFF2-40B4-BE49-F238E27FC236}">
                <a16:creationId xmlns:a16="http://schemas.microsoft.com/office/drawing/2014/main" id="{4D4A651C-89C5-474C-9BD7-C8403DCFA6BD}"/>
              </a:ext>
            </a:extLst>
          </p:cNvPr>
          <p:cNvSpPr/>
          <p:nvPr/>
        </p:nvSpPr>
        <p:spPr>
          <a:xfrm>
            <a:off x="442665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303;g3d6896b4338_0_0">
            <a:extLst>
              <a:ext uri="{FF2B5EF4-FFF2-40B4-BE49-F238E27FC236}">
                <a16:creationId xmlns:a16="http://schemas.microsoft.com/office/drawing/2014/main" id="{FA11BCF6-793A-7245-B674-4C4A80490EB0}"/>
              </a:ext>
            </a:extLst>
          </p:cNvPr>
          <p:cNvSpPr/>
          <p:nvPr/>
        </p:nvSpPr>
        <p:spPr>
          <a:xfrm>
            <a:off x="589789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303;g3d6896b4338_0_0">
            <a:extLst>
              <a:ext uri="{FF2B5EF4-FFF2-40B4-BE49-F238E27FC236}">
                <a16:creationId xmlns:a16="http://schemas.microsoft.com/office/drawing/2014/main" id="{1F6A8B33-E739-AC49-8C4D-C5B04ADA6327}"/>
              </a:ext>
            </a:extLst>
          </p:cNvPr>
          <p:cNvSpPr/>
          <p:nvPr/>
        </p:nvSpPr>
        <p:spPr>
          <a:xfrm>
            <a:off x="7209494" y="467564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303;g3d6896b4338_0_0">
            <a:extLst>
              <a:ext uri="{FF2B5EF4-FFF2-40B4-BE49-F238E27FC236}">
                <a16:creationId xmlns:a16="http://schemas.microsoft.com/office/drawing/2014/main" id="{BDF1B5E8-04C2-6340-A50E-8EABD54DF0FF}"/>
              </a:ext>
            </a:extLst>
          </p:cNvPr>
          <p:cNvSpPr/>
          <p:nvPr/>
        </p:nvSpPr>
        <p:spPr>
          <a:xfrm>
            <a:off x="5093042" y="496606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21075" y="3091084"/>
            <a:ext cx="1863434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 xml:space="preserve"> </a:t>
            </a:r>
            <a:r>
              <a:rPr lang="en-US" altLang="ko-KR" sz="900"/>
              <a:t>Push</a:t>
            </a:r>
            <a:r>
              <a:rPr lang="en-KR" altLang="ko-KR" sz="900"/>
              <a:t xml:space="preserve"> -&gt; </a:t>
            </a:r>
            <a:r>
              <a:rPr lang="en-KR" sz="900"/>
              <a:t>GitHub Repo</a:t>
            </a:r>
            <a:r>
              <a:rPr lang="ko-KR" altLang="en-US" sz="900"/>
              <a:t xml:space="preserve"> </a:t>
            </a:r>
            <a:r>
              <a:rPr lang="en-US" altLang="ko-KR" sz="900"/>
              <a:t>-&gt;</a:t>
            </a:r>
            <a:r>
              <a:rPr lang="ko-KR" altLang="en-US" sz="900"/>
              <a:t xml:space="preserve"> </a:t>
            </a:r>
            <a:r>
              <a:rPr lang="en-US" altLang="ko-KR" sz="900"/>
              <a:t>wearable-agent</a:t>
            </a:r>
            <a:endParaRPr lang="en-KR" sz="900"/>
          </a:p>
          <a:p>
            <a:endParaRPr lang="en-KR" sz="900"/>
          </a:p>
          <a:p>
            <a:r>
              <a:rPr lang="en-KR" sz="900"/>
              <a:t>2. GitHub Actions</a:t>
            </a:r>
          </a:p>
          <a:p>
            <a:pPr marL="171450" indent="-171450">
              <a:buFontTx/>
              <a:buChar char="-"/>
            </a:pPr>
            <a:r>
              <a:rPr lang="en-KR" sz="900"/>
              <a:t>Unit Test</a:t>
            </a:r>
          </a:p>
          <a:p>
            <a:pPr marL="171450" indent="-171450">
              <a:buFontTx/>
              <a:buChar char="-"/>
            </a:pPr>
            <a:r>
              <a:rPr lang="en-KR" sz="900"/>
              <a:t>Security Scan</a:t>
            </a:r>
          </a:p>
          <a:p>
            <a:pPr marL="171450" indent="-171450">
              <a:buFontTx/>
              <a:buChar char="-"/>
            </a:pPr>
            <a:r>
              <a:rPr lang="en-KR" sz="900"/>
              <a:t>Docker Build Test</a:t>
            </a:r>
          </a:p>
          <a:p>
            <a:pPr marL="171450" indent="-171450">
              <a:buFontTx/>
              <a:buChar char="-"/>
            </a:pPr>
            <a:endParaRPr lang="en-KR" sz="900"/>
          </a:p>
          <a:p>
            <a:r>
              <a:rPr lang="en-US" altLang="ko-KR" sz="900"/>
              <a:t>3.</a:t>
            </a:r>
            <a:r>
              <a:rPr lang="ko-KR" altLang="en-US" sz="900"/>
              <a:t xml:space="preserve"> 테스트 통과시</a:t>
            </a:r>
            <a:r>
              <a:rPr lang="en-US" altLang="ko-KR" sz="900"/>
              <a:t>,</a:t>
            </a:r>
            <a:r>
              <a:rPr lang="ko-KR" altLang="en-US" sz="900"/>
              <a:t xml:space="preserve"> </a:t>
            </a:r>
            <a:r>
              <a:rPr lang="en-US" altLang="ko-KR" sz="900"/>
              <a:t xml:space="preserve">GitHub Action </a:t>
            </a:r>
            <a:r>
              <a:rPr lang="ko-KR" altLang="en-US" sz="900"/>
              <a:t xml:space="preserve">자동 승인 </a:t>
            </a:r>
            <a:endParaRPr lang="en-KR" sz="900"/>
          </a:p>
          <a:p>
            <a:endParaRPr lang="en-KR" sz="900"/>
          </a:p>
          <a:p>
            <a:r>
              <a:rPr lang="en-KR" sz="900"/>
              <a:t>4. CodeCommit Mirror</a:t>
            </a:r>
          </a:p>
          <a:p>
            <a:endParaRPr lang="en-KR" sz="900"/>
          </a:p>
          <a:p>
            <a:r>
              <a:rPr lang="en-KR" sz="900"/>
              <a:t>5. CodePipeline -&gt; CodeBuild</a:t>
            </a:r>
            <a:r>
              <a:rPr lang="ko-KR" altLang="en-US" sz="900"/>
              <a:t xml:space="preserve"> </a:t>
            </a:r>
            <a:r>
              <a:rPr lang="en-US" altLang="ko-KR" sz="900"/>
              <a:t>-&gt;</a:t>
            </a:r>
            <a:r>
              <a:rPr lang="ko-KR" altLang="en-US" sz="900"/>
              <a:t xml:space="preserve"> 배포</a:t>
            </a:r>
            <a:r>
              <a:rPr lang="en-US" altLang="ko-KR" sz="900"/>
              <a:t xml:space="preserve"> bundle</a:t>
            </a:r>
            <a:r>
              <a:rPr lang="ko-KR" altLang="en-US" sz="900"/>
              <a:t xml:space="preserve"> 생성</a:t>
            </a:r>
            <a:endParaRPr lang="en-KR" sz="900"/>
          </a:p>
          <a:p>
            <a:endParaRPr lang="en-KR" sz="900"/>
          </a:p>
          <a:p>
            <a:r>
              <a:rPr lang="en-KR" sz="900"/>
              <a:t>6. AWS CodeDeploy -&gt; EC2</a:t>
            </a:r>
          </a:p>
          <a:p>
            <a:endParaRPr lang="en-KR" sz="900"/>
          </a:p>
          <a:p>
            <a:r>
              <a:rPr lang="en-KR" sz="900"/>
              <a:t xml:space="preserve">7. </a:t>
            </a:r>
            <a:r>
              <a:rPr lang="ko-KR" altLang="en-US" sz="900"/>
              <a:t>애플리케이션 재기동</a:t>
            </a:r>
            <a:endParaRPr lang="en-US" altLang="ko-KR" sz="900"/>
          </a:p>
          <a:p>
            <a:endParaRPr lang="en-US" altLang="ko-KR" sz="900"/>
          </a:p>
          <a:p>
            <a:r>
              <a:rPr lang="en-US" sz="900"/>
              <a:t>systemctl restart wearable-agent</a:t>
            </a:r>
            <a:endParaRPr lang="en-KR" sz="900"/>
          </a:p>
        </p:txBody>
      </p:sp>
      <p:sp>
        <p:nvSpPr>
          <p:cNvPr id="499" name="Google Shape;303;g3d6896b4338_0_0">
            <a:extLst>
              <a:ext uri="{FF2B5EF4-FFF2-40B4-BE49-F238E27FC236}">
                <a16:creationId xmlns:a16="http://schemas.microsoft.com/office/drawing/2014/main" id="{2C2AA00E-C437-9346-AA66-E1C3DE8A0E93}"/>
              </a:ext>
            </a:extLst>
          </p:cNvPr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01C240C1-79A2-7749-9953-6180DF22ACD4}"/>
              </a:ext>
            </a:extLst>
          </p:cNvPr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ko-KR" altLang="en-US" sz="800">
                <a:solidFill>
                  <a:schemeClr val="dk1"/>
                </a:solidFill>
              </a:rPr>
              <a:t xml:space="preserve">자동 승인 </a:t>
            </a:r>
            <a:endParaRPr lang="en-KR" sz="800">
              <a:solidFill>
                <a:schemeClr val="dk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B4CB548-6AD2-2942-9445-C31113B1D376}"/>
              </a:ext>
            </a:extLst>
          </p:cNvPr>
          <p:cNvSpPr txBox="1"/>
          <p:nvPr/>
        </p:nvSpPr>
        <p:spPr>
          <a:xfrm>
            <a:off x="64349" y="798896"/>
            <a:ext cx="148916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/>
              <a:t>wearable-agent/</a:t>
            </a:r>
            <a:endParaRPr lang="en-US" sz="900" b="1"/>
          </a:p>
          <a:p>
            <a:r>
              <a:rPr lang="en-US" sz="900"/>
              <a:t>├── appspec.yml</a:t>
            </a:r>
          </a:p>
          <a:p>
            <a:r>
              <a:rPr lang="en-US" sz="900"/>
              <a:t>├── wearable_sender.py</a:t>
            </a:r>
          </a:p>
          <a:p>
            <a:r>
              <a:rPr lang="en-US" sz="900"/>
              <a:t>├── requirements.txt</a:t>
            </a:r>
          </a:p>
          <a:p>
            <a:r>
              <a:rPr lang="en-US" sz="900"/>
              <a:t>├── .env</a:t>
            </a:r>
          </a:p>
          <a:p>
            <a:r>
              <a:rPr lang="en-US" sz="900"/>
              <a:t>└── scripts/</a:t>
            </a:r>
          </a:p>
          <a:p>
            <a:r>
              <a:rPr lang="en-US" sz="900"/>
              <a:t xml:space="preserve">    └── restart.sh</a:t>
            </a:r>
          </a:p>
        </p:txBody>
      </p:sp>
      <p:pic>
        <p:nvPicPr>
          <p:cNvPr id="117" name="Graphic 17" descr="AWS Secrets Manager service icon.">
            <a:extLst>
              <a:ext uri="{FF2B5EF4-FFF2-40B4-BE49-F238E27FC236}">
                <a16:creationId xmlns:a16="http://schemas.microsoft.com/office/drawing/2014/main" id="{5FB7B0CE-F8A6-EB4D-9B39-06487A1598F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6683696" y="3723256"/>
            <a:ext cx="390032" cy="372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" name="TextBox 11">
            <a:extLst>
              <a:ext uri="{FF2B5EF4-FFF2-40B4-BE49-F238E27FC236}">
                <a16:creationId xmlns:a16="http://schemas.microsoft.com/office/drawing/2014/main" id="{BDFC61ED-E97F-8C4F-989B-092FCA9EA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350" y="4158672"/>
            <a:ext cx="11396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 xml:space="preserve">AWS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pic>
        <p:nvPicPr>
          <p:cNvPr id="109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DA01C0BE-E40D-1D41-A03E-FF35F801A907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6868601" y="5588567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274;g3d6e2211149_2_228">
            <a:extLst>
              <a:ext uri="{FF2B5EF4-FFF2-40B4-BE49-F238E27FC236}">
                <a16:creationId xmlns:a16="http://schemas.microsoft.com/office/drawing/2014/main" id="{0EB5B4C0-0E06-BD43-9063-0CC0044E5C55}"/>
              </a:ext>
            </a:extLst>
          </p:cNvPr>
          <p:cNvSpPr txBox="1"/>
          <p:nvPr/>
        </p:nvSpPr>
        <p:spPr>
          <a:xfrm>
            <a:off x="7145084" y="5644361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251;g3d6e2211149_2_228" descr="VPC group icon. ">
            <a:extLst>
              <a:ext uri="{FF2B5EF4-FFF2-40B4-BE49-F238E27FC236}">
                <a16:creationId xmlns:a16="http://schemas.microsoft.com/office/drawing/2014/main" id="{04B1F72D-F19E-7740-A083-F73A458FF88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252;g3d6e2211149_2_228">
            <a:extLst>
              <a:ext uri="{FF2B5EF4-FFF2-40B4-BE49-F238E27FC236}">
                <a16:creationId xmlns:a16="http://schemas.microsoft.com/office/drawing/2014/main" id="{040A1847-DA3A-8E44-9966-B8AA4E7AD4AD}"/>
              </a:ext>
            </a:extLst>
          </p:cNvPr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21" name="Google Shape;253;g3d6e2211149_2_228" descr="Public subnet group icon. ">
            <a:extLst>
              <a:ext uri="{FF2B5EF4-FFF2-40B4-BE49-F238E27FC236}">
                <a16:creationId xmlns:a16="http://schemas.microsoft.com/office/drawing/2014/main" id="{8A16B0D3-D89D-594B-8462-4F873B461FB5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FE8D4537-58A6-5D41-A813-3E2D95B072B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17556570-78B8-B24E-A872-050738F521CA}"/>
              </a:ext>
            </a:extLst>
          </p:cNvPr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284;g3d6e2211149_2_228">
            <a:extLst>
              <a:ext uri="{FF2B5EF4-FFF2-40B4-BE49-F238E27FC236}">
                <a16:creationId xmlns:a16="http://schemas.microsoft.com/office/drawing/2014/main" id="{9B4FE4FF-86F6-0541-B422-EB148665385F}"/>
              </a:ext>
            </a:extLst>
          </p:cNvPr>
          <p:cNvCxnSpPr>
            <a:stCxn id="125" idx="3"/>
            <a:endCxn id="123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25" name="Google Shape;285;g3d6e2211149_2_228" descr="AWS WAF service icon.">
            <a:extLst>
              <a:ext uri="{FF2B5EF4-FFF2-40B4-BE49-F238E27FC236}">
                <a16:creationId xmlns:a16="http://schemas.microsoft.com/office/drawing/2014/main" id="{C38F085C-B202-704B-AE34-9F1BA3F94997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286;g3d6e2211149_2_228">
            <a:extLst>
              <a:ext uri="{FF2B5EF4-FFF2-40B4-BE49-F238E27FC236}">
                <a16:creationId xmlns:a16="http://schemas.microsoft.com/office/drawing/2014/main" id="{970E96B8-176A-E447-ABB2-AA4DC0704A11}"/>
              </a:ext>
            </a:extLst>
          </p:cNvPr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27" name="Google Shape;287;g3d6e2211149_2_228">
            <a:extLst>
              <a:ext uri="{FF2B5EF4-FFF2-40B4-BE49-F238E27FC236}">
                <a16:creationId xmlns:a16="http://schemas.microsoft.com/office/drawing/2014/main" id="{596B4714-986E-444F-B1A7-4CD14A46D903}"/>
              </a:ext>
            </a:extLst>
          </p:cNvPr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128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1A328029-9DD0-164C-95EE-A7A8D881B0FC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297;g3d6e2211149_2_228">
            <a:extLst>
              <a:ext uri="{FF2B5EF4-FFF2-40B4-BE49-F238E27FC236}">
                <a16:creationId xmlns:a16="http://schemas.microsoft.com/office/drawing/2014/main" id="{449504DA-A226-D14A-A9D7-785C7CF93F32}"/>
              </a:ext>
            </a:extLst>
          </p:cNvPr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130" name="Google Shape;298;g3d6e2211149_2_228">
            <a:extLst>
              <a:ext uri="{FF2B5EF4-FFF2-40B4-BE49-F238E27FC236}">
                <a16:creationId xmlns:a16="http://schemas.microsoft.com/office/drawing/2014/main" id="{1036B4E2-8209-044D-B824-EDF8ED72E96D}"/>
              </a:ext>
            </a:extLst>
          </p:cNvPr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3" name="Google Shape;303;g3d6e2211149_2_228">
            <a:extLst>
              <a:ext uri="{FF2B5EF4-FFF2-40B4-BE49-F238E27FC236}">
                <a16:creationId xmlns:a16="http://schemas.microsoft.com/office/drawing/2014/main" id="{B17AD790-51B2-1045-8E62-4BFCCC96E86A}"/>
              </a:ext>
            </a:extLst>
          </p:cNvPr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134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56C049C-A9EE-6445-B858-C77748D224A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305;g3d6e2211149_2_228">
            <a:extLst>
              <a:ext uri="{FF2B5EF4-FFF2-40B4-BE49-F238E27FC236}">
                <a16:creationId xmlns:a16="http://schemas.microsoft.com/office/drawing/2014/main" id="{BC38C326-8F54-5E4E-9B25-52DDB1456021}"/>
              </a:ext>
            </a:extLst>
          </p:cNvPr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136" name="Google Shape;306;g3d6e2211149_2_228">
            <a:extLst>
              <a:ext uri="{FF2B5EF4-FFF2-40B4-BE49-F238E27FC236}">
                <a16:creationId xmlns:a16="http://schemas.microsoft.com/office/drawing/2014/main" id="{4146CD32-2668-2E47-A134-C6B39AE99E33}"/>
              </a:ext>
            </a:extLst>
          </p:cNvPr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2C1CD984-F145-1143-8E1A-F5309028EE52}"/>
              </a:ext>
            </a:extLst>
          </p:cNvPr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341;g3d6e2211149_2_228">
            <a:extLst>
              <a:ext uri="{FF2B5EF4-FFF2-40B4-BE49-F238E27FC236}">
                <a16:creationId xmlns:a16="http://schemas.microsoft.com/office/drawing/2014/main" id="{7637AD88-2D18-0B4A-9167-FE4FAFF12825}"/>
              </a:ext>
            </a:extLst>
          </p:cNvPr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39" name="Google Shape;342;g3d6e2211149_2_228" descr="Private subnet group icon. ">
            <a:extLst>
              <a:ext uri="{FF2B5EF4-FFF2-40B4-BE49-F238E27FC236}">
                <a16:creationId xmlns:a16="http://schemas.microsoft.com/office/drawing/2014/main" id="{024C487E-32BA-0B42-A64F-72ECE1EA9DD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347;g3d6e2211149_2_228" descr="AWS Auto Scaling service icon.">
            <a:extLst>
              <a:ext uri="{FF2B5EF4-FFF2-40B4-BE49-F238E27FC236}">
                <a16:creationId xmlns:a16="http://schemas.microsoft.com/office/drawing/2014/main" id="{0AECAF62-F9AC-A54F-8079-A24E2A3558FD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348;g3d6e2211149_2_228">
            <a:extLst>
              <a:ext uri="{FF2B5EF4-FFF2-40B4-BE49-F238E27FC236}">
                <a16:creationId xmlns:a16="http://schemas.microsoft.com/office/drawing/2014/main" id="{E09AF1DF-F290-3D41-B48A-62BF9B37DFE3}"/>
              </a:ext>
            </a:extLst>
          </p:cNvPr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sp>
        <p:nvSpPr>
          <p:cNvPr id="144" name="Google Shape;255;g3d6e2211149_2_228">
            <a:extLst>
              <a:ext uri="{FF2B5EF4-FFF2-40B4-BE49-F238E27FC236}">
                <a16:creationId xmlns:a16="http://schemas.microsoft.com/office/drawing/2014/main" id="{FAA529DB-8B7F-AC4D-BF46-F207539AFA06}"/>
              </a:ext>
            </a:extLst>
          </p:cNvPr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153" name="Google Shape;275;g3d6e2211149_2_228" descr="Amazon Aurora service icon.">
            <a:extLst>
              <a:ext uri="{FF2B5EF4-FFF2-40B4-BE49-F238E27FC236}">
                <a16:creationId xmlns:a16="http://schemas.microsoft.com/office/drawing/2014/main" id="{916D0613-F046-4E49-A9C5-5B56EAF14C3C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795868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276;g3d6e2211149_2_228">
            <a:extLst>
              <a:ext uri="{FF2B5EF4-FFF2-40B4-BE49-F238E27FC236}">
                <a16:creationId xmlns:a16="http://schemas.microsoft.com/office/drawing/2014/main" id="{E8C57639-EF44-8342-9EB7-B2F6C0779060}"/>
              </a:ext>
            </a:extLst>
          </p:cNvPr>
          <p:cNvSpPr txBox="1"/>
          <p:nvPr/>
        </p:nvSpPr>
        <p:spPr>
          <a:xfrm>
            <a:off x="771071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158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99911879-3884-B345-81C8-E13D920A9332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56591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280;g3d6e2211149_2_228">
            <a:extLst>
              <a:ext uri="{FF2B5EF4-FFF2-40B4-BE49-F238E27FC236}">
                <a16:creationId xmlns:a16="http://schemas.microsoft.com/office/drawing/2014/main" id="{830A79DD-DA32-914E-A4B2-274E47B84A68}"/>
              </a:ext>
            </a:extLst>
          </p:cNvPr>
          <p:cNvSpPr txBox="1"/>
          <p:nvPr/>
        </p:nvSpPr>
        <p:spPr>
          <a:xfrm>
            <a:off x="823028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168" name="Google Shape;294;g3d6e2211149_2_228" descr="AWS Lambda service icon.">
            <a:extLst>
              <a:ext uri="{FF2B5EF4-FFF2-40B4-BE49-F238E27FC236}">
                <a16:creationId xmlns:a16="http://schemas.microsoft.com/office/drawing/2014/main" id="{6D6DED4B-F08D-2C48-8BDC-E14C84CECA3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8328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295;g3d6e2211149_2_228">
            <a:extLst>
              <a:ext uri="{FF2B5EF4-FFF2-40B4-BE49-F238E27FC236}">
                <a16:creationId xmlns:a16="http://schemas.microsoft.com/office/drawing/2014/main" id="{B7B3BAEC-B53C-DC4A-B97D-DD7C9E8DC557}"/>
              </a:ext>
            </a:extLst>
          </p:cNvPr>
          <p:cNvSpPr txBox="1"/>
          <p:nvPr/>
        </p:nvSpPr>
        <p:spPr>
          <a:xfrm>
            <a:off x="845229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76" name="Google Shape;342;g3d6e2211149_2_228" descr="Private subnet group icon. ">
            <a:extLst>
              <a:ext uri="{FF2B5EF4-FFF2-40B4-BE49-F238E27FC236}">
                <a16:creationId xmlns:a16="http://schemas.microsoft.com/office/drawing/2014/main" id="{ED745920-7FC6-1C47-8C46-B677474BD74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1460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250;g3d6e2211149_2_228">
            <a:extLst>
              <a:ext uri="{FF2B5EF4-FFF2-40B4-BE49-F238E27FC236}">
                <a16:creationId xmlns:a16="http://schemas.microsoft.com/office/drawing/2014/main" id="{BF2AC483-6D2B-5242-B2D4-338BA80DF33F}"/>
              </a:ext>
            </a:extLst>
          </p:cNvPr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sp>
        <p:nvSpPr>
          <p:cNvPr id="178" name="Google Shape;341;g3d6e2211149_2_228">
            <a:extLst>
              <a:ext uri="{FF2B5EF4-FFF2-40B4-BE49-F238E27FC236}">
                <a16:creationId xmlns:a16="http://schemas.microsoft.com/office/drawing/2014/main" id="{1523389E-014B-1844-9DC0-FEB28CFE6B13}"/>
              </a:ext>
            </a:extLst>
          </p:cNvPr>
          <p:cNvSpPr/>
          <p:nvPr/>
        </p:nvSpPr>
        <p:spPr>
          <a:xfrm>
            <a:off x="7808530" y="1924379"/>
            <a:ext cx="1537812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610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 – Group VM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lang="en-US" sz="1200"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6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27DAEBE3-0CEB-ED4A-B0C9-D25C4320D40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22443" y="445939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257;g3d6e2211149_2_228">
            <a:extLst>
              <a:ext uri="{FF2B5EF4-FFF2-40B4-BE49-F238E27FC236}">
                <a16:creationId xmlns:a16="http://schemas.microsoft.com/office/drawing/2014/main" id="{4F4B1242-5B05-624D-A385-3A7F195F199D}"/>
              </a:ext>
            </a:extLst>
          </p:cNvPr>
          <p:cNvSpPr txBox="1"/>
          <p:nvPr/>
        </p:nvSpPr>
        <p:spPr>
          <a:xfrm>
            <a:off x="9026187" y="4916598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sp>
        <p:nvSpPr>
          <p:cNvPr id="221" name="Google Shape;312;g3d6e2211149_2_228">
            <a:extLst>
              <a:ext uri="{FF2B5EF4-FFF2-40B4-BE49-F238E27FC236}">
                <a16:creationId xmlns:a16="http://schemas.microsoft.com/office/drawing/2014/main" id="{0BE63228-5717-E647-B82F-E46FE96D9FE8}"/>
              </a:ext>
            </a:extLst>
          </p:cNvPr>
          <p:cNvSpPr/>
          <p:nvPr/>
        </p:nvSpPr>
        <p:spPr>
          <a:xfrm>
            <a:off x="8663336" y="3570802"/>
            <a:ext cx="30939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222" name="Google Shape;313;g3d6e2211149_2_228" descr="VPC group icon. ">
            <a:extLst>
              <a:ext uri="{FF2B5EF4-FFF2-40B4-BE49-F238E27FC236}">
                <a16:creationId xmlns:a16="http://schemas.microsoft.com/office/drawing/2014/main" id="{D050969A-F721-534A-BEE9-ACA3DD4B1F7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71505" y="357182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230" name="Google Shape;320;g3d6e2211149_2_228">
            <a:extLst>
              <a:ext uri="{FF2B5EF4-FFF2-40B4-BE49-F238E27FC236}">
                <a16:creationId xmlns:a16="http://schemas.microsoft.com/office/drawing/2014/main" id="{003E6474-7820-0744-8B93-69B5AF48CACC}"/>
              </a:ext>
            </a:extLst>
          </p:cNvPr>
          <p:cNvSpPr/>
          <p:nvPr/>
        </p:nvSpPr>
        <p:spPr>
          <a:xfrm>
            <a:off x="8769962" y="4039563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Public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 dirty="0"/>
          </a:p>
        </p:txBody>
      </p:sp>
      <p:pic>
        <p:nvPicPr>
          <p:cNvPr id="231" name="Google Shape;321;g3d6e2211149_2_228" descr="Public subnet group icon. ">
            <a:extLst>
              <a:ext uri="{FF2B5EF4-FFF2-40B4-BE49-F238E27FC236}">
                <a16:creationId xmlns:a16="http://schemas.microsoft.com/office/drawing/2014/main" id="{CB9EE438-43CC-564F-B7BF-725D0FA016E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68528" y="4037919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322;g3d6e2211149_2_228">
            <a:extLst>
              <a:ext uri="{FF2B5EF4-FFF2-40B4-BE49-F238E27FC236}">
                <a16:creationId xmlns:a16="http://schemas.microsoft.com/office/drawing/2014/main" id="{3511DAEE-742D-464B-BD3E-2B16BD1A8147}"/>
              </a:ext>
            </a:extLst>
          </p:cNvPr>
          <p:cNvSpPr/>
          <p:nvPr/>
        </p:nvSpPr>
        <p:spPr>
          <a:xfrm>
            <a:off x="9981530" y="4024239"/>
            <a:ext cx="1698600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233" name="Google Shape;323;g3d6e2211149_2_228" descr="Private subnet group icon. ">
            <a:extLst>
              <a:ext uri="{FF2B5EF4-FFF2-40B4-BE49-F238E27FC236}">
                <a16:creationId xmlns:a16="http://schemas.microsoft.com/office/drawing/2014/main" id="{75AE7F28-3326-AD46-8030-71710C6A8FDA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65205" y="402750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324;g3d6e2211149_2_228" descr="AWS CodeCommit service icon.">
            <a:extLst>
              <a:ext uri="{FF2B5EF4-FFF2-40B4-BE49-F238E27FC236}">
                <a16:creationId xmlns:a16="http://schemas.microsoft.com/office/drawing/2014/main" id="{3FA5E6E8-2A9F-3A4F-B3EA-8D5C0CE0AC18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47803" y="5623812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325;g3d6e2211149_2_228">
            <a:extLst>
              <a:ext uri="{FF2B5EF4-FFF2-40B4-BE49-F238E27FC236}">
                <a16:creationId xmlns:a16="http://schemas.microsoft.com/office/drawing/2014/main" id="{DCCB0AE8-B0E1-0C41-A34B-FA06C9603AE8}"/>
              </a:ext>
            </a:extLst>
          </p:cNvPr>
          <p:cNvSpPr txBox="1"/>
          <p:nvPr/>
        </p:nvSpPr>
        <p:spPr>
          <a:xfrm>
            <a:off x="4054599" y="5911151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8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4D42E47-B053-614F-948E-30D13B770B27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82299" y="4404431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27;g3d6e2211149_2_228">
            <a:extLst>
              <a:ext uri="{FF2B5EF4-FFF2-40B4-BE49-F238E27FC236}">
                <a16:creationId xmlns:a16="http://schemas.microsoft.com/office/drawing/2014/main" id="{E00CCAF4-26A1-9A45-8524-469226FAF8BD}"/>
              </a:ext>
            </a:extLst>
          </p:cNvPr>
          <p:cNvSpPr txBox="1"/>
          <p:nvPr/>
        </p:nvSpPr>
        <p:spPr>
          <a:xfrm>
            <a:off x="10710880" y="4356115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(금융/병원)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7EC0B57-A912-2E4C-A9BA-5879AA25DB5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29;g3d6e2211149_2_228">
            <a:extLst>
              <a:ext uri="{FF2B5EF4-FFF2-40B4-BE49-F238E27FC236}">
                <a16:creationId xmlns:a16="http://schemas.microsoft.com/office/drawing/2014/main" id="{21A90825-E47C-174F-BF0A-811C35AD9844}"/>
              </a:ext>
            </a:extLst>
          </p:cNvPr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33;g3d6e2211149_2_228">
            <a:extLst>
              <a:ext uri="{FF2B5EF4-FFF2-40B4-BE49-F238E27FC236}">
                <a16:creationId xmlns:a16="http://schemas.microsoft.com/office/drawing/2014/main" id="{DCBCC5B9-0FB1-B242-80DC-5AF1D1DE88C0}"/>
              </a:ext>
            </a:extLst>
          </p:cNvPr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89" name="Google Shape;334;g3d6e2211149_2_228" descr="VPC group icon. ">
            <a:extLst>
              <a:ext uri="{FF2B5EF4-FFF2-40B4-BE49-F238E27FC236}">
                <a16:creationId xmlns:a16="http://schemas.microsoft.com/office/drawing/2014/main" id="{DA60BF6E-2624-FA4C-8CEA-DE20C58D963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35;g3d6e2211149_2_228">
            <a:extLst>
              <a:ext uri="{FF2B5EF4-FFF2-40B4-BE49-F238E27FC236}">
                <a16:creationId xmlns:a16="http://schemas.microsoft.com/office/drawing/2014/main" id="{800BE764-B4E9-164F-80DB-CD77960CB2B1}"/>
              </a:ext>
            </a:extLst>
          </p:cNvPr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91" name="Google Shape;336;g3d6e2211149_2_228" descr="Public subnet group icon. ">
            <a:extLst>
              <a:ext uri="{FF2B5EF4-FFF2-40B4-BE49-F238E27FC236}">
                <a16:creationId xmlns:a16="http://schemas.microsoft.com/office/drawing/2014/main" id="{AF945080-C342-CA41-A943-1A9A71FFF4E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724C84A-EA7E-CB47-902B-89384207BC2D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38;g3d6e2211149_2_228">
            <a:extLst>
              <a:ext uri="{FF2B5EF4-FFF2-40B4-BE49-F238E27FC236}">
                <a16:creationId xmlns:a16="http://schemas.microsoft.com/office/drawing/2014/main" id="{F454A5CD-24AC-B64C-A0E3-CA42311BB862}"/>
              </a:ext>
            </a:extLst>
          </p:cNvPr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394" name="Google Shape;339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6D19BF28-E173-8047-90F0-3335FDB5F174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54953" y="451901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40;g3d6e2211149_2_228">
            <a:extLst>
              <a:ext uri="{FF2B5EF4-FFF2-40B4-BE49-F238E27FC236}">
                <a16:creationId xmlns:a16="http://schemas.microsoft.com/office/drawing/2014/main" id="{1B618041-4361-9F42-BF51-6DEC0D245B48}"/>
              </a:ext>
            </a:extLst>
          </p:cNvPr>
          <p:cNvSpPr txBox="1"/>
          <p:nvPr/>
        </p:nvSpPr>
        <p:spPr>
          <a:xfrm>
            <a:off x="8317254" y="4917067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3FF0D3FF-9F0E-B145-B883-13801622238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99290" y="1844576"/>
            <a:ext cx="343546" cy="343546"/>
          </a:xfrm>
          <a:prstGeom prst="rect">
            <a:avLst/>
          </a:prstGeom>
        </p:spPr>
      </p:pic>
      <p:sp>
        <p:nvSpPr>
          <p:cNvPr id="437" name="Google Shape;244;g3d6e2211149_2_228">
            <a:extLst>
              <a:ext uri="{FF2B5EF4-FFF2-40B4-BE49-F238E27FC236}">
                <a16:creationId xmlns:a16="http://schemas.microsoft.com/office/drawing/2014/main" id="{A2EAA181-7531-EE45-A7F0-12D0359CCD23}"/>
              </a:ext>
            </a:extLst>
          </p:cNvPr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raphic 437">
            <a:extLst>
              <a:ext uri="{FF2B5EF4-FFF2-40B4-BE49-F238E27FC236}">
                <a16:creationId xmlns:a16="http://schemas.microsoft.com/office/drawing/2014/main" id="{77A74984-FF2E-444A-ACB1-8A97A7F3B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523289" y="1818344"/>
            <a:ext cx="397735" cy="397735"/>
          </a:xfrm>
          <a:prstGeom prst="rect">
            <a:avLst/>
          </a:prstGeom>
        </p:spPr>
      </p:pic>
      <p:sp>
        <p:nvSpPr>
          <p:cNvPr id="439" name="Google Shape;244;g3d6e2211149_2_228">
            <a:extLst>
              <a:ext uri="{FF2B5EF4-FFF2-40B4-BE49-F238E27FC236}">
                <a16:creationId xmlns:a16="http://schemas.microsoft.com/office/drawing/2014/main" id="{7A84FFBE-2A8F-584B-9616-ECCF1A3E33D4}"/>
              </a:ext>
            </a:extLst>
          </p:cNvPr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Actions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외부망 개발 = GitHub Enterprise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cxnSp>
        <p:nvCxnSpPr>
          <p:cNvPr id="447" name="Google Shape;358;g3d6e2211149_2_228">
            <a:extLst>
              <a:ext uri="{FF2B5EF4-FFF2-40B4-BE49-F238E27FC236}">
                <a16:creationId xmlns:a16="http://schemas.microsoft.com/office/drawing/2014/main" id="{0F0CE645-B64F-0E48-BD0D-5BF4C3FAAD62}"/>
              </a:ext>
            </a:extLst>
          </p:cNvPr>
          <p:cNvCxnSpPr>
            <a:cxnSpLocks/>
            <a:stCxn id="439" idx="2"/>
          </p:cNvCxnSpPr>
          <p:nvPr/>
        </p:nvCxnSpPr>
        <p:spPr>
          <a:xfrm>
            <a:off x="2775789" y="2547755"/>
            <a:ext cx="223677" cy="110357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450" name="Google Shape;308;g3d6e2211149_2_228" descr="AWS CodePipeline service icon.">
            <a:extLst>
              <a:ext uri="{FF2B5EF4-FFF2-40B4-BE49-F238E27FC236}">
                <a16:creationId xmlns:a16="http://schemas.microsoft.com/office/drawing/2014/main" id="{54F2BD4E-CCDF-5E43-8425-07F71136F922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309524" y="5623811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309;g3d6e2211149_2_228">
            <a:extLst>
              <a:ext uri="{FF2B5EF4-FFF2-40B4-BE49-F238E27FC236}">
                <a16:creationId xmlns:a16="http://schemas.microsoft.com/office/drawing/2014/main" id="{544405CA-AB75-0844-A2F1-545BB8BE1DF0}"/>
              </a:ext>
            </a:extLst>
          </p:cNvPr>
          <p:cNvSpPr txBox="1"/>
          <p:nvPr/>
        </p:nvSpPr>
        <p:spPr>
          <a:xfrm>
            <a:off x="4962060" y="5889677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pic>
        <p:nvPicPr>
          <p:cNvPr id="452" name="Graphic 23" descr="AWS CodeDeploy service icon.">
            <a:extLst>
              <a:ext uri="{FF2B5EF4-FFF2-40B4-BE49-F238E27FC236}">
                <a16:creationId xmlns:a16="http://schemas.microsoft.com/office/drawing/2014/main" id="{F85531E9-FB5C-DB44-8673-B0B09C65D12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6821005" y="4668807"/>
            <a:ext cx="291353" cy="28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3" name="TextBox 15">
            <a:extLst>
              <a:ext uri="{FF2B5EF4-FFF2-40B4-BE49-F238E27FC236}">
                <a16:creationId xmlns:a16="http://schemas.microsoft.com/office/drawing/2014/main" id="{8CDE172E-07A9-E245-9096-2652D0201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1369" y="4975483"/>
            <a:ext cx="7459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dk1"/>
                </a:solidFill>
                <a:latin typeface="Arial"/>
              </a:rPr>
              <a:t>AWS CodeDeploy</a:t>
            </a:r>
          </a:p>
        </p:txBody>
      </p:sp>
      <p:cxnSp>
        <p:nvCxnSpPr>
          <p:cNvPr id="454" name="Google Shape;358;g3d6e2211149_2_228">
            <a:extLst>
              <a:ext uri="{FF2B5EF4-FFF2-40B4-BE49-F238E27FC236}">
                <a16:creationId xmlns:a16="http://schemas.microsoft.com/office/drawing/2014/main" id="{96DAD22A-A7A1-D94E-8C92-5986E2396726}"/>
              </a:ext>
            </a:extLst>
          </p:cNvPr>
          <p:cNvCxnSpPr>
            <a:cxnSpLocks/>
            <a:stCxn id="234" idx="3"/>
            <a:endCxn id="450" idx="1"/>
          </p:cNvCxnSpPr>
          <p:nvPr/>
        </p:nvCxnSpPr>
        <p:spPr>
          <a:xfrm flipV="1">
            <a:off x="4732327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5" name="Google Shape;358;g3d6e2211149_2_228">
            <a:extLst>
              <a:ext uri="{FF2B5EF4-FFF2-40B4-BE49-F238E27FC236}">
                <a16:creationId xmlns:a16="http://schemas.microsoft.com/office/drawing/2014/main" id="{59176ED2-7214-D043-851C-7F945AEEC799}"/>
              </a:ext>
            </a:extLst>
          </p:cNvPr>
          <p:cNvCxnSpPr>
            <a:cxnSpLocks/>
          </p:cNvCxnSpPr>
          <p:nvPr/>
        </p:nvCxnSpPr>
        <p:spPr>
          <a:xfrm flipV="1">
            <a:off x="5584035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6" name="Google Shape;358;g3d6e2211149_2_228">
            <a:extLst>
              <a:ext uri="{FF2B5EF4-FFF2-40B4-BE49-F238E27FC236}">
                <a16:creationId xmlns:a16="http://schemas.microsoft.com/office/drawing/2014/main" id="{9E3C16A9-0AB4-1C44-8A75-1D517828A231}"/>
              </a:ext>
            </a:extLst>
          </p:cNvPr>
          <p:cNvCxnSpPr>
            <a:cxnSpLocks/>
            <a:stCxn id="452" idx="3"/>
            <a:endCxn id="381" idx="1"/>
          </p:cNvCxnSpPr>
          <p:nvPr/>
        </p:nvCxnSpPr>
        <p:spPr>
          <a:xfrm flipV="1">
            <a:off x="7112358" y="4603319"/>
            <a:ext cx="3369941" cy="20775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1407316" y="1466845"/>
            <a:ext cx="153771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chemeClr val="dk1"/>
                </a:solidFill>
              </a:rPr>
              <a:t xml:space="preserve">groupvm-simulator </a:t>
            </a:r>
          </a:p>
          <a:p>
            <a:pPr marR="0"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chemeClr val="dk1"/>
                </a:solidFill>
              </a:rPr>
              <a:t>Repo</a:t>
            </a:r>
          </a:p>
        </p:txBody>
      </p:sp>
      <p:cxnSp>
        <p:nvCxnSpPr>
          <p:cNvPr id="466" name="Google Shape;358;g3d6e2211149_2_228">
            <a:extLst>
              <a:ext uri="{FF2B5EF4-FFF2-40B4-BE49-F238E27FC236}">
                <a16:creationId xmlns:a16="http://schemas.microsoft.com/office/drawing/2014/main" id="{F0ACEA8E-B844-1946-9EE5-7DADCA515003}"/>
              </a:ext>
            </a:extLst>
          </p:cNvPr>
          <p:cNvCxnSpPr>
            <a:cxnSpLocks/>
            <a:stCxn id="228" idx="0"/>
            <a:endCxn id="234" idx="1"/>
          </p:cNvCxnSpPr>
          <p:nvPr/>
        </p:nvCxnSpPr>
        <p:spPr>
          <a:xfrm>
            <a:off x="2991968" y="3733373"/>
            <a:ext cx="1455835" cy="203270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3" name="TextBox 472">
            <a:extLst>
              <a:ext uri="{FF2B5EF4-FFF2-40B4-BE49-F238E27FC236}">
                <a16:creationId xmlns:a16="http://schemas.microsoft.com/office/drawing/2014/main" id="{AA2AD6E9-8461-B94D-8654-5DD572D36A40}"/>
              </a:ext>
            </a:extLst>
          </p:cNvPr>
          <p:cNvSpPr txBox="1"/>
          <p:nvPr/>
        </p:nvSpPr>
        <p:spPr>
          <a:xfrm>
            <a:off x="4796117" y="6265732"/>
            <a:ext cx="13825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groupvm Pipeline</a:t>
            </a:r>
            <a:endParaRPr lang="en-KR" sz="800" b="1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82A682A4-FB7B-7646-ADF5-60319A97CC31}"/>
              </a:ext>
            </a:extLst>
          </p:cNvPr>
          <p:cNvSpPr txBox="1"/>
          <p:nvPr/>
        </p:nvSpPr>
        <p:spPr>
          <a:xfrm>
            <a:off x="2926199" y="1816179"/>
            <a:ext cx="1191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Unit Test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Security Scan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Docker Build Test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476" name="Graphic 19" descr="AWS CodeBuild service icon.">
            <a:extLst>
              <a:ext uri="{FF2B5EF4-FFF2-40B4-BE49-F238E27FC236}">
                <a16:creationId xmlns:a16="http://schemas.microsoft.com/office/drawing/2014/main" id="{44C4C64B-175D-B24D-BF8F-100F818DF0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6234581" y="5607460"/>
            <a:ext cx="345022" cy="34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" name="TextBox 11">
            <a:extLst>
              <a:ext uri="{FF2B5EF4-FFF2-40B4-BE49-F238E27FC236}">
                <a16:creationId xmlns:a16="http://schemas.microsoft.com/office/drawing/2014/main" id="{24D1B86C-8C61-8249-B920-EE10E637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360" y="5969164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cxnSp>
        <p:nvCxnSpPr>
          <p:cNvPr id="481" name="Google Shape;358;g3d6e2211149_2_228">
            <a:extLst>
              <a:ext uri="{FF2B5EF4-FFF2-40B4-BE49-F238E27FC236}">
                <a16:creationId xmlns:a16="http://schemas.microsoft.com/office/drawing/2014/main" id="{B0936E7C-CB73-6F4B-9690-1CED790BFCA0}"/>
              </a:ext>
            </a:extLst>
          </p:cNvPr>
          <p:cNvCxnSpPr>
            <a:cxnSpLocks/>
            <a:stCxn id="476" idx="3"/>
            <a:endCxn id="453" idx="0"/>
          </p:cNvCxnSpPr>
          <p:nvPr/>
        </p:nvCxnSpPr>
        <p:spPr>
          <a:xfrm flipV="1">
            <a:off x="6579603" y="4975483"/>
            <a:ext cx="394747" cy="8044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  <a:endCxn id="437" idx="0"/>
          </p:cNvCxnSpPr>
          <p:nvPr/>
        </p:nvCxnSpPr>
        <p:spPr>
          <a:xfrm flipH="1" flipV="1">
            <a:off x="2165784" y="2209241"/>
            <a:ext cx="27703" cy="106808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90" name="Google Shape;303;g3d6896b4338_0_0">
            <a:extLst>
              <a:ext uri="{FF2B5EF4-FFF2-40B4-BE49-F238E27FC236}">
                <a16:creationId xmlns:a16="http://schemas.microsoft.com/office/drawing/2014/main" id="{B9101083-54F1-6644-88C1-99C6A1CDC26F}"/>
              </a:ext>
            </a:extLst>
          </p:cNvPr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303;g3d6896b4338_0_0">
            <a:extLst>
              <a:ext uri="{FF2B5EF4-FFF2-40B4-BE49-F238E27FC236}">
                <a16:creationId xmlns:a16="http://schemas.microsoft.com/office/drawing/2014/main" id="{4D4A651C-89C5-474C-9BD7-C8403DCFA6BD}"/>
              </a:ext>
            </a:extLst>
          </p:cNvPr>
          <p:cNvSpPr/>
          <p:nvPr/>
        </p:nvSpPr>
        <p:spPr>
          <a:xfrm>
            <a:off x="442665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303;g3d6896b4338_0_0">
            <a:extLst>
              <a:ext uri="{FF2B5EF4-FFF2-40B4-BE49-F238E27FC236}">
                <a16:creationId xmlns:a16="http://schemas.microsoft.com/office/drawing/2014/main" id="{FA11BCF6-793A-7245-B674-4C4A80490EB0}"/>
              </a:ext>
            </a:extLst>
          </p:cNvPr>
          <p:cNvSpPr/>
          <p:nvPr/>
        </p:nvSpPr>
        <p:spPr>
          <a:xfrm>
            <a:off x="589789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303;g3d6896b4338_0_0">
            <a:extLst>
              <a:ext uri="{FF2B5EF4-FFF2-40B4-BE49-F238E27FC236}">
                <a16:creationId xmlns:a16="http://schemas.microsoft.com/office/drawing/2014/main" id="{1F6A8B33-E739-AC49-8C4D-C5B04ADA6327}"/>
              </a:ext>
            </a:extLst>
          </p:cNvPr>
          <p:cNvSpPr/>
          <p:nvPr/>
        </p:nvSpPr>
        <p:spPr>
          <a:xfrm>
            <a:off x="7209494" y="467564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303;g3d6896b4338_0_0">
            <a:extLst>
              <a:ext uri="{FF2B5EF4-FFF2-40B4-BE49-F238E27FC236}">
                <a16:creationId xmlns:a16="http://schemas.microsoft.com/office/drawing/2014/main" id="{BDF1B5E8-04C2-6340-A50E-8EABD54DF0FF}"/>
              </a:ext>
            </a:extLst>
          </p:cNvPr>
          <p:cNvSpPr/>
          <p:nvPr/>
        </p:nvSpPr>
        <p:spPr>
          <a:xfrm>
            <a:off x="10116051" y="4675931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35764" y="3475072"/>
            <a:ext cx="1863434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 xml:space="preserve"> </a:t>
            </a:r>
            <a:r>
              <a:rPr lang="en-US" altLang="ko-KR" sz="900"/>
              <a:t>Push</a:t>
            </a:r>
            <a:r>
              <a:rPr lang="en-KR" altLang="ko-KR" sz="900"/>
              <a:t xml:space="preserve"> -&gt; </a:t>
            </a:r>
            <a:r>
              <a:rPr lang="en-KR" sz="900"/>
              <a:t>GitHub Repo</a:t>
            </a:r>
            <a:r>
              <a:rPr lang="ko-KR" altLang="en-US" sz="900"/>
              <a:t xml:space="preserve"> </a:t>
            </a:r>
            <a:r>
              <a:rPr lang="en-US" altLang="ko-KR" sz="900"/>
              <a:t>-&gt;</a:t>
            </a:r>
            <a:r>
              <a:rPr lang="ko-KR" altLang="en-US" sz="900"/>
              <a:t xml:space="preserve"> </a:t>
            </a:r>
            <a:r>
              <a:rPr lang="en-US" altLang="ko-KR" sz="900"/>
              <a:t>groupvm-simulator</a:t>
            </a:r>
            <a:endParaRPr lang="en-KR" sz="900"/>
          </a:p>
          <a:p>
            <a:endParaRPr lang="en-KR" sz="900"/>
          </a:p>
          <a:p>
            <a:r>
              <a:rPr lang="en-KR" sz="900"/>
              <a:t>2. GitHub Actions</a:t>
            </a:r>
          </a:p>
          <a:p>
            <a:pPr marL="171450" indent="-171450">
              <a:buFontTx/>
              <a:buChar char="-"/>
            </a:pPr>
            <a:r>
              <a:rPr lang="en-KR" sz="900"/>
              <a:t>Unit Test</a:t>
            </a:r>
          </a:p>
          <a:p>
            <a:pPr marL="171450" indent="-171450">
              <a:buFontTx/>
              <a:buChar char="-"/>
            </a:pPr>
            <a:r>
              <a:rPr lang="en-KR" sz="900"/>
              <a:t>Security Scan</a:t>
            </a:r>
          </a:p>
          <a:p>
            <a:pPr marL="171450" indent="-171450">
              <a:buFontTx/>
              <a:buChar char="-"/>
            </a:pPr>
            <a:r>
              <a:rPr lang="en-KR" sz="900"/>
              <a:t>Docker Build Test</a:t>
            </a:r>
          </a:p>
          <a:p>
            <a:pPr marL="171450" indent="-171450">
              <a:buFontTx/>
              <a:buChar char="-"/>
            </a:pPr>
            <a:endParaRPr lang="en-KR" sz="900"/>
          </a:p>
          <a:p>
            <a:r>
              <a:rPr lang="en-US" altLang="ko-KR" sz="900"/>
              <a:t>3.</a:t>
            </a:r>
            <a:r>
              <a:rPr lang="ko-KR" altLang="en-US" sz="900"/>
              <a:t xml:space="preserve"> 테스트 통과시</a:t>
            </a:r>
            <a:r>
              <a:rPr lang="en-US" altLang="ko-KR" sz="900"/>
              <a:t>,</a:t>
            </a:r>
            <a:r>
              <a:rPr lang="ko-KR" altLang="en-US" sz="900"/>
              <a:t xml:space="preserve"> </a:t>
            </a:r>
            <a:r>
              <a:rPr lang="en-US" altLang="ko-KR" sz="900"/>
              <a:t xml:space="preserve">GitHub Action </a:t>
            </a:r>
            <a:r>
              <a:rPr lang="ko-KR" altLang="en-US" sz="900"/>
              <a:t xml:space="preserve">자동 승인 </a:t>
            </a:r>
            <a:endParaRPr lang="en-KR" sz="900"/>
          </a:p>
          <a:p>
            <a:endParaRPr lang="en-KR" sz="900"/>
          </a:p>
          <a:p>
            <a:r>
              <a:rPr lang="en-KR" sz="900"/>
              <a:t>4. CodeCommit Mirror</a:t>
            </a:r>
          </a:p>
          <a:p>
            <a:endParaRPr lang="en-KR" sz="900"/>
          </a:p>
          <a:p>
            <a:r>
              <a:rPr lang="en-KR" sz="900"/>
              <a:t>5. CodePipeline -&gt; CodeBuild</a:t>
            </a:r>
            <a:r>
              <a:rPr lang="ko-KR" altLang="en-US" sz="900"/>
              <a:t xml:space="preserve"> </a:t>
            </a:r>
            <a:r>
              <a:rPr lang="en-US" altLang="ko-KR" sz="900"/>
              <a:t>-&gt;</a:t>
            </a:r>
            <a:r>
              <a:rPr lang="ko-KR" altLang="en-US" sz="900"/>
              <a:t xml:space="preserve"> 배포</a:t>
            </a:r>
            <a:r>
              <a:rPr lang="en-US" altLang="ko-KR" sz="900"/>
              <a:t xml:space="preserve"> bundle</a:t>
            </a:r>
            <a:r>
              <a:rPr lang="ko-KR" altLang="en-US" sz="900"/>
              <a:t xml:space="preserve"> 생성</a:t>
            </a:r>
            <a:endParaRPr lang="en-KR" sz="900"/>
          </a:p>
          <a:p>
            <a:endParaRPr lang="en-KR" sz="900"/>
          </a:p>
          <a:p>
            <a:r>
              <a:rPr lang="en-KR" sz="900"/>
              <a:t>6. AWS CodeDeploy -&gt; EC2</a:t>
            </a:r>
          </a:p>
          <a:p>
            <a:endParaRPr lang="en-KR" sz="900"/>
          </a:p>
          <a:p>
            <a:r>
              <a:rPr lang="en-KR" sz="900"/>
              <a:t xml:space="preserve">7. </a:t>
            </a:r>
            <a:r>
              <a:rPr lang="ko-KR" altLang="en-US" sz="900"/>
              <a:t>애플리케이션 재기동</a:t>
            </a:r>
            <a:endParaRPr lang="en-US" altLang="ko-KR" sz="900"/>
          </a:p>
          <a:p>
            <a:endParaRPr lang="en-US" altLang="ko-KR" sz="900"/>
          </a:p>
          <a:p>
            <a:r>
              <a:rPr lang="en-US" sz="900"/>
              <a:t>systemctl restart group-agent</a:t>
            </a:r>
            <a:endParaRPr lang="en-KR" sz="900"/>
          </a:p>
        </p:txBody>
      </p:sp>
      <p:sp>
        <p:nvSpPr>
          <p:cNvPr id="499" name="Google Shape;303;g3d6896b4338_0_0">
            <a:extLst>
              <a:ext uri="{FF2B5EF4-FFF2-40B4-BE49-F238E27FC236}">
                <a16:creationId xmlns:a16="http://schemas.microsoft.com/office/drawing/2014/main" id="{2C2AA00E-C437-9346-AA66-E1C3DE8A0E93}"/>
              </a:ext>
            </a:extLst>
          </p:cNvPr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01C240C1-79A2-7749-9953-6180DF22ACD4}"/>
              </a:ext>
            </a:extLst>
          </p:cNvPr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ko-KR" altLang="en-US" sz="800">
                <a:solidFill>
                  <a:schemeClr val="dk1"/>
                </a:solidFill>
              </a:rPr>
              <a:t xml:space="preserve">자동 승인 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117" name="Graphic 17" descr="AWS Secrets Manager service icon.">
            <a:extLst>
              <a:ext uri="{FF2B5EF4-FFF2-40B4-BE49-F238E27FC236}">
                <a16:creationId xmlns:a16="http://schemas.microsoft.com/office/drawing/2014/main" id="{5FB7B0CE-F8A6-EB4D-9B39-06487A1598F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6683696" y="3723256"/>
            <a:ext cx="390032" cy="372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" name="TextBox 11">
            <a:extLst>
              <a:ext uri="{FF2B5EF4-FFF2-40B4-BE49-F238E27FC236}">
                <a16:creationId xmlns:a16="http://schemas.microsoft.com/office/drawing/2014/main" id="{BDFC61ED-E97F-8C4F-989B-092FCA9EA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350" y="4158672"/>
            <a:ext cx="11396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 xml:space="preserve">AWS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sp>
        <p:nvSpPr>
          <p:cNvPr id="109" name="Google Shape;262;g3d6e2211149_2_228">
            <a:extLst>
              <a:ext uri="{FF2B5EF4-FFF2-40B4-BE49-F238E27FC236}">
                <a16:creationId xmlns:a16="http://schemas.microsoft.com/office/drawing/2014/main" id="{2025941C-FC08-484C-918E-084EDCC71B73}"/>
              </a:ext>
            </a:extLst>
          </p:cNvPr>
          <p:cNvSpPr/>
          <p:nvPr/>
        </p:nvSpPr>
        <p:spPr>
          <a:xfrm>
            <a:off x="9669312" y="5119676"/>
            <a:ext cx="2080794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110" name="Google Shape;263;g3d6e2211149_2_228" descr="VPC group icon. ">
            <a:extLst>
              <a:ext uri="{FF2B5EF4-FFF2-40B4-BE49-F238E27FC236}">
                <a16:creationId xmlns:a16="http://schemas.microsoft.com/office/drawing/2014/main" id="{819C1C9F-8E05-FC49-A4CC-134BDA027DE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80663" y="511941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264;g3d6e2211149_2_228">
            <a:extLst>
              <a:ext uri="{FF2B5EF4-FFF2-40B4-BE49-F238E27FC236}">
                <a16:creationId xmlns:a16="http://schemas.microsoft.com/office/drawing/2014/main" id="{BA663650-01D1-C34A-8DE8-1F813E153CE9}"/>
              </a:ext>
            </a:extLst>
          </p:cNvPr>
          <p:cNvSpPr/>
          <p:nvPr/>
        </p:nvSpPr>
        <p:spPr>
          <a:xfrm>
            <a:off x="9860367" y="5533760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112" name="Google Shape;265;g3d6e2211149_2_228" descr="Private subnet group icon. ">
            <a:extLst>
              <a:ext uri="{FF2B5EF4-FFF2-40B4-BE49-F238E27FC236}">
                <a16:creationId xmlns:a16="http://schemas.microsoft.com/office/drawing/2014/main" id="{4B573303-CCCD-E74C-BFA7-75FF8E60689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853079" y="5536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294;g3d6e2211149_2_228" descr="AWS Lambda service icon.">
            <a:extLst>
              <a:ext uri="{FF2B5EF4-FFF2-40B4-BE49-F238E27FC236}">
                <a16:creationId xmlns:a16="http://schemas.microsoft.com/office/drawing/2014/main" id="{DF995D04-2B24-FC48-BE46-9DBF9D128C06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479971" y="6047800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295;g3d6e2211149_2_228">
            <a:extLst>
              <a:ext uri="{FF2B5EF4-FFF2-40B4-BE49-F238E27FC236}">
                <a16:creationId xmlns:a16="http://schemas.microsoft.com/office/drawing/2014/main" id="{395AD8C4-F997-5442-BB65-CF9FF1BB6DF3}"/>
              </a:ext>
            </a:extLst>
          </p:cNvPr>
          <p:cNvSpPr txBox="1"/>
          <p:nvPr/>
        </p:nvSpPr>
        <p:spPr>
          <a:xfrm>
            <a:off x="10804254" y="6080580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BD37B3A-0859-5B45-A5C3-191980A2B57A}"/>
              </a:ext>
            </a:extLst>
          </p:cNvPr>
          <p:cNvSpPr txBox="1"/>
          <p:nvPr/>
        </p:nvSpPr>
        <p:spPr>
          <a:xfrm>
            <a:off x="63586" y="1900248"/>
            <a:ext cx="16602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1"/>
              <a:t xml:space="preserve">배포 파일 </a:t>
            </a:r>
            <a:endParaRPr lang="en-KR" sz="900" b="1"/>
          </a:p>
          <a:p>
            <a:r>
              <a:rPr lang="en-US" sz="900"/>
              <a:t>bank_sender.py</a:t>
            </a:r>
          </a:p>
          <a:p>
            <a:r>
              <a:rPr lang="en-US" sz="900"/>
              <a:t>card_sender.py</a:t>
            </a:r>
          </a:p>
          <a:p>
            <a:r>
              <a:rPr lang="en-US" sz="900"/>
              <a:t>insurance_sender.py</a:t>
            </a:r>
          </a:p>
          <a:p>
            <a:r>
              <a:rPr lang="en-US" sz="900"/>
              <a:t>insurance_online_sender.py</a:t>
            </a:r>
          </a:p>
          <a:p>
            <a:r>
              <a:rPr lang="en-US" sz="900"/>
              <a:t>securities_sender.py</a:t>
            </a:r>
          </a:p>
          <a:p>
            <a:r>
              <a:rPr lang="en-US" sz="900"/>
              <a:t>hospital_sender.py</a:t>
            </a:r>
          </a:p>
          <a:p>
            <a:r>
              <a:rPr lang="en-US" sz="900"/>
              <a:t>healthcare_sender.py</a:t>
            </a:r>
          </a:p>
          <a:p>
            <a:r>
              <a:rPr lang="en-US" sz="900"/>
              <a:t>batch_export.py</a:t>
            </a:r>
          </a:p>
          <a:p>
            <a:r>
              <a:rPr lang="en-US" sz="900"/>
              <a:t>api_collector.py</a:t>
            </a:r>
            <a:endParaRPr lang="en-KR" sz="90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73623E6-662A-E142-A009-B3CAC68BC7DE}"/>
              </a:ext>
            </a:extLst>
          </p:cNvPr>
          <p:cNvSpPr txBox="1"/>
          <p:nvPr/>
        </p:nvSpPr>
        <p:spPr>
          <a:xfrm>
            <a:off x="45544" y="735274"/>
            <a:ext cx="17403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/>
              <a:t xml:space="preserve">역할 </a:t>
            </a:r>
            <a:r>
              <a:rPr lang="en-US" altLang="ko-KR" sz="90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금융사 데이터 시뮬레이션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 xml:space="preserve">병원 데이터 생성 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 xml:space="preserve">배치 파일 생성 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 xml:space="preserve">Kinesis/API </a:t>
            </a:r>
            <a:r>
              <a:rPr lang="ko-KR" altLang="en-US" sz="900"/>
              <a:t xml:space="preserve">전송 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온프렘 연동 데이터 중계</a:t>
            </a:r>
            <a:endParaRPr lang="en-KR" sz="900"/>
          </a:p>
        </p:txBody>
      </p:sp>
      <p:pic>
        <p:nvPicPr>
          <p:cNvPr id="115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01382A14-11FA-7E4D-979D-81428621221B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6868601" y="5588567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274;g3d6e2211149_2_228">
            <a:extLst>
              <a:ext uri="{FF2B5EF4-FFF2-40B4-BE49-F238E27FC236}">
                <a16:creationId xmlns:a16="http://schemas.microsoft.com/office/drawing/2014/main" id="{4833C00E-5300-EB4C-A499-5DFA7CF82AC2}"/>
              </a:ext>
            </a:extLst>
          </p:cNvPr>
          <p:cNvSpPr txBox="1"/>
          <p:nvPr/>
        </p:nvSpPr>
        <p:spPr>
          <a:xfrm>
            <a:off x="7145084" y="5644361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251;g3d6e2211149_2_228" descr="VPC group icon. ">
            <a:extLst>
              <a:ext uri="{FF2B5EF4-FFF2-40B4-BE49-F238E27FC236}">
                <a16:creationId xmlns:a16="http://schemas.microsoft.com/office/drawing/2014/main" id="{4E45194B-18FE-F348-B597-968B49F622C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252;g3d6e2211149_2_228">
            <a:extLst>
              <a:ext uri="{FF2B5EF4-FFF2-40B4-BE49-F238E27FC236}">
                <a16:creationId xmlns:a16="http://schemas.microsoft.com/office/drawing/2014/main" id="{3645AF2E-60CF-3247-AEDF-089E84E830EA}"/>
              </a:ext>
            </a:extLst>
          </p:cNvPr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28" name="Google Shape;253;g3d6e2211149_2_228" descr="Public subnet group icon. ">
            <a:extLst>
              <a:ext uri="{FF2B5EF4-FFF2-40B4-BE49-F238E27FC236}">
                <a16:creationId xmlns:a16="http://schemas.microsoft.com/office/drawing/2014/main" id="{0FA9457D-4AA4-0646-8E66-80EE1E84DF5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EACBB2F3-C278-2547-BBB7-075468C7F33D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18BE9832-D7D7-DD4D-BF23-DAEDBF87F7D1}"/>
              </a:ext>
            </a:extLst>
          </p:cNvPr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284;g3d6e2211149_2_228">
            <a:extLst>
              <a:ext uri="{FF2B5EF4-FFF2-40B4-BE49-F238E27FC236}">
                <a16:creationId xmlns:a16="http://schemas.microsoft.com/office/drawing/2014/main" id="{5FC771F6-A9FD-734D-9322-5DE845D1EAD6}"/>
              </a:ext>
            </a:extLst>
          </p:cNvPr>
          <p:cNvCxnSpPr>
            <a:stCxn id="132" idx="3"/>
            <a:endCxn id="130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32" name="Google Shape;285;g3d6e2211149_2_228" descr="AWS WAF service icon.">
            <a:extLst>
              <a:ext uri="{FF2B5EF4-FFF2-40B4-BE49-F238E27FC236}">
                <a16:creationId xmlns:a16="http://schemas.microsoft.com/office/drawing/2014/main" id="{8708E6E5-3B88-9442-AE02-27B7AE8785EC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286;g3d6e2211149_2_228">
            <a:extLst>
              <a:ext uri="{FF2B5EF4-FFF2-40B4-BE49-F238E27FC236}">
                <a16:creationId xmlns:a16="http://schemas.microsoft.com/office/drawing/2014/main" id="{278DFC39-8159-5C4E-B6D6-5B1B0CA6BEBC}"/>
              </a:ext>
            </a:extLst>
          </p:cNvPr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34" name="Google Shape;287;g3d6e2211149_2_228">
            <a:extLst>
              <a:ext uri="{FF2B5EF4-FFF2-40B4-BE49-F238E27FC236}">
                <a16:creationId xmlns:a16="http://schemas.microsoft.com/office/drawing/2014/main" id="{55BAE30B-95A2-3147-A8BF-2155B777F319}"/>
              </a:ext>
            </a:extLst>
          </p:cNvPr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135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C80863E2-68A9-554B-9FC7-A24D1CE8BA04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297;g3d6e2211149_2_228">
            <a:extLst>
              <a:ext uri="{FF2B5EF4-FFF2-40B4-BE49-F238E27FC236}">
                <a16:creationId xmlns:a16="http://schemas.microsoft.com/office/drawing/2014/main" id="{80F513C6-DFD2-E543-8C7E-E411E48FC492}"/>
              </a:ext>
            </a:extLst>
          </p:cNvPr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137" name="Google Shape;298;g3d6e2211149_2_228">
            <a:extLst>
              <a:ext uri="{FF2B5EF4-FFF2-40B4-BE49-F238E27FC236}">
                <a16:creationId xmlns:a16="http://schemas.microsoft.com/office/drawing/2014/main" id="{AB7917B1-9E9F-AD4E-B84F-8073A6CAA6E8}"/>
              </a:ext>
            </a:extLst>
          </p:cNvPr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0" name="Google Shape;303;g3d6e2211149_2_228">
            <a:extLst>
              <a:ext uri="{FF2B5EF4-FFF2-40B4-BE49-F238E27FC236}">
                <a16:creationId xmlns:a16="http://schemas.microsoft.com/office/drawing/2014/main" id="{A0737B83-E769-B34C-8291-FC989A2000CA}"/>
              </a:ext>
            </a:extLst>
          </p:cNvPr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141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AD86075-81AA-A142-97C9-9BD19FB91716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305;g3d6e2211149_2_228">
            <a:extLst>
              <a:ext uri="{FF2B5EF4-FFF2-40B4-BE49-F238E27FC236}">
                <a16:creationId xmlns:a16="http://schemas.microsoft.com/office/drawing/2014/main" id="{4A37B2B9-222F-454D-8234-7A4F9A654805}"/>
              </a:ext>
            </a:extLst>
          </p:cNvPr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143" name="Google Shape;306;g3d6e2211149_2_228">
            <a:extLst>
              <a:ext uri="{FF2B5EF4-FFF2-40B4-BE49-F238E27FC236}">
                <a16:creationId xmlns:a16="http://schemas.microsoft.com/office/drawing/2014/main" id="{DE66D6F8-287C-9241-B563-CAB14626B969}"/>
              </a:ext>
            </a:extLst>
          </p:cNvPr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6EEA2E86-FDCC-094C-8BCD-A8E37F228B2F}"/>
              </a:ext>
            </a:extLst>
          </p:cNvPr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341;g3d6e2211149_2_228">
            <a:extLst>
              <a:ext uri="{FF2B5EF4-FFF2-40B4-BE49-F238E27FC236}">
                <a16:creationId xmlns:a16="http://schemas.microsoft.com/office/drawing/2014/main" id="{A1264BC7-6B94-E343-B194-6BCB1F869427}"/>
              </a:ext>
            </a:extLst>
          </p:cNvPr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46" name="Google Shape;342;g3d6e2211149_2_228" descr="Private subnet group icon. ">
            <a:extLst>
              <a:ext uri="{FF2B5EF4-FFF2-40B4-BE49-F238E27FC236}">
                <a16:creationId xmlns:a16="http://schemas.microsoft.com/office/drawing/2014/main" id="{4FC753FD-3754-1146-8D4C-68F9A2178B2F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347;g3d6e2211149_2_228" descr="AWS Auto Scaling service icon.">
            <a:extLst>
              <a:ext uri="{FF2B5EF4-FFF2-40B4-BE49-F238E27FC236}">
                <a16:creationId xmlns:a16="http://schemas.microsoft.com/office/drawing/2014/main" id="{8B8E73E6-DE0B-E442-B98D-D5BDCEF87169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348;g3d6e2211149_2_228">
            <a:extLst>
              <a:ext uri="{FF2B5EF4-FFF2-40B4-BE49-F238E27FC236}">
                <a16:creationId xmlns:a16="http://schemas.microsoft.com/office/drawing/2014/main" id="{7BD57696-D7AA-8741-A707-F26609B251C0}"/>
              </a:ext>
            </a:extLst>
          </p:cNvPr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sp>
        <p:nvSpPr>
          <p:cNvPr id="168" name="Google Shape;255;g3d6e2211149_2_228">
            <a:extLst>
              <a:ext uri="{FF2B5EF4-FFF2-40B4-BE49-F238E27FC236}">
                <a16:creationId xmlns:a16="http://schemas.microsoft.com/office/drawing/2014/main" id="{9270A9AD-2751-A045-AA87-0BC26F6F2871}"/>
              </a:ext>
            </a:extLst>
          </p:cNvPr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172" name="Google Shape;275;g3d6e2211149_2_228" descr="Amazon Aurora service icon.">
            <a:extLst>
              <a:ext uri="{FF2B5EF4-FFF2-40B4-BE49-F238E27FC236}">
                <a16:creationId xmlns:a16="http://schemas.microsoft.com/office/drawing/2014/main" id="{9A95AA7E-2E82-D041-B86D-48DF93E03C75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795868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276;g3d6e2211149_2_228">
            <a:extLst>
              <a:ext uri="{FF2B5EF4-FFF2-40B4-BE49-F238E27FC236}">
                <a16:creationId xmlns:a16="http://schemas.microsoft.com/office/drawing/2014/main" id="{4454B00E-50C4-E94C-A21A-4C8957AC04B0}"/>
              </a:ext>
            </a:extLst>
          </p:cNvPr>
          <p:cNvSpPr txBox="1"/>
          <p:nvPr/>
        </p:nvSpPr>
        <p:spPr>
          <a:xfrm>
            <a:off x="771071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174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38703DFF-B25F-564E-8350-D0F86DE8CB01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56591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280;g3d6e2211149_2_228">
            <a:extLst>
              <a:ext uri="{FF2B5EF4-FFF2-40B4-BE49-F238E27FC236}">
                <a16:creationId xmlns:a16="http://schemas.microsoft.com/office/drawing/2014/main" id="{267DD66B-A33C-CC44-8973-E42FEE38DE8F}"/>
              </a:ext>
            </a:extLst>
          </p:cNvPr>
          <p:cNvSpPr txBox="1"/>
          <p:nvPr/>
        </p:nvSpPr>
        <p:spPr>
          <a:xfrm>
            <a:off x="823028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176" name="Google Shape;294;g3d6e2211149_2_228" descr="AWS Lambda service icon.">
            <a:extLst>
              <a:ext uri="{FF2B5EF4-FFF2-40B4-BE49-F238E27FC236}">
                <a16:creationId xmlns:a16="http://schemas.microsoft.com/office/drawing/2014/main" id="{CFC51022-F062-924F-AA87-D6F8EFCE4397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18328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295;g3d6e2211149_2_228">
            <a:extLst>
              <a:ext uri="{FF2B5EF4-FFF2-40B4-BE49-F238E27FC236}">
                <a16:creationId xmlns:a16="http://schemas.microsoft.com/office/drawing/2014/main" id="{D4A7FC88-5293-F741-9887-86246ED4F994}"/>
              </a:ext>
            </a:extLst>
          </p:cNvPr>
          <p:cNvSpPr txBox="1"/>
          <p:nvPr/>
        </p:nvSpPr>
        <p:spPr>
          <a:xfrm>
            <a:off x="845229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79" name="Google Shape;342;g3d6e2211149_2_228" descr="Private subnet group icon. ">
            <a:extLst>
              <a:ext uri="{FF2B5EF4-FFF2-40B4-BE49-F238E27FC236}">
                <a16:creationId xmlns:a16="http://schemas.microsoft.com/office/drawing/2014/main" id="{C45A6B8C-F8B2-5F45-9005-DAE853877DC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81460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250;g3d6e2211149_2_228">
            <a:extLst>
              <a:ext uri="{FF2B5EF4-FFF2-40B4-BE49-F238E27FC236}">
                <a16:creationId xmlns:a16="http://schemas.microsoft.com/office/drawing/2014/main" id="{16512B73-DAD5-854A-9F8D-F822F84C5120}"/>
              </a:ext>
            </a:extLst>
          </p:cNvPr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sp>
        <p:nvSpPr>
          <p:cNvPr id="181" name="Google Shape;341;g3d6e2211149_2_228">
            <a:extLst>
              <a:ext uri="{FF2B5EF4-FFF2-40B4-BE49-F238E27FC236}">
                <a16:creationId xmlns:a16="http://schemas.microsoft.com/office/drawing/2014/main" id="{C51BE221-B163-014E-8677-B454019451CD}"/>
              </a:ext>
            </a:extLst>
          </p:cNvPr>
          <p:cNvSpPr/>
          <p:nvPr/>
        </p:nvSpPr>
        <p:spPr>
          <a:xfrm>
            <a:off x="7808530" y="1924379"/>
            <a:ext cx="1537812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101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A7AE2808-2B3E-CE44-B532-BFBA10363E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1782" y="3427937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 – Legacy System (Local VM)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1178" y="722515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3284213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7880769" y="1175296"/>
            <a:ext cx="4018945" cy="5507774"/>
            <a:chOff x="10482476" y="1255629"/>
            <a:chExt cx="401894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10497713" y="1255629"/>
              <a:ext cx="4003708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lang="en-US" sz="1200"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482476" y="1261156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6772538" y="739524"/>
            <a:ext cx="5267171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1782" y="4183054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929604" y="4569895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29087" y="746275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8566330" y="825031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6720529" y="3191194"/>
            <a:ext cx="153771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chemeClr val="dk1"/>
                </a:solidFill>
              </a:rPr>
              <a:t>legacy-system Repo</a:t>
            </a:r>
          </a:p>
        </p:txBody>
      </p: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493472" y="373810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33007" y="2541845"/>
            <a:ext cx="18634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 xml:space="preserve"> </a:t>
            </a:r>
            <a:r>
              <a:rPr lang="en-US" altLang="ko-KR" sz="900"/>
              <a:t>Push</a:t>
            </a:r>
            <a:r>
              <a:rPr lang="en-KR" altLang="ko-KR" sz="900"/>
              <a:t xml:space="preserve"> -&gt;    </a:t>
            </a:r>
          </a:p>
          <a:p>
            <a:r>
              <a:rPr lang="en-KR" altLang="ko-KR" sz="900"/>
              <a:t xml:space="preserve">   CodeCommit </a:t>
            </a:r>
            <a:r>
              <a:rPr lang="en-KR" sz="900"/>
              <a:t>Repo</a:t>
            </a:r>
            <a:r>
              <a:rPr lang="ko-KR" altLang="en-US" sz="900"/>
              <a:t xml:space="preserve"> </a:t>
            </a:r>
            <a:r>
              <a:rPr lang="en-US" altLang="ko-KR" sz="900"/>
              <a:t>-&gt;</a:t>
            </a:r>
          </a:p>
          <a:p>
            <a:r>
              <a:rPr lang="ko-KR" altLang="en-US" sz="900"/>
              <a:t xml:space="preserve"> </a:t>
            </a:r>
            <a:r>
              <a:rPr lang="en-US" altLang="ko-KR" sz="900"/>
              <a:t xml:space="preserve">  legacy-system</a:t>
            </a:r>
          </a:p>
          <a:p>
            <a:endParaRPr lang="en-KR" sz="900"/>
          </a:p>
          <a:p>
            <a:r>
              <a:rPr lang="en-KR" sz="900"/>
              <a:t xml:space="preserve">2. </a:t>
            </a:r>
            <a:r>
              <a:rPr lang="en-US" sz="900"/>
              <a:t>Legacy System (VM</a:t>
            </a:r>
            <a:r>
              <a:rPr lang="en-US" altLang="ko-KR" sz="900"/>
              <a:t>)</a:t>
            </a:r>
            <a:r>
              <a:rPr lang="ko-KR" altLang="en-US" sz="900"/>
              <a:t xml:space="preserve"> </a:t>
            </a:r>
            <a:r>
              <a:rPr lang="en-US" altLang="ko-KR" sz="900"/>
              <a:t>-&gt;</a:t>
            </a:r>
            <a:r>
              <a:rPr lang="ko-KR" altLang="en-US" sz="900"/>
              <a:t xml:space="preserve"> </a:t>
            </a:r>
            <a:r>
              <a:rPr lang="en-US" sz="900"/>
              <a:t>Cron Job</a:t>
            </a:r>
            <a:r>
              <a:rPr lang="ko-KR" altLang="en-US" sz="900"/>
              <a:t xml:space="preserve"> </a:t>
            </a:r>
            <a:r>
              <a:rPr lang="en-US" altLang="ko-KR" sz="900"/>
              <a:t xml:space="preserve">or System timer </a:t>
            </a:r>
            <a:r>
              <a:rPr lang="ko-KR" altLang="en-US" sz="900"/>
              <a:t>실행</a:t>
            </a:r>
            <a:endParaRPr lang="en-US" sz="900"/>
          </a:p>
          <a:p>
            <a:endParaRPr lang="en-US" sz="900"/>
          </a:p>
          <a:p>
            <a:r>
              <a:rPr lang="en-US" sz="900"/>
              <a:t>3. Ansible pull</a:t>
            </a:r>
            <a:r>
              <a:rPr lang="ko-KR" altLang="en-US" sz="900"/>
              <a:t xml:space="preserve"> </a:t>
            </a:r>
            <a:r>
              <a:rPr lang="en-US" altLang="ko-KR" sz="900"/>
              <a:t>(</a:t>
            </a:r>
            <a:r>
              <a:rPr lang="ko-KR" altLang="en-US" sz="900"/>
              <a:t xml:space="preserve">내부 저장소에서 최신 </a:t>
            </a:r>
            <a:r>
              <a:rPr lang="en-US" altLang="ko-KR" sz="900"/>
              <a:t xml:space="preserve">Playbook / </a:t>
            </a:r>
            <a:r>
              <a:rPr lang="ko-KR" altLang="en-US" sz="900"/>
              <a:t>구성파일 동기화</a:t>
            </a:r>
            <a:r>
              <a:rPr lang="en-US" altLang="ko-KR" sz="900"/>
              <a:t>)</a:t>
            </a:r>
            <a:endParaRPr lang="en-KR" sz="900"/>
          </a:p>
          <a:p>
            <a:endParaRPr lang="en-KR" sz="900"/>
          </a:p>
          <a:p>
            <a:r>
              <a:rPr lang="en-KR" sz="900"/>
              <a:t>4.</a:t>
            </a:r>
            <a:r>
              <a:rPr lang="en-US" sz="900"/>
              <a:t>Ansible Playbook</a:t>
            </a:r>
            <a:r>
              <a:rPr lang="ko-KR" altLang="en-US" sz="900"/>
              <a:t xml:space="preserve"> 실행</a:t>
            </a:r>
            <a:endParaRPr lang="en-KR" sz="900"/>
          </a:p>
          <a:p>
            <a:endParaRPr lang="en-KR" sz="900"/>
          </a:p>
          <a:p>
            <a:r>
              <a:rPr lang="en-US" sz="900"/>
              <a:t>5</a:t>
            </a:r>
            <a:r>
              <a:rPr lang="en-KR" sz="900"/>
              <a:t xml:space="preserve">. </a:t>
            </a:r>
            <a:r>
              <a:rPr lang="en-US" altLang="ko-KR" sz="900"/>
              <a:t>MySQL / Tokenization / API</a:t>
            </a:r>
            <a:r>
              <a:rPr lang="ko-KR" altLang="en-US" sz="900"/>
              <a:t xml:space="preserve"> 대상 배포 </a:t>
            </a:r>
            <a:endParaRPr lang="en-US" altLang="ko-KR" sz="900"/>
          </a:p>
          <a:p>
            <a:endParaRPr lang="en-US" altLang="ko-KR" sz="900"/>
          </a:p>
          <a:p>
            <a:r>
              <a:rPr lang="en-US" sz="900"/>
              <a:t xml:space="preserve">systemctl restart </a:t>
            </a:r>
            <a:r>
              <a:rPr lang="ko-KR" altLang="en-US" sz="900"/>
              <a:t>각 서비스</a:t>
            </a:r>
            <a:endParaRPr lang="en-KR" sz="90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2C5D3B9-66D9-504A-BB57-5D89915240C6}"/>
              </a:ext>
            </a:extLst>
          </p:cNvPr>
          <p:cNvSpPr txBox="1"/>
          <p:nvPr/>
        </p:nvSpPr>
        <p:spPr>
          <a:xfrm>
            <a:off x="113226" y="836975"/>
            <a:ext cx="148916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legacy-system/</a:t>
            </a:r>
            <a:br>
              <a:rPr lang="en-US" sz="900"/>
            </a:br>
            <a:r>
              <a:rPr lang="en-US" sz="900"/>
              <a:t>├ ansible/</a:t>
            </a:r>
            <a:br>
              <a:rPr lang="en-US" sz="900"/>
            </a:br>
            <a:r>
              <a:rPr lang="en-US" sz="900"/>
              <a:t>├ mysql/</a:t>
            </a:r>
            <a:br>
              <a:rPr lang="en-US" sz="900"/>
            </a:br>
            <a:r>
              <a:rPr lang="en-US" sz="900"/>
              <a:t>├ tokenization/</a:t>
            </a:r>
            <a:br>
              <a:rPr lang="en-US" sz="900"/>
            </a:br>
            <a:r>
              <a:rPr lang="en-US" sz="900"/>
              <a:t>├ private-api/</a:t>
            </a:r>
            <a:endParaRPr lang="en-KR" sz="900"/>
          </a:p>
        </p:txBody>
      </p:sp>
      <p:pic>
        <p:nvPicPr>
          <p:cNvPr id="120" name="Google Shape;314;g3d6e2211149_2_228" descr="Ansible 아이콘">
            <a:extLst>
              <a:ext uri="{FF2B5EF4-FFF2-40B4-BE49-F238E27FC236}">
                <a16:creationId xmlns:a16="http://schemas.microsoft.com/office/drawing/2014/main" id="{A41EB17D-76AD-0D4E-9695-1D0D777D272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54649" y="2401263"/>
            <a:ext cx="454438" cy="45443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262;g3d6e2211149_2_228">
            <a:extLst>
              <a:ext uri="{FF2B5EF4-FFF2-40B4-BE49-F238E27FC236}">
                <a16:creationId xmlns:a16="http://schemas.microsoft.com/office/drawing/2014/main" id="{4E4BC74E-331B-0D44-97E5-B143315DC2D4}"/>
              </a:ext>
            </a:extLst>
          </p:cNvPr>
          <p:cNvSpPr/>
          <p:nvPr/>
        </p:nvSpPr>
        <p:spPr>
          <a:xfrm>
            <a:off x="8865884" y="1619645"/>
            <a:ext cx="287473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Management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(VPC)</a:t>
            </a:r>
            <a:endParaRPr/>
          </a:p>
        </p:txBody>
      </p:sp>
      <p:pic>
        <p:nvPicPr>
          <p:cNvPr id="130" name="Google Shape;263;g3d6e2211149_2_228" descr="VPC group icon. ">
            <a:extLst>
              <a:ext uri="{FF2B5EF4-FFF2-40B4-BE49-F238E27FC236}">
                <a16:creationId xmlns:a16="http://schemas.microsoft.com/office/drawing/2014/main" id="{D9E073A0-2A47-1247-9517-C58FC41330A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978714" y="161060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264;g3d6e2211149_2_228">
            <a:extLst>
              <a:ext uri="{FF2B5EF4-FFF2-40B4-BE49-F238E27FC236}">
                <a16:creationId xmlns:a16="http://schemas.microsoft.com/office/drawing/2014/main" id="{D7091F4B-1668-8244-9589-9FDCD1FF9B5A}"/>
              </a:ext>
            </a:extLst>
          </p:cNvPr>
          <p:cNvSpPr/>
          <p:nvPr/>
        </p:nvSpPr>
        <p:spPr>
          <a:xfrm>
            <a:off x="9998513" y="2033729"/>
            <a:ext cx="1693233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32" name="Google Shape;265;g3d6e2211149_2_228" descr="Private subnet group icon. ">
            <a:extLst>
              <a:ext uri="{FF2B5EF4-FFF2-40B4-BE49-F238E27FC236}">
                <a16:creationId xmlns:a16="http://schemas.microsoft.com/office/drawing/2014/main" id="{356206EA-8FBB-5D44-9040-C08B97B1512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10816" y="203681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2F4599F-31AB-144D-BC44-02ED68DFA539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561799" y="2401696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302;g3d6e2211149_2_228">
            <a:extLst>
              <a:ext uri="{FF2B5EF4-FFF2-40B4-BE49-F238E27FC236}">
                <a16:creationId xmlns:a16="http://schemas.microsoft.com/office/drawing/2014/main" id="{44345D8F-8487-0C4E-97EA-650639E7790D}"/>
              </a:ext>
            </a:extLst>
          </p:cNvPr>
          <p:cNvSpPr txBox="1"/>
          <p:nvPr/>
        </p:nvSpPr>
        <p:spPr>
          <a:xfrm>
            <a:off x="10760687" y="2401696"/>
            <a:ext cx="9585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 dirty="0">
                <a:solidFill>
                  <a:schemeClr val="dk1"/>
                </a:solidFill>
              </a:rPr>
              <a:t>Ansible Control Node)</a:t>
            </a:r>
            <a:endParaRPr dirty="0"/>
          </a:p>
        </p:txBody>
      </p:sp>
      <p:sp>
        <p:nvSpPr>
          <p:cNvPr id="145" name="Google Shape;303;g3d6896b4338_0_0">
            <a:extLst>
              <a:ext uri="{FF2B5EF4-FFF2-40B4-BE49-F238E27FC236}">
                <a16:creationId xmlns:a16="http://schemas.microsoft.com/office/drawing/2014/main" id="{FF9D9195-CBA4-ED4C-AE16-433054DD7163}"/>
              </a:ext>
            </a:extLst>
          </p:cNvPr>
          <p:cNvSpPr/>
          <p:nvPr/>
        </p:nvSpPr>
        <p:spPr>
          <a:xfrm>
            <a:off x="8542932" y="271212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C56A3F88-656A-AA4C-895D-0CDE13CB0BCD}"/>
              </a:ext>
            </a:extLst>
          </p:cNvPr>
          <p:cNvSpPr txBox="1"/>
          <p:nvPr/>
        </p:nvSpPr>
        <p:spPr>
          <a:xfrm>
            <a:off x="2962044" y="2735885"/>
            <a:ext cx="1090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700"/>
              <a:t>schema.sql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700"/>
              <a:t>table migration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700"/>
              <a:t>backup script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700"/>
              <a:t>parameter tuning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85010DC-89E3-2441-B884-FAD7D93948FA}"/>
              </a:ext>
            </a:extLst>
          </p:cNvPr>
          <p:cNvSpPr txBox="1"/>
          <p:nvPr/>
        </p:nvSpPr>
        <p:spPr>
          <a:xfrm>
            <a:off x="4168673" y="2752036"/>
            <a:ext cx="106214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token_service.py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masking rules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API config</a:t>
            </a:r>
            <a:endParaRPr lang="en-KR" sz="70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6CE78B5-5CF7-5B46-A0A8-AC7A4100BF62}"/>
              </a:ext>
            </a:extLst>
          </p:cNvPr>
          <p:cNvSpPr txBox="1"/>
          <p:nvPr/>
        </p:nvSpPr>
        <p:spPr>
          <a:xfrm>
            <a:off x="5448743" y="2720595"/>
            <a:ext cx="12454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FastAPI / Flask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JWT config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Nginx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systemd</a:t>
            </a:r>
            <a:endParaRPr lang="en-KR" sz="700"/>
          </a:p>
        </p:txBody>
      </p:sp>
      <p:cxnSp>
        <p:nvCxnSpPr>
          <p:cNvPr id="217" name="Google Shape;358;g3d6e2211149_2_228">
            <a:extLst>
              <a:ext uri="{FF2B5EF4-FFF2-40B4-BE49-F238E27FC236}">
                <a16:creationId xmlns:a16="http://schemas.microsoft.com/office/drawing/2014/main" id="{7CAFB45F-EC86-5245-8B32-BF1159828933}"/>
              </a:ext>
            </a:extLst>
          </p:cNvPr>
          <p:cNvCxnSpPr>
            <a:cxnSpLocks/>
            <a:endCxn id="98" idx="1"/>
          </p:cNvCxnSpPr>
          <p:nvPr/>
        </p:nvCxnSpPr>
        <p:spPr>
          <a:xfrm flipV="1">
            <a:off x="3247962" y="4271717"/>
            <a:ext cx="3837330" cy="12910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18" name="Google Shape;358;g3d6e2211149_2_228">
            <a:extLst>
              <a:ext uri="{FF2B5EF4-FFF2-40B4-BE49-F238E27FC236}">
                <a16:creationId xmlns:a16="http://schemas.microsoft.com/office/drawing/2014/main" id="{7692BF28-38A6-9F47-9CFA-2F122B01EC0D}"/>
              </a:ext>
            </a:extLst>
          </p:cNvPr>
          <p:cNvCxnSpPr>
            <a:cxnSpLocks/>
          </p:cNvCxnSpPr>
          <p:nvPr/>
        </p:nvCxnSpPr>
        <p:spPr>
          <a:xfrm flipH="1">
            <a:off x="3324904" y="1821287"/>
            <a:ext cx="2722474" cy="1884466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21" name="Google Shape;358;g3d6e2211149_2_228">
            <a:extLst>
              <a:ext uri="{FF2B5EF4-FFF2-40B4-BE49-F238E27FC236}">
                <a16:creationId xmlns:a16="http://schemas.microsoft.com/office/drawing/2014/main" id="{1C70C4C3-D1AC-E340-A270-53B6D24F02CF}"/>
              </a:ext>
            </a:extLst>
          </p:cNvPr>
          <p:cNvCxnSpPr>
            <a:cxnSpLocks/>
          </p:cNvCxnSpPr>
          <p:nvPr/>
        </p:nvCxnSpPr>
        <p:spPr>
          <a:xfrm flipH="1">
            <a:off x="7537886" y="2744405"/>
            <a:ext cx="2460627" cy="1662177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22" name="Google Shape;358;g3d6e2211149_2_228">
            <a:extLst>
              <a:ext uri="{FF2B5EF4-FFF2-40B4-BE49-F238E27FC236}">
                <a16:creationId xmlns:a16="http://schemas.microsoft.com/office/drawing/2014/main" id="{22360033-2AB5-3E4B-860A-0EB52B368046}"/>
              </a:ext>
            </a:extLst>
          </p:cNvPr>
          <p:cNvCxnSpPr>
            <a:cxnSpLocks/>
          </p:cNvCxnSpPr>
          <p:nvPr/>
        </p:nvCxnSpPr>
        <p:spPr>
          <a:xfrm flipH="1">
            <a:off x="3324904" y="4385530"/>
            <a:ext cx="3749030" cy="120614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23" name="Google Shape;303;g3d6896b4338_0_0">
            <a:extLst>
              <a:ext uri="{FF2B5EF4-FFF2-40B4-BE49-F238E27FC236}">
                <a16:creationId xmlns:a16="http://schemas.microsoft.com/office/drawing/2014/main" id="{971A9E4E-20C1-5C44-993A-1F336798943B}"/>
              </a:ext>
            </a:extLst>
          </p:cNvPr>
          <p:cNvSpPr/>
          <p:nvPr/>
        </p:nvSpPr>
        <p:spPr>
          <a:xfrm>
            <a:off x="9536549" y="312118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348;g3d6e2211149_2_228">
            <a:extLst>
              <a:ext uri="{FF2B5EF4-FFF2-40B4-BE49-F238E27FC236}">
                <a16:creationId xmlns:a16="http://schemas.microsoft.com/office/drawing/2014/main" id="{ECC53BA5-3D10-464B-A44F-23E18E11A46B}"/>
              </a:ext>
            </a:extLst>
          </p:cNvPr>
          <p:cNvSpPr txBox="1"/>
          <p:nvPr/>
        </p:nvSpPr>
        <p:spPr>
          <a:xfrm>
            <a:off x="8317887" y="3758554"/>
            <a:ext cx="96594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Ansible over SSH (VPN)</a:t>
            </a:r>
            <a:endParaRPr/>
          </a:p>
        </p:txBody>
      </p:sp>
      <p:pic>
        <p:nvPicPr>
          <p:cNvPr id="229" name="Graphic 15" descr="AWS Systems Manager service icon.">
            <a:extLst>
              <a:ext uri="{FF2B5EF4-FFF2-40B4-BE49-F238E27FC236}">
                <a16:creationId xmlns:a16="http://schemas.microsoft.com/office/drawing/2014/main" id="{98EE8D0F-B7F1-BF4A-B11B-D9D26BCA95C0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 bwMode="auto">
          <a:xfrm>
            <a:off x="10228145" y="3415953"/>
            <a:ext cx="289800" cy="28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0" name="TextBox 11">
            <a:extLst>
              <a:ext uri="{FF2B5EF4-FFF2-40B4-BE49-F238E27FC236}">
                <a16:creationId xmlns:a16="http://schemas.microsoft.com/office/drawing/2014/main" id="{CD8FB3E8-327D-694D-A345-B8695EB45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5958" y="3711632"/>
            <a:ext cx="11394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AWS Systems Manager</a:t>
            </a:r>
          </a:p>
        </p:txBody>
      </p:sp>
      <p:sp>
        <p:nvSpPr>
          <p:cNvPr id="88" name="Google Shape;238;g3d6e2211149_2_228">
            <a:extLst>
              <a:ext uri="{FF2B5EF4-FFF2-40B4-BE49-F238E27FC236}">
                <a16:creationId xmlns:a16="http://schemas.microsoft.com/office/drawing/2014/main" id="{964B1D05-68FD-0542-848E-623CBE88BCAA}"/>
              </a:ext>
            </a:extLst>
          </p:cNvPr>
          <p:cNvSpPr/>
          <p:nvPr/>
        </p:nvSpPr>
        <p:spPr>
          <a:xfrm>
            <a:off x="2804983" y="1179423"/>
            <a:ext cx="3707555" cy="1488235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(Local VM)</a:t>
            </a:r>
            <a:endParaRPr/>
          </a:p>
        </p:txBody>
      </p:sp>
      <p:sp>
        <p:nvSpPr>
          <p:cNvPr id="89" name="Google Shape;300;g3d6e2211149_2_228">
            <a:extLst>
              <a:ext uri="{FF2B5EF4-FFF2-40B4-BE49-F238E27FC236}">
                <a16:creationId xmlns:a16="http://schemas.microsoft.com/office/drawing/2014/main" id="{9B0FAEDB-4594-9942-B043-E3FFD7C005EF}"/>
              </a:ext>
            </a:extLst>
          </p:cNvPr>
          <p:cNvSpPr txBox="1"/>
          <p:nvPr/>
        </p:nvSpPr>
        <p:spPr>
          <a:xfrm>
            <a:off x="5344870" y="2099253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90" name="Google Shape;302;g3d6e2211149_2_228">
            <a:extLst>
              <a:ext uri="{FF2B5EF4-FFF2-40B4-BE49-F238E27FC236}">
                <a16:creationId xmlns:a16="http://schemas.microsoft.com/office/drawing/2014/main" id="{6573479E-FB26-ED4B-AAF3-39284B76869D}"/>
              </a:ext>
            </a:extLst>
          </p:cNvPr>
          <p:cNvSpPr txBox="1"/>
          <p:nvPr/>
        </p:nvSpPr>
        <p:spPr>
          <a:xfrm>
            <a:off x="3644788" y="2123958"/>
            <a:ext cx="18908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91" name="Google Shape;302;g3d6e2211149_2_228">
            <a:extLst>
              <a:ext uri="{FF2B5EF4-FFF2-40B4-BE49-F238E27FC236}">
                <a16:creationId xmlns:a16="http://schemas.microsoft.com/office/drawing/2014/main" id="{4EF5EDFF-AAAB-204E-B927-5827CF6A6172}"/>
              </a:ext>
            </a:extLst>
          </p:cNvPr>
          <p:cNvSpPr txBox="1"/>
          <p:nvPr/>
        </p:nvSpPr>
        <p:spPr>
          <a:xfrm>
            <a:off x="2723700" y="2119014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92" name="Picture 2" descr="VirtualBox macOS BigSur - free Icon PNG, SVG">
            <a:extLst>
              <a:ext uri="{FF2B5EF4-FFF2-40B4-BE49-F238E27FC236}">
                <a16:creationId xmlns:a16="http://schemas.microsoft.com/office/drawing/2014/main" id="{32A3F1B3-F768-1949-82B7-030473F69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6909" y="153594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2" descr="VirtualBox macOS BigSur - free Icon PNG, SVG">
            <a:extLst>
              <a:ext uri="{FF2B5EF4-FFF2-40B4-BE49-F238E27FC236}">
                <a16:creationId xmlns:a16="http://schemas.microsoft.com/office/drawing/2014/main" id="{89300227-86FA-D741-B129-F2D645D00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117" y="153594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Picture 2" descr="VirtualBox macOS BigSur - free Icon PNG, SVG">
            <a:extLst>
              <a:ext uri="{FF2B5EF4-FFF2-40B4-BE49-F238E27FC236}">
                <a16:creationId xmlns:a16="http://schemas.microsoft.com/office/drawing/2014/main" id="{8E7DE8D7-F026-9548-9D33-4D6C292DB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820" y="153594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Google Shape;324;g3d6e2211149_2_228" descr="AWS CodeCommit service icon.">
            <a:extLst>
              <a:ext uri="{FF2B5EF4-FFF2-40B4-BE49-F238E27FC236}">
                <a16:creationId xmlns:a16="http://schemas.microsoft.com/office/drawing/2014/main" id="{B2E11BDB-83C8-E541-BFE8-4FC4D7999FE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149358" y="3474030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325;g3d6e2211149_2_228">
            <a:extLst>
              <a:ext uri="{FF2B5EF4-FFF2-40B4-BE49-F238E27FC236}">
                <a16:creationId xmlns:a16="http://schemas.microsoft.com/office/drawing/2014/main" id="{9F83ED5F-2447-004B-B54E-7E4A18821555}"/>
              </a:ext>
            </a:extLst>
          </p:cNvPr>
          <p:cNvSpPr txBox="1"/>
          <p:nvPr/>
        </p:nvSpPr>
        <p:spPr>
          <a:xfrm>
            <a:off x="6756154" y="3761369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98" name="Google Shape;260;g3d6e2211149_2_228" descr="AWS Site-to-Site VPN service icon.">
            <a:extLst>
              <a:ext uri="{FF2B5EF4-FFF2-40B4-BE49-F238E27FC236}">
                <a16:creationId xmlns:a16="http://schemas.microsoft.com/office/drawing/2014/main" id="{0EC47734-185A-744B-821C-30D2515373AE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085292" y="4074208"/>
            <a:ext cx="468149" cy="39501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316;g3d6e2211149_2_228">
            <a:extLst>
              <a:ext uri="{FF2B5EF4-FFF2-40B4-BE49-F238E27FC236}">
                <a16:creationId xmlns:a16="http://schemas.microsoft.com/office/drawing/2014/main" id="{523AEF72-4551-AF4B-B4D1-09FD7ED68418}"/>
              </a:ext>
            </a:extLst>
          </p:cNvPr>
          <p:cNvSpPr txBox="1"/>
          <p:nvPr/>
        </p:nvSpPr>
        <p:spPr>
          <a:xfrm>
            <a:off x="6613222" y="4510852"/>
            <a:ext cx="1442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Site-to-Site VPN</a:t>
            </a:r>
            <a:endParaRPr/>
          </a:p>
        </p:txBody>
      </p:sp>
      <p:cxnSp>
        <p:nvCxnSpPr>
          <p:cNvPr id="101" name="Google Shape;358;g3d6e2211149_2_228">
            <a:extLst>
              <a:ext uri="{FF2B5EF4-FFF2-40B4-BE49-F238E27FC236}">
                <a16:creationId xmlns:a16="http://schemas.microsoft.com/office/drawing/2014/main" id="{DAC10FEF-B409-354E-82E6-C3A5569F809E}"/>
              </a:ext>
            </a:extLst>
          </p:cNvPr>
          <p:cNvCxnSpPr>
            <a:cxnSpLocks/>
            <a:stCxn id="98" idx="0"/>
            <a:endCxn id="96" idx="0"/>
          </p:cNvCxnSpPr>
          <p:nvPr/>
        </p:nvCxnSpPr>
        <p:spPr>
          <a:xfrm flipH="1" flipV="1">
            <a:off x="7301704" y="3761369"/>
            <a:ext cx="17663" cy="3128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04" name="Google Shape;360;g3d6e2211149_2_228">
            <a:extLst>
              <a:ext uri="{FF2B5EF4-FFF2-40B4-BE49-F238E27FC236}">
                <a16:creationId xmlns:a16="http://schemas.microsoft.com/office/drawing/2014/main" id="{8063FF8A-051E-224A-8F54-0EAC3F3FA50D}"/>
              </a:ext>
            </a:extLst>
          </p:cNvPr>
          <p:cNvSpPr txBox="1"/>
          <p:nvPr/>
        </p:nvSpPr>
        <p:spPr>
          <a:xfrm>
            <a:off x="4951060" y="3682842"/>
            <a:ext cx="1003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(IPSec Tunnel)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358;g3d6e2211149_2_228">
            <a:extLst>
              <a:ext uri="{FF2B5EF4-FFF2-40B4-BE49-F238E27FC236}">
                <a16:creationId xmlns:a16="http://schemas.microsoft.com/office/drawing/2014/main" id="{40CCB0EB-E86C-1D45-B8DD-2C362DB181A4}"/>
              </a:ext>
            </a:extLst>
          </p:cNvPr>
          <p:cNvCxnSpPr>
            <a:cxnSpLocks/>
          </p:cNvCxnSpPr>
          <p:nvPr/>
        </p:nvCxnSpPr>
        <p:spPr>
          <a:xfrm flipV="1">
            <a:off x="7612121" y="2667658"/>
            <a:ext cx="2501208" cy="16432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9" name="Google Shape;358;g3d6e2211149_2_228">
            <a:extLst>
              <a:ext uri="{FF2B5EF4-FFF2-40B4-BE49-F238E27FC236}">
                <a16:creationId xmlns:a16="http://schemas.microsoft.com/office/drawing/2014/main" id="{A3EE3B0E-2C05-2E46-AD3F-128B2D3AA34F}"/>
              </a:ext>
            </a:extLst>
          </p:cNvPr>
          <p:cNvCxnSpPr>
            <a:cxnSpLocks/>
            <a:stCxn id="120" idx="1"/>
            <a:endCxn id="95" idx="3"/>
          </p:cNvCxnSpPr>
          <p:nvPr/>
        </p:nvCxnSpPr>
        <p:spPr>
          <a:xfrm flipH="1">
            <a:off x="7433882" y="2628482"/>
            <a:ext cx="2620767" cy="9878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2" name="Google Shape;358;g3d6e2211149_2_228">
            <a:extLst>
              <a:ext uri="{FF2B5EF4-FFF2-40B4-BE49-F238E27FC236}">
                <a16:creationId xmlns:a16="http://schemas.microsoft.com/office/drawing/2014/main" id="{B8AD0BCF-F78A-244B-B649-32E6196602DC}"/>
              </a:ext>
            </a:extLst>
          </p:cNvPr>
          <p:cNvCxnSpPr>
            <a:cxnSpLocks/>
            <a:endCxn id="92" idx="2"/>
          </p:cNvCxnSpPr>
          <p:nvPr/>
        </p:nvCxnSpPr>
        <p:spPr>
          <a:xfrm flipV="1">
            <a:off x="3154098" y="2098047"/>
            <a:ext cx="93864" cy="1580140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8" name="Google Shape;358;g3d6e2211149_2_228">
            <a:extLst>
              <a:ext uri="{FF2B5EF4-FFF2-40B4-BE49-F238E27FC236}">
                <a16:creationId xmlns:a16="http://schemas.microsoft.com/office/drawing/2014/main" id="{5A519837-A39A-D64E-AB64-1709D6C39A7A}"/>
              </a:ext>
            </a:extLst>
          </p:cNvPr>
          <p:cNvCxnSpPr>
            <a:cxnSpLocks/>
            <a:endCxn id="93" idx="1"/>
          </p:cNvCxnSpPr>
          <p:nvPr/>
        </p:nvCxnSpPr>
        <p:spPr>
          <a:xfrm flipV="1">
            <a:off x="3187361" y="1816995"/>
            <a:ext cx="1105756" cy="1861192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48" name="Google Shape;358;g3d6e2211149_2_228">
            <a:extLst>
              <a:ext uri="{FF2B5EF4-FFF2-40B4-BE49-F238E27FC236}">
                <a16:creationId xmlns:a16="http://schemas.microsoft.com/office/drawing/2014/main" id="{66907669-54A4-8B4A-9733-A50B5C8D1447}"/>
              </a:ext>
            </a:extLst>
          </p:cNvPr>
          <p:cNvCxnSpPr>
            <a:cxnSpLocks/>
            <a:endCxn id="94" idx="1"/>
          </p:cNvCxnSpPr>
          <p:nvPr/>
        </p:nvCxnSpPr>
        <p:spPr>
          <a:xfrm flipV="1">
            <a:off x="3271092" y="1816995"/>
            <a:ext cx="2312728" cy="1861139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49" name="Google Shape;303;g3d6896b4338_0_0">
            <a:extLst>
              <a:ext uri="{FF2B5EF4-FFF2-40B4-BE49-F238E27FC236}">
                <a16:creationId xmlns:a16="http://schemas.microsoft.com/office/drawing/2014/main" id="{349E3F13-7D54-9145-8104-53B75CAB94C3}"/>
              </a:ext>
            </a:extLst>
          </p:cNvPr>
          <p:cNvSpPr/>
          <p:nvPr/>
        </p:nvSpPr>
        <p:spPr>
          <a:xfrm>
            <a:off x="6136942" y="183485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303;g3d6896b4338_0_0">
            <a:extLst>
              <a:ext uri="{FF2B5EF4-FFF2-40B4-BE49-F238E27FC236}">
                <a16:creationId xmlns:a16="http://schemas.microsoft.com/office/drawing/2014/main" id="{2813C2BD-9402-204A-9615-BBCC46CC544B}"/>
              </a:ext>
            </a:extLst>
          </p:cNvPr>
          <p:cNvSpPr/>
          <p:nvPr/>
        </p:nvSpPr>
        <p:spPr>
          <a:xfrm>
            <a:off x="2701259" y="295960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318;g3d6e2211149_2_228">
            <a:extLst>
              <a:ext uri="{FF2B5EF4-FFF2-40B4-BE49-F238E27FC236}">
                <a16:creationId xmlns:a16="http://schemas.microsoft.com/office/drawing/2014/main" id="{448BEB08-CEE6-5240-A811-1FFDC8DA3354}"/>
              </a:ext>
            </a:extLst>
          </p:cNvPr>
          <p:cNvSpPr txBox="1"/>
          <p:nvPr/>
        </p:nvSpPr>
        <p:spPr>
          <a:xfrm>
            <a:off x="2785440" y="3865745"/>
            <a:ext cx="88554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Local Network</a:t>
            </a:r>
            <a:endParaRPr/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</p:cNvCxnSpPr>
          <p:nvPr/>
        </p:nvCxnSpPr>
        <p:spPr>
          <a:xfrm>
            <a:off x="2193487" y="3277322"/>
            <a:ext cx="945374" cy="4343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60" name="Google Shape;358;g3d6e2211149_2_228">
            <a:extLst>
              <a:ext uri="{FF2B5EF4-FFF2-40B4-BE49-F238E27FC236}">
                <a16:creationId xmlns:a16="http://schemas.microsoft.com/office/drawing/2014/main" id="{979C563F-113E-EC40-9239-F94DC230916A}"/>
              </a:ext>
            </a:extLst>
          </p:cNvPr>
          <p:cNvCxnSpPr>
            <a:cxnSpLocks/>
          </p:cNvCxnSpPr>
          <p:nvPr/>
        </p:nvCxnSpPr>
        <p:spPr>
          <a:xfrm flipV="1">
            <a:off x="3138517" y="3828482"/>
            <a:ext cx="0" cy="617355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61" name="Google Shape;358;g3d6e2211149_2_228">
            <a:extLst>
              <a:ext uri="{FF2B5EF4-FFF2-40B4-BE49-F238E27FC236}">
                <a16:creationId xmlns:a16="http://schemas.microsoft.com/office/drawing/2014/main" id="{A5098C99-14A8-4041-B623-E34CEA34C557}"/>
              </a:ext>
            </a:extLst>
          </p:cNvPr>
          <p:cNvCxnSpPr>
            <a:cxnSpLocks/>
          </p:cNvCxnSpPr>
          <p:nvPr/>
        </p:nvCxnSpPr>
        <p:spPr>
          <a:xfrm>
            <a:off x="3228210" y="3858361"/>
            <a:ext cx="14312" cy="54245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162" name="Picture 161">
            <a:extLst>
              <a:ext uri="{FF2B5EF4-FFF2-40B4-BE49-F238E27FC236}">
                <a16:creationId xmlns:a16="http://schemas.microsoft.com/office/drawing/2014/main" id="{D7332216-BFD3-3943-A765-143B2E4FF25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37695" y="1196869"/>
            <a:ext cx="358405" cy="367878"/>
          </a:xfrm>
          <a:prstGeom prst="rect">
            <a:avLst/>
          </a:prstGeom>
        </p:spPr>
      </p:pic>
      <p:pic>
        <p:nvPicPr>
          <p:cNvPr id="4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67D31A3C-6F2E-43B5-9561-581E9BD456EA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958813" y="2374993"/>
            <a:ext cx="429194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20;g3d6e2211149_2_228">
            <a:extLst>
              <a:ext uri="{FF2B5EF4-FFF2-40B4-BE49-F238E27FC236}">
                <a16:creationId xmlns:a16="http://schemas.microsoft.com/office/drawing/2014/main" id="{7B87D5F4-DAF0-DAD1-CA78-ECC955A195D1}"/>
              </a:ext>
            </a:extLst>
          </p:cNvPr>
          <p:cNvSpPr/>
          <p:nvPr/>
        </p:nvSpPr>
        <p:spPr>
          <a:xfrm>
            <a:off x="8947862" y="2024395"/>
            <a:ext cx="1060876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Public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 dirty="0"/>
          </a:p>
        </p:txBody>
      </p:sp>
      <p:pic>
        <p:nvPicPr>
          <p:cNvPr id="6" name="Google Shape;321;g3d6e2211149_2_228" descr="Public subnet group icon. ">
            <a:extLst>
              <a:ext uri="{FF2B5EF4-FFF2-40B4-BE49-F238E27FC236}">
                <a16:creationId xmlns:a16="http://schemas.microsoft.com/office/drawing/2014/main" id="{D019564D-14AC-6CB2-B750-2867991C415C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958436" y="2013027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57;g3d6e2211149_2_228">
            <a:extLst>
              <a:ext uri="{FF2B5EF4-FFF2-40B4-BE49-F238E27FC236}">
                <a16:creationId xmlns:a16="http://schemas.microsoft.com/office/drawing/2014/main" id="{4417A1B6-E5B6-89E6-76F4-94011F45961B}"/>
              </a:ext>
            </a:extLst>
          </p:cNvPr>
          <p:cNvSpPr txBox="1"/>
          <p:nvPr/>
        </p:nvSpPr>
        <p:spPr>
          <a:xfrm>
            <a:off x="8565818" y="2734227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7354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 – Data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lang="en-US" sz="1200"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1" name="Google Shape;251;g3d6e2211149_2_228" descr="VPC group icon. ">
            <a:extLst>
              <a:ext uri="{FF2B5EF4-FFF2-40B4-BE49-F238E27FC236}">
                <a16:creationId xmlns:a16="http://schemas.microsoft.com/office/drawing/2014/main" id="{4268959A-C5C2-8A4D-83F8-C8AFF269066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252;g3d6e2211149_2_228">
            <a:extLst>
              <a:ext uri="{FF2B5EF4-FFF2-40B4-BE49-F238E27FC236}">
                <a16:creationId xmlns:a16="http://schemas.microsoft.com/office/drawing/2014/main" id="{06AFBEF4-2450-FA4D-AA51-A6A24674F433}"/>
              </a:ext>
            </a:extLst>
          </p:cNvPr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63" name="Google Shape;253;g3d6e2211149_2_228" descr="Public subnet group icon. ">
            <a:extLst>
              <a:ext uri="{FF2B5EF4-FFF2-40B4-BE49-F238E27FC236}">
                <a16:creationId xmlns:a16="http://schemas.microsoft.com/office/drawing/2014/main" id="{86B504F0-9BEE-544D-833C-5A27C1FD65D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69DD9EFB-BB94-664D-9425-E04CCB53AA3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27DAEBE3-0CEB-ED4A-B0C9-D25C4320D40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22443" y="44350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257;g3d6e2211149_2_228">
            <a:extLst>
              <a:ext uri="{FF2B5EF4-FFF2-40B4-BE49-F238E27FC236}">
                <a16:creationId xmlns:a16="http://schemas.microsoft.com/office/drawing/2014/main" id="{4F4B1242-5B05-624D-A385-3A7F195F199D}"/>
              </a:ext>
            </a:extLst>
          </p:cNvPr>
          <p:cNvSpPr txBox="1"/>
          <p:nvPr/>
        </p:nvSpPr>
        <p:spPr>
          <a:xfrm>
            <a:off x="9026187" y="4892214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pic>
        <p:nvPicPr>
          <p:cNvPr id="192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C167B4B5-6F56-D047-8E61-9D00E00647B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284;g3d6e2211149_2_228">
            <a:extLst>
              <a:ext uri="{FF2B5EF4-FFF2-40B4-BE49-F238E27FC236}">
                <a16:creationId xmlns:a16="http://schemas.microsoft.com/office/drawing/2014/main" id="{07F571D2-3B33-3846-B4D5-F1B9E6D74498}"/>
              </a:ext>
            </a:extLst>
          </p:cNvPr>
          <p:cNvCxnSpPr>
            <a:stCxn id="194" idx="3"/>
            <a:endCxn id="192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94" name="Google Shape;285;g3d6e2211149_2_228" descr="AWS WAF service icon.">
            <a:extLst>
              <a:ext uri="{FF2B5EF4-FFF2-40B4-BE49-F238E27FC236}">
                <a16:creationId xmlns:a16="http://schemas.microsoft.com/office/drawing/2014/main" id="{575CF415-27C3-0D4A-A5C8-949A23E2674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286;g3d6e2211149_2_228">
            <a:extLst>
              <a:ext uri="{FF2B5EF4-FFF2-40B4-BE49-F238E27FC236}">
                <a16:creationId xmlns:a16="http://schemas.microsoft.com/office/drawing/2014/main" id="{5A9E31CC-BFFF-9542-A9BE-12297EC145E9}"/>
              </a:ext>
            </a:extLst>
          </p:cNvPr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96" name="Google Shape;287;g3d6e2211149_2_228">
            <a:extLst>
              <a:ext uri="{FF2B5EF4-FFF2-40B4-BE49-F238E27FC236}">
                <a16:creationId xmlns:a16="http://schemas.microsoft.com/office/drawing/2014/main" id="{673B814E-36A1-0E4A-BCB5-DB5763CE4769}"/>
              </a:ext>
            </a:extLst>
          </p:cNvPr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205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D3974A5-A6EC-AF4F-8F74-382297BB4E2D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97;g3d6e2211149_2_228">
            <a:extLst>
              <a:ext uri="{FF2B5EF4-FFF2-40B4-BE49-F238E27FC236}">
                <a16:creationId xmlns:a16="http://schemas.microsoft.com/office/drawing/2014/main" id="{1065138C-84AB-5341-AD93-D8E9652063DF}"/>
              </a:ext>
            </a:extLst>
          </p:cNvPr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207" name="Google Shape;298;g3d6e2211149_2_228">
            <a:extLst>
              <a:ext uri="{FF2B5EF4-FFF2-40B4-BE49-F238E27FC236}">
                <a16:creationId xmlns:a16="http://schemas.microsoft.com/office/drawing/2014/main" id="{C15DBC94-DDCE-0546-8AC4-C8B5B1DA27C3}"/>
              </a:ext>
            </a:extLst>
          </p:cNvPr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2" name="Google Shape;303;g3d6e2211149_2_228">
            <a:extLst>
              <a:ext uri="{FF2B5EF4-FFF2-40B4-BE49-F238E27FC236}">
                <a16:creationId xmlns:a16="http://schemas.microsoft.com/office/drawing/2014/main" id="{E7E8AF5D-DB5C-B148-A96D-E754401D51A3}"/>
              </a:ext>
            </a:extLst>
          </p:cNvPr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21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C9FFDAD-91FD-C44F-B4D1-4A3BCE0457E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305;g3d6e2211149_2_228">
            <a:extLst>
              <a:ext uri="{FF2B5EF4-FFF2-40B4-BE49-F238E27FC236}">
                <a16:creationId xmlns:a16="http://schemas.microsoft.com/office/drawing/2014/main" id="{72D4DE1D-29A8-CC4A-926F-AFC09825818C}"/>
              </a:ext>
            </a:extLst>
          </p:cNvPr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215" name="Google Shape;306;g3d6e2211149_2_228">
            <a:extLst>
              <a:ext uri="{FF2B5EF4-FFF2-40B4-BE49-F238E27FC236}">
                <a16:creationId xmlns:a16="http://schemas.microsoft.com/office/drawing/2014/main" id="{65F6A31D-6551-9846-9F17-50B380EDFF89}"/>
              </a:ext>
            </a:extLst>
          </p:cNvPr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93D73FC7-41DF-D247-B8A5-CB72CB1796D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312;g3d6e2211149_2_228">
            <a:extLst>
              <a:ext uri="{FF2B5EF4-FFF2-40B4-BE49-F238E27FC236}">
                <a16:creationId xmlns:a16="http://schemas.microsoft.com/office/drawing/2014/main" id="{0BE63228-5717-E647-B82F-E46FE96D9FE8}"/>
              </a:ext>
            </a:extLst>
          </p:cNvPr>
          <p:cNvSpPr/>
          <p:nvPr/>
        </p:nvSpPr>
        <p:spPr>
          <a:xfrm>
            <a:off x="8663336" y="3546418"/>
            <a:ext cx="30939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222" name="Google Shape;313;g3d6e2211149_2_228" descr="VPC group icon. ">
            <a:extLst>
              <a:ext uri="{FF2B5EF4-FFF2-40B4-BE49-F238E27FC236}">
                <a16:creationId xmlns:a16="http://schemas.microsoft.com/office/drawing/2014/main" id="{D050969A-F721-534A-BEE9-ACA3DD4B1F7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71505" y="354744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230" name="Google Shape;320;g3d6e2211149_2_228">
            <a:extLst>
              <a:ext uri="{FF2B5EF4-FFF2-40B4-BE49-F238E27FC236}">
                <a16:creationId xmlns:a16="http://schemas.microsoft.com/office/drawing/2014/main" id="{003E6474-7820-0744-8B93-69B5AF48CACC}"/>
              </a:ext>
            </a:extLst>
          </p:cNvPr>
          <p:cNvSpPr/>
          <p:nvPr/>
        </p:nvSpPr>
        <p:spPr>
          <a:xfrm>
            <a:off x="8769962" y="4015179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231" name="Google Shape;321;g3d6e2211149_2_228" descr="Public subnet group icon. ">
            <a:extLst>
              <a:ext uri="{FF2B5EF4-FFF2-40B4-BE49-F238E27FC236}">
                <a16:creationId xmlns:a16="http://schemas.microsoft.com/office/drawing/2014/main" id="{CB9EE438-43CC-564F-B7BF-725D0FA016E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8528" y="4013535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322;g3d6e2211149_2_228">
            <a:extLst>
              <a:ext uri="{FF2B5EF4-FFF2-40B4-BE49-F238E27FC236}">
                <a16:creationId xmlns:a16="http://schemas.microsoft.com/office/drawing/2014/main" id="{3511DAEE-742D-464B-BD3E-2B16BD1A8147}"/>
              </a:ext>
            </a:extLst>
          </p:cNvPr>
          <p:cNvSpPr/>
          <p:nvPr/>
        </p:nvSpPr>
        <p:spPr>
          <a:xfrm>
            <a:off x="9981530" y="3999855"/>
            <a:ext cx="1698600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233" name="Google Shape;323;g3d6e2211149_2_228" descr="Private subnet group icon. ">
            <a:extLst>
              <a:ext uri="{FF2B5EF4-FFF2-40B4-BE49-F238E27FC236}">
                <a16:creationId xmlns:a16="http://schemas.microsoft.com/office/drawing/2014/main" id="{75AE7F28-3326-AD46-8030-71710C6A8FD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965205" y="400312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324;g3d6e2211149_2_228" descr="AWS CodeCommit service icon.">
            <a:extLst>
              <a:ext uri="{FF2B5EF4-FFF2-40B4-BE49-F238E27FC236}">
                <a16:creationId xmlns:a16="http://schemas.microsoft.com/office/drawing/2014/main" id="{3FA5E6E8-2A9F-3A4F-B3EA-8D5C0CE0AC18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447803" y="5623812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325;g3d6e2211149_2_228">
            <a:extLst>
              <a:ext uri="{FF2B5EF4-FFF2-40B4-BE49-F238E27FC236}">
                <a16:creationId xmlns:a16="http://schemas.microsoft.com/office/drawing/2014/main" id="{DCCB0AE8-B0E1-0C41-A34B-FA06C9603AE8}"/>
              </a:ext>
            </a:extLst>
          </p:cNvPr>
          <p:cNvSpPr txBox="1"/>
          <p:nvPr/>
        </p:nvSpPr>
        <p:spPr>
          <a:xfrm>
            <a:off x="4054599" y="5911151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8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4D42E47-B053-614F-948E-30D13B770B27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82299" y="43800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27;g3d6e2211149_2_228">
            <a:extLst>
              <a:ext uri="{FF2B5EF4-FFF2-40B4-BE49-F238E27FC236}">
                <a16:creationId xmlns:a16="http://schemas.microsoft.com/office/drawing/2014/main" id="{E00CCAF4-26A1-9A45-8524-469226FAF8BD}"/>
              </a:ext>
            </a:extLst>
          </p:cNvPr>
          <p:cNvSpPr txBox="1"/>
          <p:nvPr/>
        </p:nvSpPr>
        <p:spPr>
          <a:xfrm>
            <a:off x="10710880" y="433173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(금융/병원)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7EC0B57-A912-2E4C-A9BA-5879AA25DB5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29;g3d6e2211149_2_228">
            <a:extLst>
              <a:ext uri="{FF2B5EF4-FFF2-40B4-BE49-F238E27FC236}">
                <a16:creationId xmlns:a16="http://schemas.microsoft.com/office/drawing/2014/main" id="{21A90825-E47C-174F-BF0A-811C35AD9844}"/>
              </a:ext>
            </a:extLst>
          </p:cNvPr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33;g3d6e2211149_2_228">
            <a:extLst>
              <a:ext uri="{FF2B5EF4-FFF2-40B4-BE49-F238E27FC236}">
                <a16:creationId xmlns:a16="http://schemas.microsoft.com/office/drawing/2014/main" id="{DCBCC5B9-0FB1-B242-80DC-5AF1D1DE88C0}"/>
              </a:ext>
            </a:extLst>
          </p:cNvPr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89" name="Google Shape;334;g3d6e2211149_2_228" descr="VPC group icon. ">
            <a:extLst>
              <a:ext uri="{FF2B5EF4-FFF2-40B4-BE49-F238E27FC236}">
                <a16:creationId xmlns:a16="http://schemas.microsoft.com/office/drawing/2014/main" id="{DA60BF6E-2624-FA4C-8CEA-DE20C58D963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35;g3d6e2211149_2_228">
            <a:extLst>
              <a:ext uri="{FF2B5EF4-FFF2-40B4-BE49-F238E27FC236}">
                <a16:creationId xmlns:a16="http://schemas.microsoft.com/office/drawing/2014/main" id="{800BE764-B4E9-164F-80DB-CD77960CB2B1}"/>
              </a:ext>
            </a:extLst>
          </p:cNvPr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91" name="Google Shape;336;g3d6e2211149_2_228" descr="Public subnet group icon. ">
            <a:extLst>
              <a:ext uri="{FF2B5EF4-FFF2-40B4-BE49-F238E27FC236}">
                <a16:creationId xmlns:a16="http://schemas.microsoft.com/office/drawing/2014/main" id="{AF945080-C342-CA41-A943-1A9A71FFF4E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724C84A-EA7E-CB47-902B-89384207BC2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38;g3d6e2211149_2_228">
            <a:extLst>
              <a:ext uri="{FF2B5EF4-FFF2-40B4-BE49-F238E27FC236}">
                <a16:creationId xmlns:a16="http://schemas.microsoft.com/office/drawing/2014/main" id="{F454A5CD-24AC-B64C-A0E3-CA42311BB862}"/>
              </a:ext>
            </a:extLst>
          </p:cNvPr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394" name="Google Shape;339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6D19BF28-E173-8047-90F0-3335FDB5F17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54953" y="449463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40;g3d6e2211149_2_228">
            <a:extLst>
              <a:ext uri="{FF2B5EF4-FFF2-40B4-BE49-F238E27FC236}">
                <a16:creationId xmlns:a16="http://schemas.microsoft.com/office/drawing/2014/main" id="{1B618041-4361-9F42-BF51-6DEC0D245B48}"/>
              </a:ext>
            </a:extLst>
          </p:cNvPr>
          <p:cNvSpPr txBox="1"/>
          <p:nvPr/>
        </p:nvSpPr>
        <p:spPr>
          <a:xfrm>
            <a:off x="8316418" y="4917212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396" name="Google Shape;341;g3d6e2211149_2_228">
            <a:extLst>
              <a:ext uri="{FF2B5EF4-FFF2-40B4-BE49-F238E27FC236}">
                <a16:creationId xmlns:a16="http://schemas.microsoft.com/office/drawing/2014/main" id="{AF98E89D-A091-2B45-8380-E544192677FB}"/>
              </a:ext>
            </a:extLst>
          </p:cNvPr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97" name="Google Shape;342;g3d6e2211149_2_228" descr="Private subnet group icon. ">
            <a:extLst>
              <a:ext uri="{FF2B5EF4-FFF2-40B4-BE49-F238E27FC236}">
                <a16:creationId xmlns:a16="http://schemas.microsoft.com/office/drawing/2014/main" id="{D434D351-0AAE-FD43-9D0E-DB67853E542C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347;g3d6e2211149_2_228" descr="AWS Auto Scaling service icon.">
            <a:extLst>
              <a:ext uri="{FF2B5EF4-FFF2-40B4-BE49-F238E27FC236}">
                <a16:creationId xmlns:a16="http://schemas.microsoft.com/office/drawing/2014/main" id="{12CC341F-B0A4-D648-8710-F0933B305CBD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348;g3d6e2211149_2_228">
            <a:extLst>
              <a:ext uri="{FF2B5EF4-FFF2-40B4-BE49-F238E27FC236}">
                <a16:creationId xmlns:a16="http://schemas.microsoft.com/office/drawing/2014/main" id="{8D9399CC-6B99-2C42-BFCC-94EE01B1C52B}"/>
              </a:ext>
            </a:extLst>
          </p:cNvPr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3FF0D3FF-9F0E-B145-B883-13801622238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99290" y="1844576"/>
            <a:ext cx="343546" cy="343546"/>
          </a:xfrm>
          <a:prstGeom prst="rect">
            <a:avLst/>
          </a:prstGeom>
        </p:spPr>
      </p:pic>
      <p:sp>
        <p:nvSpPr>
          <p:cNvPr id="437" name="Google Shape;244;g3d6e2211149_2_228">
            <a:extLst>
              <a:ext uri="{FF2B5EF4-FFF2-40B4-BE49-F238E27FC236}">
                <a16:creationId xmlns:a16="http://schemas.microsoft.com/office/drawing/2014/main" id="{A2EAA181-7531-EE45-A7F0-12D0359CCD23}"/>
              </a:ext>
            </a:extLst>
          </p:cNvPr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raphic 437">
            <a:extLst>
              <a:ext uri="{FF2B5EF4-FFF2-40B4-BE49-F238E27FC236}">
                <a16:creationId xmlns:a16="http://schemas.microsoft.com/office/drawing/2014/main" id="{77A74984-FF2E-444A-ACB1-8A97A7F3B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523289" y="1818344"/>
            <a:ext cx="397735" cy="397735"/>
          </a:xfrm>
          <a:prstGeom prst="rect">
            <a:avLst/>
          </a:prstGeom>
        </p:spPr>
      </p:pic>
      <p:sp>
        <p:nvSpPr>
          <p:cNvPr id="439" name="Google Shape;244;g3d6e2211149_2_228">
            <a:extLst>
              <a:ext uri="{FF2B5EF4-FFF2-40B4-BE49-F238E27FC236}">
                <a16:creationId xmlns:a16="http://schemas.microsoft.com/office/drawing/2014/main" id="{7A84FFBE-2A8F-584B-9616-ECCF1A3E33D4}"/>
              </a:ext>
            </a:extLst>
          </p:cNvPr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Actions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외부망 개발 = GitHub Enterprise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sp>
        <p:nvSpPr>
          <p:cNvPr id="165" name="Google Shape;255;g3d6e2211149_2_228">
            <a:extLst>
              <a:ext uri="{FF2B5EF4-FFF2-40B4-BE49-F238E27FC236}">
                <a16:creationId xmlns:a16="http://schemas.microsoft.com/office/drawing/2014/main" id="{7BCE4F92-CCC8-1F4E-B86A-2FB4AF149266}"/>
              </a:ext>
            </a:extLst>
          </p:cNvPr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447" name="Google Shape;358;g3d6e2211149_2_228">
            <a:extLst>
              <a:ext uri="{FF2B5EF4-FFF2-40B4-BE49-F238E27FC236}">
                <a16:creationId xmlns:a16="http://schemas.microsoft.com/office/drawing/2014/main" id="{0F0CE645-B64F-0E48-BD0D-5BF4C3FAAD62}"/>
              </a:ext>
            </a:extLst>
          </p:cNvPr>
          <p:cNvCxnSpPr>
            <a:cxnSpLocks/>
            <a:stCxn id="439" idx="2"/>
          </p:cNvCxnSpPr>
          <p:nvPr/>
        </p:nvCxnSpPr>
        <p:spPr>
          <a:xfrm>
            <a:off x="2775789" y="2547755"/>
            <a:ext cx="223677" cy="110357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450" name="Google Shape;308;g3d6e2211149_2_228" descr="AWS CodePipeline service icon.">
            <a:extLst>
              <a:ext uri="{FF2B5EF4-FFF2-40B4-BE49-F238E27FC236}">
                <a16:creationId xmlns:a16="http://schemas.microsoft.com/office/drawing/2014/main" id="{54F2BD4E-CCDF-5E43-8425-07F71136F922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309524" y="5623811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309;g3d6e2211149_2_228">
            <a:extLst>
              <a:ext uri="{FF2B5EF4-FFF2-40B4-BE49-F238E27FC236}">
                <a16:creationId xmlns:a16="http://schemas.microsoft.com/office/drawing/2014/main" id="{544405CA-AB75-0844-A2F1-545BB8BE1DF0}"/>
              </a:ext>
            </a:extLst>
          </p:cNvPr>
          <p:cNvSpPr txBox="1"/>
          <p:nvPr/>
        </p:nvSpPr>
        <p:spPr>
          <a:xfrm>
            <a:off x="4962060" y="5889677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cxnSp>
        <p:nvCxnSpPr>
          <p:cNvPr id="454" name="Google Shape;358;g3d6e2211149_2_228">
            <a:extLst>
              <a:ext uri="{FF2B5EF4-FFF2-40B4-BE49-F238E27FC236}">
                <a16:creationId xmlns:a16="http://schemas.microsoft.com/office/drawing/2014/main" id="{96DAD22A-A7A1-D94E-8C92-5986E2396726}"/>
              </a:ext>
            </a:extLst>
          </p:cNvPr>
          <p:cNvCxnSpPr>
            <a:cxnSpLocks/>
            <a:stCxn id="234" idx="3"/>
            <a:endCxn id="450" idx="1"/>
          </p:cNvCxnSpPr>
          <p:nvPr/>
        </p:nvCxnSpPr>
        <p:spPr>
          <a:xfrm flipV="1">
            <a:off x="4732327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5" name="Google Shape;358;g3d6e2211149_2_228">
            <a:extLst>
              <a:ext uri="{FF2B5EF4-FFF2-40B4-BE49-F238E27FC236}">
                <a16:creationId xmlns:a16="http://schemas.microsoft.com/office/drawing/2014/main" id="{59176ED2-7214-D043-851C-7F945AEEC799}"/>
              </a:ext>
            </a:extLst>
          </p:cNvPr>
          <p:cNvCxnSpPr>
            <a:cxnSpLocks/>
          </p:cNvCxnSpPr>
          <p:nvPr/>
        </p:nvCxnSpPr>
        <p:spPr>
          <a:xfrm flipV="1">
            <a:off x="5584035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6" name="Google Shape;358;g3d6e2211149_2_228">
            <a:extLst>
              <a:ext uri="{FF2B5EF4-FFF2-40B4-BE49-F238E27FC236}">
                <a16:creationId xmlns:a16="http://schemas.microsoft.com/office/drawing/2014/main" id="{9E3C16A9-0AB4-1C44-8A75-1D517828A231}"/>
              </a:ext>
            </a:extLst>
          </p:cNvPr>
          <p:cNvCxnSpPr>
            <a:cxnSpLocks/>
            <a:stCxn id="476" idx="3"/>
          </p:cNvCxnSpPr>
          <p:nvPr/>
        </p:nvCxnSpPr>
        <p:spPr>
          <a:xfrm>
            <a:off x="6579603" y="5779971"/>
            <a:ext cx="3934304" cy="49443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1175793" y="1568506"/>
            <a:ext cx="153771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dk1"/>
                </a:solidFill>
              </a:rPr>
              <a:t>Lambda Repo</a:t>
            </a:r>
          </a:p>
        </p:txBody>
      </p:sp>
      <p:cxnSp>
        <p:nvCxnSpPr>
          <p:cNvPr id="466" name="Google Shape;358;g3d6e2211149_2_228">
            <a:extLst>
              <a:ext uri="{FF2B5EF4-FFF2-40B4-BE49-F238E27FC236}">
                <a16:creationId xmlns:a16="http://schemas.microsoft.com/office/drawing/2014/main" id="{F0ACEA8E-B844-1946-9EE5-7DADCA515003}"/>
              </a:ext>
            </a:extLst>
          </p:cNvPr>
          <p:cNvCxnSpPr>
            <a:cxnSpLocks/>
            <a:stCxn id="228" idx="0"/>
            <a:endCxn id="234" idx="1"/>
          </p:cNvCxnSpPr>
          <p:nvPr/>
        </p:nvCxnSpPr>
        <p:spPr>
          <a:xfrm>
            <a:off x="2991968" y="3733373"/>
            <a:ext cx="1455835" cy="203270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3" name="TextBox 472">
            <a:extLst>
              <a:ext uri="{FF2B5EF4-FFF2-40B4-BE49-F238E27FC236}">
                <a16:creationId xmlns:a16="http://schemas.microsoft.com/office/drawing/2014/main" id="{AA2AD6E9-8461-B94D-8654-5DD572D36A40}"/>
              </a:ext>
            </a:extLst>
          </p:cNvPr>
          <p:cNvSpPr txBox="1"/>
          <p:nvPr/>
        </p:nvSpPr>
        <p:spPr>
          <a:xfrm>
            <a:off x="4855247" y="6262307"/>
            <a:ext cx="13825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lambda Pipeline</a:t>
            </a:r>
            <a:endParaRPr lang="en-KR" sz="800" b="1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82A682A4-FB7B-7646-ADF5-60319A97CC31}"/>
              </a:ext>
            </a:extLst>
          </p:cNvPr>
          <p:cNvSpPr txBox="1"/>
          <p:nvPr/>
        </p:nvSpPr>
        <p:spPr>
          <a:xfrm>
            <a:off x="2926199" y="1816179"/>
            <a:ext cx="1191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Unit Test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Security Scan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Docker Build Test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476" name="Graphic 19" descr="AWS CodeBuild service icon.">
            <a:extLst>
              <a:ext uri="{FF2B5EF4-FFF2-40B4-BE49-F238E27FC236}">
                <a16:creationId xmlns:a16="http://schemas.microsoft.com/office/drawing/2014/main" id="{44C4C64B-175D-B24D-BF8F-100F818DF0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6234581" y="5607460"/>
            <a:ext cx="345022" cy="34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" name="TextBox 11">
            <a:extLst>
              <a:ext uri="{FF2B5EF4-FFF2-40B4-BE49-F238E27FC236}">
                <a16:creationId xmlns:a16="http://schemas.microsoft.com/office/drawing/2014/main" id="{24D1B86C-8C61-8249-B920-EE10E637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360" y="5969164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  <a:endCxn id="437" idx="0"/>
          </p:cNvCxnSpPr>
          <p:nvPr/>
        </p:nvCxnSpPr>
        <p:spPr>
          <a:xfrm flipH="1" flipV="1">
            <a:off x="2165784" y="2209241"/>
            <a:ext cx="27703" cy="106808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90" name="Google Shape;303;g3d6896b4338_0_0">
            <a:extLst>
              <a:ext uri="{FF2B5EF4-FFF2-40B4-BE49-F238E27FC236}">
                <a16:creationId xmlns:a16="http://schemas.microsoft.com/office/drawing/2014/main" id="{B9101083-54F1-6644-88C1-99C6A1CDC26F}"/>
              </a:ext>
            </a:extLst>
          </p:cNvPr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303;g3d6896b4338_0_0">
            <a:extLst>
              <a:ext uri="{FF2B5EF4-FFF2-40B4-BE49-F238E27FC236}">
                <a16:creationId xmlns:a16="http://schemas.microsoft.com/office/drawing/2014/main" id="{4D4A651C-89C5-474C-9BD7-C8403DCFA6BD}"/>
              </a:ext>
            </a:extLst>
          </p:cNvPr>
          <p:cNvSpPr/>
          <p:nvPr/>
        </p:nvSpPr>
        <p:spPr>
          <a:xfrm>
            <a:off x="442665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303;g3d6896b4338_0_0">
            <a:extLst>
              <a:ext uri="{FF2B5EF4-FFF2-40B4-BE49-F238E27FC236}">
                <a16:creationId xmlns:a16="http://schemas.microsoft.com/office/drawing/2014/main" id="{FA11BCF6-793A-7245-B674-4C4A80490EB0}"/>
              </a:ext>
            </a:extLst>
          </p:cNvPr>
          <p:cNvSpPr/>
          <p:nvPr/>
        </p:nvSpPr>
        <p:spPr>
          <a:xfrm>
            <a:off x="589789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303;g3d6896b4338_0_0">
            <a:extLst>
              <a:ext uri="{FF2B5EF4-FFF2-40B4-BE49-F238E27FC236}">
                <a16:creationId xmlns:a16="http://schemas.microsoft.com/office/drawing/2014/main" id="{1F6A8B33-E739-AC49-8C4D-C5B04ADA6327}"/>
              </a:ext>
            </a:extLst>
          </p:cNvPr>
          <p:cNvSpPr/>
          <p:nvPr/>
        </p:nvSpPr>
        <p:spPr>
          <a:xfrm>
            <a:off x="8272555" y="610367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44928" y="2151800"/>
            <a:ext cx="186343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 xml:space="preserve"> </a:t>
            </a:r>
            <a:r>
              <a:rPr lang="en-US" altLang="ko-KR" sz="900"/>
              <a:t>Push</a:t>
            </a:r>
            <a:r>
              <a:rPr lang="en-KR" altLang="ko-KR" sz="900"/>
              <a:t xml:space="preserve"> -&gt; </a:t>
            </a:r>
            <a:r>
              <a:rPr lang="en-KR" sz="900"/>
              <a:t>GitHub Repo</a:t>
            </a:r>
            <a:r>
              <a:rPr lang="ko-KR" altLang="en-US" sz="900"/>
              <a:t xml:space="preserve"> </a:t>
            </a:r>
            <a:r>
              <a:rPr lang="en-US" altLang="ko-KR" sz="900"/>
              <a:t>-&gt;</a:t>
            </a:r>
            <a:r>
              <a:rPr lang="ko-KR" altLang="en-US" sz="900"/>
              <a:t xml:space="preserve"> </a:t>
            </a:r>
            <a:r>
              <a:rPr lang="en-US" altLang="ko-KR" sz="900"/>
              <a:t>wearable-agent</a:t>
            </a:r>
            <a:endParaRPr lang="en-KR" sz="900"/>
          </a:p>
          <a:p>
            <a:endParaRPr lang="en-KR" sz="900"/>
          </a:p>
          <a:p>
            <a:r>
              <a:rPr lang="en-KR" sz="900"/>
              <a:t>2. GitHub Actions</a:t>
            </a:r>
          </a:p>
          <a:p>
            <a:pPr marL="171450" indent="-171450">
              <a:buFontTx/>
              <a:buChar char="-"/>
            </a:pPr>
            <a:r>
              <a:rPr lang="en-KR" sz="900"/>
              <a:t>Unit Test</a:t>
            </a:r>
          </a:p>
          <a:p>
            <a:pPr marL="171450" indent="-171450">
              <a:buFontTx/>
              <a:buChar char="-"/>
            </a:pPr>
            <a:r>
              <a:rPr lang="en-KR" sz="900"/>
              <a:t>Security Scan</a:t>
            </a:r>
          </a:p>
          <a:p>
            <a:pPr marL="171450" indent="-171450">
              <a:buFontTx/>
              <a:buChar char="-"/>
            </a:pPr>
            <a:r>
              <a:rPr lang="en-KR" sz="900"/>
              <a:t>Docker Build Test</a:t>
            </a:r>
          </a:p>
          <a:p>
            <a:pPr marL="171450" indent="-171450">
              <a:buFontTx/>
              <a:buChar char="-"/>
            </a:pPr>
            <a:endParaRPr lang="en-KR" sz="900"/>
          </a:p>
          <a:p>
            <a:r>
              <a:rPr lang="en-US" altLang="ko-KR" sz="900"/>
              <a:t>3.</a:t>
            </a:r>
            <a:r>
              <a:rPr lang="ko-KR" altLang="en-US" sz="900"/>
              <a:t xml:space="preserve"> 테스트 통과시</a:t>
            </a:r>
            <a:r>
              <a:rPr lang="en-US" altLang="ko-KR" sz="900"/>
              <a:t>,</a:t>
            </a:r>
            <a:r>
              <a:rPr lang="ko-KR" altLang="en-US" sz="900"/>
              <a:t xml:space="preserve"> </a:t>
            </a:r>
            <a:r>
              <a:rPr lang="en-US" altLang="ko-KR" sz="900"/>
              <a:t xml:space="preserve">GitHub Action </a:t>
            </a:r>
            <a:r>
              <a:rPr lang="ko-KR" altLang="en-US" sz="900"/>
              <a:t xml:space="preserve">자동 승인 </a:t>
            </a:r>
            <a:endParaRPr lang="en-KR" sz="900"/>
          </a:p>
          <a:p>
            <a:endParaRPr lang="en-KR" sz="900"/>
          </a:p>
          <a:p>
            <a:r>
              <a:rPr lang="en-KR" sz="900"/>
              <a:t>4. CodeCommit Mirror</a:t>
            </a:r>
          </a:p>
          <a:p>
            <a:endParaRPr lang="en-KR" sz="900"/>
          </a:p>
          <a:p>
            <a:r>
              <a:rPr lang="en-KR" sz="900"/>
              <a:t>5. CodePipeline -&gt; CodeBuild</a:t>
            </a:r>
            <a:endParaRPr lang="en-US" altLang="ko-KR" sz="900"/>
          </a:p>
          <a:p>
            <a:endParaRPr lang="en-KR" sz="900"/>
          </a:p>
          <a:p>
            <a:r>
              <a:rPr lang="en-KR" sz="900"/>
              <a:t xml:space="preserve">6. </a:t>
            </a:r>
            <a:r>
              <a:rPr lang="en-US" sz="900"/>
              <a:t>a</a:t>
            </a:r>
            <a:r>
              <a:rPr lang="en-KR" sz="900"/>
              <a:t>ws lamda</a:t>
            </a:r>
            <a:r>
              <a:rPr lang="ko-KR" altLang="en-US" sz="900"/>
              <a:t xml:space="preserve"> 명령어 실행</a:t>
            </a:r>
            <a:endParaRPr lang="en-KR" sz="900"/>
          </a:p>
          <a:p>
            <a:endParaRPr lang="en-KR" sz="900"/>
          </a:p>
          <a:p>
            <a:r>
              <a:rPr lang="en-KR" sz="900"/>
              <a:t xml:space="preserve">7. </a:t>
            </a:r>
            <a:r>
              <a:rPr lang="en-US" sz="900"/>
              <a:t>Lambda</a:t>
            </a:r>
            <a:r>
              <a:rPr lang="ko-KR" altLang="en-US" sz="900"/>
              <a:t xml:space="preserve"> 배포</a:t>
            </a:r>
            <a:endParaRPr lang="en-US" altLang="ko-KR" sz="900"/>
          </a:p>
        </p:txBody>
      </p:sp>
      <p:sp>
        <p:nvSpPr>
          <p:cNvPr id="499" name="Google Shape;303;g3d6896b4338_0_0">
            <a:extLst>
              <a:ext uri="{FF2B5EF4-FFF2-40B4-BE49-F238E27FC236}">
                <a16:creationId xmlns:a16="http://schemas.microsoft.com/office/drawing/2014/main" id="{2C2AA00E-C437-9346-AA66-E1C3DE8A0E93}"/>
              </a:ext>
            </a:extLst>
          </p:cNvPr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01C240C1-79A2-7749-9953-6180DF22ACD4}"/>
              </a:ext>
            </a:extLst>
          </p:cNvPr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ko-KR" altLang="en-US" sz="800">
                <a:solidFill>
                  <a:schemeClr val="dk1"/>
                </a:solidFill>
              </a:rPr>
              <a:t xml:space="preserve">자동 승인 </a:t>
            </a:r>
            <a:endParaRPr lang="en-KR" sz="800">
              <a:solidFill>
                <a:schemeClr val="dk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B4CB548-6AD2-2942-9445-C31113B1D376}"/>
              </a:ext>
            </a:extLst>
          </p:cNvPr>
          <p:cNvSpPr txBox="1"/>
          <p:nvPr/>
        </p:nvSpPr>
        <p:spPr>
          <a:xfrm>
            <a:off x="64349" y="798896"/>
            <a:ext cx="14891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/>
              <a:t>lifesync-data-platform/</a:t>
            </a:r>
          </a:p>
          <a:p>
            <a:r>
              <a:rPr lang="en-US" altLang="ko-KR" sz="900"/>
              <a:t>├ lambda/</a:t>
            </a:r>
          </a:p>
          <a:p>
            <a:r>
              <a:rPr lang="en-US" altLang="ko-KR" sz="900"/>
              <a:t>│  ├ ingest.py</a:t>
            </a:r>
          </a:p>
          <a:p>
            <a:r>
              <a:rPr lang="en-US" altLang="ko-KR" sz="900"/>
              <a:t>│  └ router.py</a:t>
            </a:r>
          </a:p>
        </p:txBody>
      </p:sp>
      <p:pic>
        <p:nvPicPr>
          <p:cNvPr id="117" name="Graphic 17" descr="AWS Secrets Manager service icon.">
            <a:extLst>
              <a:ext uri="{FF2B5EF4-FFF2-40B4-BE49-F238E27FC236}">
                <a16:creationId xmlns:a16="http://schemas.microsoft.com/office/drawing/2014/main" id="{5FB7B0CE-F8A6-EB4D-9B39-06487A1598F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 bwMode="auto">
          <a:xfrm>
            <a:off x="6683696" y="3723256"/>
            <a:ext cx="390032" cy="372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" name="TextBox 11">
            <a:extLst>
              <a:ext uri="{FF2B5EF4-FFF2-40B4-BE49-F238E27FC236}">
                <a16:creationId xmlns:a16="http://schemas.microsoft.com/office/drawing/2014/main" id="{BDFC61ED-E97F-8C4F-989B-092FCA9EA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350" y="4158672"/>
            <a:ext cx="11396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 xml:space="preserve">AWS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sp>
        <p:nvSpPr>
          <p:cNvPr id="109" name="Google Shape;262;g3d6e2211149_2_228">
            <a:extLst>
              <a:ext uri="{FF2B5EF4-FFF2-40B4-BE49-F238E27FC236}">
                <a16:creationId xmlns:a16="http://schemas.microsoft.com/office/drawing/2014/main" id="{2025941C-FC08-484C-918E-084EDCC71B73}"/>
              </a:ext>
            </a:extLst>
          </p:cNvPr>
          <p:cNvSpPr/>
          <p:nvPr/>
        </p:nvSpPr>
        <p:spPr>
          <a:xfrm>
            <a:off x="9669312" y="5119676"/>
            <a:ext cx="2080794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110" name="Google Shape;263;g3d6e2211149_2_228" descr="VPC group icon. ">
            <a:extLst>
              <a:ext uri="{FF2B5EF4-FFF2-40B4-BE49-F238E27FC236}">
                <a16:creationId xmlns:a16="http://schemas.microsoft.com/office/drawing/2014/main" id="{819C1C9F-8E05-FC49-A4CC-134BDA027DE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80663" y="511941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264;g3d6e2211149_2_228">
            <a:extLst>
              <a:ext uri="{FF2B5EF4-FFF2-40B4-BE49-F238E27FC236}">
                <a16:creationId xmlns:a16="http://schemas.microsoft.com/office/drawing/2014/main" id="{BA663650-01D1-C34A-8DE8-1F813E153CE9}"/>
              </a:ext>
            </a:extLst>
          </p:cNvPr>
          <p:cNvSpPr/>
          <p:nvPr/>
        </p:nvSpPr>
        <p:spPr>
          <a:xfrm>
            <a:off x="9860367" y="5533760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112" name="Google Shape;265;g3d6e2211149_2_228" descr="Private subnet group icon. ">
            <a:extLst>
              <a:ext uri="{FF2B5EF4-FFF2-40B4-BE49-F238E27FC236}">
                <a16:creationId xmlns:a16="http://schemas.microsoft.com/office/drawing/2014/main" id="{4B573303-CCCD-E74C-BFA7-75FF8E606890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53079" y="5536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294;g3d6e2211149_2_228" descr="AWS Lambda service icon.">
            <a:extLst>
              <a:ext uri="{FF2B5EF4-FFF2-40B4-BE49-F238E27FC236}">
                <a16:creationId xmlns:a16="http://schemas.microsoft.com/office/drawing/2014/main" id="{DF995D04-2B24-FC48-BE46-9DBF9D128C06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0479971" y="6047800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295;g3d6e2211149_2_228">
            <a:extLst>
              <a:ext uri="{FF2B5EF4-FFF2-40B4-BE49-F238E27FC236}">
                <a16:creationId xmlns:a16="http://schemas.microsoft.com/office/drawing/2014/main" id="{395AD8C4-F997-5442-BB65-CF9FF1BB6DF3}"/>
              </a:ext>
            </a:extLst>
          </p:cNvPr>
          <p:cNvSpPr txBox="1"/>
          <p:nvPr/>
        </p:nvSpPr>
        <p:spPr>
          <a:xfrm>
            <a:off x="10804254" y="6080580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116" name="Google Shape;303;g3d6896b4338_0_0">
            <a:extLst>
              <a:ext uri="{FF2B5EF4-FFF2-40B4-BE49-F238E27FC236}">
                <a16:creationId xmlns:a16="http://schemas.microsoft.com/office/drawing/2014/main" id="{80F0C225-2360-D34F-B0AB-BADB45E79381}"/>
              </a:ext>
            </a:extLst>
          </p:cNvPr>
          <p:cNvSpPr/>
          <p:nvPr/>
        </p:nvSpPr>
        <p:spPr>
          <a:xfrm>
            <a:off x="9945290" y="629358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454DB31-9782-0D4B-AAF5-CAEDB3D61874}"/>
              </a:ext>
            </a:extLst>
          </p:cNvPr>
          <p:cNvSpPr txBox="1"/>
          <p:nvPr/>
        </p:nvSpPr>
        <p:spPr>
          <a:xfrm>
            <a:off x="4290728" y="5332773"/>
            <a:ext cx="1001296" cy="21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800">
                <a:solidFill>
                  <a:schemeClr val="dk1"/>
                </a:solidFill>
              </a:rPr>
              <a:t>lifesync-data-prod</a:t>
            </a:r>
          </a:p>
        </p:txBody>
      </p:sp>
      <p:pic>
        <p:nvPicPr>
          <p:cNvPr id="120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06C02C62-ACC6-314A-9EBE-14E3DF273870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 bwMode="auto">
          <a:xfrm>
            <a:off x="8913003" y="5641207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" name="TextBox 17">
            <a:extLst>
              <a:ext uri="{FF2B5EF4-FFF2-40B4-BE49-F238E27FC236}">
                <a16:creationId xmlns:a16="http://schemas.microsoft.com/office/drawing/2014/main" id="{A0EA9DFF-46AB-6E4B-A5CC-7FA93D90C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2077" y="6120632"/>
            <a:ext cx="1362074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Lambda function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D672847-5478-9B43-9B81-2CB35A699ED7}"/>
              </a:ext>
            </a:extLst>
          </p:cNvPr>
          <p:cNvSpPr txBox="1"/>
          <p:nvPr/>
        </p:nvSpPr>
        <p:spPr>
          <a:xfrm>
            <a:off x="6511742" y="4740623"/>
            <a:ext cx="213734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800"/>
              <a:t>version: 0.2</a:t>
            </a:r>
          </a:p>
          <a:p>
            <a:r>
              <a:rPr lang="en-KR" sz="800"/>
              <a:t>phases:</a:t>
            </a:r>
          </a:p>
          <a:p>
            <a:r>
              <a:rPr lang="en-KR" sz="800"/>
              <a:t xml:space="preserve">  build:</a:t>
            </a:r>
          </a:p>
          <a:p>
            <a:r>
              <a:rPr lang="en-KR" sz="800"/>
              <a:t xml:space="preserve">    commands:</a:t>
            </a:r>
          </a:p>
          <a:p>
            <a:r>
              <a:rPr lang="en-KR" sz="800"/>
              <a:t xml:space="preserve">      - zip function.zip lambda_ingest.py</a:t>
            </a:r>
          </a:p>
          <a:p>
            <a:r>
              <a:rPr lang="en-KR" sz="800"/>
              <a:t xml:space="preserve">      - aws lambda update-function-code \</a:t>
            </a:r>
          </a:p>
          <a:p>
            <a:r>
              <a:rPr lang="en-KR" sz="800"/>
              <a:t xml:space="preserve">        --function-name lifesync-ingest \</a:t>
            </a:r>
          </a:p>
          <a:p>
            <a:r>
              <a:rPr lang="en-KR" sz="800"/>
              <a:t xml:space="preserve">        --zip-file fileb://function.zip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E9139F1-F621-4048-A248-2DA34B4E3348}"/>
              </a:ext>
            </a:extLst>
          </p:cNvPr>
          <p:cNvSpPr txBox="1"/>
          <p:nvPr/>
        </p:nvSpPr>
        <p:spPr>
          <a:xfrm>
            <a:off x="6204045" y="6274112"/>
            <a:ext cx="1172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├ lambda_ingest.zip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├ lambda_router.zip</a:t>
            </a:r>
            <a:endParaRPr lang="en-KR" sz="800">
              <a:solidFill>
                <a:schemeClr val="dk1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067108F-E904-164E-AAEB-1F9A9E76F0B9}"/>
              </a:ext>
            </a:extLst>
          </p:cNvPr>
          <p:cNvSpPr txBox="1"/>
          <p:nvPr/>
        </p:nvSpPr>
        <p:spPr>
          <a:xfrm>
            <a:off x="7754725" y="6332485"/>
            <a:ext cx="18076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aws lambda update-function-code</a:t>
            </a:r>
            <a:endParaRPr lang="en-KR" sz="800"/>
          </a:p>
        </p:txBody>
      </p:sp>
      <p:pic>
        <p:nvPicPr>
          <p:cNvPr id="125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21FB383F-4A4D-F349-8EED-0EE7B93D86D1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5655467" y="5207930"/>
            <a:ext cx="342596" cy="3252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274;g3d6e2211149_2_228">
            <a:extLst>
              <a:ext uri="{FF2B5EF4-FFF2-40B4-BE49-F238E27FC236}">
                <a16:creationId xmlns:a16="http://schemas.microsoft.com/office/drawing/2014/main" id="{1F5C167D-DC41-0C4E-A735-39BC8A718977}"/>
              </a:ext>
            </a:extLst>
          </p:cNvPr>
          <p:cNvSpPr txBox="1"/>
          <p:nvPr/>
        </p:nvSpPr>
        <p:spPr>
          <a:xfrm>
            <a:off x="5826431" y="5214887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275;g3d6e2211149_2_228" descr="Amazon Aurora service icon.">
            <a:extLst>
              <a:ext uri="{FF2B5EF4-FFF2-40B4-BE49-F238E27FC236}">
                <a16:creationId xmlns:a16="http://schemas.microsoft.com/office/drawing/2014/main" id="{E847D0DB-4F8D-3649-8C18-EE81716FFD7C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795868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276;g3d6e2211149_2_228">
            <a:extLst>
              <a:ext uri="{FF2B5EF4-FFF2-40B4-BE49-F238E27FC236}">
                <a16:creationId xmlns:a16="http://schemas.microsoft.com/office/drawing/2014/main" id="{35061A37-E75F-AE42-AE00-06F9093DD2C7}"/>
              </a:ext>
            </a:extLst>
          </p:cNvPr>
          <p:cNvSpPr txBox="1"/>
          <p:nvPr/>
        </p:nvSpPr>
        <p:spPr>
          <a:xfrm>
            <a:off x="771071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131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085E0679-7FB7-4248-9E69-FCFFC7A21698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56591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280;g3d6e2211149_2_228">
            <a:extLst>
              <a:ext uri="{FF2B5EF4-FFF2-40B4-BE49-F238E27FC236}">
                <a16:creationId xmlns:a16="http://schemas.microsoft.com/office/drawing/2014/main" id="{7DCBD434-CE04-A146-A291-BD863515B3F1}"/>
              </a:ext>
            </a:extLst>
          </p:cNvPr>
          <p:cNvSpPr txBox="1"/>
          <p:nvPr/>
        </p:nvSpPr>
        <p:spPr>
          <a:xfrm>
            <a:off x="823028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133" name="Google Shape;294;g3d6e2211149_2_228" descr="AWS Lambda service icon.">
            <a:extLst>
              <a:ext uri="{FF2B5EF4-FFF2-40B4-BE49-F238E27FC236}">
                <a16:creationId xmlns:a16="http://schemas.microsoft.com/office/drawing/2014/main" id="{38D33F57-30B8-9248-8D4A-3844B8B60F2D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818328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295;g3d6e2211149_2_228">
            <a:extLst>
              <a:ext uri="{FF2B5EF4-FFF2-40B4-BE49-F238E27FC236}">
                <a16:creationId xmlns:a16="http://schemas.microsoft.com/office/drawing/2014/main" id="{F857F4B2-8C5A-C344-AF5D-67ADCA8F5AF7}"/>
              </a:ext>
            </a:extLst>
          </p:cNvPr>
          <p:cNvSpPr txBox="1"/>
          <p:nvPr/>
        </p:nvSpPr>
        <p:spPr>
          <a:xfrm>
            <a:off x="845229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36" name="Google Shape;342;g3d6e2211149_2_228" descr="Private subnet group icon. ">
            <a:extLst>
              <a:ext uri="{FF2B5EF4-FFF2-40B4-BE49-F238E27FC236}">
                <a16:creationId xmlns:a16="http://schemas.microsoft.com/office/drawing/2014/main" id="{B4BE99AA-B618-6B47-AD03-6D362F787A4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81460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250;g3d6e2211149_2_228">
            <a:extLst>
              <a:ext uri="{FF2B5EF4-FFF2-40B4-BE49-F238E27FC236}">
                <a16:creationId xmlns:a16="http://schemas.microsoft.com/office/drawing/2014/main" id="{8D06E990-1BFC-BE4E-8F9F-E120511DCD8D}"/>
              </a:ext>
            </a:extLst>
          </p:cNvPr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sp>
        <p:nvSpPr>
          <p:cNvPr id="138" name="Google Shape;341;g3d6e2211149_2_228">
            <a:extLst>
              <a:ext uri="{FF2B5EF4-FFF2-40B4-BE49-F238E27FC236}">
                <a16:creationId xmlns:a16="http://schemas.microsoft.com/office/drawing/2014/main" id="{A58BFCE6-EE9F-7C4C-91FD-BCDE06988C7A}"/>
              </a:ext>
            </a:extLst>
          </p:cNvPr>
          <p:cNvSpPr/>
          <p:nvPr/>
        </p:nvSpPr>
        <p:spPr>
          <a:xfrm>
            <a:off x="7808530" y="1924379"/>
            <a:ext cx="1537812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311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 – Data (Glue, EMR)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lang="en-US" sz="1200"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pic>
        <p:nvPicPr>
          <p:cNvPr id="234" name="Google Shape;324;g3d6e2211149_2_228" descr="AWS CodeCommit service icon.">
            <a:extLst>
              <a:ext uri="{FF2B5EF4-FFF2-40B4-BE49-F238E27FC236}">
                <a16:creationId xmlns:a16="http://schemas.microsoft.com/office/drawing/2014/main" id="{3FA5E6E8-2A9F-3A4F-B3EA-8D5C0CE0AC1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47803" y="5623812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325;g3d6e2211149_2_228">
            <a:extLst>
              <a:ext uri="{FF2B5EF4-FFF2-40B4-BE49-F238E27FC236}">
                <a16:creationId xmlns:a16="http://schemas.microsoft.com/office/drawing/2014/main" id="{DCCB0AE8-B0E1-0C41-A34B-FA06C9603AE8}"/>
              </a:ext>
            </a:extLst>
          </p:cNvPr>
          <p:cNvSpPr txBox="1"/>
          <p:nvPr/>
        </p:nvSpPr>
        <p:spPr>
          <a:xfrm>
            <a:off x="4054599" y="5911151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83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7EC0B57-A912-2E4C-A9BA-5879AA25DB5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29;g3d6e2211149_2_228">
            <a:extLst>
              <a:ext uri="{FF2B5EF4-FFF2-40B4-BE49-F238E27FC236}">
                <a16:creationId xmlns:a16="http://schemas.microsoft.com/office/drawing/2014/main" id="{21A90825-E47C-174F-BF0A-811C35AD9844}"/>
              </a:ext>
            </a:extLst>
          </p:cNvPr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33;g3d6e2211149_2_228">
            <a:extLst>
              <a:ext uri="{FF2B5EF4-FFF2-40B4-BE49-F238E27FC236}">
                <a16:creationId xmlns:a16="http://schemas.microsoft.com/office/drawing/2014/main" id="{DCBCC5B9-0FB1-B242-80DC-5AF1D1DE88C0}"/>
              </a:ext>
            </a:extLst>
          </p:cNvPr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89" name="Google Shape;334;g3d6e2211149_2_228" descr="VPC group icon. ">
            <a:extLst>
              <a:ext uri="{FF2B5EF4-FFF2-40B4-BE49-F238E27FC236}">
                <a16:creationId xmlns:a16="http://schemas.microsoft.com/office/drawing/2014/main" id="{DA60BF6E-2624-FA4C-8CEA-DE20C58D963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35;g3d6e2211149_2_228">
            <a:extLst>
              <a:ext uri="{FF2B5EF4-FFF2-40B4-BE49-F238E27FC236}">
                <a16:creationId xmlns:a16="http://schemas.microsoft.com/office/drawing/2014/main" id="{800BE764-B4E9-164F-80DB-CD77960CB2B1}"/>
              </a:ext>
            </a:extLst>
          </p:cNvPr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91" name="Google Shape;336;g3d6e2211149_2_228" descr="Public subnet group icon. ">
            <a:extLst>
              <a:ext uri="{FF2B5EF4-FFF2-40B4-BE49-F238E27FC236}">
                <a16:creationId xmlns:a16="http://schemas.microsoft.com/office/drawing/2014/main" id="{AF945080-C342-CA41-A943-1A9A71FFF4E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724C84A-EA7E-CB47-902B-89384207BC2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38;g3d6e2211149_2_228">
            <a:extLst>
              <a:ext uri="{FF2B5EF4-FFF2-40B4-BE49-F238E27FC236}">
                <a16:creationId xmlns:a16="http://schemas.microsoft.com/office/drawing/2014/main" id="{F454A5CD-24AC-B64C-A0E3-CA42311BB862}"/>
              </a:ext>
            </a:extLst>
          </p:cNvPr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3FF0D3FF-9F0E-B145-B883-1380162223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99290" y="1844576"/>
            <a:ext cx="343546" cy="343546"/>
          </a:xfrm>
          <a:prstGeom prst="rect">
            <a:avLst/>
          </a:prstGeom>
        </p:spPr>
      </p:pic>
      <p:sp>
        <p:nvSpPr>
          <p:cNvPr id="437" name="Google Shape;244;g3d6e2211149_2_228">
            <a:extLst>
              <a:ext uri="{FF2B5EF4-FFF2-40B4-BE49-F238E27FC236}">
                <a16:creationId xmlns:a16="http://schemas.microsoft.com/office/drawing/2014/main" id="{A2EAA181-7531-EE45-A7F0-12D0359CCD23}"/>
              </a:ext>
            </a:extLst>
          </p:cNvPr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raphic 437">
            <a:extLst>
              <a:ext uri="{FF2B5EF4-FFF2-40B4-BE49-F238E27FC236}">
                <a16:creationId xmlns:a16="http://schemas.microsoft.com/office/drawing/2014/main" id="{77A74984-FF2E-444A-ACB1-8A97A7F3B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23289" y="1818344"/>
            <a:ext cx="397735" cy="397735"/>
          </a:xfrm>
          <a:prstGeom prst="rect">
            <a:avLst/>
          </a:prstGeom>
        </p:spPr>
      </p:pic>
      <p:sp>
        <p:nvSpPr>
          <p:cNvPr id="439" name="Google Shape;244;g3d6e2211149_2_228">
            <a:extLst>
              <a:ext uri="{FF2B5EF4-FFF2-40B4-BE49-F238E27FC236}">
                <a16:creationId xmlns:a16="http://schemas.microsoft.com/office/drawing/2014/main" id="{7A84FFBE-2A8F-584B-9616-ECCF1A3E33D4}"/>
              </a:ext>
            </a:extLst>
          </p:cNvPr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Actions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외부망 개발 = GitHub Enterprise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cxnSp>
        <p:nvCxnSpPr>
          <p:cNvPr id="447" name="Google Shape;358;g3d6e2211149_2_228">
            <a:extLst>
              <a:ext uri="{FF2B5EF4-FFF2-40B4-BE49-F238E27FC236}">
                <a16:creationId xmlns:a16="http://schemas.microsoft.com/office/drawing/2014/main" id="{0F0CE645-B64F-0E48-BD0D-5BF4C3FAAD62}"/>
              </a:ext>
            </a:extLst>
          </p:cNvPr>
          <p:cNvCxnSpPr>
            <a:cxnSpLocks/>
            <a:stCxn id="439" idx="2"/>
          </p:cNvCxnSpPr>
          <p:nvPr/>
        </p:nvCxnSpPr>
        <p:spPr>
          <a:xfrm>
            <a:off x="2775789" y="2547755"/>
            <a:ext cx="223677" cy="110357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450" name="Google Shape;308;g3d6e2211149_2_228" descr="AWS CodePipeline service icon.">
            <a:extLst>
              <a:ext uri="{FF2B5EF4-FFF2-40B4-BE49-F238E27FC236}">
                <a16:creationId xmlns:a16="http://schemas.microsoft.com/office/drawing/2014/main" id="{54F2BD4E-CCDF-5E43-8425-07F71136F922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309524" y="5623811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309;g3d6e2211149_2_228">
            <a:extLst>
              <a:ext uri="{FF2B5EF4-FFF2-40B4-BE49-F238E27FC236}">
                <a16:creationId xmlns:a16="http://schemas.microsoft.com/office/drawing/2014/main" id="{544405CA-AB75-0844-A2F1-545BB8BE1DF0}"/>
              </a:ext>
            </a:extLst>
          </p:cNvPr>
          <p:cNvSpPr txBox="1"/>
          <p:nvPr/>
        </p:nvSpPr>
        <p:spPr>
          <a:xfrm>
            <a:off x="4962060" y="5889677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cxnSp>
        <p:nvCxnSpPr>
          <p:cNvPr id="454" name="Google Shape;358;g3d6e2211149_2_228">
            <a:extLst>
              <a:ext uri="{FF2B5EF4-FFF2-40B4-BE49-F238E27FC236}">
                <a16:creationId xmlns:a16="http://schemas.microsoft.com/office/drawing/2014/main" id="{96DAD22A-A7A1-D94E-8C92-5986E2396726}"/>
              </a:ext>
            </a:extLst>
          </p:cNvPr>
          <p:cNvCxnSpPr>
            <a:cxnSpLocks/>
            <a:stCxn id="234" idx="3"/>
            <a:endCxn id="450" idx="1"/>
          </p:cNvCxnSpPr>
          <p:nvPr/>
        </p:nvCxnSpPr>
        <p:spPr>
          <a:xfrm flipV="1">
            <a:off x="4732327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5" name="Google Shape;358;g3d6e2211149_2_228">
            <a:extLst>
              <a:ext uri="{FF2B5EF4-FFF2-40B4-BE49-F238E27FC236}">
                <a16:creationId xmlns:a16="http://schemas.microsoft.com/office/drawing/2014/main" id="{59176ED2-7214-D043-851C-7F945AEEC799}"/>
              </a:ext>
            </a:extLst>
          </p:cNvPr>
          <p:cNvCxnSpPr>
            <a:cxnSpLocks/>
          </p:cNvCxnSpPr>
          <p:nvPr/>
        </p:nvCxnSpPr>
        <p:spPr>
          <a:xfrm flipV="1">
            <a:off x="5584035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1247077" y="1603680"/>
            <a:ext cx="153771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chemeClr val="dk1"/>
                </a:solidFill>
              </a:rPr>
              <a:t>Lifesync-data-prod Repo</a:t>
            </a:r>
          </a:p>
        </p:txBody>
      </p:sp>
      <p:cxnSp>
        <p:nvCxnSpPr>
          <p:cNvPr id="466" name="Google Shape;358;g3d6e2211149_2_228">
            <a:extLst>
              <a:ext uri="{FF2B5EF4-FFF2-40B4-BE49-F238E27FC236}">
                <a16:creationId xmlns:a16="http://schemas.microsoft.com/office/drawing/2014/main" id="{F0ACEA8E-B844-1946-9EE5-7DADCA515003}"/>
              </a:ext>
            </a:extLst>
          </p:cNvPr>
          <p:cNvCxnSpPr>
            <a:cxnSpLocks/>
            <a:stCxn id="228" idx="0"/>
            <a:endCxn id="234" idx="1"/>
          </p:cNvCxnSpPr>
          <p:nvPr/>
        </p:nvCxnSpPr>
        <p:spPr>
          <a:xfrm>
            <a:off x="2991968" y="3733373"/>
            <a:ext cx="1455835" cy="203270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3" name="TextBox 472">
            <a:extLst>
              <a:ext uri="{FF2B5EF4-FFF2-40B4-BE49-F238E27FC236}">
                <a16:creationId xmlns:a16="http://schemas.microsoft.com/office/drawing/2014/main" id="{AA2AD6E9-8461-B94D-8654-5DD572D36A40}"/>
              </a:ext>
            </a:extLst>
          </p:cNvPr>
          <p:cNvSpPr txBox="1"/>
          <p:nvPr/>
        </p:nvSpPr>
        <p:spPr>
          <a:xfrm>
            <a:off x="4855247" y="6262307"/>
            <a:ext cx="13825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glue_emr Pipeline</a:t>
            </a:r>
            <a:endParaRPr lang="en-KR" sz="800" b="1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82A682A4-FB7B-7646-ADF5-60319A97CC31}"/>
              </a:ext>
            </a:extLst>
          </p:cNvPr>
          <p:cNvSpPr txBox="1"/>
          <p:nvPr/>
        </p:nvSpPr>
        <p:spPr>
          <a:xfrm>
            <a:off x="2937737" y="1637649"/>
            <a:ext cx="1191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Unit Test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Security Scan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Docker Build Test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476" name="Graphic 19" descr="AWS CodeBuild service icon.">
            <a:extLst>
              <a:ext uri="{FF2B5EF4-FFF2-40B4-BE49-F238E27FC236}">
                <a16:creationId xmlns:a16="http://schemas.microsoft.com/office/drawing/2014/main" id="{44C4C64B-175D-B24D-BF8F-100F818DF0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 bwMode="auto">
          <a:xfrm>
            <a:off x="6234581" y="5607460"/>
            <a:ext cx="345022" cy="34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" name="TextBox 11">
            <a:extLst>
              <a:ext uri="{FF2B5EF4-FFF2-40B4-BE49-F238E27FC236}">
                <a16:creationId xmlns:a16="http://schemas.microsoft.com/office/drawing/2014/main" id="{24D1B86C-8C61-8249-B920-EE10E637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360" y="5969164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  <a:endCxn id="437" idx="0"/>
          </p:cNvCxnSpPr>
          <p:nvPr/>
        </p:nvCxnSpPr>
        <p:spPr>
          <a:xfrm flipH="1" flipV="1">
            <a:off x="2165784" y="2209241"/>
            <a:ext cx="27703" cy="106808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90" name="Google Shape;303;g3d6896b4338_0_0">
            <a:extLst>
              <a:ext uri="{FF2B5EF4-FFF2-40B4-BE49-F238E27FC236}">
                <a16:creationId xmlns:a16="http://schemas.microsoft.com/office/drawing/2014/main" id="{B9101083-54F1-6644-88C1-99C6A1CDC26F}"/>
              </a:ext>
            </a:extLst>
          </p:cNvPr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303;g3d6896b4338_0_0">
            <a:extLst>
              <a:ext uri="{FF2B5EF4-FFF2-40B4-BE49-F238E27FC236}">
                <a16:creationId xmlns:a16="http://schemas.microsoft.com/office/drawing/2014/main" id="{4D4A651C-89C5-474C-9BD7-C8403DCFA6BD}"/>
              </a:ext>
            </a:extLst>
          </p:cNvPr>
          <p:cNvSpPr/>
          <p:nvPr/>
        </p:nvSpPr>
        <p:spPr>
          <a:xfrm>
            <a:off x="442665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303;g3d6896b4338_0_0">
            <a:extLst>
              <a:ext uri="{FF2B5EF4-FFF2-40B4-BE49-F238E27FC236}">
                <a16:creationId xmlns:a16="http://schemas.microsoft.com/office/drawing/2014/main" id="{FA11BCF6-793A-7245-B674-4C4A80490EB0}"/>
              </a:ext>
            </a:extLst>
          </p:cNvPr>
          <p:cNvSpPr/>
          <p:nvPr/>
        </p:nvSpPr>
        <p:spPr>
          <a:xfrm>
            <a:off x="589789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303;g3d6896b4338_0_0">
            <a:extLst>
              <a:ext uri="{FF2B5EF4-FFF2-40B4-BE49-F238E27FC236}">
                <a16:creationId xmlns:a16="http://schemas.microsoft.com/office/drawing/2014/main" id="{1F6A8B33-E739-AC49-8C4D-C5B04ADA6327}"/>
              </a:ext>
            </a:extLst>
          </p:cNvPr>
          <p:cNvSpPr/>
          <p:nvPr/>
        </p:nvSpPr>
        <p:spPr>
          <a:xfrm>
            <a:off x="8740325" y="544621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43404" y="3040560"/>
            <a:ext cx="1863434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 xml:space="preserve"> </a:t>
            </a:r>
            <a:r>
              <a:rPr lang="en-US" altLang="ko-KR" sz="900"/>
              <a:t>Push</a:t>
            </a:r>
            <a:r>
              <a:rPr lang="en-KR" altLang="ko-KR" sz="900"/>
              <a:t xml:space="preserve"> -&gt; </a:t>
            </a:r>
            <a:r>
              <a:rPr lang="en-KR" sz="900"/>
              <a:t>GitHub Repo</a:t>
            </a:r>
            <a:r>
              <a:rPr lang="ko-KR" altLang="en-US" sz="900"/>
              <a:t xml:space="preserve"> </a:t>
            </a:r>
            <a:r>
              <a:rPr lang="en-US" altLang="ko-KR" sz="900"/>
              <a:t>-&gt;</a:t>
            </a:r>
            <a:r>
              <a:rPr lang="ko-KR" altLang="en-US" sz="900"/>
              <a:t xml:space="preserve"> </a:t>
            </a:r>
            <a:r>
              <a:rPr lang="en-US" altLang="ko-KR" sz="900"/>
              <a:t>wearable-agent</a:t>
            </a:r>
            <a:endParaRPr lang="en-KR" sz="900"/>
          </a:p>
          <a:p>
            <a:endParaRPr lang="en-KR" sz="900"/>
          </a:p>
          <a:p>
            <a:r>
              <a:rPr lang="en-KR" sz="900"/>
              <a:t>2. GitHub Actions</a:t>
            </a:r>
          </a:p>
          <a:p>
            <a:pPr marL="171450" indent="-171450">
              <a:buFontTx/>
              <a:buChar char="-"/>
            </a:pPr>
            <a:r>
              <a:rPr lang="en-KR" sz="900"/>
              <a:t>Unit Test</a:t>
            </a:r>
          </a:p>
          <a:p>
            <a:pPr marL="171450" indent="-171450">
              <a:buFontTx/>
              <a:buChar char="-"/>
            </a:pPr>
            <a:r>
              <a:rPr lang="en-KR" sz="900"/>
              <a:t>Security Scan</a:t>
            </a:r>
          </a:p>
          <a:p>
            <a:pPr marL="171450" indent="-171450">
              <a:buFontTx/>
              <a:buChar char="-"/>
            </a:pPr>
            <a:r>
              <a:rPr lang="en-KR" sz="900"/>
              <a:t>Docker Build Test</a:t>
            </a:r>
          </a:p>
          <a:p>
            <a:pPr marL="171450" indent="-171450">
              <a:buFontTx/>
              <a:buChar char="-"/>
            </a:pPr>
            <a:endParaRPr lang="en-KR" sz="900"/>
          </a:p>
          <a:p>
            <a:r>
              <a:rPr lang="en-US" altLang="ko-KR" sz="900"/>
              <a:t>3.</a:t>
            </a:r>
            <a:r>
              <a:rPr lang="ko-KR" altLang="en-US" sz="900"/>
              <a:t xml:space="preserve"> 테스트 통과시</a:t>
            </a:r>
            <a:r>
              <a:rPr lang="en-US" altLang="ko-KR" sz="900"/>
              <a:t>,</a:t>
            </a:r>
            <a:r>
              <a:rPr lang="ko-KR" altLang="en-US" sz="900"/>
              <a:t xml:space="preserve"> </a:t>
            </a:r>
            <a:r>
              <a:rPr lang="en-US" altLang="ko-KR" sz="900"/>
              <a:t xml:space="preserve">GitHub Action </a:t>
            </a:r>
            <a:r>
              <a:rPr lang="ko-KR" altLang="en-US" sz="900"/>
              <a:t xml:space="preserve">자동 승인 </a:t>
            </a:r>
            <a:endParaRPr lang="en-KR" sz="900"/>
          </a:p>
          <a:p>
            <a:endParaRPr lang="en-KR" sz="900"/>
          </a:p>
          <a:p>
            <a:r>
              <a:rPr lang="en-KR" sz="900"/>
              <a:t>4. CodeCommit Mirror</a:t>
            </a:r>
          </a:p>
          <a:p>
            <a:endParaRPr lang="en-KR" sz="900"/>
          </a:p>
          <a:p>
            <a:r>
              <a:rPr lang="en-KR" sz="900"/>
              <a:t>5. CodePipeline -&gt; CodeBuild</a:t>
            </a:r>
            <a:endParaRPr lang="en-US" altLang="ko-KR" sz="900"/>
          </a:p>
          <a:p>
            <a:endParaRPr lang="en-KR" sz="900"/>
          </a:p>
          <a:p>
            <a:r>
              <a:rPr lang="en-KR" sz="900"/>
              <a:t xml:space="preserve">6. S3 Script Bucket 업로드     </a:t>
            </a:r>
            <a:r>
              <a:rPr lang="en-US" altLang="ko-KR" sz="900"/>
              <a:t>(</a:t>
            </a:r>
            <a:r>
              <a:rPr lang="en-US" sz="1050"/>
              <a:t>s3-script-bucket</a:t>
            </a:r>
            <a:r>
              <a:rPr lang="en-US" altLang="ko-KR" sz="1050"/>
              <a:t>)</a:t>
            </a:r>
            <a:endParaRPr lang="en-KR" sz="900"/>
          </a:p>
          <a:p>
            <a:r>
              <a:rPr lang="en-KR" sz="900"/>
              <a:t xml:space="preserve"> </a:t>
            </a:r>
            <a:r>
              <a:rPr lang="en-US" altLang="ko-KR" sz="900"/>
              <a:t xml:space="preserve">- glue/ </a:t>
            </a:r>
          </a:p>
          <a:p>
            <a:r>
              <a:rPr lang="en-US" sz="900"/>
              <a:t xml:space="preserve"> - emr/</a:t>
            </a:r>
            <a:endParaRPr lang="en-KR" sz="900"/>
          </a:p>
          <a:p>
            <a:endParaRPr lang="en-KR" sz="900"/>
          </a:p>
          <a:p>
            <a:r>
              <a:rPr lang="en-KR" sz="900"/>
              <a:t>7. Deploy</a:t>
            </a:r>
          </a:p>
          <a:p>
            <a:r>
              <a:rPr lang="en-KR" sz="900"/>
              <a:t xml:space="preserve">  </a:t>
            </a:r>
            <a:r>
              <a:rPr lang="en-US" altLang="ko-KR" sz="900"/>
              <a:t>- Glue Job Update</a:t>
            </a:r>
          </a:p>
          <a:p>
            <a:r>
              <a:rPr lang="en-US" sz="900"/>
              <a:t xml:space="preserve">  - EMR Serverless 최신 반영</a:t>
            </a:r>
          </a:p>
          <a:p>
            <a:endParaRPr lang="en-US" sz="900"/>
          </a:p>
          <a:p>
            <a:r>
              <a:rPr lang="en-US" altLang="ko-KR" sz="900"/>
              <a:t xml:space="preserve">8. Scheduler </a:t>
            </a:r>
            <a:r>
              <a:rPr lang="ko-KR" altLang="en-US" sz="900"/>
              <a:t xml:space="preserve">실행 </a:t>
            </a:r>
            <a:endParaRPr lang="en-KR" sz="900"/>
          </a:p>
        </p:txBody>
      </p:sp>
      <p:sp>
        <p:nvSpPr>
          <p:cNvPr id="499" name="Google Shape;303;g3d6896b4338_0_0">
            <a:extLst>
              <a:ext uri="{FF2B5EF4-FFF2-40B4-BE49-F238E27FC236}">
                <a16:creationId xmlns:a16="http://schemas.microsoft.com/office/drawing/2014/main" id="{2C2AA00E-C437-9346-AA66-E1C3DE8A0E93}"/>
              </a:ext>
            </a:extLst>
          </p:cNvPr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01C240C1-79A2-7749-9953-6180DF22ACD4}"/>
              </a:ext>
            </a:extLst>
          </p:cNvPr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ko-KR" altLang="en-US" sz="800">
                <a:solidFill>
                  <a:schemeClr val="dk1"/>
                </a:solidFill>
              </a:rPr>
              <a:t xml:space="preserve">자동 승인 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117" name="Graphic 17" descr="AWS Secrets Manager service icon.">
            <a:extLst>
              <a:ext uri="{FF2B5EF4-FFF2-40B4-BE49-F238E27FC236}">
                <a16:creationId xmlns:a16="http://schemas.microsoft.com/office/drawing/2014/main" id="{5FB7B0CE-F8A6-EB4D-9B39-06487A1598F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6683696" y="3723256"/>
            <a:ext cx="390032" cy="372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" name="TextBox 11">
            <a:extLst>
              <a:ext uri="{FF2B5EF4-FFF2-40B4-BE49-F238E27FC236}">
                <a16:creationId xmlns:a16="http://schemas.microsoft.com/office/drawing/2014/main" id="{BDFC61ED-E97F-8C4F-989B-092FCA9EA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350" y="4158672"/>
            <a:ext cx="11396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 xml:space="preserve">AWS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454DB31-9782-0D4B-AAF5-CAEDB3D61874}"/>
              </a:ext>
            </a:extLst>
          </p:cNvPr>
          <p:cNvSpPr txBox="1"/>
          <p:nvPr/>
        </p:nvSpPr>
        <p:spPr>
          <a:xfrm>
            <a:off x="4290728" y="5332773"/>
            <a:ext cx="1001296" cy="21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800">
                <a:solidFill>
                  <a:schemeClr val="dk1"/>
                </a:solidFill>
              </a:rPr>
              <a:t>lifesync-data-prod</a:t>
            </a:r>
          </a:p>
        </p:txBody>
      </p:sp>
      <p:sp>
        <p:nvSpPr>
          <p:cNvPr id="125" name="Google Shape;262;g3d6e2211149_2_228">
            <a:extLst>
              <a:ext uri="{FF2B5EF4-FFF2-40B4-BE49-F238E27FC236}">
                <a16:creationId xmlns:a16="http://schemas.microsoft.com/office/drawing/2014/main" id="{E16DD031-C78D-C64F-ADB0-93721860F82B}"/>
              </a:ext>
            </a:extLst>
          </p:cNvPr>
          <p:cNvSpPr/>
          <p:nvPr/>
        </p:nvSpPr>
        <p:spPr>
          <a:xfrm>
            <a:off x="8038998" y="3940995"/>
            <a:ext cx="3727890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126" name="Google Shape;263;g3d6e2211149_2_228" descr="VPC group icon. ">
            <a:extLst>
              <a:ext uri="{FF2B5EF4-FFF2-40B4-BE49-F238E27FC236}">
                <a16:creationId xmlns:a16="http://schemas.microsoft.com/office/drawing/2014/main" id="{6F2AD150-56B5-304C-A31B-7B6ABAF5ADD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46635" y="395107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264;g3d6e2211149_2_228">
            <a:extLst>
              <a:ext uri="{FF2B5EF4-FFF2-40B4-BE49-F238E27FC236}">
                <a16:creationId xmlns:a16="http://schemas.microsoft.com/office/drawing/2014/main" id="{E82D5F6D-AD9E-1741-A0C2-6D6694426CD0}"/>
              </a:ext>
            </a:extLst>
          </p:cNvPr>
          <p:cNvSpPr/>
          <p:nvPr/>
        </p:nvSpPr>
        <p:spPr>
          <a:xfrm>
            <a:off x="8134953" y="4355079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128" name="Google Shape;265;g3d6e2211149_2_228" descr="Private subnet group icon. ">
            <a:extLst>
              <a:ext uri="{FF2B5EF4-FFF2-40B4-BE49-F238E27FC236}">
                <a16:creationId xmlns:a16="http://schemas.microsoft.com/office/drawing/2014/main" id="{32F13D6A-8FAF-2948-9863-C8EB08C2C01F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150808" y="435834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07E9AFC0-F422-A947-927A-F158AEB1DE28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192718" y="3467084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274;g3d6e2211149_2_228">
            <a:extLst>
              <a:ext uri="{FF2B5EF4-FFF2-40B4-BE49-F238E27FC236}">
                <a16:creationId xmlns:a16="http://schemas.microsoft.com/office/drawing/2014/main" id="{63B768E5-9297-A04E-89D1-80F7258E3452}"/>
              </a:ext>
            </a:extLst>
          </p:cNvPr>
          <p:cNvSpPr txBox="1"/>
          <p:nvPr/>
        </p:nvSpPr>
        <p:spPr>
          <a:xfrm>
            <a:off x="8396903" y="3611510"/>
            <a:ext cx="902209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288;g3d6e2211149_2_228">
            <a:extLst>
              <a:ext uri="{FF2B5EF4-FFF2-40B4-BE49-F238E27FC236}">
                <a16:creationId xmlns:a16="http://schemas.microsoft.com/office/drawing/2014/main" id="{B4414BCA-1C27-FE4A-A2FE-CA44F8CA9158}"/>
              </a:ext>
            </a:extLst>
          </p:cNvPr>
          <p:cNvSpPr/>
          <p:nvPr/>
        </p:nvSpPr>
        <p:spPr>
          <a:xfrm>
            <a:off x="9878812" y="4341497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132" name="Google Shape;289;g3d6e2211149_2_228" descr="Private subnet group icon. ">
            <a:extLst>
              <a:ext uri="{FF2B5EF4-FFF2-40B4-BE49-F238E27FC236}">
                <a16:creationId xmlns:a16="http://schemas.microsoft.com/office/drawing/2014/main" id="{42ADB644-F0FF-B445-91B8-5429882DE339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9878812" y="43496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290;g3d6e2211149_2_228" descr="AWS Glue service icon.">
            <a:extLst>
              <a:ext uri="{FF2B5EF4-FFF2-40B4-BE49-F238E27FC236}">
                <a16:creationId xmlns:a16="http://schemas.microsoft.com/office/drawing/2014/main" id="{067C88EA-9600-4A41-866D-2571D4EA7F85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985603" y="4834593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291;g3d6e2211149_2_228">
            <a:extLst>
              <a:ext uri="{FF2B5EF4-FFF2-40B4-BE49-F238E27FC236}">
                <a16:creationId xmlns:a16="http://schemas.microsoft.com/office/drawing/2014/main" id="{741A766D-FE70-B444-9376-9964087D3C30}"/>
              </a:ext>
            </a:extLst>
          </p:cNvPr>
          <p:cNvSpPr txBox="1"/>
          <p:nvPr/>
        </p:nvSpPr>
        <p:spPr>
          <a:xfrm>
            <a:off x="10387247" y="4889584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135" name="Google Shape;292;g3d6e2211149_2_228" descr="Amazon EMR service icon.">
            <a:extLst>
              <a:ext uri="{FF2B5EF4-FFF2-40B4-BE49-F238E27FC236}">
                <a16:creationId xmlns:a16="http://schemas.microsoft.com/office/drawing/2014/main" id="{73CF2D3B-4EF4-4B41-A843-02540B2BF469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812428" y="4834352"/>
            <a:ext cx="408936" cy="42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293;g3d6e2211149_2_228">
            <a:extLst>
              <a:ext uri="{FF2B5EF4-FFF2-40B4-BE49-F238E27FC236}">
                <a16:creationId xmlns:a16="http://schemas.microsoft.com/office/drawing/2014/main" id="{6A3BAB6E-763C-6B4F-AAE6-AB8589916B11}"/>
              </a:ext>
            </a:extLst>
          </p:cNvPr>
          <p:cNvSpPr txBox="1"/>
          <p:nvPr/>
        </p:nvSpPr>
        <p:spPr>
          <a:xfrm>
            <a:off x="11080399" y="4861967"/>
            <a:ext cx="954178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137" name="Google Shape;294;g3d6e2211149_2_228" descr="AWS Lambda service icon.">
            <a:extLst>
              <a:ext uri="{FF2B5EF4-FFF2-40B4-BE49-F238E27FC236}">
                <a16:creationId xmlns:a16="http://schemas.microsoft.com/office/drawing/2014/main" id="{3922212F-B862-3C4C-9647-AB4BFF406F92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754557" y="4869119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295;g3d6e2211149_2_228">
            <a:extLst>
              <a:ext uri="{FF2B5EF4-FFF2-40B4-BE49-F238E27FC236}">
                <a16:creationId xmlns:a16="http://schemas.microsoft.com/office/drawing/2014/main" id="{ADC25C14-F167-2846-8C95-D8AE3516CE8E}"/>
              </a:ext>
            </a:extLst>
          </p:cNvPr>
          <p:cNvSpPr txBox="1"/>
          <p:nvPr/>
        </p:nvSpPr>
        <p:spPr>
          <a:xfrm>
            <a:off x="9078840" y="4901899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40" name="Google Shape;364;g3d6e2211149_2_228">
            <a:extLst>
              <a:ext uri="{FF2B5EF4-FFF2-40B4-BE49-F238E27FC236}">
                <a16:creationId xmlns:a16="http://schemas.microsoft.com/office/drawing/2014/main" id="{EA8D537F-F278-F445-B4A7-CB05CF264E78}"/>
              </a:ext>
            </a:extLst>
          </p:cNvPr>
          <p:cNvCxnSpPr>
            <a:stCxn id="138" idx="1"/>
            <a:endCxn id="129" idx="1"/>
          </p:cNvCxnSpPr>
          <p:nvPr/>
        </p:nvCxnSpPr>
        <p:spPr>
          <a:xfrm flipV="1">
            <a:off x="9078840" y="3670092"/>
            <a:ext cx="113878" cy="140115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41" name="Google Shape;365;g3d6e2211149_2_228">
            <a:extLst>
              <a:ext uri="{FF2B5EF4-FFF2-40B4-BE49-F238E27FC236}">
                <a16:creationId xmlns:a16="http://schemas.microsoft.com/office/drawing/2014/main" id="{77421A9A-D776-A04E-A96F-7F00C74B0F9D}"/>
              </a:ext>
            </a:extLst>
          </p:cNvPr>
          <p:cNvCxnSpPr>
            <a:endCxn id="133" idx="0"/>
          </p:cNvCxnSpPr>
          <p:nvPr/>
        </p:nvCxnSpPr>
        <p:spPr>
          <a:xfrm>
            <a:off x="9609840" y="3836793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142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1950D763-8A1A-8A49-8C6D-844D68E44B2A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952742" y="345492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375;g3d6e2211149_2_228">
            <a:extLst>
              <a:ext uri="{FF2B5EF4-FFF2-40B4-BE49-F238E27FC236}">
                <a16:creationId xmlns:a16="http://schemas.microsoft.com/office/drawing/2014/main" id="{203822D7-32B0-DE4A-B3B2-6C49B9181899}"/>
              </a:ext>
            </a:extLst>
          </p:cNvPr>
          <p:cNvSpPr txBox="1"/>
          <p:nvPr/>
        </p:nvSpPr>
        <p:spPr>
          <a:xfrm>
            <a:off x="9687518" y="3867006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376;g3d6e2211149_2_228">
            <a:extLst>
              <a:ext uri="{FF2B5EF4-FFF2-40B4-BE49-F238E27FC236}">
                <a16:creationId xmlns:a16="http://schemas.microsoft.com/office/drawing/2014/main" id="{D3EC2DE7-84A1-F044-B61D-2EF7C75905D7}"/>
              </a:ext>
            </a:extLst>
          </p:cNvPr>
          <p:cNvCxnSpPr>
            <a:stCxn id="142" idx="3"/>
            <a:endCxn id="135" idx="0"/>
          </p:cNvCxnSpPr>
          <p:nvPr/>
        </p:nvCxnSpPr>
        <p:spPr>
          <a:xfrm>
            <a:off x="10358757" y="3657931"/>
            <a:ext cx="658200" cy="117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45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82E94E34-1A68-9547-8232-C7152B0077F8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0996696" y="3443653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379;g3d6e2211149_2_228">
            <a:extLst>
              <a:ext uri="{FF2B5EF4-FFF2-40B4-BE49-F238E27FC236}">
                <a16:creationId xmlns:a16="http://schemas.microsoft.com/office/drawing/2014/main" id="{82201479-02A3-AF4A-ACB0-572808CBB3BD}"/>
              </a:ext>
            </a:extLst>
          </p:cNvPr>
          <p:cNvCxnSpPr>
            <a:endCxn id="135" idx="0"/>
          </p:cNvCxnSpPr>
          <p:nvPr/>
        </p:nvCxnSpPr>
        <p:spPr>
          <a:xfrm flipH="1">
            <a:off x="11016896" y="3810452"/>
            <a:ext cx="182700" cy="10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53" name="Google Shape;380;g3d6e2211149_2_228">
            <a:extLst>
              <a:ext uri="{FF2B5EF4-FFF2-40B4-BE49-F238E27FC236}">
                <a16:creationId xmlns:a16="http://schemas.microsoft.com/office/drawing/2014/main" id="{C4133AD9-16BD-7A49-A944-DA8CD213D13B}"/>
              </a:ext>
            </a:extLst>
          </p:cNvPr>
          <p:cNvCxnSpPr>
            <a:stCxn id="142" idx="2"/>
          </p:cNvCxnSpPr>
          <p:nvPr/>
        </p:nvCxnSpPr>
        <p:spPr>
          <a:xfrm>
            <a:off x="10155750" y="3860938"/>
            <a:ext cx="50100" cy="97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7B1BA13C-771B-B847-9A58-0E126699B913}"/>
              </a:ext>
            </a:extLst>
          </p:cNvPr>
          <p:cNvCxnSpPr>
            <a:cxnSpLocks/>
            <a:stCxn id="476" idx="3"/>
            <a:endCxn id="133" idx="2"/>
          </p:cNvCxnSpPr>
          <p:nvPr/>
        </p:nvCxnSpPr>
        <p:spPr>
          <a:xfrm flipV="1">
            <a:off x="6579603" y="5277667"/>
            <a:ext cx="3627537" cy="502304"/>
          </a:xfrm>
          <a:prstGeom prst="bentConnector2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54" name="Elbow Connector 153">
            <a:extLst>
              <a:ext uri="{FF2B5EF4-FFF2-40B4-BE49-F238E27FC236}">
                <a16:creationId xmlns:a16="http://schemas.microsoft.com/office/drawing/2014/main" id="{11400534-5D1D-8642-B2DE-BC5F40C2EE8A}"/>
              </a:ext>
            </a:extLst>
          </p:cNvPr>
          <p:cNvCxnSpPr>
            <a:cxnSpLocks/>
            <a:endCxn id="135" idx="2"/>
          </p:cNvCxnSpPr>
          <p:nvPr/>
        </p:nvCxnSpPr>
        <p:spPr>
          <a:xfrm flipV="1">
            <a:off x="6559182" y="5258915"/>
            <a:ext cx="4457714" cy="630762"/>
          </a:xfrm>
          <a:prstGeom prst="bentConnector2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2FD490FC-C447-FF44-AE4B-974A90870C05}"/>
              </a:ext>
            </a:extLst>
          </p:cNvPr>
          <p:cNvSpPr txBox="1"/>
          <p:nvPr/>
        </p:nvSpPr>
        <p:spPr>
          <a:xfrm>
            <a:off x="7833" y="818850"/>
            <a:ext cx="18582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800" dirty="0"/>
              <a:t>lifesync-data-prod/</a:t>
            </a:r>
          </a:p>
          <a:p>
            <a:r>
              <a:rPr lang="en-KR" sz="800" dirty="0"/>
              <a:t>├ glue/</a:t>
            </a:r>
          </a:p>
          <a:p>
            <a:r>
              <a:rPr lang="en-KR" sz="800" dirty="0"/>
              <a:t>│   └ lifesync-glue-etl-processed.py</a:t>
            </a:r>
          </a:p>
          <a:p>
            <a:r>
              <a:rPr lang="en-KR" sz="800" dirty="0"/>
              <a:t>├ emr/</a:t>
            </a:r>
          </a:p>
          <a:p>
            <a:r>
              <a:rPr lang="en-KR" sz="800" dirty="0"/>
              <a:t>│   ├ customer360.py</a:t>
            </a:r>
          </a:p>
          <a:p>
            <a:r>
              <a:rPr lang="en-KR" sz="800" dirty="0"/>
              <a:t>│   ├ score_mart.py</a:t>
            </a:r>
          </a:p>
          <a:p>
            <a:r>
              <a:rPr lang="en-KR" sz="800" dirty="0"/>
              <a:t>│   ├ health_mart.py</a:t>
            </a:r>
          </a:p>
          <a:p>
            <a:r>
              <a:rPr lang="en-KR" sz="800" dirty="0"/>
              <a:t>│   ├ ai_feature_table.py</a:t>
            </a:r>
          </a:p>
          <a:p>
            <a:r>
              <a:rPr lang="en-KR" sz="800" dirty="0"/>
              <a:t>│   ├ vip_mart.py</a:t>
            </a:r>
          </a:p>
          <a:p>
            <a:r>
              <a:rPr lang="en-KR" sz="800" dirty="0"/>
              <a:t>│   └ recommendation.py</a:t>
            </a:r>
          </a:p>
          <a:p>
            <a:r>
              <a:rPr lang="en-KR" sz="800" dirty="0"/>
              <a:t>├ buildspec.yml</a:t>
            </a:r>
          </a:p>
          <a:p>
            <a:r>
              <a:rPr lang="en-KR" sz="800" dirty="0"/>
              <a:t>└ deploy.sh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ADD4F72-5BF9-F442-81B2-1920756DE158}"/>
              </a:ext>
            </a:extLst>
          </p:cNvPr>
          <p:cNvSpPr txBox="1"/>
          <p:nvPr/>
        </p:nvSpPr>
        <p:spPr>
          <a:xfrm>
            <a:off x="6385157" y="4979592"/>
            <a:ext cx="16611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 xml:space="preserve">- Glue Python Script S3 </a:t>
            </a:r>
            <a:r>
              <a:rPr lang="ko-KR" altLang="en-US" sz="800"/>
              <a:t>업로드</a:t>
            </a:r>
            <a:br>
              <a:rPr lang="ko-KR" altLang="en-US" sz="800"/>
            </a:br>
            <a:r>
              <a:rPr lang="en-US" altLang="ko-KR" sz="800"/>
              <a:t xml:space="preserve">- </a:t>
            </a:r>
            <a:r>
              <a:rPr lang="en-US" sz="800"/>
              <a:t xml:space="preserve">EMR PySpark Script S3 </a:t>
            </a:r>
            <a:r>
              <a:rPr lang="ko-KR" altLang="en-US" sz="800"/>
              <a:t>업로드</a:t>
            </a:r>
            <a:br>
              <a:rPr lang="ko-KR" altLang="en-US" sz="800"/>
            </a:br>
            <a:r>
              <a:rPr lang="en-US" altLang="ko-KR" sz="800"/>
              <a:t xml:space="preserve">- </a:t>
            </a:r>
            <a:r>
              <a:rPr lang="ko-KR" altLang="en-US" sz="800"/>
              <a:t>버전 태깅</a:t>
            </a:r>
            <a:br>
              <a:rPr lang="ko-KR" altLang="en-US" sz="800"/>
            </a:br>
            <a:r>
              <a:rPr lang="en-US" altLang="ko-KR" sz="800"/>
              <a:t xml:space="preserve">- </a:t>
            </a:r>
            <a:r>
              <a:rPr lang="en-US" sz="800"/>
              <a:t xml:space="preserve">Artifact </a:t>
            </a:r>
            <a:r>
              <a:rPr lang="ko-KR" altLang="en-US" sz="800"/>
              <a:t>생성</a:t>
            </a:r>
            <a:endParaRPr lang="en-KR" sz="80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9FA481D-B314-C343-BCC7-368A9E913127}"/>
              </a:ext>
            </a:extLst>
          </p:cNvPr>
          <p:cNvSpPr txBox="1"/>
          <p:nvPr/>
        </p:nvSpPr>
        <p:spPr>
          <a:xfrm>
            <a:off x="6614553" y="6281736"/>
            <a:ext cx="19766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 xml:space="preserve">s3-script-bucket ← </a:t>
            </a:r>
            <a:r>
              <a:rPr lang="ko-KR" altLang="en-US" sz="800"/>
              <a:t>코드 전용</a:t>
            </a:r>
            <a:endParaRPr lang="en-US" altLang="ko-KR" sz="8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 xml:space="preserve">s3-artifact-bucket ← CI/CD </a:t>
            </a:r>
            <a:r>
              <a:rPr lang="ko-KR" altLang="en-US" sz="800"/>
              <a:t>산출물</a:t>
            </a:r>
            <a:endParaRPr lang="en-KR" sz="80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99A1509-2D8E-514F-BAFD-B0C393DB4BEE}"/>
              </a:ext>
            </a:extLst>
          </p:cNvPr>
          <p:cNvSpPr txBox="1"/>
          <p:nvPr/>
        </p:nvSpPr>
        <p:spPr>
          <a:xfrm>
            <a:off x="9952742" y="6104163"/>
            <a:ext cx="17772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800" b="1"/>
              <a:t>EMR Serverless</a:t>
            </a:r>
          </a:p>
          <a:p>
            <a:r>
              <a:rPr lang="en-KR" sz="800"/>
              <a:t>S3에 최신 PySpark 파일 업로드 후</a:t>
            </a:r>
          </a:p>
          <a:p>
            <a:r>
              <a:rPr lang="en-KR" sz="800"/>
              <a:t>start-job-run 시 해당 경로 지정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D8BAB67-5D65-3D4E-BBF0-942873BF1786}"/>
              </a:ext>
            </a:extLst>
          </p:cNvPr>
          <p:cNvSpPr txBox="1"/>
          <p:nvPr/>
        </p:nvSpPr>
        <p:spPr>
          <a:xfrm>
            <a:off x="9034946" y="5476354"/>
            <a:ext cx="111199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glue update-job</a:t>
            </a:r>
            <a:endParaRPr lang="en-KR" sz="800"/>
          </a:p>
        </p:txBody>
      </p:sp>
      <p:pic>
        <p:nvPicPr>
          <p:cNvPr id="158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640C3431-DB64-7D47-A8ED-86FAFB705338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822824" y="5930623"/>
            <a:ext cx="342596" cy="32523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274;g3d6e2211149_2_228">
            <a:extLst>
              <a:ext uri="{FF2B5EF4-FFF2-40B4-BE49-F238E27FC236}">
                <a16:creationId xmlns:a16="http://schemas.microsoft.com/office/drawing/2014/main" id="{9279A65A-2259-274C-A89B-6B1A0BC21660}"/>
              </a:ext>
            </a:extLst>
          </p:cNvPr>
          <p:cNvSpPr txBox="1"/>
          <p:nvPr/>
        </p:nvSpPr>
        <p:spPr>
          <a:xfrm>
            <a:off x="6993788" y="5937580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BE9A163-C09F-0A47-930D-BA5F020D8DA5}"/>
              </a:ext>
            </a:extLst>
          </p:cNvPr>
          <p:cNvSpPr txBox="1"/>
          <p:nvPr/>
        </p:nvSpPr>
        <p:spPr>
          <a:xfrm>
            <a:off x="1803376" y="5196594"/>
            <a:ext cx="21003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commands:</a:t>
            </a:r>
            <a:br>
              <a:rPr lang="en-US" sz="800"/>
            </a:br>
            <a:r>
              <a:rPr lang="en-US" sz="800"/>
              <a:t>- echo Update Glue</a:t>
            </a:r>
            <a:br>
              <a:rPr lang="en-US" sz="800"/>
            </a:br>
            <a:r>
              <a:rPr lang="en-US" sz="800"/>
              <a:t>- aws glue update-job --job-name lifesync-etl --job-update file://glue-update.json</a:t>
            </a:r>
            <a:br>
              <a:rPr lang="en-US" sz="800"/>
            </a:br>
            <a:br>
              <a:rPr lang="en-US" sz="800"/>
            </a:br>
            <a:r>
              <a:rPr lang="en-US" sz="800"/>
              <a:t>- echo Test EMR</a:t>
            </a:r>
            <a:br>
              <a:rPr lang="en-US" sz="800"/>
            </a:br>
            <a:r>
              <a:rPr lang="en-US" sz="800"/>
              <a:t>- aws emr-serverless start-job-run \</a:t>
            </a:r>
            <a:br>
              <a:rPr lang="en-US" sz="800"/>
            </a:br>
            <a:r>
              <a:rPr lang="en-US" sz="800"/>
              <a:t>--application-id $APP_ID \</a:t>
            </a:r>
            <a:br>
              <a:rPr lang="en-US" sz="800"/>
            </a:br>
            <a:r>
              <a:rPr lang="en-US" sz="800"/>
              <a:t>--execution-role-arn $ROLE_ARN \</a:t>
            </a:r>
            <a:br>
              <a:rPr lang="en-US" sz="800"/>
            </a:br>
            <a:r>
              <a:rPr lang="en-US" sz="800"/>
              <a:t>--job-driver file://emr-job.json</a:t>
            </a:r>
            <a:endParaRPr lang="en-KR" sz="800"/>
          </a:p>
        </p:txBody>
      </p:sp>
      <p:pic>
        <p:nvPicPr>
          <p:cNvPr id="172" name="Google Shape;251;g3d6e2211149_2_228" descr="VPC group icon. ">
            <a:extLst>
              <a:ext uri="{FF2B5EF4-FFF2-40B4-BE49-F238E27FC236}">
                <a16:creationId xmlns:a16="http://schemas.microsoft.com/office/drawing/2014/main" id="{F7343A81-3AE6-3F40-8928-DB7B7828978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252;g3d6e2211149_2_228">
            <a:extLst>
              <a:ext uri="{FF2B5EF4-FFF2-40B4-BE49-F238E27FC236}">
                <a16:creationId xmlns:a16="http://schemas.microsoft.com/office/drawing/2014/main" id="{AA77AFB9-5067-314A-BFED-F44D14978D56}"/>
              </a:ext>
            </a:extLst>
          </p:cNvPr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74" name="Google Shape;253;g3d6e2211149_2_228" descr="Public subnet group icon. ">
            <a:extLst>
              <a:ext uri="{FF2B5EF4-FFF2-40B4-BE49-F238E27FC236}">
                <a16:creationId xmlns:a16="http://schemas.microsoft.com/office/drawing/2014/main" id="{BD14FCF8-FE88-E746-A822-86FAB1F7149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C5994928-46DB-6640-B6C5-0D578289337E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D1CABE10-9A1A-1445-898D-7C56A212F2F6}"/>
              </a:ext>
            </a:extLst>
          </p:cNvPr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284;g3d6e2211149_2_228">
            <a:extLst>
              <a:ext uri="{FF2B5EF4-FFF2-40B4-BE49-F238E27FC236}">
                <a16:creationId xmlns:a16="http://schemas.microsoft.com/office/drawing/2014/main" id="{B055F7B8-1349-0E4D-B703-A7291AFA86D3}"/>
              </a:ext>
            </a:extLst>
          </p:cNvPr>
          <p:cNvCxnSpPr>
            <a:stCxn id="178" idx="3"/>
            <a:endCxn id="176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78" name="Google Shape;285;g3d6e2211149_2_228" descr="AWS WAF service icon.">
            <a:extLst>
              <a:ext uri="{FF2B5EF4-FFF2-40B4-BE49-F238E27FC236}">
                <a16:creationId xmlns:a16="http://schemas.microsoft.com/office/drawing/2014/main" id="{0DF87EBC-26D9-9C4A-8462-4BC0462B85C1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286;g3d6e2211149_2_228">
            <a:extLst>
              <a:ext uri="{FF2B5EF4-FFF2-40B4-BE49-F238E27FC236}">
                <a16:creationId xmlns:a16="http://schemas.microsoft.com/office/drawing/2014/main" id="{72A71CB0-77EC-0D41-AFD2-A4A0A07AAB6B}"/>
              </a:ext>
            </a:extLst>
          </p:cNvPr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80" name="Google Shape;287;g3d6e2211149_2_228">
            <a:extLst>
              <a:ext uri="{FF2B5EF4-FFF2-40B4-BE49-F238E27FC236}">
                <a16:creationId xmlns:a16="http://schemas.microsoft.com/office/drawing/2014/main" id="{FA7827E4-2EA5-9940-9EC1-3484FAFDB415}"/>
              </a:ext>
            </a:extLst>
          </p:cNvPr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181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00E0C34-6F97-7340-8BCE-2C2CC4D8739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297;g3d6e2211149_2_228">
            <a:extLst>
              <a:ext uri="{FF2B5EF4-FFF2-40B4-BE49-F238E27FC236}">
                <a16:creationId xmlns:a16="http://schemas.microsoft.com/office/drawing/2014/main" id="{1865722D-7050-6C48-B7AC-CA509A2BFC66}"/>
              </a:ext>
            </a:extLst>
          </p:cNvPr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183" name="Google Shape;298;g3d6e2211149_2_228">
            <a:extLst>
              <a:ext uri="{FF2B5EF4-FFF2-40B4-BE49-F238E27FC236}">
                <a16:creationId xmlns:a16="http://schemas.microsoft.com/office/drawing/2014/main" id="{2231E888-1FEB-3D44-BF41-E7E1F65BF33E}"/>
              </a:ext>
            </a:extLst>
          </p:cNvPr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6" name="Google Shape;303;g3d6e2211149_2_228">
            <a:extLst>
              <a:ext uri="{FF2B5EF4-FFF2-40B4-BE49-F238E27FC236}">
                <a16:creationId xmlns:a16="http://schemas.microsoft.com/office/drawing/2014/main" id="{98C60F69-DB95-0749-BEA9-F55488DFB866}"/>
              </a:ext>
            </a:extLst>
          </p:cNvPr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187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1B641D5-DD39-A046-8583-B435E0AC0E3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305;g3d6e2211149_2_228">
            <a:extLst>
              <a:ext uri="{FF2B5EF4-FFF2-40B4-BE49-F238E27FC236}">
                <a16:creationId xmlns:a16="http://schemas.microsoft.com/office/drawing/2014/main" id="{50ABD27B-34D8-5644-8EBE-5AF31E947410}"/>
              </a:ext>
            </a:extLst>
          </p:cNvPr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189" name="Google Shape;306;g3d6e2211149_2_228">
            <a:extLst>
              <a:ext uri="{FF2B5EF4-FFF2-40B4-BE49-F238E27FC236}">
                <a16:creationId xmlns:a16="http://schemas.microsoft.com/office/drawing/2014/main" id="{68E6F541-6F87-6A49-86A7-256761028173}"/>
              </a:ext>
            </a:extLst>
          </p:cNvPr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75C7D6C0-EBDD-5B45-ACCF-26B832A2C8C7}"/>
              </a:ext>
            </a:extLst>
          </p:cNvPr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341;g3d6e2211149_2_228">
            <a:extLst>
              <a:ext uri="{FF2B5EF4-FFF2-40B4-BE49-F238E27FC236}">
                <a16:creationId xmlns:a16="http://schemas.microsoft.com/office/drawing/2014/main" id="{8124AAB5-5AAF-DE48-9A30-8CE2AC95E64A}"/>
              </a:ext>
            </a:extLst>
          </p:cNvPr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97" name="Google Shape;342;g3d6e2211149_2_228" descr="Private subnet group icon. ">
            <a:extLst>
              <a:ext uri="{FF2B5EF4-FFF2-40B4-BE49-F238E27FC236}">
                <a16:creationId xmlns:a16="http://schemas.microsoft.com/office/drawing/2014/main" id="{CACEDCAD-63B9-7F48-91F5-FA8B9F96A1E2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347;g3d6e2211149_2_228" descr="AWS Auto Scaling service icon.">
            <a:extLst>
              <a:ext uri="{FF2B5EF4-FFF2-40B4-BE49-F238E27FC236}">
                <a16:creationId xmlns:a16="http://schemas.microsoft.com/office/drawing/2014/main" id="{02F72167-1EFF-8544-BCCF-4907EE180159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55;g3d6e2211149_2_228">
            <a:extLst>
              <a:ext uri="{FF2B5EF4-FFF2-40B4-BE49-F238E27FC236}">
                <a16:creationId xmlns:a16="http://schemas.microsoft.com/office/drawing/2014/main" id="{C69601A1-50B9-584A-92F2-E857EA8C3941}"/>
              </a:ext>
            </a:extLst>
          </p:cNvPr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204" name="Google Shape;275;g3d6e2211149_2_228" descr="Amazon Aurora service icon.">
            <a:extLst>
              <a:ext uri="{FF2B5EF4-FFF2-40B4-BE49-F238E27FC236}">
                <a16:creationId xmlns:a16="http://schemas.microsoft.com/office/drawing/2014/main" id="{59F496F6-FB60-F347-B380-BACBC61C50FF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795868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76;g3d6e2211149_2_228">
            <a:extLst>
              <a:ext uri="{FF2B5EF4-FFF2-40B4-BE49-F238E27FC236}">
                <a16:creationId xmlns:a16="http://schemas.microsoft.com/office/drawing/2014/main" id="{C71D04B9-0AEA-6E44-A7D7-963C7F2F8330}"/>
              </a:ext>
            </a:extLst>
          </p:cNvPr>
          <p:cNvSpPr txBox="1"/>
          <p:nvPr/>
        </p:nvSpPr>
        <p:spPr>
          <a:xfrm>
            <a:off x="771071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218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093E237C-3D06-BD41-9DB2-460F6F28BE83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56591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80;g3d6e2211149_2_228">
            <a:extLst>
              <a:ext uri="{FF2B5EF4-FFF2-40B4-BE49-F238E27FC236}">
                <a16:creationId xmlns:a16="http://schemas.microsoft.com/office/drawing/2014/main" id="{FF2C86DF-F49D-1745-AAC9-4177D4F7DBF1}"/>
              </a:ext>
            </a:extLst>
          </p:cNvPr>
          <p:cNvSpPr txBox="1"/>
          <p:nvPr/>
        </p:nvSpPr>
        <p:spPr>
          <a:xfrm>
            <a:off x="823028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220" name="Google Shape;294;g3d6e2211149_2_228" descr="AWS Lambda service icon.">
            <a:extLst>
              <a:ext uri="{FF2B5EF4-FFF2-40B4-BE49-F238E27FC236}">
                <a16:creationId xmlns:a16="http://schemas.microsoft.com/office/drawing/2014/main" id="{FA4FE545-4BA8-2E44-A774-F4F461ADAD26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18328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95;g3d6e2211149_2_228">
            <a:extLst>
              <a:ext uri="{FF2B5EF4-FFF2-40B4-BE49-F238E27FC236}">
                <a16:creationId xmlns:a16="http://schemas.microsoft.com/office/drawing/2014/main" id="{363C336A-B1EF-E542-A8BD-FA8F92C8B12D}"/>
              </a:ext>
            </a:extLst>
          </p:cNvPr>
          <p:cNvSpPr txBox="1"/>
          <p:nvPr/>
        </p:nvSpPr>
        <p:spPr>
          <a:xfrm>
            <a:off x="845229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223" name="Google Shape;342;g3d6e2211149_2_228" descr="Private subnet group icon. ">
            <a:extLst>
              <a:ext uri="{FF2B5EF4-FFF2-40B4-BE49-F238E27FC236}">
                <a16:creationId xmlns:a16="http://schemas.microsoft.com/office/drawing/2014/main" id="{EC4EA038-0F6C-334E-814A-109E2BD1D7E2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81460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348;g3d6e2211149_2_228">
            <a:extLst>
              <a:ext uri="{FF2B5EF4-FFF2-40B4-BE49-F238E27FC236}">
                <a16:creationId xmlns:a16="http://schemas.microsoft.com/office/drawing/2014/main" id="{496B46BD-5D00-1A40-88B4-DA3A27679B98}"/>
              </a:ext>
            </a:extLst>
          </p:cNvPr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sp>
        <p:nvSpPr>
          <p:cNvPr id="225" name="Google Shape;250;g3d6e2211149_2_228">
            <a:extLst>
              <a:ext uri="{FF2B5EF4-FFF2-40B4-BE49-F238E27FC236}">
                <a16:creationId xmlns:a16="http://schemas.microsoft.com/office/drawing/2014/main" id="{637C12A2-EEF0-D944-87E3-F03391B15FDA}"/>
              </a:ext>
            </a:extLst>
          </p:cNvPr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sp>
        <p:nvSpPr>
          <p:cNvPr id="226" name="Google Shape;341;g3d6e2211149_2_228">
            <a:extLst>
              <a:ext uri="{FF2B5EF4-FFF2-40B4-BE49-F238E27FC236}">
                <a16:creationId xmlns:a16="http://schemas.microsoft.com/office/drawing/2014/main" id="{F9AFE5A3-88AE-544D-858C-476BCCAFE8CC}"/>
              </a:ext>
            </a:extLst>
          </p:cNvPr>
          <p:cNvSpPr/>
          <p:nvPr/>
        </p:nvSpPr>
        <p:spPr>
          <a:xfrm>
            <a:off x="7808530" y="1924379"/>
            <a:ext cx="1537812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8245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전체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312;g3d6e2211149_2_228">
            <a:extLst>
              <a:ext uri="{FF2B5EF4-FFF2-40B4-BE49-F238E27FC236}">
                <a16:creationId xmlns:a16="http://schemas.microsoft.com/office/drawing/2014/main" id="{721999F2-E0A7-8644-87E6-3151061F7205}"/>
              </a:ext>
            </a:extLst>
          </p:cNvPr>
          <p:cNvSpPr/>
          <p:nvPr/>
        </p:nvSpPr>
        <p:spPr>
          <a:xfrm>
            <a:off x="3007186" y="10169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10" name="Google Shape;313;g3d6e2211149_2_228" descr="VPC group icon. ">
            <a:extLst>
              <a:ext uri="{FF2B5EF4-FFF2-40B4-BE49-F238E27FC236}">
                <a16:creationId xmlns:a16="http://schemas.microsoft.com/office/drawing/2014/main" id="{5C246085-CD18-A749-948B-C3C3C5C0C7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5355" y="10180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322;g3d6e2211149_2_228">
            <a:extLst>
              <a:ext uri="{FF2B5EF4-FFF2-40B4-BE49-F238E27FC236}">
                <a16:creationId xmlns:a16="http://schemas.microsoft.com/office/drawing/2014/main" id="{78E50D69-B998-B245-BFE7-8E675693C742}"/>
              </a:ext>
            </a:extLst>
          </p:cNvPr>
          <p:cNvSpPr/>
          <p:nvPr/>
        </p:nvSpPr>
        <p:spPr>
          <a:xfrm>
            <a:off x="3114948" y="14704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4" name="Google Shape;323;g3d6e2211149_2_228" descr="Private subnet group icon. ">
            <a:extLst>
              <a:ext uri="{FF2B5EF4-FFF2-40B4-BE49-F238E27FC236}">
                <a16:creationId xmlns:a16="http://schemas.microsoft.com/office/drawing/2014/main" id="{2BE3337A-8B05-0B49-89EE-A7E9904F0DD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6494" y="14857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020C2A3-B0BE-8444-8F6F-F3A30C0B63B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8601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7;g3d6e2211149_2_228">
            <a:extLst>
              <a:ext uri="{FF2B5EF4-FFF2-40B4-BE49-F238E27FC236}">
                <a16:creationId xmlns:a16="http://schemas.microsoft.com/office/drawing/2014/main" id="{D316F6F7-2DB7-4B45-93D0-0F10B1A7F076}"/>
              </a:ext>
            </a:extLst>
          </p:cNvPr>
          <p:cNvSpPr txBox="1"/>
          <p:nvPr/>
        </p:nvSpPr>
        <p:spPr>
          <a:xfrm>
            <a:off x="3302553" y="2410920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F8DAABD-53CB-2843-8EF2-AAAE7FA054D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6633" y="18803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329;g3d6e2211149_2_228">
            <a:extLst>
              <a:ext uri="{FF2B5EF4-FFF2-40B4-BE49-F238E27FC236}">
                <a16:creationId xmlns:a16="http://schemas.microsoft.com/office/drawing/2014/main" id="{325864D8-F554-D64C-AFBB-0E5A47C3CE01}"/>
              </a:ext>
            </a:extLst>
          </p:cNvPr>
          <p:cNvSpPr txBox="1"/>
          <p:nvPr/>
        </p:nvSpPr>
        <p:spPr>
          <a:xfrm>
            <a:off x="1766830" y="18326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333;g3d6e2211149_2_228">
            <a:extLst>
              <a:ext uri="{FF2B5EF4-FFF2-40B4-BE49-F238E27FC236}">
                <a16:creationId xmlns:a16="http://schemas.microsoft.com/office/drawing/2014/main" id="{C1A49F15-ED7A-5F45-9CAD-A1DBEC23BC06}"/>
              </a:ext>
            </a:extLst>
          </p:cNvPr>
          <p:cNvSpPr/>
          <p:nvPr/>
        </p:nvSpPr>
        <p:spPr>
          <a:xfrm>
            <a:off x="654330" y="10169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20" name="Google Shape;334;g3d6e2211149_2_228" descr="VPC group icon. ">
            <a:extLst>
              <a:ext uri="{FF2B5EF4-FFF2-40B4-BE49-F238E27FC236}">
                <a16:creationId xmlns:a16="http://schemas.microsoft.com/office/drawing/2014/main" id="{72658768-1DD9-1542-98CA-B4F31982D5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396" y="10166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335;g3d6e2211149_2_228">
            <a:extLst>
              <a:ext uri="{FF2B5EF4-FFF2-40B4-BE49-F238E27FC236}">
                <a16:creationId xmlns:a16="http://schemas.microsoft.com/office/drawing/2014/main" id="{10DE1B1F-D517-3C43-9981-0321E14A6E6C}"/>
              </a:ext>
            </a:extLst>
          </p:cNvPr>
          <p:cNvSpPr/>
          <p:nvPr/>
        </p:nvSpPr>
        <p:spPr>
          <a:xfrm>
            <a:off x="991814" y="14857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2" name="Google Shape;336;g3d6e2211149_2_228" descr="Public subnet group icon. ">
            <a:extLst>
              <a:ext uri="{FF2B5EF4-FFF2-40B4-BE49-F238E27FC236}">
                <a16:creationId xmlns:a16="http://schemas.microsoft.com/office/drawing/2014/main" id="{53019E73-5FEC-CA4C-BA4F-DD1F0D12BF6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6212" y="15132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8003D1A-D81E-3442-8297-C9A869512C6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5303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7A13E3C-6E66-BC49-B7B3-BD1E4B8845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90301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19855257-4C3F-A14A-91DF-6DEB5306B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6285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463F379-C7A8-ED4C-9377-DD94D6A1B9E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42975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CBD8A1E7-14AC-AC4B-9D5A-6973EDB3453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34963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7F60395-9822-BC45-AA80-163BA50D594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6897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B574C92-ABDF-7C43-A618-55A2688F87D6}"/>
              </a:ext>
            </a:extLst>
          </p:cNvPr>
          <p:cNvSpPr txBox="1"/>
          <p:nvPr/>
        </p:nvSpPr>
        <p:spPr>
          <a:xfrm>
            <a:off x="3821026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6307F14F-535E-4749-B142-A2F6B04E608F}"/>
              </a:ext>
            </a:extLst>
          </p:cNvPr>
          <p:cNvSpPr txBox="1"/>
          <p:nvPr/>
        </p:nvSpPr>
        <p:spPr>
          <a:xfrm>
            <a:off x="4319826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27;g3d6e2211149_2_228">
            <a:extLst>
              <a:ext uri="{FF2B5EF4-FFF2-40B4-BE49-F238E27FC236}">
                <a16:creationId xmlns:a16="http://schemas.microsoft.com/office/drawing/2014/main" id="{CAA51EEB-577D-BA40-84A9-3EF7AEC84D09}"/>
              </a:ext>
            </a:extLst>
          </p:cNvPr>
          <p:cNvSpPr txBox="1"/>
          <p:nvPr/>
        </p:nvSpPr>
        <p:spPr>
          <a:xfrm>
            <a:off x="4846885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27;g3d6e2211149_2_228">
            <a:extLst>
              <a:ext uri="{FF2B5EF4-FFF2-40B4-BE49-F238E27FC236}">
                <a16:creationId xmlns:a16="http://schemas.microsoft.com/office/drawing/2014/main" id="{180F3FE5-332D-494F-9CB4-153FB64C361D}"/>
              </a:ext>
            </a:extLst>
          </p:cNvPr>
          <p:cNvSpPr txBox="1"/>
          <p:nvPr/>
        </p:nvSpPr>
        <p:spPr>
          <a:xfrm>
            <a:off x="5352529" y="2410920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27;g3d6e2211149_2_228">
            <a:extLst>
              <a:ext uri="{FF2B5EF4-FFF2-40B4-BE49-F238E27FC236}">
                <a16:creationId xmlns:a16="http://schemas.microsoft.com/office/drawing/2014/main" id="{792D89C0-F01C-A448-A083-12873AB09417}"/>
              </a:ext>
            </a:extLst>
          </p:cNvPr>
          <p:cNvSpPr txBox="1"/>
          <p:nvPr/>
        </p:nvSpPr>
        <p:spPr>
          <a:xfrm>
            <a:off x="5842425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27;g3d6e2211149_2_228">
            <a:extLst>
              <a:ext uri="{FF2B5EF4-FFF2-40B4-BE49-F238E27FC236}">
                <a16:creationId xmlns:a16="http://schemas.microsoft.com/office/drawing/2014/main" id="{4341AA65-4382-6D4D-A4D3-B75E136485F3}"/>
              </a:ext>
            </a:extLst>
          </p:cNvPr>
          <p:cNvSpPr txBox="1"/>
          <p:nvPr/>
        </p:nvSpPr>
        <p:spPr>
          <a:xfrm>
            <a:off x="6334263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641D62-5F08-4F44-A8E0-A7689DD278FE}"/>
              </a:ext>
            </a:extLst>
          </p:cNvPr>
          <p:cNvSpPr txBox="1"/>
          <p:nvPr/>
        </p:nvSpPr>
        <p:spPr>
          <a:xfrm>
            <a:off x="3202844" y="5043462"/>
            <a:ext cx="195802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실명정보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매핑정보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마스킹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Tokenization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대표 ID 생성</a:t>
            </a:r>
          </a:p>
        </p:txBody>
      </p:sp>
      <p:pic>
        <p:nvPicPr>
          <p:cNvPr id="51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8A6A446E-2451-FB48-BE50-D5991E03CF7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61944" y="3643249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B4D8128D-0FE7-A949-8B46-BB565F7D9EBB}"/>
              </a:ext>
            </a:extLst>
          </p:cNvPr>
          <p:cNvSpPr txBox="1"/>
          <p:nvPr/>
        </p:nvSpPr>
        <p:spPr>
          <a:xfrm>
            <a:off x="4996115" y="3664428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4BFB5CB-B632-3F4A-94F1-35A9244E61B7}"/>
              </a:ext>
            </a:extLst>
          </p:cNvPr>
          <p:cNvSpPr txBox="1"/>
          <p:nvPr/>
        </p:nvSpPr>
        <p:spPr>
          <a:xfrm>
            <a:off x="553798" y="3126209"/>
            <a:ext cx="28592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 xml:space="preserve">마스터 테이블 </a:t>
            </a:r>
            <a:r>
              <a:rPr lang="en-US" altLang="ko-KR" sz="900" dirty="0"/>
              <a:t>(</a:t>
            </a:r>
            <a:r>
              <a:rPr lang="en-US" altLang="ko-KR" sz="900" dirty="0" err="1"/>
              <a:t>master_customer</a:t>
            </a:r>
            <a:r>
              <a:rPr lang="en-US" altLang="ko-KR" sz="900" dirty="0"/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 xml:space="preserve">고객 매핑 테이블 </a:t>
            </a:r>
            <a:r>
              <a:rPr lang="en-US" altLang="ko-KR" sz="900" dirty="0"/>
              <a:t>(</a:t>
            </a:r>
            <a:r>
              <a:rPr lang="en-US" sz="900" dirty="0" err="1"/>
              <a:t>customer_identity_map</a:t>
            </a:r>
            <a:r>
              <a:rPr lang="en-US" altLang="ko-KR" sz="900" dirty="0"/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>개인정보 원본 테이블</a:t>
            </a:r>
            <a:r>
              <a:rPr lang="en-US" altLang="ko-KR" sz="900" dirty="0"/>
              <a:t>(</a:t>
            </a:r>
            <a:r>
              <a:rPr lang="en-US" altLang="ko-KR" sz="900" dirty="0" err="1"/>
              <a:t>customer_pii_secure</a:t>
            </a:r>
            <a:r>
              <a:rPr lang="en-US" altLang="ko-KR" sz="900" dirty="0"/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altLang="ko-KR" sz="900" dirty="0" err="1"/>
              <a:t>Matching_audit_log</a:t>
            </a:r>
            <a:endParaRPr lang="en-US" altLang="ko-KR" sz="900" dirty="0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 xml:space="preserve">분석용 고객 테이블 </a:t>
            </a:r>
            <a:r>
              <a:rPr lang="en-US" altLang="ko-KR" sz="900" dirty="0"/>
              <a:t>(customer_360_profile)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 xml:space="preserve">고객 동의 여부 </a:t>
            </a:r>
            <a:r>
              <a:rPr lang="en-US" altLang="ko-KR" sz="900" dirty="0"/>
              <a:t>(consent)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32D308-572B-064F-AF11-DAD620A28AFF}"/>
              </a:ext>
            </a:extLst>
          </p:cNvPr>
          <p:cNvSpPr txBox="1"/>
          <p:nvPr/>
        </p:nvSpPr>
        <p:spPr>
          <a:xfrm>
            <a:off x="4789220" y="4095223"/>
            <a:ext cx="27395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lifesync-raw</a:t>
            </a:r>
            <a:r>
              <a:rPr lang="ko-KR" altLang="en-US" sz="900"/>
              <a:t>에는 원천 데이터를 적재하고</a:t>
            </a:r>
            <a:r>
              <a:rPr lang="en-US" altLang="ko-KR" sz="900"/>
              <a:t>,</a:t>
            </a:r>
            <a:br>
              <a:rPr lang="en-US" altLang="ko-KR" sz="900"/>
            </a:br>
            <a:r>
              <a:rPr lang="ko-KR" altLang="en-US" sz="900"/>
              <a:t xml:space="preserve">고객 동의 대상군만 선별하여 </a:t>
            </a:r>
            <a:r>
              <a:rPr lang="en-US" sz="900"/>
              <a:t xml:space="preserve">processed/curated </a:t>
            </a:r>
            <a:r>
              <a:rPr lang="ko-KR" altLang="en-US" sz="900"/>
              <a:t>영역에서 활용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53CFC6-2F72-7144-8973-EDAE886F01DE}"/>
              </a:ext>
            </a:extLst>
          </p:cNvPr>
          <p:cNvSpPr txBox="1"/>
          <p:nvPr/>
        </p:nvSpPr>
        <p:spPr>
          <a:xfrm>
            <a:off x="3252548" y="5910746"/>
            <a:ext cx="2410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/>
              <a:t>각 계열사 고객번호 유지</a:t>
            </a:r>
            <a:endParaRPr lang="en-US" altLang="ko-KR" sz="900" dirty="0"/>
          </a:p>
          <a:p>
            <a:r>
              <a:rPr lang="en-US" altLang="ko-KR" sz="900" dirty="0"/>
              <a:t>+</a:t>
            </a:r>
            <a:r>
              <a:rPr lang="ko-KR" altLang="en-US" sz="900" dirty="0"/>
              <a:t xml:space="preserve"> 중앙 </a:t>
            </a:r>
            <a:r>
              <a:rPr lang="en-US" sz="900" dirty="0"/>
              <a:t xml:space="preserve">Global ID </a:t>
            </a:r>
            <a:r>
              <a:rPr lang="ko-KR" altLang="en-US" sz="900" dirty="0"/>
              <a:t>신규 생성</a:t>
            </a:r>
            <a:endParaRPr lang="en-KR" sz="900" dirty="0"/>
          </a:p>
        </p:txBody>
      </p:sp>
      <p:cxnSp>
        <p:nvCxnSpPr>
          <p:cNvPr id="64" name="Google Shape;358;g3d6e2211149_2_228">
            <a:extLst>
              <a:ext uri="{FF2B5EF4-FFF2-40B4-BE49-F238E27FC236}">
                <a16:creationId xmlns:a16="http://schemas.microsoft.com/office/drawing/2014/main" id="{BE93050A-7E24-014D-8852-7351FECA82EB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3804191" y="2260844"/>
            <a:ext cx="774410" cy="91349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67" name="Google Shape;294;g3d6e2211149_2_228" descr="AWS Lambda service icon.">
            <a:extLst>
              <a:ext uri="{FF2B5EF4-FFF2-40B4-BE49-F238E27FC236}">
                <a16:creationId xmlns:a16="http://schemas.microsoft.com/office/drawing/2014/main" id="{96045DFC-23F2-8542-9B1B-CD595353564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17677" y="31415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295;g3d6e2211149_2_228">
            <a:extLst>
              <a:ext uri="{FF2B5EF4-FFF2-40B4-BE49-F238E27FC236}">
                <a16:creationId xmlns:a16="http://schemas.microsoft.com/office/drawing/2014/main" id="{F0918346-316E-0E4F-9685-DB38B901D8B6}"/>
              </a:ext>
            </a:extLst>
          </p:cNvPr>
          <p:cNvSpPr txBox="1"/>
          <p:nvPr/>
        </p:nvSpPr>
        <p:spPr>
          <a:xfrm>
            <a:off x="4434521" y="35288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75" name="Google Shape;358;g3d6e2211149_2_228">
            <a:extLst>
              <a:ext uri="{FF2B5EF4-FFF2-40B4-BE49-F238E27FC236}">
                <a16:creationId xmlns:a16="http://schemas.microsoft.com/office/drawing/2014/main" id="{1D708064-AFBC-994B-BACA-CC6E097D26DC}"/>
              </a:ext>
            </a:extLst>
          </p:cNvPr>
          <p:cNvCxnSpPr>
            <a:cxnSpLocks/>
          </p:cNvCxnSpPr>
          <p:nvPr/>
        </p:nvCxnSpPr>
        <p:spPr>
          <a:xfrm>
            <a:off x="4924756" y="3351155"/>
            <a:ext cx="995794" cy="27321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437F3E9E-F2B8-534D-90CE-F37A87AE83C4}"/>
              </a:ext>
            </a:extLst>
          </p:cNvPr>
          <p:cNvCxnSpPr>
            <a:cxnSpLocks/>
            <a:stCxn id="149" idx="2"/>
            <a:endCxn id="153" idx="2"/>
          </p:cNvCxnSpPr>
          <p:nvPr/>
        </p:nvCxnSpPr>
        <p:spPr>
          <a:xfrm rot="5400000" flipH="1">
            <a:off x="1875825" y="5099911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85" name="Google Shape;303;g3d6896b4338_0_0">
            <a:extLst>
              <a:ext uri="{FF2B5EF4-FFF2-40B4-BE49-F238E27FC236}">
                <a16:creationId xmlns:a16="http://schemas.microsoft.com/office/drawing/2014/main" id="{FEF90740-F81B-5A49-91E0-E3D52BE6D805}"/>
              </a:ext>
            </a:extLst>
          </p:cNvPr>
          <p:cNvSpPr/>
          <p:nvPr/>
        </p:nvSpPr>
        <p:spPr>
          <a:xfrm>
            <a:off x="3042428" y="19879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303;g3d6896b4338_0_0">
            <a:extLst>
              <a:ext uri="{FF2B5EF4-FFF2-40B4-BE49-F238E27FC236}">
                <a16:creationId xmlns:a16="http://schemas.microsoft.com/office/drawing/2014/main" id="{1E1305D5-612A-2140-A4C1-547942463B71}"/>
              </a:ext>
            </a:extLst>
          </p:cNvPr>
          <p:cNvSpPr/>
          <p:nvPr/>
        </p:nvSpPr>
        <p:spPr>
          <a:xfrm>
            <a:off x="700538" y="591016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9726AB4D-DD3D-6541-B423-1BBC7129D6A6}"/>
              </a:ext>
            </a:extLst>
          </p:cNvPr>
          <p:cNvSpPr/>
          <p:nvPr/>
        </p:nvSpPr>
        <p:spPr>
          <a:xfrm>
            <a:off x="5332436" y="31582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D8E9AA2-6BDA-3044-B7FF-25901D07C660}"/>
              </a:ext>
            </a:extLst>
          </p:cNvPr>
          <p:cNvSpPr txBox="1"/>
          <p:nvPr/>
        </p:nvSpPr>
        <p:spPr>
          <a:xfrm>
            <a:off x="6281623" y="3442790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285303D-6295-AF4E-8F63-2BD6D45F634F}"/>
              </a:ext>
            </a:extLst>
          </p:cNvPr>
          <p:cNvSpPr txBox="1"/>
          <p:nvPr/>
        </p:nvSpPr>
        <p:spPr>
          <a:xfrm>
            <a:off x="0" y="5031170"/>
            <a:ext cx="668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Global ID</a:t>
            </a:r>
            <a:r>
              <a:rPr lang="ko-KR" altLang="en-US" sz="900" dirty="0"/>
              <a:t xml:space="preserve"> </a:t>
            </a:r>
            <a:endParaRPr lang="en-US" altLang="ko-KR" sz="900" dirty="0"/>
          </a:p>
          <a:p>
            <a:pPr algn="ctr"/>
            <a:r>
              <a:rPr lang="ko-KR" altLang="en-US" sz="900" dirty="0"/>
              <a:t>조회</a:t>
            </a:r>
            <a:endParaRPr lang="en-KR" sz="900" dirty="0"/>
          </a:p>
        </p:txBody>
      </p:sp>
      <p:sp>
        <p:nvSpPr>
          <p:cNvPr id="96" name="Google Shape;303;g3d6896b4338_0_0">
            <a:extLst>
              <a:ext uri="{FF2B5EF4-FFF2-40B4-BE49-F238E27FC236}">
                <a16:creationId xmlns:a16="http://schemas.microsoft.com/office/drawing/2014/main" id="{B1F9C862-8FC3-DF49-B259-9B801C249B20}"/>
              </a:ext>
            </a:extLst>
          </p:cNvPr>
          <p:cNvSpPr/>
          <p:nvPr/>
        </p:nvSpPr>
        <p:spPr>
          <a:xfrm>
            <a:off x="6314475" y="36634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AF0B260B-E80D-EA49-AD22-C842E8F01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676642"/>
              </p:ext>
            </p:extLst>
          </p:nvPr>
        </p:nvGraphicFramePr>
        <p:xfrm>
          <a:off x="7563147" y="793762"/>
          <a:ext cx="2438886" cy="2743200"/>
        </p:xfrm>
        <a:graphic>
          <a:graphicData uri="http://schemas.openxmlformats.org/drawingml/2006/table">
            <a:tbl>
              <a:tblPr/>
              <a:tblGrid>
                <a:gridCol w="723393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715493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00:00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계열사 업무 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714073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00:10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 xml:space="preserve">계열사 </a:t>
                      </a:r>
                      <a:r>
                        <a:rPr lang="en-US" sz="900"/>
                        <a:t xml:space="preserve">Raw </a:t>
                      </a:r>
                      <a:r>
                        <a:rPr lang="ko-KR" altLang="en-US" sz="900"/>
                        <a:t>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093504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00:20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 xml:space="preserve">그룹 </a:t>
                      </a:r>
                      <a:r>
                        <a:rPr lang="en-US" sz="900"/>
                        <a:t xml:space="preserve">Raw </a:t>
                      </a:r>
                      <a:r>
                        <a:rPr lang="ko-KR" altLang="en-US" sz="900"/>
                        <a:t>저장소 업로드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587387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Glue 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255957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02:00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EMR Customer360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915248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03:00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03:</a:t>
                      </a:r>
                      <a:r>
                        <a:rPr lang="en-US" altLang="ko-KR" sz="900"/>
                        <a:t>25</a:t>
                      </a:r>
                      <a:endParaRPr lang="en-KR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BigQuery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103555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04:00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Vertex AI Predict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657629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04:30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620016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05:00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Dashboard 조회 정보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041699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05:30</a:t>
                      </a:r>
                      <a:endParaRPr lang="en-KR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Dashboard 호출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456073"/>
                  </a:ext>
                </a:extLst>
              </a:tr>
            </a:tbl>
          </a:graphicData>
        </a:graphic>
      </p:graphicFrame>
      <p:sp>
        <p:nvSpPr>
          <p:cNvPr id="100" name="Google Shape;262;g3d6e2211149_2_228">
            <a:extLst>
              <a:ext uri="{FF2B5EF4-FFF2-40B4-BE49-F238E27FC236}">
                <a16:creationId xmlns:a16="http://schemas.microsoft.com/office/drawing/2014/main" id="{EC274128-1516-F84F-BAF8-14350A3D58D7}"/>
              </a:ext>
            </a:extLst>
          </p:cNvPr>
          <p:cNvSpPr/>
          <p:nvPr/>
        </p:nvSpPr>
        <p:spPr>
          <a:xfrm>
            <a:off x="6647691" y="4841562"/>
            <a:ext cx="3727890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101" name="Google Shape;263;g3d6e2211149_2_228" descr="VPC group icon. ">
            <a:extLst>
              <a:ext uri="{FF2B5EF4-FFF2-40B4-BE49-F238E27FC236}">
                <a16:creationId xmlns:a16="http://schemas.microsoft.com/office/drawing/2014/main" id="{6620CC71-9775-BD4A-9BD6-95B016BD0B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5328" y="485164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264;g3d6e2211149_2_228">
            <a:extLst>
              <a:ext uri="{FF2B5EF4-FFF2-40B4-BE49-F238E27FC236}">
                <a16:creationId xmlns:a16="http://schemas.microsoft.com/office/drawing/2014/main" id="{CD06D72F-9361-0D43-867C-3AD7506EEBD4}"/>
              </a:ext>
            </a:extLst>
          </p:cNvPr>
          <p:cNvSpPr/>
          <p:nvPr/>
        </p:nvSpPr>
        <p:spPr>
          <a:xfrm>
            <a:off x="6743646" y="5255646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103" name="Google Shape;265;g3d6e2211149_2_228" descr="Private subnet group icon. ">
            <a:extLst>
              <a:ext uri="{FF2B5EF4-FFF2-40B4-BE49-F238E27FC236}">
                <a16:creationId xmlns:a16="http://schemas.microsoft.com/office/drawing/2014/main" id="{9A135CF9-CED1-3C44-A294-EF7A073E5DA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59501" y="525891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288;g3d6e2211149_2_228">
            <a:extLst>
              <a:ext uri="{FF2B5EF4-FFF2-40B4-BE49-F238E27FC236}">
                <a16:creationId xmlns:a16="http://schemas.microsoft.com/office/drawing/2014/main" id="{56682B45-B1F7-784A-AFEF-459090AECC0C}"/>
              </a:ext>
            </a:extLst>
          </p:cNvPr>
          <p:cNvSpPr/>
          <p:nvPr/>
        </p:nvSpPr>
        <p:spPr>
          <a:xfrm>
            <a:off x="8487505" y="5242064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107" name="Google Shape;289;g3d6e2211149_2_228" descr="Private subnet group icon. ">
            <a:extLst>
              <a:ext uri="{FF2B5EF4-FFF2-40B4-BE49-F238E27FC236}">
                <a16:creationId xmlns:a16="http://schemas.microsoft.com/office/drawing/2014/main" id="{27327D9E-97FA-D641-A269-EB8DDDF4D84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87505" y="52501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290;g3d6e2211149_2_228" descr="AWS Glue service icon.">
            <a:extLst>
              <a:ext uri="{FF2B5EF4-FFF2-40B4-BE49-F238E27FC236}">
                <a16:creationId xmlns:a16="http://schemas.microsoft.com/office/drawing/2014/main" id="{DDBBF2C3-18DF-4B49-B41A-C6D6B58766A1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94296" y="5735160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291;g3d6e2211149_2_228">
            <a:extLst>
              <a:ext uri="{FF2B5EF4-FFF2-40B4-BE49-F238E27FC236}">
                <a16:creationId xmlns:a16="http://schemas.microsoft.com/office/drawing/2014/main" id="{1CA67B37-9F07-DD44-834A-46E3D8C95972}"/>
              </a:ext>
            </a:extLst>
          </p:cNvPr>
          <p:cNvSpPr txBox="1"/>
          <p:nvPr/>
        </p:nvSpPr>
        <p:spPr>
          <a:xfrm>
            <a:off x="8995940" y="5790151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110" name="Google Shape;292;g3d6e2211149_2_228" descr="Amazon EMR service icon.">
            <a:extLst>
              <a:ext uri="{FF2B5EF4-FFF2-40B4-BE49-F238E27FC236}">
                <a16:creationId xmlns:a16="http://schemas.microsoft.com/office/drawing/2014/main" id="{5A00DE28-A54E-4844-8D76-A505DF9E265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21121" y="5734919"/>
            <a:ext cx="408936" cy="42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293;g3d6e2211149_2_228">
            <a:extLst>
              <a:ext uri="{FF2B5EF4-FFF2-40B4-BE49-F238E27FC236}">
                <a16:creationId xmlns:a16="http://schemas.microsoft.com/office/drawing/2014/main" id="{2F1B4BCF-0E07-7D4E-B431-DBD2C47A6FAD}"/>
              </a:ext>
            </a:extLst>
          </p:cNvPr>
          <p:cNvSpPr txBox="1"/>
          <p:nvPr/>
        </p:nvSpPr>
        <p:spPr>
          <a:xfrm>
            <a:off x="9689092" y="5762534"/>
            <a:ext cx="77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  <a:endParaRPr/>
          </a:p>
        </p:txBody>
      </p:sp>
      <p:pic>
        <p:nvPicPr>
          <p:cNvPr id="112" name="Google Shape;294;g3d6e2211149_2_228" descr="AWS Lambda service icon.">
            <a:extLst>
              <a:ext uri="{FF2B5EF4-FFF2-40B4-BE49-F238E27FC236}">
                <a16:creationId xmlns:a16="http://schemas.microsoft.com/office/drawing/2014/main" id="{D48525A4-D955-E64A-B3EB-CEFF085DCB9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63250" y="5769686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295;g3d6e2211149_2_228">
            <a:extLst>
              <a:ext uri="{FF2B5EF4-FFF2-40B4-BE49-F238E27FC236}">
                <a16:creationId xmlns:a16="http://schemas.microsoft.com/office/drawing/2014/main" id="{60AF392D-7CFC-5042-98C2-7636411B384E}"/>
              </a:ext>
            </a:extLst>
          </p:cNvPr>
          <p:cNvSpPr txBox="1"/>
          <p:nvPr/>
        </p:nvSpPr>
        <p:spPr>
          <a:xfrm>
            <a:off x="7687533" y="580246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14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FE2C6B4F-6EB2-8846-BAF3-895B1E1A8D2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01821" y="4649883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318;g3d6e2211149_2_228">
            <a:extLst>
              <a:ext uri="{FF2B5EF4-FFF2-40B4-BE49-F238E27FC236}">
                <a16:creationId xmlns:a16="http://schemas.microsoft.com/office/drawing/2014/main" id="{941BEFFE-2516-6147-9FA4-EB586DB853E9}"/>
              </a:ext>
            </a:extLst>
          </p:cNvPr>
          <p:cNvSpPr txBox="1"/>
          <p:nvPr/>
        </p:nvSpPr>
        <p:spPr>
          <a:xfrm>
            <a:off x="5175816" y="4851997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116" name="Google Shape;319;g3d6e2211149_2_228">
            <a:extLst>
              <a:ext uri="{FF2B5EF4-FFF2-40B4-BE49-F238E27FC236}">
                <a16:creationId xmlns:a16="http://schemas.microsoft.com/office/drawing/2014/main" id="{A5E22B03-6637-564A-9D76-9E951210E79B}"/>
              </a:ext>
            </a:extLst>
          </p:cNvPr>
          <p:cNvCxnSpPr>
            <a:cxnSpLocks/>
          </p:cNvCxnSpPr>
          <p:nvPr/>
        </p:nvCxnSpPr>
        <p:spPr>
          <a:xfrm>
            <a:off x="1780709" y="2234859"/>
            <a:ext cx="3034181" cy="270923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1" name="Google Shape;365;g3d6e2211149_2_228">
            <a:extLst>
              <a:ext uri="{FF2B5EF4-FFF2-40B4-BE49-F238E27FC236}">
                <a16:creationId xmlns:a16="http://schemas.microsoft.com/office/drawing/2014/main" id="{586F9CA2-C9BC-B642-AD0A-0DECD33FB1A1}"/>
              </a:ext>
            </a:extLst>
          </p:cNvPr>
          <p:cNvCxnSpPr>
            <a:cxnSpLocks/>
            <a:endCxn id="108" idx="0"/>
          </p:cNvCxnSpPr>
          <p:nvPr/>
        </p:nvCxnSpPr>
        <p:spPr>
          <a:xfrm>
            <a:off x="6338941" y="3985665"/>
            <a:ext cx="2476892" cy="174949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122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3F7C22CE-98B4-4B4B-9554-77A05293E99C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892342" y="5682200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371;g3d6e2211149_2_228">
            <a:extLst>
              <a:ext uri="{FF2B5EF4-FFF2-40B4-BE49-F238E27FC236}">
                <a16:creationId xmlns:a16="http://schemas.microsoft.com/office/drawing/2014/main" id="{F3722448-1C29-FF4D-B4DD-6425382C9857}"/>
              </a:ext>
            </a:extLst>
          </p:cNvPr>
          <p:cNvSpPr txBox="1"/>
          <p:nvPr/>
        </p:nvSpPr>
        <p:spPr>
          <a:xfrm>
            <a:off x="5538909" y="6043779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124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552A6568-C586-EF42-A4D8-5AD6824FFF3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68175" y="3802557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375;g3d6e2211149_2_228">
            <a:extLst>
              <a:ext uri="{FF2B5EF4-FFF2-40B4-BE49-F238E27FC236}">
                <a16:creationId xmlns:a16="http://schemas.microsoft.com/office/drawing/2014/main" id="{ED09A944-5B9C-E548-A906-EC99B08C8897}"/>
              </a:ext>
            </a:extLst>
          </p:cNvPr>
          <p:cNvSpPr txBox="1"/>
          <p:nvPr/>
        </p:nvSpPr>
        <p:spPr>
          <a:xfrm>
            <a:off x="8102951" y="4214640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376;g3d6e2211149_2_228">
            <a:extLst>
              <a:ext uri="{FF2B5EF4-FFF2-40B4-BE49-F238E27FC236}">
                <a16:creationId xmlns:a16="http://schemas.microsoft.com/office/drawing/2014/main" id="{A3B2E01A-4594-1944-921B-940ACBF2D03E}"/>
              </a:ext>
            </a:extLst>
          </p:cNvPr>
          <p:cNvCxnSpPr>
            <a:stCxn id="124" idx="3"/>
            <a:endCxn id="110" idx="0"/>
          </p:cNvCxnSpPr>
          <p:nvPr/>
        </p:nvCxnSpPr>
        <p:spPr>
          <a:xfrm>
            <a:off x="8774190" y="4005565"/>
            <a:ext cx="851399" cy="172935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27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21499967-3BF7-CC47-8FFC-D99C584A1B5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16918" y="3816044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379;g3d6e2211149_2_228">
            <a:extLst>
              <a:ext uri="{FF2B5EF4-FFF2-40B4-BE49-F238E27FC236}">
                <a16:creationId xmlns:a16="http://schemas.microsoft.com/office/drawing/2014/main" id="{A3A8065F-373A-0B45-9ACA-09796670C2FE}"/>
              </a:ext>
            </a:extLst>
          </p:cNvPr>
          <p:cNvCxnSpPr>
            <a:cxnSpLocks/>
            <a:stCxn id="150" idx="2"/>
            <a:endCxn id="110" idx="0"/>
          </p:cNvCxnSpPr>
          <p:nvPr/>
        </p:nvCxnSpPr>
        <p:spPr>
          <a:xfrm flipH="1">
            <a:off x="9625589" y="4569983"/>
            <a:ext cx="208847" cy="116493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29" name="Google Shape;380;g3d6e2211149_2_228">
            <a:extLst>
              <a:ext uri="{FF2B5EF4-FFF2-40B4-BE49-F238E27FC236}">
                <a16:creationId xmlns:a16="http://schemas.microsoft.com/office/drawing/2014/main" id="{8CABEB08-F5B5-C14A-A834-E33BE50B867C}"/>
              </a:ext>
            </a:extLst>
          </p:cNvPr>
          <p:cNvCxnSpPr>
            <a:stCxn id="124" idx="2"/>
          </p:cNvCxnSpPr>
          <p:nvPr/>
        </p:nvCxnSpPr>
        <p:spPr>
          <a:xfrm>
            <a:off x="8571183" y="4208572"/>
            <a:ext cx="50100" cy="97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33" name="Google Shape;319;g3d6e2211149_2_228">
            <a:extLst>
              <a:ext uri="{FF2B5EF4-FFF2-40B4-BE49-F238E27FC236}">
                <a16:creationId xmlns:a16="http://schemas.microsoft.com/office/drawing/2014/main" id="{431F8285-EEBB-424A-A4BC-B7A4280B1D19}"/>
              </a:ext>
            </a:extLst>
          </p:cNvPr>
          <p:cNvCxnSpPr>
            <a:cxnSpLocks/>
            <a:endCxn id="134" idx="0"/>
          </p:cNvCxnSpPr>
          <p:nvPr/>
        </p:nvCxnSpPr>
        <p:spPr>
          <a:xfrm>
            <a:off x="4939402" y="5027183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4" name="Google Shape;356;g3d6e2211149_2_228">
            <a:extLst>
              <a:ext uri="{FF2B5EF4-FFF2-40B4-BE49-F238E27FC236}">
                <a16:creationId xmlns:a16="http://schemas.microsoft.com/office/drawing/2014/main" id="{328C43C0-6226-764C-9268-7BC5E089E17A}"/>
              </a:ext>
            </a:extLst>
          </p:cNvPr>
          <p:cNvSpPr txBox="1"/>
          <p:nvPr/>
        </p:nvSpPr>
        <p:spPr>
          <a:xfrm>
            <a:off x="4716962" y="5505298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136" name="Google Shape;319;g3d6e2211149_2_228">
            <a:extLst>
              <a:ext uri="{FF2B5EF4-FFF2-40B4-BE49-F238E27FC236}">
                <a16:creationId xmlns:a16="http://schemas.microsoft.com/office/drawing/2014/main" id="{F9318A5B-0315-2D4E-A814-DE16D51E9E91}"/>
              </a:ext>
            </a:extLst>
          </p:cNvPr>
          <p:cNvCxnSpPr>
            <a:cxnSpLocks/>
            <a:endCxn id="122" idx="1"/>
          </p:cNvCxnSpPr>
          <p:nvPr/>
        </p:nvCxnSpPr>
        <p:spPr>
          <a:xfrm>
            <a:off x="5572491" y="5762534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9" name="Google Shape;319;g3d6e2211149_2_228">
            <a:extLst>
              <a:ext uri="{FF2B5EF4-FFF2-40B4-BE49-F238E27FC236}">
                <a16:creationId xmlns:a16="http://schemas.microsoft.com/office/drawing/2014/main" id="{B03BB2D6-E253-6341-9E0F-60E065997AE4}"/>
              </a:ext>
            </a:extLst>
          </p:cNvPr>
          <p:cNvCxnSpPr>
            <a:cxnSpLocks/>
            <a:stCxn id="122" idx="3"/>
            <a:endCxn id="112" idx="1"/>
          </p:cNvCxnSpPr>
          <p:nvPr/>
        </p:nvCxnSpPr>
        <p:spPr>
          <a:xfrm>
            <a:off x="6241107" y="5856583"/>
            <a:ext cx="1122143" cy="116943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5" name="Google Shape;319;g3d6e2211149_2_228">
            <a:extLst>
              <a:ext uri="{FF2B5EF4-FFF2-40B4-BE49-F238E27FC236}">
                <a16:creationId xmlns:a16="http://schemas.microsoft.com/office/drawing/2014/main" id="{42387D82-C7CF-DC41-94EF-EC3793B1D205}"/>
              </a:ext>
            </a:extLst>
          </p:cNvPr>
          <p:cNvCxnSpPr>
            <a:cxnSpLocks/>
            <a:stCxn id="112" idx="0"/>
            <a:endCxn id="51" idx="2"/>
          </p:cNvCxnSpPr>
          <p:nvPr/>
        </p:nvCxnSpPr>
        <p:spPr>
          <a:xfrm flipH="1" flipV="1">
            <a:off x="6064952" y="4049264"/>
            <a:ext cx="1502138" cy="172042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0" name="Google Shape;378;g3d6e2211149_2_228">
            <a:extLst>
              <a:ext uri="{FF2B5EF4-FFF2-40B4-BE49-F238E27FC236}">
                <a16:creationId xmlns:a16="http://schemas.microsoft.com/office/drawing/2014/main" id="{E9A39349-8BB0-9741-841E-72E9383D5E31}"/>
              </a:ext>
            </a:extLst>
          </p:cNvPr>
          <p:cNvSpPr txBox="1"/>
          <p:nvPr/>
        </p:nvSpPr>
        <p:spPr>
          <a:xfrm>
            <a:off x="9323986" y="4231283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(Curated)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2639;p69">
            <a:extLst>
              <a:ext uri="{FF2B5EF4-FFF2-40B4-BE49-F238E27FC236}">
                <a16:creationId xmlns:a16="http://schemas.microsoft.com/office/drawing/2014/main" id="{D2734284-3821-B247-8253-FEE542CE5A85}"/>
              </a:ext>
            </a:extLst>
          </p:cNvPr>
          <p:cNvSpPr/>
          <p:nvPr/>
        </p:nvSpPr>
        <p:spPr>
          <a:xfrm>
            <a:off x="10561565" y="2015744"/>
            <a:ext cx="1537834" cy="4264334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pic>
        <p:nvPicPr>
          <p:cNvPr id="154" name="Google Shape;2756;p69">
            <a:extLst>
              <a:ext uri="{FF2B5EF4-FFF2-40B4-BE49-F238E27FC236}">
                <a16:creationId xmlns:a16="http://schemas.microsoft.com/office/drawing/2014/main" id="{0653BA46-FB3B-ED42-9FAB-D7199CBE21E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-6931" t="-49479" r="-5592" b="-59116"/>
          <a:stretch/>
        </p:blipFill>
        <p:spPr>
          <a:xfrm>
            <a:off x="10594109" y="2061955"/>
            <a:ext cx="755735" cy="395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2648;p69">
            <a:extLst>
              <a:ext uri="{FF2B5EF4-FFF2-40B4-BE49-F238E27FC236}">
                <a16:creationId xmlns:a16="http://schemas.microsoft.com/office/drawing/2014/main" id="{EC554A9C-85A0-D145-93DD-CCF9594178FB}"/>
              </a:ext>
            </a:extLst>
          </p:cNvPr>
          <p:cNvGrpSpPr/>
          <p:nvPr/>
        </p:nvGrpSpPr>
        <p:grpSpPr>
          <a:xfrm>
            <a:off x="10908974" y="3752035"/>
            <a:ext cx="820995" cy="424443"/>
            <a:chOff x="-1027300" y="1480022"/>
            <a:chExt cx="615746" cy="280714"/>
          </a:xfrm>
        </p:grpSpPr>
        <p:sp>
          <p:nvSpPr>
            <p:cNvPr id="168" name="Google Shape;2649;p69">
              <a:extLst>
                <a:ext uri="{FF2B5EF4-FFF2-40B4-BE49-F238E27FC236}">
                  <a16:creationId xmlns:a16="http://schemas.microsoft.com/office/drawing/2014/main" id="{568E03C1-D7E6-FF43-AF5A-A872514A9433}"/>
                </a:ext>
              </a:extLst>
            </p:cNvPr>
            <p:cNvSpPr/>
            <p:nvPr/>
          </p:nvSpPr>
          <p:spPr>
            <a:xfrm>
              <a:off x="-1027300" y="1480022"/>
              <a:ext cx="615746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spcFirstLastPara="1" wrap="square" lIns="390133" tIns="109700" rIns="60933" bIns="121900" anchor="ctr" anchorCtr="0">
              <a:noAutofit/>
            </a:bodyPr>
            <a:lstStyle/>
            <a:p>
              <a:pPr>
                <a:buClr>
                  <a:schemeClr val="dk1"/>
                </a:buClr>
              </a:pPr>
              <a:r>
                <a:rPr lang="en-US" sz="9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Bucket</a:t>
              </a:r>
              <a:endParaRPr sz="9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69" name="Google Shape;2650;p69">
              <a:extLst>
                <a:ext uri="{FF2B5EF4-FFF2-40B4-BE49-F238E27FC236}">
                  <a16:creationId xmlns:a16="http://schemas.microsoft.com/office/drawing/2014/main" id="{2E2C834B-5BED-0C4D-A8C1-5650B7D005E8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-979687" y="1510583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1650;p53">
            <a:extLst>
              <a:ext uri="{FF2B5EF4-FFF2-40B4-BE49-F238E27FC236}">
                <a16:creationId xmlns:a16="http://schemas.microsoft.com/office/drawing/2014/main" id="{082D48B6-0D6E-4042-A86A-5B8CB708BE97}"/>
              </a:ext>
            </a:extLst>
          </p:cNvPr>
          <p:cNvSpPr/>
          <p:nvPr/>
        </p:nvSpPr>
        <p:spPr>
          <a:xfrm>
            <a:off x="10792757" y="5656719"/>
            <a:ext cx="10782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Vertex AI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659;p53">
            <a:extLst>
              <a:ext uri="{FF2B5EF4-FFF2-40B4-BE49-F238E27FC236}">
                <a16:creationId xmlns:a16="http://schemas.microsoft.com/office/drawing/2014/main" id="{009344FE-90D5-8A42-BE4C-5FAE5BF098B1}"/>
              </a:ext>
            </a:extLst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0838506" y="5717174"/>
            <a:ext cx="256100" cy="2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892;p37">
            <a:extLst>
              <a:ext uri="{FF2B5EF4-FFF2-40B4-BE49-F238E27FC236}">
                <a16:creationId xmlns:a16="http://schemas.microsoft.com/office/drawing/2014/main" id="{3AB18A33-4F64-A349-99F3-876F0FAA045B}"/>
              </a:ext>
            </a:extLst>
          </p:cNvPr>
          <p:cNvSpPr/>
          <p:nvPr/>
        </p:nvSpPr>
        <p:spPr>
          <a:xfrm>
            <a:off x="10822244" y="4679687"/>
            <a:ext cx="1007259" cy="438441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10"/>
              </a:schemeClr>
            </a:outerShdw>
          </a:effectLst>
        </p:spPr>
        <p:txBody>
          <a:bodyPr spcFirstLastPara="1" wrap="square" lIns="429750" tIns="118850" rIns="45700" bIns="1463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911;p37">
            <a:extLst>
              <a:ext uri="{FF2B5EF4-FFF2-40B4-BE49-F238E27FC236}">
                <a16:creationId xmlns:a16="http://schemas.microsoft.com/office/drawing/2014/main" id="{4D89BC13-BF9F-864A-BE56-940DD6C62D94}"/>
              </a:ext>
            </a:extLst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0918671" y="4780153"/>
            <a:ext cx="242325" cy="24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426;p29">
            <a:extLst>
              <a:ext uri="{FF2B5EF4-FFF2-40B4-BE49-F238E27FC236}">
                <a16:creationId xmlns:a16="http://schemas.microsoft.com/office/drawing/2014/main" id="{884E2029-3BC7-FB41-920A-D7F765FA8AE2}"/>
              </a:ext>
            </a:extLst>
          </p:cNvPr>
          <p:cNvSpPr txBox="1"/>
          <p:nvPr/>
        </p:nvSpPr>
        <p:spPr>
          <a:xfrm>
            <a:off x="10693733" y="2884215"/>
            <a:ext cx="1197394" cy="39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Storage Transfer Service</a:t>
            </a:r>
            <a:endParaRPr sz="900"/>
          </a:p>
        </p:txBody>
      </p:sp>
      <p:pic>
        <p:nvPicPr>
          <p:cNvPr id="175" name="Google Shape;427;p29">
            <a:extLst>
              <a:ext uri="{FF2B5EF4-FFF2-40B4-BE49-F238E27FC236}">
                <a16:creationId xmlns:a16="http://schemas.microsoft.com/office/drawing/2014/main" id="{6FB82D77-D896-5A42-B883-6142744494D8}"/>
              </a:ext>
            </a:extLst>
          </p:cNvPr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1150691" y="2503845"/>
            <a:ext cx="389175" cy="389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2669;p69">
            <a:extLst>
              <a:ext uri="{FF2B5EF4-FFF2-40B4-BE49-F238E27FC236}">
                <a16:creationId xmlns:a16="http://schemas.microsoft.com/office/drawing/2014/main" id="{98867554-A99F-494B-A2C5-12C8D6FA160B}"/>
              </a:ext>
            </a:extLst>
          </p:cNvPr>
          <p:cNvCxnSpPr>
            <a:cxnSpLocks/>
            <a:stCxn id="127" idx="0"/>
            <a:endCxn id="175" idx="1"/>
          </p:cNvCxnSpPr>
          <p:nvPr/>
        </p:nvCxnSpPr>
        <p:spPr>
          <a:xfrm flipV="1">
            <a:off x="9819926" y="2698433"/>
            <a:ext cx="1330765" cy="1117611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83" name="Google Shape;2669;p69">
            <a:extLst>
              <a:ext uri="{FF2B5EF4-FFF2-40B4-BE49-F238E27FC236}">
                <a16:creationId xmlns:a16="http://schemas.microsoft.com/office/drawing/2014/main" id="{970B8838-0A60-7E41-8ED1-08A2692CC4F0}"/>
              </a:ext>
            </a:extLst>
          </p:cNvPr>
          <p:cNvCxnSpPr>
            <a:cxnSpLocks/>
            <a:endCxn id="172" idx="0"/>
          </p:cNvCxnSpPr>
          <p:nvPr/>
        </p:nvCxnSpPr>
        <p:spPr>
          <a:xfrm flipH="1">
            <a:off x="11325874" y="4203331"/>
            <a:ext cx="5984" cy="476356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86" name="Google Shape;2669;p69">
            <a:extLst>
              <a:ext uri="{FF2B5EF4-FFF2-40B4-BE49-F238E27FC236}">
                <a16:creationId xmlns:a16="http://schemas.microsoft.com/office/drawing/2014/main" id="{42B47C2B-7AB8-AC40-AF2C-1C331104DC43}"/>
              </a:ext>
            </a:extLst>
          </p:cNvPr>
          <p:cNvCxnSpPr>
            <a:cxnSpLocks/>
          </p:cNvCxnSpPr>
          <p:nvPr/>
        </p:nvCxnSpPr>
        <p:spPr>
          <a:xfrm flipH="1">
            <a:off x="11325874" y="3248853"/>
            <a:ext cx="5984" cy="476356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88" name="Google Shape;2669;p69">
            <a:extLst>
              <a:ext uri="{FF2B5EF4-FFF2-40B4-BE49-F238E27FC236}">
                <a16:creationId xmlns:a16="http://schemas.microsoft.com/office/drawing/2014/main" id="{7AA6495E-B507-0D44-B2E1-89CB99FC89CB}"/>
              </a:ext>
            </a:extLst>
          </p:cNvPr>
          <p:cNvCxnSpPr>
            <a:cxnSpLocks/>
          </p:cNvCxnSpPr>
          <p:nvPr/>
        </p:nvCxnSpPr>
        <p:spPr>
          <a:xfrm flipH="1">
            <a:off x="11325874" y="5146464"/>
            <a:ext cx="5984" cy="476356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89" name="Google Shape;291;g3d6e2211149_2_228">
            <a:extLst>
              <a:ext uri="{FF2B5EF4-FFF2-40B4-BE49-F238E27FC236}">
                <a16:creationId xmlns:a16="http://schemas.microsoft.com/office/drawing/2014/main" id="{DC63BEC7-F85D-C94D-954C-134C6567604B}"/>
              </a:ext>
            </a:extLst>
          </p:cNvPr>
          <p:cNvSpPr txBox="1"/>
          <p:nvPr/>
        </p:nvSpPr>
        <p:spPr>
          <a:xfrm>
            <a:off x="8487469" y="6288527"/>
            <a:ext cx="69315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Cron Job</a:t>
            </a:r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448A54C-16B5-8540-8E5D-AAA67AD3B1CE}"/>
              </a:ext>
            </a:extLst>
          </p:cNvPr>
          <p:cNvSpPr txBox="1"/>
          <p:nvPr/>
        </p:nvSpPr>
        <p:spPr>
          <a:xfrm>
            <a:off x="1313581" y="25180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118" name="Google Shape;303;g3d6896b4338_0_0">
            <a:extLst>
              <a:ext uri="{FF2B5EF4-FFF2-40B4-BE49-F238E27FC236}">
                <a16:creationId xmlns:a16="http://schemas.microsoft.com/office/drawing/2014/main" id="{FB0EF2A3-7EBC-CF41-BCBD-66CE87C757EC}"/>
              </a:ext>
            </a:extLst>
          </p:cNvPr>
          <p:cNvSpPr/>
          <p:nvPr/>
        </p:nvSpPr>
        <p:spPr>
          <a:xfrm>
            <a:off x="1253687" y="24185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303;g3d6896b4338_0_0">
            <a:extLst>
              <a:ext uri="{FF2B5EF4-FFF2-40B4-BE49-F238E27FC236}">
                <a16:creationId xmlns:a16="http://schemas.microsoft.com/office/drawing/2014/main" id="{0FDEBDE9-996B-574D-8AE3-76368446E49E}"/>
              </a:ext>
            </a:extLst>
          </p:cNvPr>
          <p:cNvSpPr/>
          <p:nvPr/>
        </p:nvSpPr>
        <p:spPr>
          <a:xfrm>
            <a:off x="5278326" y="5871553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303;g3d6896b4338_0_0">
            <a:extLst>
              <a:ext uri="{FF2B5EF4-FFF2-40B4-BE49-F238E27FC236}">
                <a16:creationId xmlns:a16="http://schemas.microsoft.com/office/drawing/2014/main" id="{230304A3-612F-A945-BD69-FD47083E917B}"/>
              </a:ext>
            </a:extLst>
          </p:cNvPr>
          <p:cNvSpPr/>
          <p:nvPr/>
        </p:nvSpPr>
        <p:spPr>
          <a:xfrm>
            <a:off x="7018309" y="6023382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303;g3d6896b4338_0_0">
            <a:extLst>
              <a:ext uri="{FF2B5EF4-FFF2-40B4-BE49-F238E27FC236}">
                <a16:creationId xmlns:a16="http://schemas.microsoft.com/office/drawing/2014/main" id="{F3EC468C-D7EE-1D45-9B68-EA55CFA04C87}"/>
              </a:ext>
            </a:extLst>
          </p:cNvPr>
          <p:cNvSpPr/>
          <p:nvPr/>
        </p:nvSpPr>
        <p:spPr>
          <a:xfrm>
            <a:off x="4450764" y="506890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303;g3d6896b4338_0_0">
            <a:extLst>
              <a:ext uri="{FF2B5EF4-FFF2-40B4-BE49-F238E27FC236}">
                <a16:creationId xmlns:a16="http://schemas.microsoft.com/office/drawing/2014/main" id="{61955CE4-F75D-E34E-908F-60866356A411}"/>
              </a:ext>
            </a:extLst>
          </p:cNvPr>
          <p:cNvSpPr/>
          <p:nvPr/>
        </p:nvSpPr>
        <p:spPr>
          <a:xfrm>
            <a:off x="8273093" y="620155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303;g3d6896b4338_0_0">
            <a:extLst>
              <a:ext uri="{FF2B5EF4-FFF2-40B4-BE49-F238E27FC236}">
                <a16:creationId xmlns:a16="http://schemas.microsoft.com/office/drawing/2014/main" id="{EBCDB835-6695-184A-837B-D7B32519A0B2}"/>
              </a:ext>
            </a:extLst>
          </p:cNvPr>
          <p:cNvSpPr/>
          <p:nvPr/>
        </p:nvSpPr>
        <p:spPr>
          <a:xfrm>
            <a:off x="9569782" y="620155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303;g3d6896b4338_0_0">
            <a:extLst>
              <a:ext uri="{FF2B5EF4-FFF2-40B4-BE49-F238E27FC236}">
                <a16:creationId xmlns:a16="http://schemas.microsoft.com/office/drawing/2014/main" id="{5CFEF06E-BBE9-734F-B755-6A6F10C1CD85}"/>
              </a:ext>
            </a:extLst>
          </p:cNvPr>
          <p:cNvSpPr/>
          <p:nvPr/>
        </p:nvSpPr>
        <p:spPr>
          <a:xfrm>
            <a:off x="10685390" y="317778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303;g3d6896b4338_0_0">
            <a:extLst>
              <a:ext uri="{FF2B5EF4-FFF2-40B4-BE49-F238E27FC236}">
                <a16:creationId xmlns:a16="http://schemas.microsoft.com/office/drawing/2014/main" id="{207AAD77-7BC5-C94E-8094-CD1B6C9706DA}"/>
              </a:ext>
            </a:extLst>
          </p:cNvPr>
          <p:cNvSpPr/>
          <p:nvPr/>
        </p:nvSpPr>
        <p:spPr>
          <a:xfrm>
            <a:off x="10598170" y="40023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303;g3d6896b4338_0_0">
            <a:extLst>
              <a:ext uri="{FF2B5EF4-FFF2-40B4-BE49-F238E27FC236}">
                <a16:creationId xmlns:a16="http://schemas.microsoft.com/office/drawing/2014/main" id="{363AC3B4-8827-DB4B-B052-52AA540DDA6A}"/>
              </a:ext>
            </a:extLst>
          </p:cNvPr>
          <p:cNvSpPr/>
          <p:nvPr/>
        </p:nvSpPr>
        <p:spPr>
          <a:xfrm>
            <a:off x="10598170" y="480673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303;g3d6896b4338_0_0">
            <a:extLst>
              <a:ext uri="{FF2B5EF4-FFF2-40B4-BE49-F238E27FC236}">
                <a16:creationId xmlns:a16="http://schemas.microsoft.com/office/drawing/2014/main" id="{A1672C9C-110F-DF43-B131-7D6A38A1F890}"/>
              </a:ext>
            </a:extLst>
          </p:cNvPr>
          <p:cNvSpPr/>
          <p:nvPr/>
        </p:nvSpPr>
        <p:spPr>
          <a:xfrm>
            <a:off x="10598170" y="57600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E4FEF873-287F-5849-AF3C-6958631E454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49568" y="1950948"/>
            <a:ext cx="255735" cy="255735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CB40D2DE-C9B2-AB4C-B963-042D79AD91F2}"/>
              </a:ext>
            </a:extLst>
          </p:cNvPr>
          <p:cNvSpPr txBox="1"/>
          <p:nvPr/>
        </p:nvSpPr>
        <p:spPr>
          <a:xfrm>
            <a:off x="2548690" y="24183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 xml:space="preserve"> </a:t>
            </a:r>
            <a:r>
              <a:rPr lang="en-US" sz="900"/>
              <a:t xml:space="preserve"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 xml:space="preserve"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sp>
        <p:nvSpPr>
          <p:cNvPr id="143" name="Google Shape;303;g3d6896b4338_0_0">
            <a:extLst>
              <a:ext uri="{FF2B5EF4-FFF2-40B4-BE49-F238E27FC236}">
                <a16:creationId xmlns:a16="http://schemas.microsoft.com/office/drawing/2014/main" id="{7D7EB7B6-72F7-064B-A1EF-15D7FD51CB4B}"/>
              </a:ext>
            </a:extLst>
          </p:cNvPr>
          <p:cNvSpPr/>
          <p:nvPr/>
        </p:nvSpPr>
        <p:spPr>
          <a:xfrm>
            <a:off x="6612609" y="381403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303;g3d6896b4338_0_0">
            <a:extLst>
              <a:ext uri="{FF2B5EF4-FFF2-40B4-BE49-F238E27FC236}">
                <a16:creationId xmlns:a16="http://schemas.microsoft.com/office/drawing/2014/main" id="{44DA33A1-FD82-E141-AB88-F99BBA73868E}"/>
              </a:ext>
            </a:extLst>
          </p:cNvPr>
          <p:cNvSpPr/>
          <p:nvPr/>
        </p:nvSpPr>
        <p:spPr>
          <a:xfrm>
            <a:off x="3934370" y="272171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8A73875-BF0C-474B-B29C-0B7475078D7C}"/>
              </a:ext>
            </a:extLst>
          </p:cNvPr>
          <p:cNvSpPr txBox="1"/>
          <p:nvPr/>
        </p:nvSpPr>
        <p:spPr>
          <a:xfrm>
            <a:off x="4221880" y="2681579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은행 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 xml:space="preserve"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147" name="Google Shape;371;g3d6e2211149_2_228">
            <a:extLst>
              <a:ext uri="{FF2B5EF4-FFF2-40B4-BE49-F238E27FC236}">
                <a16:creationId xmlns:a16="http://schemas.microsoft.com/office/drawing/2014/main" id="{0853EFAA-4AA5-E141-8265-1B0BCE3445F0}"/>
              </a:ext>
            </a:extLst>
          </p:cNvPr>
          <p:cNvSpPr txBox="1"/>
          <p:nvPr/>
        </p:nvSpPr>
        <p:spPr>
          <a:xfrm>
            <a:off x="6344469" y="638226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  <p:sp>
        <p:nvSpPr>
          <p:cNvPr id="148" name="Google Shape;238;g3d6e2211149_2_228">
            <a:extLst>
              <a:ext uri="{FF2B5EF4-FFF2-40B4-BE49-F238E27FC236}">
                <a16:creationId xmlns:a16="http://schemas.microsoft.com/office/drawing/2014/main" id="{BB59A908-CD73-1E45-9F43-C1D8C35AD6D1}"/>
              </a:ext>
            </a:extLst>
          </p:cNvPr>
          <p:cNvSpPr/>
          <p:nvPr/>
        </p:nvSpPr>
        <p:spPr>
          <a:xfrm>
            <a:off x="652510" y="4568619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(Local VM)</a:t>
            </a:r>
            <a:endParaRPr/>
          </a:p>
        </p:txBody>
      </p:sp>
      <p:sp>
        <p:nvSpPr>
          <p:cNvPr id="149" name="Google Shape;300;g3d6e2211149_2_228">
            <a:extLst>
              <a:ext uri="{FF2B5EF4-FFF2-40B4-BE49-F238E27FC236}">
                <a16:creationId xmlns:a16="http://schemas.microsoft.com/office/drawing/2014/main" id="{947D5457-66E7-6943-BDB1-6672139D719B}"/>
              </a:ext>
            </a:extLst>
          </p:cNvPr>
          <p:cNvSpPr txBox="1"/>
          <p:nvPr/>
        </p:nvSpPr>
        <p:spPr>
          <a:xfrm>
            <a:off x="2132541" y="5519342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151" name="Google Shape;302;g3d6e2211149_2_228">
            <a:extLst>
              <a:ext uri="{FF2B5EF4-FFF2-40B4-BE49-F238E27FC236}">
                <a16:creationId xmlns:a16="http://schemas.microsoft.com/office/drawing/2014/main" id="{12657028-3820-7548-B1E0-7E855897A6DF}"/>
              </a:ext>
            </a:extLst>
          </p:cNvPr>
          <p:cNvSpPr txBox="1"/>
          <p:nvPr/>
        </p:nvSpPr>
        <p:spPr>
          <a:xfrm>
            <a:off x="1375541" y="5513158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153" name="Google Shape;302;g3d6e2211149_2_228">
            <a:extLst>
              <a:ext uri="{FF2B5EF4-FFF2-40B4-BE49-F238E27FC236}">
                <a16:creationId xmlns:a16="http://schemas.microsoft.com/office/drawing/2014/main" id="{5C1C9E1F-C142-D045-B313-18ED19436CC9}"/>
              </a:ext>
            </a:extLst>
          </p:cNvPr>
          <p:cNvSpPr txBox="1"/>
          <p:nvPr/>
        </p:nvSpPr>
        <p:spPr>
          <a:xfrm>
            <a:off x="571226" y="5508210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155" name="Picture 2" descr="VirtualBox macOS BigSur - free Icon PNG, SVG">
            <a:extLst>
              <a:ext uri="{FF2B5EF4-FFF2-40B4-BE49-F238E27FC236}">
                <a16:creationId xmlns:a16="http://schemas.microsoft.com/office/drawing/2014/main" id="{B0A1D875-A53A-6645-A0F5-4938AC825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26" y="4969126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Picture 2" descr="VirtualBox macOS BigSur - free Icon PNG, SVG">
            <a:extLst>
              <a:ext uri="{FF2B5EF4-FFF2-40B4-BE49-F238E27FC236}">
                <a16:creationId xmlns:a16="http://schemas.microsoft.com/office/drawing/2014/main" id="{9F895DEB-B4F8-9443-8FD7-2A743E55D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869" y="4961011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Picture 2" descr="VirtualBox macOS BigSur - free Icon PNG, SVG">
            <a:extLst>
              <a:ext uri="{FF2B5EF4-FFF2-40B4-BE49-F238E27FC236}">
                <a16:creationId xmlns:a16="http://schemas.microsoft.com/office/drawing/2014/main" id="{E3BDA8F3-9D23-DF44-945A-0161A7D1A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491" y="4956031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5C8DE7FF-27BC-7E47-A26E-524AA43D70F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2603" y="4596214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5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50;g3d6e2211149_2_228">
            <a:extLst>
              <a:ext uri="{FF2B5EF4-FFF2-40B4-BE49-F238E27FC236}">
                <a16:creationId xmlns:a16="http://schemas.microsoft.com/office/drawing/2014/main" id="{62B664EE-5825-2D47-8192-D6AE14F1FC88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 xml:space="preserve">On-prem </a:t>
            </a:r>
            <a:r>
              <a:rPr lang="ko-KR" altLang="en-US" sz="1200" b="1">
                <a:solidFill>
                  <a:schemeClr val="dk1"/>
                </a:solidFill>
              </a:rPr>
              <a:t xml:space="preserve">데이터 </a:t>
            </a:r>
            <a:r>
              <a:rPr lang="en-US" altLang="ko-KR" sz="1200" b="1">
                <a:solidFill>
                  <a:schemeClr val="dk1"/>
                </a:solidFill>
              </a:rPr>
              <a:t>(MySQL)</a:t>
            </a:r>
            <a:endParaRPr sz="12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F0BC36-4959-1647-BED2-D838D78BB584}"/>
              </a:ext>
            </a:extLst>
          </p:cNvPr>
          <p:cNvSpPr txBox="1"/>
          <p:nvPr/>
        </p:nvSpPr>
        <p:spPr>
          <a:xfrm>
            <a:off x="282911" y="1546209"/>
            <a:ext cx="3549502" cy="2769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 xml:space="preserve">users = </a:t>
            </a:r>
            <a:r>
              <a:rPr lang="ko-KR" altLang="en-US" sz="1200"/>
              <a:t>플랫폼 회원 계정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47DC0A-187E-7541-B49B-638290E40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666083"/>
              </p:ext>
            </p:extLst>
          </p:nvPr>
        </p:nvGraphicFramePr>
        <p:xfrm>
          <a:off x="282910" y="1989433"/>
          <a:ext cx="3549502" cy="271272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1377618124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15199641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5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user_id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906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/>
                        <a:t>ls_user_id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플랫폼 회원번호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336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대표 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110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login_email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로그인 이메일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888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password_hash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암호화 비밀번호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0211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mobile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휴대폰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636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user_status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 / LOCK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046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consent_completed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동의 완료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14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created_dt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14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last_login_dt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최근 로그인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974630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B403E55-8F8D-CC48-9DD9-800824961E1D}"/>
              </a:ext>
            </a:extLst>
          </p:cNvPr>
          <p:cNvSpPr txBox="1"/>
          <p:nvPr/>
        </p:nvSpPr>
        <p:spPr>
          <a:xfrm>
            <a:off x="4305225" y="1546209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/>
              <a:t>master_customer</a:t>
            </a:r>
            <a:r>
              <a:rPr lang="en-US" sz="1200" dirty="0"/>
              <a:t xml:space="preserve"> = </a:t>
            </a:r>
            <a:r>
              <a:rPr lang="ko-KR" altLang="en-US" sz="1200" dirty="0"/>
              <a:t>그룹 대표 고객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C5CB5EE-CE31-BF42-B8A2-A10DD074F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854382"/>
              </p:ext>
            </p:extLst>
          </p:nvPr>
        </p:nvGraphicFramePr>
        <p:xfrm>
          <a:off x="4305223" y="1989433"/>
          <a:ext cx="3549502" cy="173736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671984682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33124133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783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165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customer_status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23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/ NORMAL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6835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customer_type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개인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428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first_created_dt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최초 생성일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6180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last_updated_dt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수정일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027577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74704849-EEB4-D045-921F-9B309A7B5E06}"/>
              </a:ext>
            </a:extLst>
          </p:cNvPr>
          <p:cNvSpPr txBox="1"/>
          <p:nvPr/>
        </p:nvSpPr>
        <p:spPr>
          <a:xfrm>
            <a:off x="4305223" y="4147833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/>
              <a:t>customer_identity_map</a:t>
            </a:r>
            <a:r>
              <a:rPr lang="en-US" sz="1200" dirty="0"/>
              <a:t xml:space="preserve"> = </a:t>
            </a:r>
            <a:r>
              <a:rPr lang="ko-KR" altLang="en-US" sz="1200" dirty="0"/>
              <a:t>계열사 고객번호 연결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0E8367E-E643-5E40-BF56-4C48FC9B9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717818"/>
              </p:ext>
            </p:extLst>
          </p:nvPr>
        </p:nvGraphicFramePr>
        <p:xfrm>
          <a:off x="4305223" y="4581130"/>
          <a:ext cx="3549502" cy="173736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236167791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3878539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236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51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대표 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26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domain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 xml:space="preserve">BANK/CARD </a:t>
                      </a:r>
                      <a:r>
                        <a:rPr lang="ko-KR" altLang="en-US" sz="1000"/>
                        <a:t>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880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source_customer_id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고객번호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399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match_type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EXACT/FUZZY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392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Y/N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645983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BED5A5B8-3BCE-CE46-B35A-A6936AA493E0}"/>
              </a:ext>
            </a:extLst>
          </p:cNvPr>
          <p:cNvSpPr txBox="1"/>
          <p:nvPr/>
        </p:nvSpPr>
        <p:spPr>
          <a:xfrm>
            <a:off x="8359587" y="1546209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/>
              <a:t>customer_pii_secure</a:t>
            </a:r>
            <a:r>
              <a:rPr lang="en-US" sz="1200" dirty="0"/>
              <a:t xml:space="preserve"> = </a:t>
            </a:r>
            <a:r>
              <a:rPr lang="ko-KR" altLang="en-US" sz="1200" dirty="0"/>
              <a:t>개인정보 원본 보안 저장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4C52181-130D-7349-BE40-5B6B2AEEB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644291"/>
              </p:ext>
            </p:extLst>
          </p:nvPr>
        </p:nvGraphicFramePr>
        <p:xfrm>
          <a:off x="8327535" y="1989433"/>
          <a:ext cx="3581554" cy="1981200"/>
        </p:xfrm>
        <a:graphic>
          <a:graphicData uri="http://schemas.openxmlformats.org/drawingml/2006/table">
            <a:tbl>
              <a:tblPr/>
              <a:tblGrid>
                <a:gridCol w="1790777">
                  <a:extLst>
                    <a:ext uri="{9D8B030D-6E8A-4147-A177-3AD203B41FA5}">
                      <a16:colId xmlns:a16="http://schemas.microsoft.com/office/drawing/2014/main" val="1569042477"/>
                    </a:ext>
                  </a:extLst>
                </a:gridCol>
                <a:gridCol w="1790777">
                  <a:extLst>
                    <a:ext uri="{9D8B030D-6E8A-4147-A177-3AD203B41FA5}">
                      <a16:colId xmlns:a16="http://schemas.microsoft.com/office/drawing/2014/main" val="32746253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537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pii_token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674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대표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757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customer_name_enc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이름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469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rrn_enc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주민번호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8949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mobile_enc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휴대폰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272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email_enc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이메일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220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address_enc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주소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8910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47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50;g3d6e2211149_2_228">
            <a:extLst>
              <a:ext uri="{FF2B5EF4-FFF2-40B4-BE49-F238E27FC236}">
                <a16:creationId xmlns:a16="http://schemas.microsoft.com/office/drawing/2014/main" id="{62B664EE-5825-2D47-8192-D6AE14F1FC88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 xml:space="preserve">On-prem </a:t>
            </a:r>
            <a:r>
              <a:rPr lang="ko-KR" altLang="en-US" sz="1200" b="1">
                <a:solidFill>
                  <a:schemeClr val="dk1"/>
                </a:solidFill>
              </a:rPr>
              <a:t xml:space="preserve">데이터 </a:t>
            </a:r>
            <a:r>
              <a:rPr lang="en-US" altLang="ko-KR" sz="1200" b="1">
                <a:solidFill>
                  <a:schemeClr val="dk1"/>
                </a:solidFill>
              </a:rPr>
              <a:t>(MySQL)</a:t>
            </a:r>
            <a:endParaRPr sz="12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F0BC36-4959-1647-BED2-D838D78BB584}"/>
              </a:ext>
            </a:extLst>
          </p:cNvPr>
          <p:cNvSpPr txBox="1"/>
          <p:nvPr/>
        </p:nvSpPr>
        <p:spPr>
          <a:xfrm>
            <a:off x="282911" y="1546209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 xml:space="preserve">matching_audit_log = </a:t>
            </a:r>
            <a:r>
              <a:rPr lang="ko-KR" altLang="en-US" sz="1200"/>
              <a:t>가입</a:t>
            </a:r>
            <a:r>
              <a:rPr lang="en-US" altLang="ko-KR" sz="1200"/>
              <a:t>/</a:t>
            </a:r>
            <a:r>
              <a:rPr lang="ko-KR" altLang="en-US" sz="1200"/>
              <a:t>매칭 이력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403E55-8F8D-CC48-9DD9-800824961E1D}"/>
              </a:ext>
            </a:extLst>
          </p:cNvPr>
          <p:cNvSpPr txBox="1"/>
          <p:nvPr/>
        </p:nvSpPr>
        <p:spPr>
          <a:xfrm>
            <a:off x="4305225" y="1546209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/>
              <a:t xml:space="preserve">customer_360_profile = </a:t>
            </a:r>
            <a:r>
              <a:rPr lang="ko-KR" altLang="en-US" sz="1200" dirty="0"/>
              <a:t>분석</a:t>
            </a:r>
            <a:r>
              <a:rPr lang="en-US" altLang="ko-KR" sz="1200" dirty="0"/>
              <a:t>/</a:t>
            </a:r>
            <a:r>
              <a:rPr lang="ko-KR" altLang="en-US" sz="1200" dirty="0"/>
              <a:t>추천 프로필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D5A5B8-3BCE-CE46-B35A-A6936AA493E0}"/>
              </a:ext>
            </a:extLst>
          </p:cNvPr>
          <p:cNvSpPr txBox="1"/>
          <p:nvPr/>
        </p:nvSpPr>
        <p:spPr>
          <a:xfrm>
            <a:off x="8359587" y="1546209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 xml:space="preserve">consent = </a:t>
            </a:r>
            <a:r>
              <a:rPr lang="ko-KR" altLang="en-US" sz="1200"/>
              <a:t>데이터 활용 동의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0604BC-233C-8C41-996F-B34BB7E41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334537"/>
              </p:ext>
            </p:extLst>
          </p:nvPr>
        </p:nvGraphicFramePr>
        <p:xfrm>
          <a:off x="274468" y="2078023"/>
          <a:ext cx="3549502" cy="222504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1487306200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16282477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12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audit_id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875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request_id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요청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580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ls_user_id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회원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0480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matched_global_id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연결된 </a:t>
                      </a:r>
                      <a:r>
                        <a:rPr lang="en-US" sz="1000"/>
                        <a:t>GID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9566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match_rule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사용 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83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match_score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77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MATCH / NEW_CREATE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5534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request_dt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7467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6F5138-270F-CE48-953F-8BE8992E1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412817"/>
              </p:ext>
            </p:extLst>
          </p:nvPr>
        </p:nvGraphicFramePr>
        <p:xfrm>
          <a:off x="4305008" y="2078233"/>
          <a:ext cx="3549502" cy="295656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1725196534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30179856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223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140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2246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age_band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30s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146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SEOUL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7940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income_grade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196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asset_grade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3871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wearable_flag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6927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risk_score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위험점수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08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4887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finance_score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금융점수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694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lifesync_score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종합점수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추가권장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28736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CF69B4A-77FA-C940-92EE-7525E3D10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956509"/>
              </p:ext>
            </p:extLst>
          </p:nvPr>
        </p:nvGraphicFramePr>
        <p:xfrm>
          <a:off x="8335547" y="2078023"/>
          <a:ext cx="3549502" cy="198120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1504303136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35984960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316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9610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64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domain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617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consent_flag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Y/N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841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consent_version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2481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consent_dt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동의일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118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revoke_dt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철회일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751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62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 – On-prem ERD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50;g3d6e2211149_2_228">
            <a:extLst>
              <a:ext uri="{FF2B5EF4-FFF2-40B4-BE49-F238E27FC236}">
                <a16:creationId xmlns:a16="http://schemas.microsoft.com/office/drawing/2014/main" id="{62B664EE-5825-2D47-8192-D6AE14F1FC88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 xml:space="preserve">On-prem </a:t>
            </a:r>
            <a:r>
              <a:rPr lang="ko-KR" altLang="en-US" sz="1200" b="1">
                <a:solidFill>
                  <a:schemeClr val="dk1"/>
                </a:solidFill>
              </a:rPr>
              <a:t xml:space="preserve">데이터 </a:t>
            </a:r>
            <a:r>
              <a:rPr lang="en-US" altLang="ko-KR" sz="1200" b="1">
                <a:solidFill>
                  <a:schemeClr val="dk1"/>
                </a:solidFill>
              </a:rPr>
              <a:t>(MySQL)</a:t>
            </a:r>
            <a:endParaRPr sz="12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0A2B09-6FCE-D942-9B23-54F4E1FB6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452282"/>
            <a:ext cx="9753600" cy="522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5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7A249-2E2B-0C46-89DC-D7E1AB8BABF5}"/>
              </a:ext>
            </a:extLst>
          </p:cNvPr>
          <p:cNvSpPr txBox="1"/>
          <p:nvPr/>
        </p:nvSpPr>
        <p:spPr>
          <a:xfrm>
            <a:off x="417381" y="1340641"/>
            <a:ext cx="3296492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company_master = 그룹사 정보 관리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4" name="Google Shape;350;g3d6e2211149_2_228">
            <a:extLst>
              <a:ext uri="{FF2B5EF4-FFF2-40B4-BE49-F238E27FC236}">
                <a16:creationId xmlns:a16="http://schemas.microsoft.com/office/drawing/2014/main" id="{62B664EE-5825-2D47-8192-D6AE14F1FC88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 xml:space="preserve">Service DB </a:t>
            </a:r>
            <a:r>
              <a:rPr lang="ko-KR" altLang="en-US" sz="1200" b="1">
                <a:solidFill>
                  <a:schemeClr val="dk1"/>
                </a:solidFill>
              </a:rPr>
              <a:t xml:space="preserve">데이터 </a:t>
            </a:r>
            <a:r>
              <a:rPr lang="en-US" altLang="ko-KR" sz="1200" b="1">
                <a:solidFill>
                  <a:schemeClr val="dk1"/>
                </a:solidFill>
              </a:rPr>
              <a:t>(Aurora)</a:t>
            </a:r>
            <a:endParaRPr sz="12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56D700-BBEE-934E-B516-6963B43B8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293263"/>
              </p:ext>
            </p:extLst>
          </p:nvPr>
        </p:nvGraphicFramePr>
        <p:xfrm>
          <a:off x="417380" y="3743658"/>
          <a:ext cx="3296492" cy="1493520"/>
        </p:xfrm>
        <a:graphic>
          <a:graphicData uri="http://schemas.openxmlformats.org/drawingml/2006/table">
            <a:tbl>
              <a:tblPr/>
              <a:tblGrid>
                <a:gridCol w="1648246">
                  <a:extLst>
                    <a:ext uri="{9D8B030D-6E8A-4147-A177-3AD203B41FA5}">
                      <a16:colId xmlns:a16="http://schemas.microsoft.com/office/drawing/2014/main" val="1264967315"/>
                    </a:ext>
                  </a:extLst>
                </a:gridCol>
                <a:gridCol w="1648246">
                  <a:extLst>
                    <a:ext uri="{9D8B030D-6E8A-4147-A177-3AD203B41FA5}">
                      <a16:colId xmlns:a16="http://schemas.microsoft.com/office/drawing/2014/main" val="10308703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회사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206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BANK01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은행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598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1718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SEC01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증권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1040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INS01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0067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HLT01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헬스케어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014912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C3B9BFF-DF69-AB4C-8F49-2B7D6C7D5944}"/>
              </a:ext>
            </a:extLst>
          </p:cNvPr>
          <p:cNvSpPr txBox="1"/>
          <p:nvPr/>
        </p:nvSpPr>
        <p:spPr>
          <a:xfrm>
            <a:off x="4084549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category_master = 상품 종류 분류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3D97D47-299C-464D-956A-B549D494F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697361"/>
              </p:ext>
            </p:extLst>
          </p:nvPr>
        </p:nvGraphicFramePr>
        <p:xfrm>
          <a:off x="417380" y="1806734"/>
          <a:ext cx="3296492" cy="1493520"/>
        </p:xfrm>
        <a:graphic>
          <a:graphicData uri="http://schemas.openxmlformats.org/drawingml/2006/table">
            <a:tbl>
              <a:tblPr/>
              <a:tblGrid>
                <a:gridCol w="1648246">
                  <a:extLst>
                    <a:ext uri="{9D8B030D-6E8A-4147-A177-3AD203B41FA5}">
                      <a16:colId xmlns:a16="http://schemas.microsoft.com/office/drawing/2014/main" val="3288964497"/>
                    </a:ext>
                  </a:extLst>
                </a:gridCol>
                <a:gridCol w="1648246">
                  <a:extLst>
                    <a:ext uri="{9D8B030D-6E8A-4147-A177-3AD203B41FA5}">
                      <a16:colId xmlns:a16="http://schemas.microsoft.com/office/drawing/2014/main" val="3030565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83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company_id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777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company_code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회사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8824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company_name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회사명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3188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company_type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 xml:space="preserve">BANK/CARD </a:t>
                      </a:r>
                      <a:r>
                        <a:rPr lang="ko-KR" altLang="en-US" sz="1000"/>
                        <a:t>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1429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사용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055041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17C2AE-B3E8-E046-A6B6-ED24F5829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535021"/>
              </p:ext>
            </p:extLst>
          </p:nvPr>
        </p:nvGraphicFramePr>
        <p:xfrm>
          <a:off x="4084550" y="3743658"/>
          <a:ext cx="3535452" cy="1493520"/>
        </p:xfrm>
        <a:graphic>
          <a:graphicData uri="http://schemas.openxmlformats.org/drawingml/2006/table">
            <a:tbl>
              <a:tblPr/>
              <a:tblGrid>
                <a:gridCol w="1178484">
                  <a:extLst>
                    <a:ext uri="{9D8B030D-6E8A-4147-A177-3AD203B41FA5}">
                      <a16:colId xmlns:a16="http://schemas.microsoft.com/office/drawing/2014/main" val="505081585"/>
                    </a:ext>
                  </a:extLst>
                </a:gridCol>
                <a:gridCol w="1178484">
                  <a:extLst>
                    <a:ext uri="{9D8B030D-6E8A-4147-A177-3AD203B41FA5}">
                      <a16:colId xmlns:a16="http://schemas.microsoft.com/office/drawing/2014/main" val="3306209810"/>
                    </a:ext>
                  </a:extLst>
                </a:gridCol>
                <a:gridCol w="1178484">
                  <a:extLst>
                    <a:ext uri="{9D8B030D-6E8A-4147-A177-3AD203B41FA5}">
                      <a16:colId xmlns:a16="http://schemas.microsoft.com/office/drawing/2014/main" val="2571105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173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2638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3930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9047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4478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84989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2455764-BE62-B84D-80AC-98D854411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852374"/>
              </p:ext>
            </p:extLst>
          </p:nvPr>
        </p:nvGraphicFramePr>
        <p:xfrm>
          <a:off x="4084550" y="1829215"/>
          <a:ext cx="3535452" cy="1493520"/>
        </p:xfrm>
        <a:graphic>
          <a:graphicData uri="http://schemas.openxmlformats.org/drawingml/2006/table">
            <a:tbl>
              <a:tblPr/>
              <a:tblGrid>
                <a:gridCol w="1767726">
                  <a:extLst>
                    <a:ext uri="{9D8B030D-6E8A-4147-A177-3AD203B41FA5}">
                      <a16:colId xmlns:a16="http://schemas.microsoft.com/office/drawing/2014/main" val="1351779516"/>
                    </a:ext>
                  </a:extLst>
                </a:gridCol>
                <a:gridCol w="1767726">
                  <a:extLst>
                    <a:ext uri="{9D8B030D-6E8A-4147-A177-3AD203B41FA5}">
                      <a16:colId xmlns:a16="http://schemas.microsoft.com/office/drawing/2014/main" val="3038592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421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category_id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카테고리 고유번호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PK)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604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category_code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시스템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053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category_name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카테고리명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14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사용 여부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Y/N)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744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created_at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생성일시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44642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A1B87C7-CF08-F44B-9E63-801D01AD0EFD}"/>
              </a:ext>
            </a:extLst>
          </p:cNvPr>
          <p:cNvSpPr txBox="1"/>
          <p:nvPr/>
        </p:nvSpPr>
        <p:spPr>
          <a:xfrm>
            <a:off x="7953165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product_master = 상품</a:t>
            </a:r>
            <a:r>
              <a:rPr lang="en-US" altLang="ko-KR" sz="1200"/>
              <a:t>/</a:t>
            </a:r>
            <a:r>
              <a:rPr lang="ko-KR" altLang="en-US" sz="1200"/>
              <a:t>서비스 목록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E982EBB-2DCE-004B-9050-D2D9380A6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441500"/>
              </p:ext>
            </p:extLst>
          </p:nvPr>
        </p:nvGraphicFramePr>
        <p:xfrm>
          <a:off x="7953164" y="1829215"/>
          <a:ext cx="3535450" cy="3200400"/>
        </p:xfrm>
        <a:graphic>
          <a:graphicData uri="http://schemas.openxmlformats.org/drawingml/2006/table">
            <a:tbl>
              <a:tblPr/>
              <a:tblGrid>
                <a:gridCol w="1767725">
                  <a:extLst>
                    <a:ext uri="{9D8B030D-6E8A-4147-A177-3AD203B41FA5}">
                      <a16:colId xmlns:a16="http://schemas.microsoft.com/office/drawing/2014/main" val="3161958011"/>
                    </a:ext>
                  </a:extLst>
                </a:gridCol>
                <a:gridCol w="1767725">
                  <a:extLst>
                    <a:ext uri="{9D8B030D-6E8A-4147-A177-3AD203B41FA5}">
                      <a16:colId xmlns:a16="http://schemas.microsoft.com/office/drawing/2014/main" val="12952241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723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8459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company_id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어느 그룹사 상품인지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3716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category_id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345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product_code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728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product_name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306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253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 xml:space="preserve">VIP/GOLD </a:t>
                      </a:r>
                      <a:r>
                        <a:rPr lang="ko-KR" altLang="en-US" sz="1000"/>
                        <a:t>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685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min_score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최소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870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max_score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232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risk_level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LOW/MID/HIGH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447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priority_rank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우선순위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4027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사용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95489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60C1299-108B-0E46-9448-B553E08CE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216597"/>
              </p:ext>
            </p:extLst>
          </p:nvPr>
        </p:nvGraphicFramePr>
        <p:xfrm>
          <a:off x="7953163" y="5230837"/>
          <a:ext cx="4074714" cy="1493520"/>
        </p:xfrm>
        <a:graphic>
          <a:graphicData uri="http://schemas.openxmlformats.org/drawingml/2006/table">
            <a:tbl>
              <a:tblPr/>
              <a:tblGrid>
                <a:gridCol w="1939945">
                  <a:extLst>
                    <a:ext uri="{9D8B030D-6E8A-4147-A177-3AD203B41FA5}">
                      <a16:colId xmlns:a16="http://schemas.microsoft.com/office/drawing/2014/main" val="2355464119"/>
                    </a:ext>
                  </a:extLst>
                </a:gridCol>
                <a:gridCol w="643594">
                  <a:extLst>
                    <a:ext uri="{9D8B030D-6E8A-4147-A177-3AD203B41FA5}">
                      <a16:colId xmlns:a16="http://schemas.microsoft.com/office/drawing/2014/main" val="1261817786"/>
                    </a:ext>
                  </a:extLst>
                </a:gridCol>
                <a:gridCol w="604910">
                  <a:extLst>
                    <a:ext uri="{9D8B030D-6E8A-4147-A177-3AD203B41FA5}">
                      <a16:colId xmlns:a16="http://schemas.microsoft.com/office/drawing/2014/main" val="2169332726"/>
                    </a:ext>
                  </a:extLst>
                </a:gridCol>
                <a:gridCol w="886265">
                  <a:extLst>
                    <a:ext uri="{9D8B030D-6E8A-4147-A177-3AD203B41FA5}">
                      <a16:colId xmlns:a16="http://schemas.microsoft.com/office/drawing/2014/main" val="3331974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product_name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553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PB </a:t>
                      </a:r>
                      <a:r>
                        <a:rPr lang="ko-KR" altLang="en-US" sz="1000"/>
                        <a:t>프리미엄 정기예금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은행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037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Black Signature 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448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 xml:space="preserve">글로벌 </a:t>
                      </a:r>
                      <a:r>
                        <a:rPr lang="en-US" sz="1000"/>
                        <a:t xml:space="preserve">ETF </a:t>
                      </a:r>
                      <a:r>
                        <a:rPr lang="ko-KR" altLang="en-US" sz="1000"/>
                        <a:t>포트폴리오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증권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2948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프리미엄 건강보험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026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>건강검진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285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2694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7A249-2E2B-0C46-89DC-D7E1AB8BABF5}"/>
              </a:ext>
            </a:extLst>
          </p:cNvPr>
          <p:cNvSpPr txBox="1"/>
          <p:nvPr/>
        </p:nvSpPr>
        <p:spPr>
          <a:xfrm>
            <a:off x="417381" y="1340641"/>
            <a:ext cx="3296492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product_option = 상품 세부 옵션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3B9BFF-DF69-AB4C-8F49-2B7D6C7D5944}"/>
              </a:ext>
            </a:extLst>
          </p:cNvPr>
          <p:cNvSpPr txBox="1"/>
          <p:nvPr/>
        </p:nvSpPr>
        <p:spPr>
          <a:xfrm>
            <a:off x="4084549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recommend_rule = 추천 규칙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1B87C7-CF08-F44B-9E63-801D01AD0EFD}"/>
              </a:ext>
            </a:extLst>
          </p:cNvPr>
          <p:cNvSpPr txBox="1"/>
          <p:nvPr/>
        </p:nvSpPr>
        <p:spPr>
          <a:xfrm>
            <a:off x="7953165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cross_sell_rule = 교차판매 룰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1665BF7-CE18-AB48-BAC9-CF5C5E74F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23416"/>
              </p:ext>
            </p:extLst>
          </p:nvPr>
        </p:nvGraphicFramePr>
        <p:xfrm>
          <a:off x="417380" y="1776254"/>
          <a:ext cx="3296492" cy="1249680"/>
        </p:xfrm>
        <a:graphic>
          <a:graphicData uri="http://schemas.openxmlformats.org/drawingml/2006/table">
            <a:tbl>
              <a:tblPr/>
              <a:tblGrid>
                <a:gridCol w="1648246">
                  <a:extLst>
                    <a:ext uri="{9D8B030D-6E8A-4147-A177-3AD203B41FA5}">
                      <a16:colId xmlns:a16="http://schemas.microsoft.com/office/drawing/2014/main" val="713651296"/>
                    </a:ext>
                  </a:extLst>
                </a:gridCol>
                <a:gridCol w="1648246">
                  <a:extLst>
                    <a:ext uri="{9D8B030D-6E8A-4147-A177-3AD203B41FA5}">
                      <a16:colId xmlns:a16="http://schemas.microsoft.com/office/drawing/2014/main" val="41723564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101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option_id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017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95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option_name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188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option_value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95037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3214C1-ABF9-D642-A774-94BCD35B7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707067"/>
              </p:ext>
            </p:extLst>
          </p:nvPr>
        </p:nvGraphicFramePr>
        <p:xfrm>
          <a:off x="417380" y="3413553"/>
          <a:ext cx="3296493" cy="1005840"/>
        </p:xfrm>
        <a:graphic>
          <a:graphicData uri="http://schemas.openxmlformats.org/drawingml/2006/table">
            <a:tbl>
              <a:tblPr/>
              <a:tblGrid>
                <a:gridCol w="1098831">
                  <a:extLst>
                    <a:ext uri="{9D8B030D-6E8A-4147-A177-3AD203B41FA5}">
                      <a16:colId xmlns:a16="http://schemas.microsoft.com/office/drawing/2014/main" val="3900744987"/>
                    </a:ext>
                  </a:extLst>
                </a:gridCol>
                <a:gridCol w="1098831">
                  <a:extLst>
                    <a:ext uri="{9D8B030D-6E8A-4147-A177-3AD203B41FA5}">
                      <a16:colId xmlns:a16="http://schemas.microsoft.com/office/drawing/2014/main" val="4080160407"/>
                    </a:ext>
                  </a:extLst>
                </a:gridCol>
                <a:gridCol w="1098831">
                  <a:extLst>
                    <a:ext uri="{9D8B030D-6E8A-4147-A177-3AD203B41FA5}">
                      <a16:colId xmlns:a16="http://schemas.microsoft.com/office/drawing/2014/main" val="10715630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옵션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467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금리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6206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연회비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20</a:t>
                      </a:r>
                      <a:r>
                        <a:rPr lang="ko-KR" altLang="en-US" sz="1000"/>
                        <a:t>만원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2422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혜택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공항라운지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90904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A5240A9-657A-154C-968E-215D67BDF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576170"/>
              </p:ext>
            </p:extLst>
          </p:nvPr>
        </p:nvGraphicFramePr>
        <p:xfrm>
          <a:off x="4084549" y="1776254"/>
          <a:ext cx="3535452" cy="1493520"/>
        </p:xfrm>
        <a:graphic>
          <a:graphicData uri="http://schemas.openxmlformats.org/drawingml/2006/table">
            <a:tbl>
              <a:tblPr/>
              <a:tblGrid>
                <a:gridCol w="1767726">
                  <a:extLst>
                    <a:ext uri="{9D8B030D-6E8A-4147-A177-3AD203B41FA5}">
                      <a16:colId xmlns:a16="http://schemas.microsoft.com/office/drawing/2014/main" val="3577726005"/>
                    </a:ext>
                  </a:extLst>
                </a:gridCol>
                <a:gridCol w="1767726">
                  <a:extLst>
                    <a:ext uri="{9D8B030D-6E8A-4147-A177-3AD203B41FA5}">
                      <a16:colId xmlns:a16="http://schemas.microsoft.com/office/drawing/2014/main" val="17367578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912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대상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7273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137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min_score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최소점수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084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max_score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최대점수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210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category_code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77509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D9841E5-A479-6E4A-8196-034FD4F67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356634"/>
              </p:ext>
            </p:extLst>
          </p:nvPr>
        </p:nvGraphicFramePr>
        <p:xfrm>
          <a:off x="4084549" y="3437599"/>
          <a:ext cx="3535452" cy="1158240"/>
        </p:xfrm>
        <a:graphic>
          <a:graphicData uri="http://schemas.openxmlformats.org/drawingml/2006/table">
            <a:tbl>
              <a:tblPr/>
              <a:tblGrid>
                <a:gridCol w="1178484">
                  <a:extLst>
                    <a:ext uri="{9D8B030D-6E8A-4147-A177-3AD203B41FA5}">
                      <a16:colId xmlns:a16="http://schemas.microsoft.com/office/drawing/2014/main" val="4157658549"/>
                    </a:ext>
                  </a:extLst>
                </a:gridCol>
                <a:gridCol w="1178484">
                  <a:extLst>
                    <a:ext uri="{9D8B030D-6E8A-4147-A177-3AD203B41FA5}">
                      <a16:colId xmlns:a16="http://schemas.microsoft.com/office/drawing/2014/main" val="2232182260"/>
                    </a:ext>
                  </a:extLst>
                </a:gridCol>
                <a:gridCol w="1178484">
                  <a:extLst>
                    <a:ext uri="{9D8B030D-6E8A-4147-A177-3AD203B41FA5}">
                      <a16:colId xmlns:a16="http://schemas.microsoft.com/office/drawing/2014/main" val="741789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622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PB_CENTER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377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ETF_PRODUCT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529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HEALTH_CHECKUP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08856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B3308B5-CB78-DF46-8BFD-7FCD3C7E7E74}"/>
              </a:ext>
            </a:extLst>
          </p:cNvPr>
          <p:cNvSpPr txBox="1"/>
          <p:nvPr/>
        </p:nvSpPr>
        <p:spPr>
          <a:xfrm>
            <a:off x="7953165" y="1709096"/>
            <a:ext cx="35354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현재 관심 상품 기반으로 다른 그룹사 상품 추가 추천 규칙</a:t>
            </a:r>
            <a:endParaRPr lang="en-KR" sz="100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BCE33FC-D29D-824D-9A7F-190D6C496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499643"/>
              </p:ext>
            </p:extLst>
          </p:nvPr>
        </p:nvGraphicFramePr>
        <p:xfrm>
          <a:off x="7916857" y="2133393"/>
          <a:ext cx="3571758" cy="1737360"/>
        </p:xfrm>
        <a:graphic>
          <a:graphicData uri="http://schemas.openxmlformats.org/drawingml/2006/table">
            <a:tbl>
              <a:tblPr/>
              <a:tblGrid>
                <a:gridCol w="1785879">
                  <a:extLst>
                    <a:ext uri="{9D8B030D-6E8A-4147-A177-3AD203B41FA5}">
                      <a16:colId xmlns:a16="http://schemas.microsoft.com/office/drawing/2014/main" val="1600481577"/>
                    </a:ext>
                  </a:extLst>
                </a:gridCol>
                <a:gridCol w="1785879">
                  <a:extLst>
                    <a:ext uri="{9D8B030D-6E8A-4147-A177-3AD203B41FA5}">
                      <a16:colId xmlns:a16="http://schemas.microsoft.com/office/drawing/2014/main" val="990402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036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cross_id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631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base_category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현재 상품 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184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target_category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추가 추천 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3293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priority_rank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우선순위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9151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사용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061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created_at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생성일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42473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6EAA402-1E12-7943-A5A1-DE96A4C20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491263"/>
              </p:ext>
            </p:extLst>
          </p:nvPr>
        </p:nvGraphicFramePr>
        <p:xfrm>
          <a:off x="7916858" y="4048829"/>
          <a:ext cx="4068816" cy="1249680"/>
        </p:xfrm>
        <a:graphic>
          <a:graphicData uri="http://schemas.openxmlformats.org/drawingml/2006/table">
            <a:tbl>
              <a:tblPr/>
              <a:tblGrid>
                <a:gridCol w="1356272">
                  <a:extLst>
                    <a:ext uri="{9D8B030D-6E8A-4147-A177-3AD203B41FA5}">
                      <a16:colId xmlns:a16="http://schemas.microsoft.com/office/drawing/2014/main" val="1755991444"/>
                    </a:ext>
                  </a:extLst>
                </a:gridCol>
                <a:gridCol w="1356272">
                  <a:extLst>
                    <a:ext uri="{9D8B030D-6E8A-4147-A177-3AD203B41FA5}">
                      <a16:colId xmlns:a16="http://schemas.microsoft.com/office/drawing/2014/main" val="2417735444"/>
                    </a:ext>
                  </a:extLst>
                </a:gridCol>
                <a:gridCol w="1356272">
                  <a:extLst>
                    <a:ext uri="{9D8B030D-6E8A-4147-A177-3AD203B41FA5}">
                      <a16:colId xmlns:a16="http://schemas.microsoft.com/office/drawing/2014/main" val="25296219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base_category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target_category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priority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196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771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7610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RETIREMENT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5246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768120"/>
                  </a:ext>
                </a:extLst>
              </a:tr>
            </a:tbl>
          </a:graphicData>
        </a:graphic>
      </p:graphicFrame>
      <p:sp>
        <p:nvSpPr>
          <p:cNvPr id="21" name="Google Shape;350;g3d6e2211149_2_228">
            <a:extLst>
              <a:ext uri="{FF2B5EF4-FFF2-40B4-BE49-F238E27FC236}">
                <a16:creationId xmlns:a16="http://schemas.microsoft.com/office/drawing/2014/main" id="{4DEB5E81-45D6-DB4D-B1FA-5EB9402E720C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 xml:space="preserve">Service DB </a:t>
            </a:r>
            <a:r>
              <a:rPr lang="ko-KR" altLang="en-US" sz="1200" b="1">
                <a:solidFill>
                  <a:schemeClr val="dk1"/>
                </a:solidFill>
              </a:rPr>
              <a:t xml:space="preserve">데이터 </a:t>
            </a:r>
            <a:r>
              <a:rPr lang="en-US" altLang="ko-KR" sz="1200" b="1">
                <a:solidFill>
                  <a:schemeClr val="dk1"/>
                </a:solidFill>
              </a:rPr>
              <a:t>(Aurora)</a:t>
            </a:r>
            <a:endParaRPr sz="1200" b="1"/>
          </a:p>
        </p:txBody>
      </p:sp>
    </p:spTree>
    <p:extLst>
      <p:ext uri="{BB962C8B-B14F-4D97-AF65-F5344CB8AC3E}">
        <p14:creationId xmlns:p14="http://schemas.microsoft.com/office/powerpoint/2010/main" val="12640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7A249-2E2B-0C46-89DC-D7E1AB8BABF5}"/>
              </a:ext>
            </a:extLst>
          </p:cNvPr>
          <p:cNvSpPr txBox="1"/>
          <p:nvPr/>
        </p:nvSpPr>
        <p:spPr>
          <a:xfrm>
            <a:off x="417381" y="1340641"/>
            <a:ext cx="3296492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 xml:space="preserve">campaign_master = 이벤트성 상품 </a:t>
            </a:r>
            <a:r>
              <a:rPr lang="en-US" altLang="ko-KR" sz="1200"/>
              <a:t xml:space="preserve">/ </a:t>
            </a:r>
            <a:r>
              <a:rPr lang="ko-KR" altLang="en-US" sz="1200"/>
              <a:t>배너</a:t>
            </a:r>
            <a:r>
              <a:rPr lang="en-US" altLang="ko-KR" sz="1200"/>
              <a:t xml:space="preserve">/ </a:t>
            </a:r>
            <a:r>
              <a:rPr lang="ko-KR" altLang="en-US" sz="1200"/>
              <a:t>프로모션 관리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3B9BFF-DF69-AB4C-8F49-2B7D6C7D5944}"/>
              </a:ext>
            </a:extLst>
          </p:cNvPr>
          <p:cNvSpPr txBox="1"/>
          <p:nvPr/>
        </p:nvSpPr>
        <p:spPr>
          <a:xfrm>
            <a:off x="4225225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/>
              <a:t>Customer_recommend_history</a:t>
            </a:r>
            <a:r>
              <a:rPr lang="en-US" sz="1200" dirty="0"/>
              <a:t xml:space="preserve"> = </a:t>
            </a:r>
            <a:r>
              <a:rPr lang="en-US" sz="1200" dirty="0" err="1"/>
              <a:t>추천</a:t>
            </a:r>
            <a:r>
              <a:rPr lang="en-US" sz="1200" dirty="0"/>
              <a:t xml:space="preserve"> </a:t>
            </a:r>
            <a:r>
              <a:rPr lang="en-US" sz="1200" dirty="0" err="1"/>
              <a:t>이력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1B87C7-CF08-F44B-9E63-801D01AD0EFD}"/>
              </a:ext>
            </a:extLst>
          </p:cNvPr>
          <p:cNvSpPr txBox="1"/>
          <p:nvPr/>
        </p:nvSpPr>
        <p:spPr>
          <a:xfrm>
            <a:off x="8234520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/>
              <a:t>customer_dashboard_log</a:t>
            </a:r>
            <a:r>
              <a:rPr lang="en-US" sz="1200" dirty="0"/>
              <a:t xml:space="preserve"> = </a:t>
            </a:r>
            <a:r>
              <a:rPr lang="en-US" sz="1200" dirty="0" err="1"/>
              <a:t>고객</a:t>
            </a:r>
            <a:r>
              <a:rPr lang="en-US" sz="1200" dirty="0"/>
              <a:t xml:space="preserve"> </a:t>
            </a:r>
            <a:r>
              <a:rPr lang="en-US" sz="1200" dirty="0" err="1"/>
              <a:t>행동</a:t>
            </a:r>
            <a:r>
              <a:rPr lang="en-US" sz="1200" dirty="0"/>
              <a:t xml:space="preserve"> </a:t>
            </a:r>
            <a:r>
              <a:rPr lang="en-US" sz="1200" dirty="0" err="1"/>
              <a:t>로그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F6F572-9671-5547-8D45-4F26FE997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78884"/>
              </p:ext>
            </p:extLst>
          </p:nvPr>
        </p:nvGraphicFramePr>
        <p:xfrm>
          <a:off x="417379" y="2009389"/>
          <a:ext cx="3296492" cy="2468880"/>
        </p:xfrm>
        <a:graphic>
          <a:graphicData uri="http://schemas.openxmlformats.org/drawingml/2006/table">
            <a:tbl>
              <a:tblPr/>
              <a:tblGrid>
                <a:gridCol w="1648246">
                  <a:extLst>
                    <a:ext uri="{9D8B030D-6E8A-4147-A177-3AD203B41FA5}">
                      <a16:colId xmlns:a16="http://schemas.microsoft.com/office/drawing/2014/main" val="460317334"/>
                    </a:ext>
                  </a:extLst>
                </a:gridCol>
                <a:gridCol w="1648246">
                  <a:extLst>
                    <a:ext uri="{9D8B030D-6E8A-4147-A177-3AD203B41FA5}">
                      <a16:colId xmlns:a16="http://schemas.microsoft.com/office/drawing/2014/main" val="41465140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 err="1"/>
                        <a:t>컬럼명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765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campaign_id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501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campaign_name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캠페인명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0685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target_grade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대상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219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banner_title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메인 배너 제목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199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banner_desc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8894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start_date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시작일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4573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end_date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종료일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155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active_flag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진행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7972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created_at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생성일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83245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C3ABE9-41A2-A14C-AE00-B58FB6A13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705504"/>
              </p:ext>
            </p:extLst>
          </p:nvPr>
        </p:nvGraphicFramePr>
        <p:xfrm>
          <a:off x="417380" y="4724038"/>
          <a:ext cx="3296492" cy="1005840"/>
        </p:xfrm>
        <a:graphic>
          <a:graphicData uri="http://schemas.openxmlformats.org/drawingml/2006/table">
            <a:tbl>
              <a:tblPr/>
              <a:tblGrid>
                <a:gridCol w="1648246">
                  <a:extLst>
                    <a:ext uri="{9D8B030D-6E8A-4147-A177-3AD203B41FA5}">
                      <a16:colId xmlns:a16="http://schemas.microsoft.com/office/drawing/2014/main" val="3694173032"/>
                    </a:ext>
                  </a:extLst>
                </a:gridCol>
                <a:gridCol w="1648246">
                  <a:extLst>
                    <a:ext uri="{9D8B030D-6E8A-4147-A177-3AD203B41FA5}">
                      <a16:colId xmlns:a16="http://schemas.microsoft.com/office/drawing/2014/main" val="6271641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campaign_name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304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VIP PB </a:t>
                      </a:r>
                      <a:r>
                        <a:rPr lang="ko-KR" altLang="en-US" sz="1000"/>
                        <a:t>초청 이벤트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205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 xml:space="preserve">GOLD </a:t>
                      </a:r>
                      <a:r>
                        <a:rPr lang="ko-KR" altLang="en-US" sz="1000" dirty="0"/>
                        <a:t>건강검진 할인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8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신규 카드 발급 이벤트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98081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90DE9B0-1599-FC40-B74D-5E5B170D3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560448"/>
              </p:ext>
            </p:extLst>
          </p:nvPr>
        </p:nvGraphicFramePr>
        <p:xfrm>
          <a:off x="4225224" y="2009389"/>
          <a:ext cx="3535450" cy="2468880"/>
        </p:xfrm>
        <a:graphic>
          <a:graphicData uri="http://schemas.openxmlformats.org/drawingml/2006/table">
            <a:tbl>
              <a:tblPr/>
              <a:tblGrid>
                <a:gridCol w="1767725">
                  <a:extLst>
                    <a:ext uri="{9D8B030D-6E8A-4147-A177-3AD203B41FA5}">
                      <a16:colId xmlns:a16="http://schemas.microsoft.com/office/drawing/2014/main" val="2069097053"/>
                    </a:ext>
                  </a:extLst>
                </a:gridCol>
                <a:gridCol w="1767725">
                  <a:extLst>
                    <a:ext uri="{9D8B030D-6E8A-4147-A177-3AD203B41FA5}">
                      <a16:colId xmlns:a16="http://schemas.microsoft.com/office/drawing/2014/main" val="42226770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 err="1"/>
                        <a:t>컬럼명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39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hist_id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750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448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321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dynamic_score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당시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7538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dynamic_grade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당시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2215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액션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8989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955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clicked_flag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클릭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9365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purchased_flag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가입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88462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5CE8B30-23A8-DC4E-B444-B3B33254A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151056"/>
              </p:ext>
            </p:extLst>
          </p:nvPr>
        </p:nvGraphicFramePr>
        <p:xfrm>
          <a:off x="4041058" y="4724038"/>
          <a:ext cx="3719617" cy="1005840"/>
        </p:xfrm>
        <a:graphic>
          <a:graphicData uri="http://schemas.openxmlformats.org/drawingml/2006/table">
            <a:tbl>
              <a:tblPr/>
              <a:tblGrid>
                <a:gridCol w="929904">
                  <a:extLst>
                    <a:ext uri="{9D8B030D-6E8A-4147-A177-3AD203B41FA5}">
                      <a16:colId xmlns:a16="http://schemas.microsoft.com/office/drawing/2014/main" val="1289820090"/>
                    </a:ext>
                  </a:extLst>
                </a:gridCol>
                <a:gridCol w="766981">
                  <a:extLst>
                    <a:ext uri="{9D8B030D-6E8A-4147-A177-3AD203B41FA5}">
                      <a16:colId xmlns:a16="http://schemas.microsoft.com/office/drawing/2014/main" val="1929017871"/>
                    </a:ext>
                  </a:extLst>
                </a:gridCol>
                <a:gridCol w="754826">
                  <a:extLst>
                    <a:ext uri="{9D8B030D-6E8A-4147-A177-3AD203B41FA5}">
                      <a16:colId xmlns:a16="http://schemas.microsoft.com/office/drawing/2014/main" val="1829438034"/>
                    </a:ext>
                  </a:extLst>
                </a:gridCol>
                <a:gridCol w="1267906">
                  <a:extLst>
                    <a:ext uri="{9D8B030D-6E8A-4147-A177-3AD203B41FA5}">
                      <a16:colId xmlns:a16="http://schemas.microsoft.com/office/drawing/2014/main" val="4220521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global_id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clicked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purchased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29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G000000001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 xml:space="preserve">PB </a:t>
                      </a:r>
                      <a:r>
                        <a:rPr lang="ko-KR" altLang="en-US" sz="1000"/>
                        <a:t>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8666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G000000002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559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G000000003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 xml:space="preserve">ETF </a:t>
                      </a:r>
                      <a:r>
                        <a:rPr lang="ko-KR" altLang="en-US" sz="1000"/>
                        <a:t>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585669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7E3AD9C-B99F-F546-B52E-1E011E9EE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477931"/>
              </p:ext>
            </p:extLst>
          </p:nvPr>
        </p:nvGraphicFramePr>
        <p:xfrm>
          <a:off x="8234520" y="2009389"/>
          <a:ext cx="3535450" cy="2225040"/>
        </p:xfrm>
        <a:graphic>
          <a:graphicData uri="http://schemas.openxmlformats.org/drawingml/2006/table">
            <a:tbl>
              <a:tblPr/>
              <a:tblGrid>
                <a:gridCol w="1767725">
                  <a:extLst>
                    <a:ext uri="{9D8B030D-6E8A-4147-A177-3AD203B41FA5}">
                      <a16:colId xmlns:a16="http://schemas.microsoft.com/office/drawing/2014/main" val="2131032832"/>
                    </a:ext>
                  </a:extLst>
                </a:gridCol>
                <a:gridCol w="1767725">
                  <a:extLst>
                    <a:ext uri="{9D8B030D-6E8A-4147-A177-3AD203B41FA5}">
                      <a16:colId xmlns:a16="http://schemas.microsoft.com/office/drawing/2014/main" val="16063574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 err="1"/>
                        <a:t>컬럼명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09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log_id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636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1512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page_type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MAIN / DETAIL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383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banner_click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배너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7894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product_click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590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click_product_id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클릭 상품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372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session_id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세션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713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view_time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접속시각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819786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1F57638-41BD-FC41-BD08-72BDDCD54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970134"/>
              </p:ext>
            </p:extLst>
          </p:nvPr>
        </p:nvGraphicFramePr>
        <p:xfrm>
          <a:off x="8234520" y="4724038"/>
          <a:ext cx="3888656" cy="1005840"/>
        </p:xfrm>
        <a:graphic>
          <a:graphicData uri="http://schemas.openxmlformats.org/drawingml/2006/table">
            <a:tbl>
              <a:tblPr/>
              <a:tblGrid>
                <a:gridCol w="972164">
                  <a:extLst>
                    <a:ext uri="{9D8B030D-6E8A-4147-A177-3AD203B41FA5}">
                      <a16:colId xmlns:a16="http://schemas.microsoft.com/office/drawing/2014/main" val="1117582689"/>
                    </a:ext>
                  </a:extLst>
                </a:gridCol>
                <a:gridCol w="972164">
                  <a:extLst>
                    <a:ext uri="{9D8B030D-6E8A-4147-A177-3AD203B41FA5}">
                      <a16:colId xmlns:a16="http://schemas.microsoft.com/office/drawing/2014/main" val="4207451327"/>
                    </a:ext>
                  </a:extLst>
                </a:gridCol>
                <a:gridCol w="972164">
                  <a:extLst>
                    <a:ext uri="{9D8B030D-6E8A-4147-A177-3AD203B41FA5}">
                      <a16:colId xmlns:a16="http://schemas.microsoft.com/office/drawing/2014/main" val="3655249130"/>
                    </a:ext>
                  </a:extLst>
                </a:gridCol>
                <a:gridCol w="972164">
                  <a:extLst>
                    <a:ext uri="{9D8B030D-6E8A-4147-A177-3AD203B41FA5}">
                      <a16:colId xmlns:a16="http://schemas.microsoft.com/office/drawing/2014/main" val="3958366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banner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884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G000000001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 xml:space="preserve">PB </a:t>
                      </a:r>
                      <a:r>
                        <a:rPr lang="ko-KR" altLang="en-US" sz="1000"/>
                        <a:t>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7613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G000000002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58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G000000003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765203"/>
                  </a:ext>
                </a:extLst>
              </a:tr>
            </a:tbl>
          </a:graphicData>
        </a:graphic>
      </p:graphicFrame>
      <p:sp>
        <p:nvSpPr>
          <p:cNvPr id="20" name="Google Shape;350;g3d6e2211149_2_228">
            <a:extLst>
              <a:ext uri="{FF2B5EF4-FFF2-40B4-BE49-F238E27FC236}">
                <a16:creationId xmlns:a16="http://schemas.microsoft.com/office/drawing/2014/main" id="{308A98AC-4AF5-7E4F-9EB1-38CC79AEDE18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 xml:space="preserve">Service DB </a:t>
            </a:r>
            <a:r>
              <a:rPr lang="ko-KR" altLang="en-US" sz="1200" b="1">
                <a:solidFill>
                  <a:schemeClr val="dk1"/>
                </a:solidFill>
              </a:rPr>
              <a:t xml:space="preserve">데이터 </a:t>
            </a:r>
            <a:r>
              <a:rPr lang="en-US" altLang="ko-KR" sz="1200" b="1">
                <a:solidFill>
                  <a:schemeClr val="dk1"/>
                </a:solidFill>
              </a:rPr>
              <a:t>(Aurora)</a:t>
            </a:r>
            <a:endParaRPr sz="1200" b="1"/>
          </a:p>
        </p:txBody>
      </p:sp>
    </p:spTree>
    <p:extLst>
      <p:ext uri="{BB962C8B-B14F-4D97-AF65-F5344CB8AC3E}">
        <p14:creationId xmlns:p14="http://schemas.microsoft.com/office/powerpoint/2010/main" val="4055857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7A249-2E2B-0C46-89DC-D7E1AB8BABF5}"/>
              </a:ext>
            </a:extLst>
          </p:cNvPr>
          <p:cNvSpPr txBox="1"/>
          <p:nvPr/>
        </p:nvSpPr>
        <p:spPr>
          <a:xfrm>
            <a:off x="417381" y="1627727"/>
            <a:ext cx="4484228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/>
              <a:t>lifesync_customer_result</a:t>
            </a:r>
            <a:r>
              <a:rPr lang="en-US" sz="1200" dirty="0"/>
              <a:t xml:space="preserve"> = </a:t>
            </a:r>
            <a:r>
              <a:rPr lang="ko-KR" altLang="en-US" sz="1200" dirty="0"/>
              <a:t xml:space="preserve">고객 최신 점수 </a:t>
            </a:r>
            <a:r>
              <a:rPr lang="en-US" altLang="ko-KR" sz="1200" dirty="0"/>
              <a:t xml:space="preserve">/ </a:t>
            </a:r>
            <a:r>
              <a:rPr lang="ko-KR" altLang="en-US" sz="1200" dirty="0"/>
              <a:t xml:space="preserve">등급 </a:t>
            </a:r>
            <a:r>
              <a:rPr lang="en-US" altLang="ko-KR" sz="1200" dirty="0"/>
              <a:t xml:space="preserve">/ </a:t>
            </a:r>
            <a:r>
              <a:rPr lang="en-US" sz="1200" dirty="0"/>
              <a:t xml:space="preserve">AI </a:t>
            </a:r>
            <a:r>
              <a:rPr lang="ko-KR" altLang="en-US" sz="1200" dirty="0"/>
              <a:t>결과 저장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20" name="Google Shape;350;g3d6e2211149_2_228">
            <a:extLst>
              <a:ext uri="{FF2B5EF4-FFF2-40B4-BE49-F238E27FC236}">
                <a16:creationId xmlns:a16="http://schemas.microsoft.com/office/drawing/2014/main" id="{308A98AC-4AF5-7E4F-9EB1-38CC79AEDE18}"/>
              </a:ext>
            </a:extLst>
          </p:cNvPr>
          <p:cNvSpPr txBox="1"/>
          <p:nvPr/>
        </p:nvSpPr>
        <p:spPr>
          <a:xfrm>
            <a:off x="417380" y="13015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 xml:space="preserve">Service DB </a:t>
            </a:r>
            <a:r>
              <a:rPr lang="ko-KR" altLang="en-US" sz="1200" b="1">
                <a:solidFill>
                  <a:schemeClr val="dk1"/>
                </a:solidFill>
              </a:rPr>
              <a:t xml:space="preserve">데이터 </a:t>
            </a:r>
            <a:r>
              <a:rPr lang="en-US" altLang="ko-KR" sz="1200" b="1">
                <a:solidFill>
                  <a:schemeClr val="dk1"/>
                </a:solidFill>
              </a:rPr>
              <a:t>(DynamoDB)</a:t>
            </a:r>
            <a:endParaRPr sz="12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7763F2-B69A-7240-8BA7-7D0D12360749}"/>
              </a:ext>
            </a:extLst>
          </p:cNvPr>
          <p:cNvSpPr txBox="1"/>
          <p:nvPr/>
        </p:nvSpPr>
        <p:spPr>
          <a:xfrm>
            <a:off x="5680496" y="2347987"/>
            <a:ext cx="3712804" cy="20928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"global_id":"G000000001",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"update_time":"2026-04-28T04:30:00Z",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"dynamic_score":92.4,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dynamic_grade":"VIP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next_best_action":"PB_CENTER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"vip_prob":0.94,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"signup_prob":0.81,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"rec_prob":0.77,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"health_score":88.1,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"source":"GCP_LIFESYNC360",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"ttl":1777777777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sp>
        <p:nvSpPr>
          <p:cNvPr id="18" name="Google Shape;350;g3d6e2211149_2_228">
            <a:extLst>
              <a:ext uri="{FF2B5EF4-FFF2-40B4-BE49-F238E27FC236}">
                <a16:creationId xmlns:a16="http://schemas.microsoft.com/office/drawing/2014/main" id="{F9FD91D3-185B-3846-979C-71D9F997D00A}"/>
              </a:ext>
            </a:extLst>
          </p:cNvPr>
          <p:cNvSpPr txBox="1"/>
          <p:nvPr/>
        </p:nvSpPr>
        <p:spPr>
          <a:xfrm>
            <a:off x="417380" y="2003265"/>
            <a:ext cx="4022314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000" b="1">
                <a:solidFill>
                  <a:schemeClr val="dk1"/>
                </a:solidFill>
              </a:rPr>
              <a:t>기본 Key 구조</a:t>
            </a:r>
            <a:endParaRPr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F03942-443F-F343-8ECC-D5B817EA1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84604"/>
              </p:ext>
            </p:extLst>
          </p:nvPr>
        </p:nvGraphicFramePr>
        <p:xfrm>
          <a:off x="417380" y="2326722"/>
          <a:ext cx="4484228" cy="762000"/>
        </p:xfrm>
        <a:graphic>
          <a:graphicData uri="http://schemas.openxmlformats.org/drawingml/2006/table">
            <a:tbl>
              <a:tblPr/>
              <a:tblGrid>
                <a:gridCol w="2242114">
                  <a:extLst>
                    <a:ext uri="{9D8B030D-6E8A-4147-A177-3AD203B41FA5}">
                      <a16:colId xmlns:a16="http://schemas.microsoft.com/office/drawing/2014/main" val="3112244920"/>
                    </a:ext>
                  </a:extLst>
                </a:gridCol>
                <a:gridCol w="2242114">
                  <a:extLst>
                    <a:ext uri="{9D8B030D-6E8A-4147-A177-3AD203B41FA5}">
                      <a16:colId xmlns:a16="http://schemas.microsoft.com/office/drawing/2014/main" val="109360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881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Partition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629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Sort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update_time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44485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047715-969E-2E4F-9303-F9BB397E2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529194"/>
              </p:ext>
            </p:extLst>
          </p:nvPr>
        </p:nvGraphicFramePr>
        <p:xfrm>
          <a:off x="417379" y="3225263"/>
          <a:ext cx="4484229" cy="3383280"/>
        </p:xfrm>
        <a:graphic>
          <a:graphicData uri="http://schemas.openxmlformats.org/drawingml/2006/table">
            <a:tbl>
              <a:tblPr/>
              <a:tblGrid>
                <a:gridCol w="1494743">
                  <a:extLst>
                    <a:ext uri="{9D8B030D-6E8A-4147-A177-3AD203B41FA5}">
                      <a16:colId xmlns:a16="http://schemas.microsoft.com/office/drawing/2014/main" val="3658780905"/>
                    </a:ext>
                  </a:extLst>
                </a:gridCol>
                <a:gridCol w="1494743">
                  <a:extLst>
                    <a:ext uri="{9D8B030D-6E8A-4147-A177-3AD203B41FA5}">
                      <a16:colId xmlns:a16="http://schemas.microsoft.com/office/drawing/2014/main" val="3715426659"/>
                    </a:ext>
                  </a:extLst>
                </a:gridCol>
                <a:gridCol w="1494743">
                  <a:extLst>
                    <a:ext uri="{9D8B030D-6E8A-4147-A177-3AD203B41FA5}">
                      <a16:colId xmlns:a16="http://schemas.microsoft.com/office/drawing/2014/main" val="20939045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181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 xml:space="preserve">통합 고객 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5100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update_time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 xml:space="preserve">결과 생성 시각 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ISO8601)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145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dynamic_score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종합 고객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8038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dynamic_grade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고객 등급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 xml:space="preserve">VIP/GOLD </a:t>
                      </a:r>
                      <a:r>
                        <a:rPr lang="ko-KR" altLang="en-US" sz="1000"/>
                        <a:t>등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119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next_best_action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다음 추천 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937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>가능성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50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signup_prob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상품 가입 가능성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70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rec_prob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추천 반응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477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507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데이터 생성 시스템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3607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자동 만료 시간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Unix epoch)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039992"/>
                  </a:ext>
                </a:extLst>
              </a:tr>
            </a:tbl>
          </a:graphicData>
        </a:graphic>
      </p:graphicFrame>
      <p:sp>
        <p:nvSpPr>
          <p:cNvPr id="19" name="Google Shape;350;g3d6e2211149_2_228">
            <a:extLst>
              <a:ext uri="{FF2B5EF4-FFF2-40B4-BE49-F238E27FC236}">
                <a16:creationId xmlns:a16="http://schemas.microsoft.com/office/drawing/2014/main" id="{8ECEEF3C-F2D9-7244-9204-788A688B31CA}"/>
              </a:ext>
            </a:extLst>
          </p:cNvPr>
          <p:cNvSpPr txBox="1"/>
          <p:nvPr/>
        </p:nvSpPr>
        <p:spPr>
          <a:xfrm>
            <a:off x="5680496" y="2024530"/>
            <a:ext cx="4022314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000" b="1">
                <a:solidFill>
                  <a:schemeClr val="dk1"/>
                </a:solidFill>
              </a:rPr>
              <a:t>메세지 구조</a:t>
            </a:r>
            <a:endParaRPr sz="10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943D8B-827E-4847-B3FF-D4C537D6936E}"/>
              </a:ext>
            </a:extLst>
          </p:cNvPr>
          <p:cNvSpPr txBox="1"/>
          <p:nvPr/>
        </p:nvSpPr>
        <p:spPr>
          <a:xfrm>
            <a:off x="297542" y="722971"/>
            <a:ext cx="117491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lifesync_customer_result</a:t>
            </a:r>
            <a:r>
              <a:rPr lang="en-US" b="1" dirty="0"/>
              <a:t xml:space="preserve"> </a:t>
            </a:r>
            <a:r>
              <a:rPr lang="ko-KR" altLang="en-US" b="1" dirty="0"/>
              <a:t xml:space="preserve">는 고객별 최신 </a:t>
            </a:r>
            <a:r>
              <a:rPr lang="en-US" b="1" dirty="0"/>
              <a:t xml:space="preserve">AI </a:t>
            </a:r>
            <a:r>
              <a:rPr lang="ko-KR" altLang="en-US" b="1" dirty="0"/>
              <a:t>점수</a:t>
            </a:r>
            <a:r>
              <a:rPr lang="en-US" altLang="ko-KR" b="1" dirty="0"/>
              <a:t>·</a:t>
            </a:r>
            <a:r>
              <a:rPr lang="ko-KR" altLang="en-US" b="1" dirty="0"/>
              <a:t>등급</a:t>
            </a:r>
            <a:r>
              <a:rPr lang="en-US" altLang="ko-KR" b="1" dirty="0"/>
              <a:t>·</a:t>
            </a:r>
            <a:r>
              <a:rPr lang="ko-KR" altLang="en-US" b="1" dirty="0"/>
              <a:t>행동추천</a:t>
            </a:r>
            <a:r>
              <a:rPr lang="en-US" altLang="ko-KR" b="1" dirty="0"/>
              <a:t>·</a:t>
            </a:r>
            <a:r>
              <a:rPr lang="en-US" b="1" dirty="0"/>
              <a:t>VIP</a:t>
            </a:r>
            <a:r>
              <a:rPr lang="ko-KR" altLang="en-US" b="1" dirty="0"/>
              <a:t>확률</a:t>
            </a:r>
            <a:r>
              <a:rPr lang="en-US" altLang="ko-KR" b="1" dirty="0"/>
              <a:t>·</a:t>
            </a:r>
            <a:r>
              <a:rPr lang="ko-KR" altLang="en-US" b="1" dirty="0"/>
              <a:t xml:space="preserve">건강점수를 저장하여 </a:t>
            </a:r>
            <a:r>
              <a:rPr lang="en-US" b="1" dirty="0"/>
              <a:t xml:space="preserve">LifeSync360 </a:t>
            </a:r>
            <a:r>
              <a:rPr lang="ko-KR" altLang="en-US" b="1" dirty="0"/>
              <a:t xml:space="preserve">메인 서비스가 실시간 개인화 추천을 수행하도록 지원하는 </a:t>
            </a:r>
            <a:r>
              <a:rPr lang="en-US" b="1" dirty="0"/>
              <a:t xml:space="preserve">DynamoDB </a:t>
            </a:r>
            <a:r>
              <a:rPr lang="ko-KR" altLang="en-US" b="1" dirty="0"/>
              <a:t>테이블</a:t>
            </a:r>
            <a:endParaRPr lang="en-KR" b="1" dirty="0"/>
          </a:p>
        </p:txBody>
      </p:sp>
    </p:spTree>
    <p:extLst>
      <p:ext uri="{BB962C8B-B14F-4D97-AF65-F5344CB8AC3E}">
        <p14:creationId xmlns:p14="http://schemas.microsoft.com/office/powerpoint/2010/main" val="298011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사전 구축 사항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B97484-FCD5-FF46-8BFB-93E4F0096251}"/>
              </a:ext>
            </a:extLst>
          </p:cNvPr>
          <p:cNvSpPr txBox="1"/>
          <p:nvPr/>
        </p:nvSpPr>
        <p:spPr>
          <a:xfrm>
            <a:off x="265805" y="1087023"/>
            <a:ext cx="454082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사전 조건</a:t>
            </a:r>
            <a:endParaRPr lang="en-US" sz="1200" b="1" dirty="0"/>
          </a:p>
          <a:p>
            <a:endParaRPr lang="en-US" dirty="0"/>
          </a:p>
          <a:p>
            <a:r>
              <a:rPr lang="en-US" sz="1200" dirty="0"/>
              <a:t xml:space="preserve">LifeSync360 </a:t>
            </a:r>
            <a:r>
              <a:rPr lang="ko-KR" altLang="en-US" sz="1200" dirty="0"/>
              <a:t>데이터 통합 인프라 구축 전에</a:t>
            </a:r>
            <a:br>
              <a:rPr lang="ko-KR" altLang="en-US" sz="1200" dirty="0"/>
            </a:br>
            <a:r>
              <a:rPr lang="ko-KR" altLang="en-US" sz="1200" dirty="0"/>
              <a:t xml:space="preserve">반드시 </a:t>
            </a:r>
            <a:r>
              <a:rPr lang="en-US" altLang="ko-KR" sz="1200" dirty="0"/>
              <a:t>"</a:t>
            </a:r>
            <a:r>
              <a:rPr lang="ko-KR" altLang="en-US" sz="1200" dirty="0"/>
              <a:t>대표 그룹 고객 식별자</a:t>
            </a:r>
            <a:r>
              <a:rPr lang="en-US" altLang="ko-KR" sz="1200" dirty="0"/>
              <a:t>(</a:t>
            </a:r>
            <a:r>
              <a:rPr lang="en-US" sz="1200" dirty="0"/>
              <a:t xml:space="preserve">Global  ID)" </a:t>
            </a:r>
            <a:r>
              <a:rPr lang="ko-KR" altLang="en-US" sz="1200" dirty="0"/>
              <a:t>체계 필요</a:t>
            </a:r>
            <a:endParaRPr lang="en-US" altLang="ko-KR" sz="1200" dirty="0"/>
          </a:p>
          <a:p>
            <a:endParaRPr lang="en-US" sz="1200" dirty="0"/>
          </a:p>
          <a:p>
            <a:r>
              <a:rPr lang="en-US" sz="1200" dirty="0"/>
              <a:t>Group VM (</a:t>
            </a:r>
            <a:r>
              <a:rPr lang="ko-KR" altLang="en-US" sz="1200" dirty="0"/>
              <a:t xml:space="preserve">은행 </a:t>
            </a:r>
            <a:r>
              <a:rPr lang="en-US" altLang="ko-KR" sz="1200" dirty="0"/>
              <a:t xml:space="preserve">/ </a:t>
            </a:r>
            <a:r>
              <a:rPr lang="ko-KR" altLang="en-US" sz="1200" dirty="0"/>
              <a:t xml:space="preserve">카드 </a:t>
            </a:r>
            <a:r>
              <a:rPr lang="en-US" altLang="ko-KR" sz="1200" dirty="0"/>
              <a:t xml:space="preserve">/ </a:t>
            </a:r>
            <a:r>
              <a:rPr lang="ko-KR" altLang="en-US" sz="1200" dirty="0"/>
              <a:t xml:space="preserve">증권 </a:t>
            </a:r>
            <a:r>
              <a:rPr lang="en-US" altLang="ko-KR" sz="1200" dirty="0"/>
              <a:t xml:space="preserve">/ </a:t>
            </a:r>
            <a:r>
              <a:rPr lang="ko-KR" altLang="en-US" sz="1200" dirty="0"/>
              <a:t xml:space="preserve">보험 </a:t>
            </a:r>
            <a:r>
              <a:rPr lang="en-US" altLang="ko-KR" sz="1200" dirty="0"/>
              <a:t xml:space="preserve">/ </a:t>
            </a:r>
            <a:r>
              <a:rPr lang="ko-KR" altLang="en-US" sz="1200" dirty="0"/>
              <a:t xml:space="preserve">헬스케어 </a:t>
            </a:r>
            <a:r>
              <a:rPr lang="en-US" altLang="ko-KR" sz="1200" dirty="0"/>
              <a:t xml:space="preserve">/ </a:t>
            </a:r>
            <a:r>
              <a:rPr lang="ko-KR" altLang="en-US" sz="1200" dirty="0"/>
              <a:t>병원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 xml:space="preserve">→ </a:t>
            </a:r>
            <a:r>
              <a:rPr lang="ko-KR" altLang="en-US" sz="1200" dirty="0"/>
              <a:t>각자 자체 고객번호 보유</a:t>
            </a:r>
          </a:p>
          <a:p>
            <a:r>
              <a:rPr lang="ko-KR" altLang="en-US" sz="1200" dirty="0"/>
              <a:t>→ 직접 통합 불가</a:t>
            </a:r>
            <a:endParaRPr lang="en-US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r>
              <a:rPr lang="ko-KR" altLang="en-US" sz="1200" b="1" dirty="0"/>
              <a:t xml:space="preserve">사전 준비사항 </a:t>
            </a:r>
            <a:endParaRPr lang="en-KR" altLang="ko-KR" sz="1200" b="1" dirty="0"/>
          </a:p>
          <a:p>
            <a:endParaRPr lang="en-KR" altLang="ko-KR" sz="1200" dirty="0"/>
          </a:p>
          <a:p>
            <a:r>
              <a:rPr lang="en-US" altLang="ko-KR" sz="1200" dirty="0"/>
              <a:t xml:space="preserve">1. </a:t>
            </a:r>
            <a:r>
              <a:rPr lang="ko-KR" altLang="en-US" sz="1200" b="1" dirty="0"/>
              <a:t xml:space="preserve">고객 </a:t>
            </a:r>
            <a:r>
              <a:rPr lang="en-US" altLang="ko-KR" sz="1200" b="1" dirty="0"/>
              <a:t>100</a:t>
            </a:r>
            <a:r>
              <a:rPr lang="ko-KR" altLang="en-US" sz="1200" b="1" dirty="0"/>
              <a:t>만명 기본 마스터</a:t>
            </a:r>
          </a:p>
          <a:p>
            <a:r>
              <a:rPr lang="en-US" altLang="ko-KR" sz="1200" dirty="0"/>
              <a:t xml:space="preserve">2. </a:t>
            </a:r>
            <a:r>
              <a:rPr lang="ko-KR" altLang="en-US" sz="1200" dirty="0"/>
              <a:t>계열사별 고객번호 생성</a:t>
            </a:r>
          </a:p>
          <a:p>
            <a:r>
              <a:rPr lang="en-US" altLang="ko-KR" sz="1200" dirty="0"/>
              <a:t xml:space="preserve">3. Global ID </a:t>
            </a:r>
            <a:r>
              <a:rPr lang="ko-KR" altLang="en-US" sz="1200" dirty="0"/>
              <a:t>생성</a:t>
            </a:r>
          </a:p>
          <a:p>
            <a:r>
              <a:rPr lang="en-US" altLang="ko-KR" sz="1200" dirty="0"/>
              <a:t xml:space="preserve">4. </a:t>
            </a:r>
            <a:r>
              <a:rPr lang="ko-KR" altLang="en-US" sz="1200" dirty="0"/>
              <a:t>고객 매핑 테이블</a:t>
            </a:r>
          </a:p>
          <a:p>
            <a:r>
              <a:rPr lang="en-US" altLang="ko-KR" sz="1200" dirty="0"/>
              <a:t xml:space="preserve">5. </a:t>
            </a:r>
            <a:r>
              <a:rPr lang="ko-KR" altLang="en-US" sz="1200" dirty="0"/>
              <a:t>계열사별 업무 데이터 생성</a:t>
            </a:r>
          </a:p>
          <a:p>
            <a:r>
              <a:rPr lang="en-US" altLang="ko-KR" sz="1200" dirty="0"/>
              <a:t xml:space="preserve">6. </a:t>
            </a:r>
            <a:r>
              <a:rPr lang="ko-KR" altLang="en-US" sz="1200" dirty="0"/>
              <a:t>개인정보 비식별화</a:t>
            </a:r>
          </a:p>
          <a:p>
            <a:r>
              <a:rPr lang="en-US" altLang="ko-KR" sz="1200" dirty="0"/>
              <a:t xml:space="preserve">7. Consent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 xml:space="preserve">8. AI </a:t>
            </a:r>
            <a:r>
              <a:rPr lang="ko-KR" altLang="en-US" sz="1200" dirty="0"/>
              <a:t xml:space="preserve">학습용 </a:t>
            </a:r>
            <a:r>
              <a:rPr lang="en-US" altLang="ko-KR" sz="1200" dirty="0"/>
              <a:t xml:space="preserve">Label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 xml:space="preserve">9. Raw / Processed / Curated </a:t>
            </a:r>
            <a:r>
              <a:rPr lang="ko-KR" altLang="en-US" sz="1200" dirty="0"/>
              <a:t>분리 적재</a:t>
            </a:r>
          </a:p>
          <a:p>
            <a:r>
              <a:rPr lang="en-US" altLang="ko-KR" sz="1200" dirty="0"/>
              <a:t xml:space="preserve">10. </a:t>
            </a:r>
            <a:r>
              <a:rPr lang="ko-KR" altLang="en-US" sz="1200" dirty="0"/>
              <a:t>품질 검증</a:t>
            </a:r>
            <a:endParaRPr lang="en-KR" altLang="ko-KR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15175E3-E9DF-DA4C-9A24-2662AD76FED5}"/>
              </a:ext>
            </a:extLst>
          </p:cNvPr>
          <p:cNvSpPr txBox="1"/>
          <p:nvPr/>
        </p:nvSpPr>
        <p:spPr>
          <a:xfrm>
            <a:off x="5222987" y="3542181"/>
            <a:ext cx="209964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권장 분포</a:t>
            </a:r>
            <a:endParaRPr lang="en-KR" sz="1200" b="1"/>
          </a:p>
          <a:p>
            <a:endParaRPr lang="en-KR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20대 15%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30대 25%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40대 30%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50대 20%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60대 이상 10%</a:t>
            </a:r>
          </a:p>
        </p:txBody>
      </p:sp>
      <p:sp>
        <p:nvSpPr>
          <p:cNvPr id="66" name="Google Shape;261;g3d6e2211149_2_228">
            <a:extLst>
              <a:ext uri="{FF2B5EF4-FFF2-40B4-BE49-F238E27FC236}">
                <a16:creationId xmlns:a16="http://schemas.microsoft.com/office/drawing/2014/main" id="{28765B3D-C494-0747-9CD4-7E31BC1DD0CC}"/>
              </a:ext>
            </a:extLst>
          </p:cNvPr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450C3CE-203E-0D47-8E21-A7127EFA7EAD}"/>
              </a:ext>
            </a:extLst>
          </p:cNvPr>
          <p:cNvSpPr txBox="1"/>
          <p:nvPr/>
        </p:nvSpPr>
        <p:spPr>
          <a:xfrm>
            <a:off x="5222987" y="998859"/>
            <a:ext cx="357808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 xml:space="preserve">고객 마스터 </a:t>
            </a:r>
            <a:r>
              <a:rPr lang="en-US" altLang="ko-KR" sz="1200" b="1" dirty="0"/>
              <a:t>100</a:t>
            </a:r>
            <a:r>
              <a:rPr lang="ko-KR" altLang="en-US" sz="1200" b="1" dirty="0"/>
              <a:t xml:space="preserve">만명 </a:t>
            </a:r>
            <a:endParaRPr lang="en-US" altLang="ko-KR" sz="1200" b="1" dirty="0"/>
          </a:p>
          <a:p>
            <a:endParaRPr lang="en-US" altLang="ko-KR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 xml:space="preserve">전체 고객 </a:t>
            </a:r>
            <a:r>
              <a:rPr lang="en-US" altLang="ko-KR" sz="1000" dirty="0"/>
              <a:t>:</a:t>
            </a:r>
            <a:r>
              <a:rPr lang="ko-KR" altLang="en-US" sz="1000" dirty="0"/>
              <a:t xml:space="preserve"> </a:t>
            </a:r>
            <a:r>
              <a:rPr lang="en-US" altLang="ko-KR" sz="1000" dirty="0"/>
              <a:t>1,000,000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Global  ID : 1,000,000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err="1"/>
              <a:t>LifeSync</a:t>
            </a:r>
            <a:r>
              <a:rPr lang="en-US" altLang="ko-KR" sz="1000" dirty="0"/>
              <a:t xml:space="preserve"> 360 </a:t>
            </a:r>
            <a:r>
              <a:rPr lang="ko-KR" altLang="en-US" sz="1000" dirty="0"/>
              <a:t xml:space="preserve">가입자 </a:t>
            </a:r>
            <a:r>
              <a:rPr lang="en-US" altLang="ko-KR" sz="1000" dirty="0"/>
              <a:t>30%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err="1"/>
              <a:t>LifeSync</a:t>
            </a:r>
            <a:r>
              <a:rPr lang="en-US" altLang="ko-KR" sz="1000" dirty="0"/>
              <a:t xml:space="preserve"> 360 </a:t>
            </a:r>
            <a:r>
              <a:rPr lang="ko-KR" altLang="en-US" sz="1000" dirty="0"/>
              <a:t xml:space="preserve">미가입자 </a:t>
            </a:r>
            <a:r>
              <a:rPr lang="en-US" altLang="ko-KR" sz="1000" dirty="0"/>
              <a:t>70%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 xml:space="preserve">동의 고객 </a:t>
            </a:r>
            <a:r>
              <a:rPr lang="en-US" altLang="ko-KR" sz="1000" dirty="0"/>
              <a:t>20%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 xml:space="preserve">VIP </a:t>
            </a:r>
            <a:r>
              <a:rPr lang="ko-KR" altLang="en-US" sz="1000" dirty="0"/>
              <a:t xml:space="preserve">고객 </a:t>
            </a:r>
            <a:r>
              <a:rPr lang="en-US" altLang="ko-KR" sz="1000" dirty="0"/>
              <a:t>5%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4D291C-A66D-8C49-8922-3E74AF168991}"/>
              </a:ext>
            </a:extLst>
          </p:cNvPr>
          <p:cNvGraphicFramePr>
            <a:graphicFrameLocks noGrp="1"/>
          </p:cNvGraphicFramePr>
          <p:nvPr/>
        </p:nvGraphicFramePr>
        <p:xfrm>
          <a:off x="7673009" y="1073599"/>
          <a:ext cx="3392463" cy="1463040"/>
        </p:xfrm>
        <a:graphic>
          <a:graphicData uri="http://schemas.openxmlformats.org/drawingml/2006/table">
            <a:tbl>
              <a:tblPr/>
              <a:tblGrid>
                <a:gridCol w="1130821">
                  <a:extLst>
                    <a:ext uri="{9D8B030D-6E8A-4147-A177-3AD203B41FA5}">
                      <a16:colId xmlns:a16="http://schemas.microsoft.com/office/drawing/2014/main" val="1063629763"/>
                    </a:ext>
                  </a:extLst>
                </a:gridCol>
                <a:gridCol w="1130821">
                  <a:extLst>
                    <a:ext uri="{9D8B030D-6E8A-4147-A177-3AD203B41FA5}">
                      <a16:colId xmlns:a16="http://schemas.microsoft.com/office/drawing/2014/main" val="2147601728"/>
                    </a:ext>
                  </a:extLst>
                </a:gridCol>
                <a:gridCol w="1130821">
                  <a:extLst>
                    <a:ext uri="{9D8B030D-6E8A-4147-A177-3AD203B41FA5}">
                      <a16:colId xmlns:a16="http://schemas.microsoft.com/office/drawing/2014/main" val="731161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비율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인원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485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전체 그룹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1,000,000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348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 xml:space="preserve">LifeSync </a:t>
                      </a:r>
                      <a:r>
                        <a:rPr lang="ko-KR" altLang="en-US" sz="1000"/>
                        <a:t>가입자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198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미가입자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700,000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799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동의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 xml:space="preserve">가입자의 </a:t>
                      </a:r>
                      <a:r>
                        <a:rPr lang="en-US" altLang="ko-KR" sz="1000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60,000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843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>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 xml:space="preserve">전체의 </a:t>
                      </a:r>
                      <a:r>
                        <a:rPr lang="en-US" altLang="ko-KR" sz="1000"/>
                        <a:t>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5271352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C65DAFF6-EB19-E846-9305-C24F4C78F698}"/>
              </a:ext>
            </a:extLst>
          </p:cNvPr>
          <p:cNvSpPr txBox="1"/>
          <p:nvPr/>
        </p:nvSpPr>
        <p:spPr>
          <a:xfrm>
            <a:off x="5222987" y="3182779"/>
            <a:ext cx="61612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/>
              <a:t>20</a:t>
            </a:r>
            <a:r>
              <a:rPr lang="ko-KR" altLang="en-US" sz="1000"/>
              <a:t>세</a:t>
            </a:r>
            <a:r>
              <a:rPr lang="en-US" altLang="ko-KR" sz="1000"/>
              <a:t>~79</a:t>
            </a:r>
            <a:r>
              <a:rPr lang="ko-KR" altLang="en-US" sz="1000"/>
              <a:t xml:space="preserve">세 대한민국 고객 </a:t>
            </a:r>
            <a:r>
              <a:rPr lang="en-US" altLang="ko-KR" sz="1000"/>
              <a:t>100</a:t>
            </a:r>
            <a:r>
              <a:rPr lang="ko-KR" altLang="en-US" sz="1000"/>
              <a:t>만명을 가정하고</a:t>
            </a:r>
            <a:r>
              <a:rPr lang="en-US" altLang="ko-KR" sz="1000"/>
              <a:t>,</a:t>
            </a:r>
            <a:r>
              <a:rPr lang="ko-KR" altLang="en-US" sz="1000"/>
              <a:t xml:space="preserve"> 지역</a:t>
            </a:r>
            <a:r>
              <a:rPr lang="en-US" altLang="ko-KR" sz="1000"/>
              <a:t>·</a:t>
            </a:r>
            <a:r>
              <a:rPr lang="ko-KR" altLang="en-US" sz="1000"/>
              <a:t>직업</a:t>
            </a:r>
            <a:r>
              <a:rPr lang="en-US" altLang="ko-KR" sz="1000"/>
              <a:t>·</a:t>
            </a:r>
            <a:r>
              <a:rPr lang="ko-KR" altLang="en-US" sz="1000"/>
              <a:t>소득</a:t>
            </a:r>
            <a:r>
              <a:rPr lang="en-US" altLang="ko-KR" sz="1000"/>
              <a:t>·</a:t>
            </a:r>
            <a:r>
              <a:rPr lang="ko-KR" altLang="en-US" sz="1000"/>
              <a:t>자산</a:t>
            </a:r>
            <a:r>
              <a:rPr lang="en-US" altLang="ko-KR" sz="1000"/>
              <a:t>·</a:t>
            </a:r>
            <a:r>
              <a:rPr lang="ko-KR" altLang="en-US" sz="1000"/>
              <a:t>계열사 가입 여부를 랜덤 정책</a:t>
            </a:r>
            <a:r>
              <a:rPr lang="en-US" altLang="ko-KR" sz="1000"/>
              <a:t xml:space="preserve"> </a:t>
            </a:r>
            <a:r>
              <a:rPr lang="ko-KR" altLang="en-US" sz="1000"/>
              <a:t>적용</a:t>
            </a:r>
            <a:endParaRPr lang="en-KR" sz="10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20F8CF-9501-184C-B27E-B88C417BA89B}"/>
              </a:ext>
            </a:extLst>
          </p:cNvPr>
          <p:cNvGraphicFramePr>
            <a:graphicFrameLocks noGrp="1"/>
          </p:cNvGraphicFramePr>
          <p:nvPr/>
        </p:nvGraphicFramePr>
        <p:xfrm>
          <a:off x="7673009" y="3939157"/>
          <a:ext cx="3392464" cy="2438400"/>
        </p:xfrm>
        <a:graphic>
          <a:graphicData uri="http://schemas.openxmlformats.org/drawingml/2006/table">
            <a:tbl>
              <a:tblPr/>
              <a:tblGrid>
                <a:gridCol w="1696232">
                  <a:extLst>
                    <a:ext uri="{9D8B030D-6E8A-4147-A177-3AD203B41FA5}">
                      <a16:colId xmlns:a16="http://schemas.microsoft.com/office/drawing/2014/main" val="1171047807"/>
                    </a:ext>
                  </a:extLst>
                </a:gridCol>
                <a:gridCol w="1696232">
                  <a:extLst>
                    <a:ext uri="{9D8B030D-6E8A-4147-A177-3AD203B41FA5}">
                      <a16:colId xmlns:a16="http://schemas.microsoft.com/office/drawing/2014/main" val="1673637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132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G000123456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1839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김민수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486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441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나이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159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지역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SEOUL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6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직업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OFFICE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039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소득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666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977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882363"/>
                  </a:ext>
                </a:extLst>
              </a:tr>
            </a:tbl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FE153370-D0D6-BD4B-A1D9-8F6AE18039D6}"/>
              </a:ext>
            </a:extLst>
          </p:cNvPr>
          <p:cNvSpPr txBox="1"/>
          <p:nvPr/>
        </p:nvSpPr>
        <p:spPr>
          <a:xfrm>
            <a:off x="7673009" y="3542181"/>
            <a:ext cx="20996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고객 데이터 예시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89446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사전 구축 사항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B97484-FCD5-FF46-8BFB-93E4F0096251}"/>
              </a:ext>
            </a:extLst>
          </p:cNvPr>
          <p:cNvSpPr txBox="1"/>
          <p:nvPr/>
        </p:nvSpPr>
        <p:spPr>
          <a:xfrm>
            <a:off x="265805" y="1087023"/>
            <a:ext cx="454082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사전 조건</a:t>
            </a:r>
            <a:endParaRPr lang="en-US" sz="1200" b="1" dirty="0"/>
          </a:p>
          <a:p>
            <a:endParaRPr lang="en-US" dirty="0"/>
          </a:p>
          <a:p>
            <a:r>
              <a:rPr lang="en-US" sz="1200" dirty="0"/>
              <a:t xml:space="preserve">LifeSync360 </a:t>
            </a:r>
            <a:r>
              <a:rPr lang="ko-KR" altLang="en-US" sz="1200" dirty="0"/>
              <a:t>데이터 통합 인프라 구축 전에</a:t>
            </a:r>
            <a:br>
              <a:rPr lang="ko-KR" altLang="en-US" sz="1200" dirty="0"/>
            </a:br>
            <a:r>
              <a:rPr lang="ko-KR" altLang="en-US" sz="1200" dirty="0"/>
              <a:t xml:space="preserve">반드시 </a:t>
            </a:r>
            <a:r>
              <a:rPr lang="en-US" altLang="ko-KR" sz="1200" dirty="0"/>
              <a:t>"</a:t>
            </a:r>
            <a:r>
              <a:rPr lang="ko-KR" altLang="en-US" sz="1200" dirty="0"/>
              <a:t>대표 그룹 고객 식별자</a:t>
            </a:r>
            <a:r>
              <a:rPr lang="en-US" altLang="ko-KR" sz="1200" dirty="0"/>
              <a:t>(</a:t>
            </a:r>
            <a:r>
              <a:rPr lang="en-US" sz="1200" dirty="0"/>
              <a:t xml:space="preserve">Global ID)" </a:t>
            </a:r>
            <a:r>
              <a:rPr lang="ko-KR" altLang="en-US" sz="1200" dirty="0"/>
              <a:t>체계 필요</a:t>
            </a:r>
            <a:endParaRPr lang="en-US" altLang="ko-KR" sz="1200" dirty="0"/>
          </a:p>
          <a:p>
            <a:endParaRPr lang="en-US" sz="1200" dirty="0"/>
          </a:p>
          <a:p>
            <a:r>
              <a:rPr lang="en-US" sz="1200" dirty="0"/>
              <a:t>Group VM (</a:t>
            </a:r>
            <a:r>
              <a:rPr lang="ko-KR" altLang="en-US" sz="1200" dirty="0"/>
              <a:t xml:space="preserve">은행 </a:t>
            </a:r>
            <a:r>
              <a:rPr lang="en-US" altLang="ko-KR" sz="1200" dirty="0"/>
              <a:t xml:space="preserve">/ </a:t>
            </a:r>
            <a:r>
              <a:rPr lang="ko-KR" altLang="en-US" sz="1200" dirty="0"/>
              <a:t xml:space="preserve">카드 </a:t>
            </a:r>
            <a:r>
              <a:rPr lang="en-US" altLang="ko-KR" sz="1200" dirty="0"/>
              <a:t xml:space="preserve">/ </a:t>
            </a:r>
            <a:r>
              <a:rPr lang="ko-KR" altLang="en-US" sz="1200" dirty="0"/>
              <a:t xml:space="preserve">증권 </a:t>
            </a:r>
            <a:r>
              <a:rPr lang="en-US" altLang="ko-KR" sz="1200" dirty="0"/>
              <a:t xml:space="preserve">/ </a:t>
            </a:r>
            <a:r>
              <a:rPr lang="ko-KR" altLang="en-US" sz="1200" dirty="0"/>
              <a:t xml:space="preserve">보험 </a:t>
            </a:r>
            <a:r>
              <a:rPr lang="en-US" altLang="ko-KR" sz="1200" dirty="0"/>
              <a:t xml:space="preserve">/ </a:t>
            </a:r>
            <a:r>
              <a:rPr lang="ko-KR" altLang="en-US" sz="1200" dirty="0"/>
              <a:t xml:space="preserve">헬스케어 </a:t>
            </a:r>
            <a:r>
              <a:rPr lang="en-US" altLang="ko-KR" sz="1200" dirty="0"/>
              <a:t xml:space="preserve">/ </a:t>
            </a:r>
            <a:r>
              <a:rPr lang="ko-KR" altLang="en-US" sz="1200" dirty="0"/>
              <a:t>병원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 xml:space="preserve">→ </a:t>
            </a:r>
            <a:r>
              <a:rPr lang="ko-KR" altLang="en-US" sz="1200" dirty="0"/>
              <a:t>각자 자체 고객번호 보유</a:t>
            </a:r>
          </a:p>
          <a:p>
            <a:r>
              <a:rPr lang="ko-KR" altLang="en-US" sz="1200" dirty="0"/>
              <a:t>→ 직접 통합 불가</a:t>
            </a:r>
            <a:endParaRPr lang="en-US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r>
              <a:rPr lang="ko-KR" altLang="en-US" sz="1200" b="1" dirty="0"/>
              <a:t xml:space="preserve">사전 준비사항 </a:t>
            </a:r>
            <a:endParaRPr lang="en-KR" altLang="ko-KR" sz="1200" b="1" dirty="0"/>
          </a:p>
          <a:p>
            <a:endParaRPr lang="en-KR" altLang="ko-KR" sz="1200" dirty="0"/>
          </a:p>
          <a:p>
            <a:r>
              <a:rPr lang="en-US" altLang="ko-KR" sz="1200" dirty="0"/>
              <a:t xml:space="preserve">1. </a:t>
            </a:r>
            <a:r>
              <a:rPr lang="ko-KR" altLang="en-US" sz="1200" dirty="0"/>
              <a:t xml:space="preserve">고객 </a:t>
            </a:r>
            <a:r>
              <a:rPr lang="en-US" altLang="ko-KR" sz="1200" dirty="0"/>
              <a:t>100</a:t>
            </a:r>
            <a:r>
              <a:rPr lang="ko-KR" altLang="en-US" sz="1200" dirty="0"/>
              <a:t>만명 기본 마스터</a:t>
            </a:r>
          </a:p>
          <a:p>
            <a:r>
              <a:rPr lang="en-US" altLang="ko-KR" sz="1200" dirty="0"/>
              <a:t xml:space="preserve">2. </a:t>
            </a:r>
            <a:r>
              <a:rPr lang="ko-KR" altLang="en-US" sz="1200" b="1" dirty="0"/>
              <a:t>계열사별 고객번호 생성</a:t>
            </a:r>
          </a:p>
          <a:p>
            <a:r>
              <a:rPr lang="en-US" altLang="ko-KR" sz="1200" dirty="0"/>
              <a:t xml:space="preserve">3. Global ID </a:t>
            </a:r>
            <a:r>
              <a:rPr lang="ko-KR" altLang="en-US" sz="1200" dirty="0"/>
              <a:t>생성</a:t>
            </a:r>
          </a:p>
          <a:p>
            <a:r>
              <a:rPr lang="en-US" altLang="ko-KR" sz="1200" dirty="0"/>
              <a:t xml:space="preserve">4. </a:t>
            </a:r>
            <a:r>
              <a:rPr lang="ko-KR" altLang="en-US" sz="1200" dirty="0"/>
              <a:t>고객 매핑 테이블</a:t>
            </a:r>
          </a:p>
          <a:p>
            <a:r>
              <a:rPr lang="en-US" altLang="ko-KR" sz="1200" dirty="0"/>
              <a:t xml:space="preserve">5. </a:t>
            </a:r>
            <a:r>
              <a:rPr lang="ko-KR" altLang="en-US" sz="1200" dirty="0"/>
              <a:t>계열사별 업무 데이터 생성</a:t>
            </a:r>
          </a:p>
          <a:p>
            <a:r>
              <a:rPr lang="en-US" altLang="ko-KR" sz="1200" dirty="0"/>
              <a:t xml:space="preserve">6. </a:t>
            </a:r>
            <a:r>
              <a:rPr lang="ko-KR" altLang="en-US" sz="1200" dirty="0"/>
              <a:t>개인정보 비식별화</a:t>
            </a:r>
          </a:p>
          <a:p>
            <a:r>
              <a:rPr lang="en-US" altLang="ko-KR" sz="1200" dirty="0"/>
              <a:t xml:space="preserve">7. Consent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 xml:space="preserve">8. AI </a:t>
            </a:r>
            <a:r>
              <a:rPr lang="ko-KR" altLang="en-US" sz="1200" dirty="0"/>
              <a:t xml:space="preserve">학습용 </a:t>
            </a:r>
            <a:r>
              <a:rPr lang="en-US" altLang="ko-KR" sz="1200" dirty="0"/>
              <a:t xml:space="preserve">Label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 xml:space="preserve">9. Raw / Processed / Curated </a:t>
            </a:r>
            <a:r>
              <a:rPr lang="ko-KR" altLang="en-US" sz="1200" dirty="0"/>
              <a:t>분리 적재</a:t>
            </a:r>
          </a:p>
          <a:p>
            <a:r>
              <a:rPr lang="en-US" altLang="ko-KR" sz="1200" dirty="0"/>
              <a:t xml:space="preserve">10. </a:t>
            </a:r>
            <a:r>
              <a:rPr lang="ko-KR" altLang="en-US" sz="1200" dirty="0"/>
              <a:t>품질 검증</a:t>
            </a:r>
            <a:endParaRPr lang="en-KR" altLang="ko-KR" sz="1200" dirty="0"/>
          </a:p>
        </p:txBody>
      </p:sp>
      <p:sp>
        <p:nvSpPr>
          <p:cNvPr id="66" name="Google Shape;261;g3d6e2211149_2_228">
            <a:extLst>
              <a:ext uri="{FF2B5EF4-FFF2-40B4-BE49-F238E27FC236}">
                <a16:creationId xmlns:a16="http://schemas.microsoft.com/office/drawing/2014/main" id="{28765B3D-C494-0747-9CD4-7E31BC1DD0CC}"/>
              </a:ext>
            </a:extLst>
          </p:cNvPr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6F2AFB-153A-7244-96B5-2614D9745CF0}"/>
              </a:ext>
            </a:extLst>
          </p:cNvPr>
          <p:cNvGraphicFramePr>
            <a:graphicFrameLocks noGrp="1"/>
          </p:cNvGraphicFramePr>
          <p:nvPr/>
        </p:nvGraphicFramePr>
        <p:xfrm>
          <a:off x="5267739" y="1375849"/>
          <a:ext cx="4373217" cy="2103120"/>
        </p:xfrm>
        <a:graphic>
          <a:graphicData uri="http://schemas.openxmlformats.org/drawingml/2006/table">
            <a:tbl>
              <a:tblPr/>
              <a:tblGrid>
                <a:gridCol w="944217">
                  <a:extLst>
                    <a:ext uri="{9D8B030D-6E8A-4147-A177-3AD203B41FA5}">
                      <a16:colId xmlns:a16="http://schemas.microsoft.com/office/drawing/2014/main" val="2448541916"/>
                    </a:ext>
                  </a:extLst>
                </a:gridCol>
                <a:gridCol w="636105">
                  <a:extLst>
                    <a:ext uri="{9D8B030D-6E8A-4147-A177-3AD203B41FA5}">
                      <a16:colId xmlns:a16="http://schemas.microsoft.com/office/drawing/2014/main" val="993369259"/>
                    </a:ext>
                  </a:extLst>
                </a:gridCol>
                <a:gridCol w="983974">
                  <a:extLst>
                    <a:ext uri="{9D8B030D-6E8A-4147-A177-3AD203B41FA5}">
                      <a16:colId xmlns:a16="http://schemas.microsoft.com/office/drawing/2014/main" val="3097622275"/>
                    </a:ext>
                  </a:extLst>
                </a:gridCol>
                <a:gridCol w="1808921">
                  <a:extLst>
                    <a:ext uri="{9D8B030D-6E8A-4147-A177-3AD203B41FA5}">
                      <a16:colId xmlns:a16="http://schemas.microsoft.com/office/drawing/2014/main" val="26264937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계열사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가입률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가입 고객수</a:t>
                      </a:r>
                      <a:endParaRPr lang="en-US" altLang="ko-KR" sz="1000" b="1"/>
                    </a:p>
                    <a:p>
                      <a:pPr algn="ctr"/>
                      <a:r>
                        <a:rPr lang="en-US" altLang="ko-KR" sz="1000" b="1"/>
                        <a:t>(100</a:t>
                      </a:r>
                      <a:r>
                        <a:rPr lang="ko-KR" altLang="en-US" sz="1000" b="1"/>
                        <a:t>만 기준</a:t>
                      </a:r>
                      <a:r>
                        <a:rPr lang="en-US" altLang="ko-KR" sz="1000" b="1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941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은행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1,000,000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전체 고객 기본 계좌 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9975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700,000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이용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5146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500,000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 가입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568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온라인보험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250,000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디지털 보험 이용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607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병원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200,000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병원 진료 이력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889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헬스케어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300,000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 서비스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294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증권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250,000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9053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8DF6B04-0E41-2F48-A594-ED6CEE7C2F01}"/>
              </a:ext>
            </a:extLst>
          </p:cNvPr>
          <p:cNvSpPr txBox="1"/>
          <p:nvPr/>
        </p:nvSpPr>
        <p:spPr>
          <a:xfrm>
            <a:off x="5197752" y="1031046"/>
            <a:ext cx="35780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계열사별 고객 수 산정 기준 </a:t>
            </a:r>
            <a:endParaRPr lang="en-US" altLang="ko-KR" sz="1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8753AD-A714-F64F-860E-80F2723E9BDE}"/>
              </a:ext>
            </a:extLst>
          </p:cNvPr>
          <p:cNvSpPr txBox="1"/>
          <p:nvPr/>
        </p:nvSpPr>
        <p:spPr>
          <a:xfrm>
            <a:off x="5197752" y="3598946"/>
            <a:ext cx="59241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v"/>
            </a:pPr>
            <a:r>
              <a:rPr lang="en-KR" sz="1000"/>
              <a:t>100만 고객 기준,</a:t>
            </a:r>
            <a:r>
              <a:rPr lang="ko-KR" altLang="en-US" sz="1000"/>
              <a:t xml:space="preserve"> </a:t>
            </a:r>
            <a:r>
              <a:rPr lang="en-KR" sz="1000"/>
              <a:t>은행 100만 / 카드 70만 / 보험 50만 / 온라인보험 25만 / 병원 20만 / 헬스케어 30만 / 증권 25만명</a:t>
            </a:r>
            <a:r>
              <a:rPr lang="ko-KR" altLang="en-US" sz="1000"/>
              <a:t xml:space="preserve"> 수준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178625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사전 구축 사항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B97484-FCD5-FF46-8BFB-93E4F0096251}"/>
              </a:ext>
            </a:extLst>
          </p:cNvPr>
          <p:cNvSpPr txBox="1"/>
          <p:nvPr/>
        </p:nvSpPr>
        <p:spPr>
          <a:xfrm>
            <a:off x="265805" y="1087023"/>
            <a:ext cx="454082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사전 조건</a:t>
            </a:r>
            <a:endParaRPr lang="en-US" sz="1200" b="1" dirty="0"/>
          </a:p>
          <a:p>
            <a:endParaRPr lang="en-US" dirty="0"/>
          </a:p>
          <a:p>
            <a:r>
              <a:rPr lang="en-US" sz="1200" dirty="0"/>
              <a:t xml:space="preserve">LifeSync360 </a:t>
            </a:r>
            <a:r>
              <a:rPr lang="ko-KR" altLang="en-US" sz="1200" dirty="0"/>
              <a:t>데이터 통합 인프라 구축 전에</a:t>
            </a:r>
            <a:br>
              <a:rPr lang="ko-KR" altLang="en-US" sz="1200" dirty="0"/>
            </a:br>
            <a:r>
              <a:rPr lang="ko-KR" altLang="en-US" sz="1200" dirty="0"/>
              <a:t xml:space="preserve">반드시 </a:t>
            </a:r>
            <a:r>
              <a:rPr lang="en-US" altLang="ko-KR" sz="1200" dirty="0"/>
              <a:t>"</a:t>
            </a:r>
            <a:r>
              <a:rPr lang="ko-KR" altLang="en-US" sz="1200" dirty="0"/>
              <a:t>대표 그룹 고객 식별자</a:t>
            </a:r>
            <a:r>
              <a:rPr lang="en-US" altLang="ko-KR" sz="1200" dirty="0"/>
              <a:t>(</a:t>
            </a:r>
            <a:r>
              <a:rPr lang="en-US" sz="1200" dirty="0"/>
              <a:t xml:space="preserve">Global ID)" </a:t>
            </a:r>
            <a:r>
              <a:rPr lang="ko-KR" altLang="en-US" sz="1200" dirty="0"/>
              <a:t>체계 필요</a:t>
            </a:r>
            <a:endParaRPr lang="en-US" altLang="ko-KR" sz="1200" dirty="0"/>
          </a:p>
          <a:p>
            <a:endParaRPr lang="en-US" sz="1200" dirty="0"/>
          </a:p>
          <a:p>
            <a:r>
              <a:rPr lang="en-US" sz="1200" dirty="0"/>
              <a:t>Group VM (</a:t>
            </a:r>
            <a:r>
              <a:rPr lang="ko-KR" altLang="en-US" sz="1200" dirty="0"/>
              <a:t xml:space="preserve">은행 </a:t>
            </a:r>
            <a:r>
              <a:rPr lang="en-US" altLang="ko-KR" sz="1200" dirty="0"/>
              <a:t xml:space="preserve">/ </a:t>
            </a:r>
            <a:r>
              <a:rPr lang="ko-KR" altLang="en-US" sz="1200" dirty="0"/>
              <a:t xml:space="preserve">카드 </a:t>
            </a:r>
            <a:r>
              <a:rPr lang="en-US" altLang="ko-KR" sz="1200" dirty="0"/>
              <a:t xml:space="preserve">/ </a:t>
            </a:r>
            <a:r>
              <a:rPr lang="ko-KR" altLang="en-US" sz="1200" dirty="0"/>
              <a:t xml:space="preserve">증권 </a:t>
            </a:r>
            <a:r>
              <a:rPr lang="en-US" altLang="ko-KR" sz="1200" dirty="0"/>
              <a:t xml:space="preserve">/ </a:t>
            </a:r>
            <a:r>
              <a:rPr lang="ko-KR" altLang="en-US" sz="1200" dirty="0"/>
              <a:t xml:space="preserve">보험 </a:t>
            </a:r>
            <a:r>
              <a:rPr lang="en-US" altLang="ko-KR" sz="1200" dirty="0"/>
              <a:t xml:space="preserve">/ </a:t>
            </a:r>
            <a:r>
              <a:rPr lang="ko-KR" altLang="en-US" sz="1200" dirty="0"/>
              <a:t xml:space="preserve">헬스케어 </a:t>
            </a:r>
            <a:r>
              <a:rPr lang="en-US" altLang="ko-KR" sz="1200" dirty="0"/>
              <a:t xml:space="preserve">/ </a:t>
            </a:r>
            <a:r>
              <a:rPr lang="ko-KR" altLang="en-US" sz="1200" dirty="0"/>
              <a:t>병원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 xml:space="preserve">→ </a:t>
            </a:r>
            <a:r>
              <a:rPr lang="ko-KR" altLang="en-US" sz="1200" dirty="0"/>
              <a:t>각자 자체 고객번호 보유</a:t>
            </a:r>
          </a:p>
          <a:p>
            <a:r>
              <a:rPr lang="ko-KR" altLang="en-US" sz="1200" dirty="0"/>
              <a:t>→ 직접 통합 불가</a:t>
            </a:r>
            <a:endParaRPr lang="en-US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r>
              <a:rPr lang="ko-KR" altLang="en-US" sz="1200" b="1" dirty="0"/>
              <a:t xml:space="preserve">사전 준비사항 </a:t>
            </a:r>
            <a:endParaRPr lang="en-KR" altLang="ko-KR" sz="1200" b="1" dirty="0"/>
          </a:p>
          <a:p>
            <a:endParaRPr lang="en-KR" altLang="ko-KR" sz="1200" dirty="0"/>
          </a:p>
          <a:p>
            <a:r>
              <a:rPr lang="en-US" altLang="ko-KR" sz="1200" dirty="0"/>
              <a:t xml:space="preserve">1. </a:t>
            </a:r>
            <a:r>
              <a:rPr lang="ko-KR" altLang="en-US" sz="1200" dirty="0"/>
              <a:t xml:space="preserve">고객 </a:t>
            </a:r>
            <a:r>
              <a:rPr lang="en-US" altLang="ko-KR" sz="1200" dirty="0"/>
              <a:t>100</a:t>
            </a:r>
            <a:r>
              <a:rPr lang="ko-KR" altLang="en-US" sz="1200" dirty="0"/>
              <a:t>만명 기본 마스터</a:t>
            </a:r>
          </a:p>
          <a:p>
            <a:r>
              <a:rPr lang="en-US" altLang="ko-KR" sz="1200" dirty="0"/>
              <a:t xml:space="preserve">2. </a:t>
            </a:r>
            <a:r>
              <a:rPr lang="ko-KR" altLang="en-US" sz="1200" dirty="0"/>
              <a:t>계열사별 고객번호 생성</a:t>
            </a:r>
          </a:p>
          <a:p>
            <a:r>
              <a:rPr lang="en-US" altLang="ko-KR" sz="1200" dirty="0"/>
              <a:t xml:space="preserve">3. </a:t>
            </a:r>
            <a:r>
              <a:rPr lang="en-US" altLang="ko-KR" sz="1200" b="1" dirty="0"/>
              <a:t xml:space="preserve">Global ID </a:t>
            </a:r>
            <a:r>
              <a:rPr lang="ko-KR" altLang="en-US" sz="1200" b="1" dirty="0"/>
              <a:t>생성</a:t>
            </a:r>
          </a:p>
          <a:p>
            <a:r>
              <a:rPr lang="en-US" altLang="ko-KR" sz="1200" b="1" dirty="0"/>
              <a:t xml:space="preserve">4. </a:t>
            </a:r>
            <a:r>
              <a:rPr lang="ko-KR" altLang="en-US" sz="1200" b="1" dirty="0"/>
              <a:t>고객 매핑 테이블</a:t>
            </a:r>
          </a:p>
          <a:p>
            <a:r>
              <a:rPr lang="en-US" altLang="ko-KR" sz="1200" dirty="0"/>
              <a:t xml:space="preserve">5. </a:t>
            </a:r>
            <a:r>
              <a:rPr lang="ko-KR" altLang="en-US" sz="1200" dirty="0"/>
              <a:t>계열사별 업무 데이터 생성</a:t>
            </a:r>
          </a:p>
          <a:p>
            <a:r>
              <a:rPr lang="en-US" altLang="ko-KR" sz="1200" dirty="0"/>
              <a:t xml:space="preserve">6. </a:t>
            </a:r>
            <a:r>
              <a:rPr lang="ko-KR" altLang="en-US" sz="1200" dirty="0"/>
              <a:t>개인정보 비식별화</a:t>
            </a:r>
          </a:p>
          <a:p>
            <a:r>
              <a:rPr lang="en-US" altLang="ko-KR" sz="1200" dirty="0"/>
              <a:t xml:space="preserve">7. Consent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 xml:space="preserve">8. AI </a:t>
            </a:r>
            <a:r>
              <a:rPr lang="ko-KR" altLang="en-US" sz="1200" dirty="0"/>
              <a:t xml:space="preserve">학습용 </a:t>
            </a:r>
            <a:r>
              <a:rPr lang="en-US" altLang="ko-KR" sz="1200" dirty="0"/>
              <a:t xml:space="preserve">Label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 xml:space="preserve">9. Raw / Processed / Curated </a:t>
            </a:r>
            <a:r>
              <a:rPr lang="ko-KR" altLang="en-US" sz="1200" dirty="0"/>
              <a:t>분리 적재</a:t>
            </a:r>
          </a:p>
          <a:p>
            <a:r>
              <a:rPr lang="en-US" altLang="ko-KR" sz="1200" dirty="0"/>
              <a:t xml:space="preserve">10. </a:t>
            </a:r>
            <a:r>
              <a:rPr lang="ko-KR" altLang="en-US" sz="1200" dirty="0"/>
              <a:t>품질 검증</a:t>
            </a:r>
            <a:endParaRPr lang="en-KR" altLang="ko-KR" sz="1200" dirty="0"/>
          </a:p>
        </p:txBody>
      </p:sp>
      <p:sp>
        <p:nvSpPr>
          <p:cNvPr id="66" name="Google Shape;261;g3d6e2211149_2_228">
            <a:extLst>
              <a:ext uri="{FF2B5EF4-FFF2-40B4-BE49-F238E27FC236}">
                <a16:creationId xmlns:a16="http://schemas.microsoft.com/office/drawing/2014/main" id="{28765B3D-C494-0747-9CD4-7E31BC1DD0CC}"/>
              </a:ext>
            </a:extLst>
          </p:cNvPr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0774AA-9367-0046-AAE1-BB6297180C2B}"/>
              </a:ext>
            </a:extLst>
          </p:cNvPr>
          <p:cNvGraphicFramePr>
            <a:graphicFrameLocks noGrp="1"/>
          </p:cNvGraphicFramePr>
          <p:nvPr/>
        </p:nvGraphicFramePr>
        <p:xfrm>
          <a:off x="5253011" y="1631142"/>
          <a:ext cx="5684819" cy="792480"/>
        </p:xfrm>
        <a:graphic>
          <a:graphicData uri="http://schemas.openxmlformats.org/drawingml/2006/table">
            <a:tbl>
              <a:tblPr/>
              <a:tblGrid>
                <a:gridCol w="653427">
                  <a:extLst>
                    <a:ext uri="{9D8B030D-6E8A-4147-A177-3AD203B41FA5}">
                      <a16:colId xmlns:a16="http://schemas.microsoft.com/office/drawing/2014/main" val="339809117"/>
                    </a:ext>
                  </a:extLst>
                </a:gridCol>
                <a:gridCol w="2348145">
                  <a:extLst>
                    <a:ext uri="{9D8B030D-6E8A-4147-A177-3AD203B41FA5}">
                      <a16:colId xmlns:a16="http://schemas.microsoft.com/office/drawing/2014/main" val="1209137879"/>
                    </a:ext>
                  </a:extLst>
                </a:gridCol>
                <a:gridCol w="914978">
                  <a:extLst>
                    <a:ext uri="{9D8B030D-6E8A-4147-A177-3AD203B41FA5}">
                      <a16:colId xmlns:a16="http://schemas.microsoft.com/office/drawing/2014/main" val="2444264296"/>
                    </a:ext>
                  </a:extLst>
                </a:gridCol>
                <a:gridCol w="1768269">
                  <a:extLst>
                    <a:ext uri="{9D8B030D-6E8A-4147-A177-3AD203B41FA5}">
                      <a16:colId xmlns:a16="http://schemas.microsoft.com/office/drawing/2014/main" val="536531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순서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파일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산출물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138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STEP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lifesync360_pre_customer_data.py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 xml:space="preserve">고객 </a:t>
                      </a:r>
                      <a:r>
                        <a:rPr lang="en-US" altLang="ko-KR" sz="1000"/>
                        <a:t>100</a:t>
                      </a:r>
                      <a:r>
                        <a:rPr lang="ko-KR" altLang="en-US" sz="1000"/>
                        <a:t>만명 마스터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customer_master.csv / customer_identity_map.csv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1622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51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사전 구축 사항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B97484-FCD5-FF46-8BFB-93E4F0096251}"/>
              </a:ext>
            </a:extLst>
          </p:cNvPr>
          <p:cNvSpPr txBox="1"/>
          <p:nvPr/>
        </p:nvSpPr>
        <p:spPr>
          <a:xfrm>
            <a:off x="265805" y="1087023"/>
            <a:ext cx="454082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사전 조건</a:t>
            </a:r>
            <a:endParaRPr lang="en-US" sz="1200" b="1" dirty="0"/>
          </a:p>
          <a:p>
            <a:endParaRPr lang="en-US" dirty="0"/>
          </a:p>
          <a:p>
            <a:r>
              <a:rPr lang="en-US" sz="1200" dirty="0"/>
              <a:t xml:space="preserve">LifeSync360 </a:t>
            </a:r>
            <a:r>
              <a:rPr lang="ko-KR" altLang="en-US" sz="1200" dirty="0"/>
              <a:t>데이터 통합 인프라 구축 전에</a:t>
            </a:r>
            <a:br>
              <a:rPr lang="ko-KR" altLang="en-US" sz="1200" dirty="0"/>
            </a:br>
            <a:r>
              <a:rPr lang="ko-KR" altLang="en-US" sz="1200" dirty="0"/>
              <a:t xml:space="preserve">반드시 </a:t>
            </a:r>
            <a:r>
              <a:rPr lang="en-US" altLang="ko-KR" sz="1200" dirty="0"/>
              <a:t>"</a:t>
            </a:r>
            <a:r>
              <a:rPr lang="ko-KR" altLang="en-US" sz="1200" dirty="0"/>
              <a:t>대표 그룹 고객 식별자</a:t>
            </a:r>
            <a:r>
              <a:rPr lang="en-US" altLang="ko-KR" sz="1200" dirty="0"/>
              <a:t>(</a:t>
            </a:r>
            <a:r>
              <a:rPr lang="en-US" sz="1200" dirty="0"/>
              <a:t xml:space="preserve">Global ID)" </a:t>
            </a:r>
            <a:r>
              <a:rPr lang="ko-KR" altLang="en-US" sz="1200" dirty="0"/>
              <a:t>체계 필요</a:t>
            </a:r>
            <a:endParaRPr lang="en-US" altLang="ko-KR" sz="1200" dirty="0"/>
          </a:p>
          <a:p>
            <a:endParaRPr lang="en-US" sz="1200" dirty="0"/>
          </a:p>
          <a:p>
            <a:r>
              <a:rPr lang="en-US" sz="1200" dirty="0"/>
              <a:t>Group VM (</a:t>
            </a:r>
            <a:r>
              <a:rPr lang="ko-KR" altLang="en-US" sz="1200" dirty="0"/>
              <a:t xml:space="preserve">은행 </a:t>
            </a:r>
            <a:r>
              <a:rPr lang="en-US" altLang="ko-KR" sz="1200" dirty="0"/>
              <a:t xml:space="preserve">/ </a:t>
            </a:r>
            <a:r>
              <a:rPr lang="ko-KR" altLang="en-US" sz="1200" dirty="0"/>
              <a:t xml:space="preserve">카드 </a:t>
            </a:r>
            <a:r>
              <a:rPr lang="en-US" altLang="ko-KR" sz="1200" dirty="0"/>
              <a:t xml:space="preserve">/ </a:t>
            </a:r>
            <a:r>
              <a:rPr lang="ko-KR" altLang="en-US" sz="1200" dirty="0"/>
              <a:t xml:space="preserve">증권 </a:t>
            </a:r>
            <a:r>
              <a:rPr lang="en-US" altLang="ko-KR" sz="1200" dirty="0"/>
              <a:t xml:space="preserve">/ </a:t>
            </a:r>
            <a:r>
              <a:rPr lang="ko-KR" altLang="en-US" sz="1200" dirty="0"/>
              <a:t xml:space="preserve">보험 </a:t>
            </a:r>
            <a:r>
              <a:rPr lang="en-US" altLang="ko-KR" sz="1200" dirty="0"/>
              <a:t xml:space="preserve">/ </a:t>
            </a:r>
            <a:r>
              <a:rPr lang="ko-KR" altLang="en-US" sz="1200" dirty="0"/>
              <a:t xml:space="preserve">헬스케어 </a:t>
            </a:r>
            <a:r>
              <a:rPr lang="en-US" altLang="ko-KR" sz="1200" dirty="0"/>
              <a:t xml:space="preserve">/ </a:t>
            </a:r>
            <a:r>
              <a:rPr lang="ko-KR" altLang="en-US" sz="1200" dirty="0"/>
              <a:t>병원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 xml:space="preserve">→ </a:t>
            </a:r>
            <a:r>
              <a:rPr lang="ko-KR" altLang="en-US" sz="1200" dirty="0"/>
              <a:t>각자 자체 고객번호 보유</a:t>
            </a:r>
          </a:p>
          <a:p>
            <a:r>
              <a:rPr lang="ko-KR" altLang="en-US" sz="1200" dirty="0"/>
              <a:t>→ 직접 통합 불가</a:t>
            </a:r>
            <a:endParaRPr lang="en-US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r>
              <a:rPr lang="ko-KR" altLang="en-US" sz="1200" b="1" dirty="0"/>
              <a:t xml:space="preserve">사전 준비사항 </a:t>
            </a:r>
            <a:endParaRPr lang="en-KR" altLang="ko-KR" sz="1200" b="1" dirty="0"/>
          </a:p>
          <a:p>
            <a:endParaRPr lang="en-KR" altLang="ko-KR" sz="1200" dirty="0"/>
          </a:p>
          <a:p>
            <a:r>
              <a:rPr lang="en-US" altLang="ko-KR" sz="1200" dirty="0"/>
              <a:t xml:space="preserve">1. </a:t>
            </a:r>
            <a:r>
              <a:rPr lang="ko-KR" altLang="en-US" sz="1200" dirty="0"/>
              <a:t xml:space="preserve">고객 </a:t>
            </a:r>
            <a:r>
              <a:rPr lang="en-US" altLang="ko-KR" sz="1200" dirty="0"/>
              <a:t>100</a:t>
            </a:r>
            <a:r>
              <a:rPr lang="ko-KR" altLang="en-US" sz="1200" dirty="0"/>
              <a:t>만명 기본 마스터</a:t>
            </a:r>
          </a:p>
          <a:p>
            <a:r>
              <a:rPr lang="en-US" altLang="ko-KR" sz="1200" dirty="0"/>
              <a:t xml:space="preserve">2. </a:t>
            </a:r>
            <a:r>
              <a:rPr lang="ko-KR" altLang="en-US" sz="1200" dirty="0"/>
              <a:t>계열사별 고객번호 생성</a:t>
            </a:r>
          </a:p>
          <a:p>
            <a:r>
              <a:rPr lang="en-US" altLang="ko-KR" sz="1200" dirty="0"/>
              <a:t xml:space="preserve">3. Global ID </a:t>
            </a:r>
            <a:r>
              <a:rPr lang="ko-KR" altLang="en-US" sz="1200" dirty="0"/>
              <a:t>생성</a:t>
            </a:r>
          </a:p>
          <a:p>
            <a:r>
              <a:rPr lang="en-US" altLang="ko-KR" sz="1200" dirty="0"/>
              <a:t xml:space="preserve">4. </a:t>
            </a:r>
            <a:r>
              <a:rPr lang="ko-KR" altLang="en-US" sz="1200" dirty="0"/>
              <a:t>고객 매핑 테이블</a:t>
            </a:r>
          </a:p>
          <a:p>
            <a:r>
              <a:rPr lang="en-US" altLang="ko-KR" sz="1200" dirty="0"/>
              <a:t xml:space="preserve">5. </a:t>
            </a:r>
            <a:r>
              <a:rPr lang="ko-KR" altLang="en-US" sz="1200" b="1" dirty="0"/>
              <a:t>계열사별 업무 데이터 생성</a:t>
            </a:r>
          </a:p>
          <a:p>
            <a:r>
              <a:rPr lang="en-US" altLang="ko-KR" sz="1200" dirty="0"/>
              <a:t xml:space="preserve">6. </a:t>
            </a:r>
            <a:r>
              <a:rPr lang="ko-KR" altLang="en-US" sz="1200" dirty="0"/>
              <a:t>개인정보 비식별화</a:t>
            </a:r>
          </a:p>
          <a:p>
            <a:r>
              <a:rPr lang="en-US" altLang="ko-KR" sz="1200" dirty="0"/>
              <a:t xml:space="preserve">7. Consent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 xml:space="preserve">8. AI </a:t>
            </a:r>
            <a:r>
              <a:rPr lang="ko-KR" altLang="en-US" sz="1200" dirty="0"/>
              <a:t xml:space="preserve">학습용 </a:t>
            </a:r>
            <a:r>
              <a:rPr lang="en-US" altLang="ko-KR" sz="1200" dirty="0"/>
              <a:t xml:space="preserve">Label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 xml:space="preserve">9. Raw / Processed / Curated </a:t>
            </a:r>
            <a:r>
              <a:rPr lang="ko-KR" altLang="en-US" sz="1200" dirty="0"/>
              <a:t>분리 적재</a:t>
            </a:r>
          </a:p>
          <a:p>
            <a:r>
              <a:rPr lang="en-US" altLang="ko-KR" sz="1200" dirty="0"/>
              <a:t xml:space="preserve">10. </a:t>
            </a:r>
            <a:r>
              <a:rPr lang="ko-KR" altLang="en-US" sz="1200" dirty="0"/>
              <a:t>품질 검증</a:t>
            </a:r>
            <a:endParaRPr lang="en-KR" altLang="ko-KR" sz="1200" dirty="0"/>
          </a:p>
        </p:txBody>
      </p:sp>
      <p:sp>
        <p:nvSpPr>
          <p:cNvPr id="66" name="Google Shape;261;g3d6e2211149_2_228">
            <a:extLst>
              <a:ext uri="{FF2B5EF4-FFF2-40B4-BE49-F238E27FC236}">
                <a16:creationId xmlns:a16="http://schemas.microsoft.com/office/drawing/2014/main" id="{28765B3D-C494-0747-9CD4-7E31BC1DD0CC}"/>
              </a:ext>
            </a:extLst>
          </p:cNvPr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B295179-D937-6840-AD9D-874AC4AEEF12}"/>
              </a:ext>
            </a:extLst>
          </p:cNvPr>
          <p:cNvGraphicFramePr>
            <a:graphicFrameLocks noGrp="1"/>
          </p:cNvGraphicFramePr>
          <p:nvPr/>
        </p:nvGraphicFramePr>
        <p:xfrm>
          <a:off x="5253011" y="1087023"/>
          <a:ext cx="5684819" cy="640080"/>
        </p:xfrm>
        <a:graphic>
          <a:graphicData uri="http://schemas.openxmlformats.org/drawingml/2006/table">
            <a:tbl>
              <a:tblPr/>
              <a:tblGrid>
                <a:gridCol w="653427">
                  <a:extLst>
                    <a:ext uri="{9D8B030D-6E8A-4147-A177-3AD203B41FA5}">
                      <a16:colId xmlns:a16="http://schemas.microsoft.com/office/drawing/2014/main" val="339809117"/>
                    </a:ext>
                  </a:extLst>
                </a:gridCol>
                <a:gridCol w="2348145">
                  <a:extLst>
                    <a:ext uri="{9D8B030D-6E8A-4147-A177-3AD203B41FA5}">
                      <a16:colId xmlns:a16="http://schemas.microsoft.com/office/drawing/2014/main" val="1209137879"/>
                    </a:ext>
                  </a:extLst>
                </a:gridCol>
                <a:gridCol w="914978">
                  <a:extLst>
                    <a:ext uri="{9D8B030D-6E8A-4147-A177-3AD203B41FA5}">
                      <a16:colId xmlns:a16="http://schemas.microsoft.com/office/drawing/2014/main" val="2444264296"/>
                    </a:ext>
                  </a:extLst>
                </a:gridCol>
                <a:gridCol w="1768269">
                  <a:extLst>
                    <a:ext uri="{9D8B030D-6E8A-4147-A177-3AD203B41FA5}">
                      <a16:colId xmlns:a16="http://schemas.microsoft.com/office/drawing/2014/main" val="536531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순서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파일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산출물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138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STEP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lifesync360_pre_generator_data.py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계열사 업무 데이터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bank/card/insurance/... json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361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79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사전 구축 사항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B97484-FCD5-FF46-8BFB-93E4F0096251}"/>
              </a:ext>
            </a:extLst>
          </p:cNvPr>
          <p:cNvSpPr txBox="1"/>
          <p:nvPr/>
        </p:nvSpPr>
        <p:spPr>
          <a:xfrm>
            <a:off x="265805" y="1087023"/>
            <a:ext cx="4540824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사전 조건</a:t>
            </a:r>
            <a:endParaRPr lang="en-US" sz="1200" b="1"/>
          </a:p>
          <a:p>
            <a:endParaRPr lang="en-US"/>
          </a:p>
          <a:p>
            <a:r>
              <a:rPr lang="en-US" sz="1200"/>
              <a:t xml:space="preserve">AI </a:t>
            </a:r>
            <a:r>
              <a:rPr lang="ko-KR" altLang="en-US" sz="1200"/>
              <a:t>추천 플랫폼용 대규모 시뮬레이션 데이터셋 구축</a:t>
            </a:r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현실적인 금융</a:t>
            </a:r>
            <a:r>
              <a:rPr lang="en-US" altLang="ko-KR" sz="1200"/>
              <a:t>·</a:t>
            </a:r>
            <a:r>
              <a:rPr lang="ko-KR" altLang="en-US" sz="1200"/>
              <a:t>보험</a:t>
            </a:r>
            <a:r>
              <a:rPr lang="en-US" altLang="ko-KR" sz="1200"/>
              <a:t>·</a:t>
            </a:r>
            <a:r>
              <a:rPr lang="ko-KR" altLang="en-US" sz="1200"/>
              <a:t>헬스 상품 구조</a:t>
            </a:r>
            <a:r>
              <a:rPr lang="en-US" altLang="ko-KR" sz="1200"/>
              <a:t>,</a:t>
            </a:r>
            <a:r>
              <a:rPr lang="ko-KR" altLang="en-US" sz="1200"/>
              <a:t xml:space="preserve"> 고객 등급 및 행동 기반 추천 </a:t>
            </a:r>
            <a:r>
              <a:rPr lang="en-US" sz="1200"/>
              <a:t>Rule,</a:t>
            </a:r>
            <a:r>
              <a:rPr lang="ko-KR" altLang="en-US" sz="1200"/>
              <a:t xml:space="preserve"> 교차판매 흐름</a:t>
            </a:r>
            <a:r>
              <a:rPr lang="en-US" altLang="ko-KR" sz="1200"/>
              <a:t>,</a:t>
            </a:r>
            <a:r>
              <a:rPr lang="ko-KR" altLang="en-US" sz="1200"/>
              <a:t xml:space="preserve"> 대규모 추천 이력과 행동 로그를 생성할 수 있는 </a:t>
            </a:r>
            <a:r>
              <a:rPr lang="en-US" sz="1200"/>
              <a:t xml:space="preserve">AI </a:t>
            </a:r>
            <a:r>
              <a:rPr lang="ko-KR" altLang="en-US" sz="1200"/>
              <a:t>학습형 데이터 구조를 사전에 정의하는 것</a:t>
            </a:r>
            <a:endParaRPr lang="en-KR" altLang="ko-KR" sz="1200"/>
          </a:p>
          <a:p>
            <a:endParaRPr lang="en-KR" altLang="ko-KR" sz="1200"/>
          </a:p>
          <a:p>
            <a:endParaRPr lang="en-KR" altLang="ko-KR" sz="1200"/>
          </a:p>
          <a:p>
            <a:endParaRPr lang="en-KR" altLang="ko-KR" sz="1200"/>
          </a:p>
          <a:p>
            <a:endParaRPr lang="en-KR" altLang="ko-KR" sz="1200"/>
          </a:p>
          <a:p>
            <a:r>
              <a:rPr lang="ko-KR" altLang="en-US" sz="1200" b="1"/>
              <a:t xml:space="preserve">데이터 준비 프로세스 </a:t>
            </a:r>
            <a:endParaRPr lang="en-KR" altLang="ko-KR" sz="1200" b="1"/>
          </a:p>
          <a:p>
            <a:endParaRPr lang="en-KR" altLang="ko-KR" sz="1200"/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회사 정의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카테고리 정의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 xml:space="preserve">상품 </a:t>
            </a:r>
            <a:r>
              <a:rPr lang="en-US" altLang="ko-KR" sz="1200"/>
              <a:t xml:space="preserve">Base Pool </a:t>
            </a:r>
            <a:r>
              <a:rPr lang="ko-KR" altLang="en-US" sz="1200"/>
              <a:t>정의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/>
              <a:t xml:space="preserve">Variant </a:t>
            </a:r>
            <a:r>
              <a:rPr lang="ko-KR" altLang="en-US" sz="1200"/>
              <a:t>생성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/>
              <a:t xml:space="preserve">Option </a:t>
            </a:r>
            <a:r>
              <a:rPr lang="ko-KR" altLang="en-US" sz="1200"/>
              <a:t>생성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 xml:space="preserve">추천 </a:t>
            </a:r>
            <a:r>
              <a:rPr lang="en-US" altLang="ko-KR" sz="1200"/>
              <a:t xml:space="preserve">Rule </a:t>
            </a:r>
            <a:r>
              <a:rPr lang="ko-KR" altLang="en-US" sz="1200"/>
              <a:t>생성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 xml:space="preserve">교차판매 </a:t>
            </a:r>
            <a:r>
              <a:rPr lang="en-US" altLang="ko-KR" sz="1200"/>
              <a:t xml:space="preserve">Rule </a:t>
            </a:r>
            <a:r>
              <a:rPr lang="ko-KR" altLang="en-US" sz="1200"/>
              <a:t>생성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캠페인 생성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고객 데이터 준비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추천 이력 생성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행동 로그 생성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/>
              <a:t xml:space="preserve">AI </a:t>
            </a:r>
            <a:r>
              <a:rPr lang="ko-KR" altLang="en-US" sz="1200"/>
              <a:t>학습 데이터 생성</a:t>
            </a:r>
            <a:endParaRPr lang="en-KR" altLang="ko-KR" sz="1200"/>
          </a:p>
        </p:txBody>
      </p:sp>
      <p:sp>
        <p:nvSpPr>
          <p:cNvPr id="66" name="Google Shape;261;g3d6e2211149_2_228">
            <a:extLst>
              <a:ext uri="{FF2B5EF4-FFF2-40B4-BE49-F238E27FC236}">
                <a16:creationId xmlns:a16="http://schemas.microsoft.com/office/drawing/2014/main" id="{28765B3D-C494-0747-9CD4-7E31BC1DD0CC}"/>
              </a:ext>
            </a:extLst>
          </p:cNvPr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DB92E5-12E5-4C41-9812-C73F6382F65E}"/>
              </a:ext>
            </a:extLst>
          </p:cNvPr>
          <p:cNvSpPr txBox="1"/>
          <p:nvPr/>
        </p:nvSpPr>
        <p:spPr>
          <a:xfrm>
            <a:off x="5181269" y="1087023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데이터 생성 기준 </a:t>
            </a:r>
            <a:endParaRPr lang="en-US" altLang="ko-KR" sz="1000" b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41BB41-A0E9-714D-BE5D-368939CA5645}"/>
              </a:ext>
            </a:extLst>
          </p:cNvPr>
          <p:cNvGraphicFramePr>
            <a:graphicFrameLocks noGrp="1"/>
          </p:cNvGraphicFramePr>
          <p:nvPr/>
        </p:nvGraphicFramePr>
        <p:xfrm>
          <a:off x="5181269" y="1533107"/>
          <a:ext cx="5680213" cy="2468880"/>
        </p:xfrm>
        <a:graphic>
          <a:graphicData uri="http://schemas.openxmlformats.org/drawingml/2006/table">
            <a:tbl>
              <a:tblPr/>
              <a:tblGrid>
                <a:gridCol w="1941987">
                  <a:extLst>
                    <a:ext uri="{9D8B030D-6E8A-4147-A177-3AD203B41FA5}">
                      <a16:colId xmlns:a16="http://schemas.microsoft.com/office/drawing/2014/main" val="1294198791"/>
                    </a:ext>
                  </a:extLst>
                </a:gridCol>
                <a:gridCol w="1941987">
                  <a:extLst>
                    <a:ext uri="{9D8B030D-6E8A-4147-A177-3AD203B41FA5}">
                      <a16:colId xmlns:a16="http://schemas.microsoft.com/office/drawing/2014/main" val="2112798271"/>
                    </a:ext>
                  </a:extLst>
                </a:gridCol>
                <a:gridCol w="1796239">
                  <a:extLst>
                    <a:ext uri="{9D8B030D-6E8A-4147-A177-3AD203B41FA5}">
                      <a16:colId xmlns:a16="http://schemas.microsoft.com/office/drawing/2014/main" val="13457559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생성 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권장 건수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435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company_master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계열사 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986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category_master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상품 분류 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10~15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0333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product_master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추천 대상 상품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920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product_option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상품별 속성</a:t>
                      </a:r>
                      <a:r>
                        <a:rPr lang="en-US" altLang="ko-KR" sz="1000"/>
                        <a:t>/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30,000~60,000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516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등급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점수 기반 추천 규칙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100~300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0952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cross_sell_rule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교차판매 규칙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30~50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24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campaign_master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배너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마케팅 캠페인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100~300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175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customer_recommend_history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고객별 추천 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100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8732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customer_dashboard_log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클릭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조회 행동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500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~1,000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124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81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회원 가입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 – 1/3)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AC636-E2F6-4240-B37A-4633CB613AE8}"/>
              </a:ext>
            </a:extLst>
          </p:cNvPr>
          <p:cNvSpPr txBox="1"/>
          <p:nvPr/>
        </p:nvSpPr>
        <p:spPr>
          <a:xfrm>
            <a:off x="5273094" y="386463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회원가입 프로세스 </a:t>
            </a:r>
            <a:endParaRPr lang="en-US" altLang="ko-KR" sz="1200" b="1"/>
          </a:p>
        </p:txBody>
      </p:sp>
      <p:sp>
        <p:nvSpPr>
          <p:cNvPr id="6" name="Google Shape;242;g3d6e2211149_2_228">
            <a:extLst>
              <a:ext uri="{FF2B5EF4-FFF2-40B4-BE49-F238E27FC236}">
                <a16:creationId xmlns:a16="http://schemas.microsoft.com/office/drawing/2014/main" id="{C61062AC-94D4-D546-9A95-81C2060035FC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243;g3d6e2211149_2_228">
            <a:extLst>
              <a:ext uri="{FF2B5EF4-FFF2-40B4-BE49-F238E27FC236}">
                <a16:creationId xmlns:a16="http://schemas.microsoft.com/office/drawing/2014/main" id="{29DF72EB-FAF1-7D4D-AA4D-98BC9FB3FA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50;g3d6e2211149_2_228">
            <a:extLst>
              <a:ext uri="{FF2B5EF4-FFF2-40B4-BE49-F238E27FC236}">
                <a16:creationId xmlns:a16="http://schemas.microsoft.com/office/drawing/2014/main" id="{D31C1B76-19AE-DD41-8C04-1424139CE4DA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9" name="Google Shape;251;g3d6e2211149_2_228" descr="VPC group icon. ">
            <a:extLst>
              <a:ext uri="{FF2B5EF4-FFF2-40B4-BE49-F238E27FC236}">
                <a16:creationId xmlns:a16="http://schemas.microsoft.com/office/drawing/2014/main" id="{4EAF9554-892C-1B4C-B94B-FD10610E24C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52;g3d6e2211149_2_228">
            <a:extLst>
              <a:ext uri="{FF2B5EF4-FFF2-40B4-BE49-F238E27FC236}">
                <a16:creationId xmlns:a16="http://schemas.microsoft.com/office/drawing/2014/main" id="{875D047C-81A3-F74C-BDE9-625A56EB24C0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1" name="Google Shape;253;g3d6e2211149_2_228" descr="Public subnet group icon. ">
            <a:extLst>
              <a:ext uri="{FF2B5EF4-FFF2-40B4-BE49-F238E27FC236}">
                <a16:creationId xmlns:a16="http://schemas.microsoft.com/office/drawing/2014/main" id="{DBBC18D6-6DEA-1B47-BB83-9FBB1F08418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728024DE-278D-D94F-AF3C-FF8A2EB6302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55;g3d6e2211149_2_228">
            <a:extLst>
              <a:ext uri="{FF2B5EF4-FFF2-40B4-BE49-F238E27FC236}">
                <a16:creationId xmlns:a16="http://schemas.microsoft.com/office/drawing/2014/main" id="{C634C07A-0C14-7B4C-9662-D88B6A563EB3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14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58896AD2-6848-9E47-BCBB-FB65D08A151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284;g3d6e2211149_2_228">
            <a:extLst>
              <a:ext uri="{FF2B5EF4-FFF2-40B4-BE49-F238E27FC236}">
                <a16:creationId xmlns:a16="http://schemas.microsoft.com/office/drawing/2014/main" id="{C9AD99F9-3D25-8D4F-BC8D-F84B09D42F14}"/>
              </a:ext>
            </a:extLst>
          </p:cNvPr>
          <p:cNvCxnSpPr>
            <a:stCxn id="16" idx="3"/>
            <a:endCxn id="14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6" name="Google Shape;285;g3d6e2211149_2_228" descr="AWS WAF service icon.">
            <a:extLst>
              <a:ext uri="{FF2B5EF4-FFF2-40B4-BE49-F238E27FC236}">
                <a16:creationId xmlns:a16="http://schemas.microsoft.com/office/drawing/2014/main" id="{AFE531DC-4118-D740-9BE3-E172187EFE3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86;g3d6e2211149_2_228">
            <a:extLst>
              <a:ext uri="{FF2B5EF4-FFF2-40B4-BE49-F238E27FC236}">
                <a16:creationId xmlns:a16="http://schemas.microsoft.com/office/drawing/2014/main" id="{8D946425-A99F-5F42-8E13-6168B6F2CAED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8" name="Google Shape;287;g3d6e2211149_2_228">
            <a:extLst>
              <a:ext uri="{FF2B5EF4-FFF2-40B4-BE49-F238E27FC236}">
                <a16:creationId xmlns:a16="http://schemas.microsoft.com/office/drawing/2014/main" id="{792FAD3D-392D-3B4B-99A7-BF9A309E1F57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19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DECAE6B-CCFF-F14A-B754-1F4C4829DA9F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97;g3d6e2211149_2_228">
            <a:extLst>
              <a:ext uri="{FF2B5EF4-FFF2-40B4-BE49-F238E27FC236}">
                <a16:creationId xmlns:a16="http://schemas.microsoft.com/office/drawing/2014/main" id="{BFB2D6AB-0229-924B-B19D-3CADB5497DC2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21" name="Google Shape;298;g3d6e2211149_2_228">
            <a:extLst>
              <a:ext uri="{FF2B5EF4-FFF2-40B4-BE49-F238E27FC236}">
                <a16:creationId xmlns:a16="http://schemas.microsoft.com/office/drawing/2014/main" id="{32F28B4C-C8DE-1F45-916D-BB4B7F76214D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" name="Google Shape;303;g3d6e2211149_2_228">
            <a:extLst>
              <a:ext uri="{FF2B5EF4-FFF2-40B4-BE49-F238E27FC236}">
                <a16:creationId xmlns:a16="http://schemas.microsoft.com/office/drawing/2014/main" id="{9CFDF0EC-685E-EA4F-9657-2A7693EF50AC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2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D048C6B-42AF-084D-AB11-884A8FDC812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305;g3d6e2211149_2_228">
            <a:extLst>
              <a:ext uri="{FF2B5EF4-FFF2-40B4-BE49-F238E27FC236}">
                <a16:creationId xmlns:a16="http://schemas.microsoft.com/office/drawing/2014/main" id="{24EDF9BF-AD28-C340-BC56-38AE1B1CD475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25" name="Google Shape;306;g3d6e2211149_2_228">
            <a:extLst>
              <a:ext uri="{FF2B5EF4-FFF2-40B4-BE49-F238E27FC236}">
                <a16:creationId xmlns:a16="http://schemas.microsoft.com/office/drawing/2014/main" id="{CB53A03E-72C2-0E45-9B63-3949EB1A153D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8FBB591D-9607-3149-9730-C4E0B17AAE20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41;g3d6e2211149_2_228">
            <a:extLst>
              <a:ext uri="{FF2B5EF4-FFF2-40B4-BE49-F238E27FC236}">
                <a16:creationId xmlns:a16="http://schemas.microsoft.com/office/drawing/2014/main" id="{5F5B86E9-A1A9-7F41-8E1D-F55F2A8AACAE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28" name="Google Shape;342;g3d6e2211149_2_228" descr="Private subnet group icon. ">
            <a:extLst>
              <a:ext uri="{FF2B5EF4-FFF2-40B4-BE49-F238E27FC236}">
                <a16:creationId xmlns:a16="http://schemas.microsoft.com/office/drawing/2014/main" id="{12E01C97-2BD0-0642-8100-123955E02070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347;g3d6e2211149_2_228" descr="AWS Auto Scaling service icon.">
            <a:extLst>
              <a:ext uri="{FF2B5EF4-FFF2-40B4-BE49-F238E27FC236}">
                <a16:creationId xmlns:a16="http://schemas.microsoft.com/office/drawing/2014/main" id="{02EA3924-BC01-A444-9C98-7839A6BEE987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66;g3d6e2211149_2_228">
            <a:extLst>
              <a:ext uri="{FF2B5EF4-FFF2-40B4-BE49-F238E27FC236}">
                <a16:creationId xmlns:a16="http://schemas.microsoft.com/office/drawing/2014/main" id="{D937D98F-A166-2C4C-8708-0AAF82345475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1" name="Google Shape;366;g3d6e2211149_2_228">
            <a:extLst>
              <a:ext uri="{FF2B5EF4-FFF2-40B4-BE49-F238E27FC236}">
                <a16:creationId xmlns:a16="http://schemas.microsoft.com/office/drawing/2014/main" id="{BF611E9D-8549-1940-9026-3FA9C6D1071E}"/>
              </a:ext>
            </a:extLst>
          </p:cNvPr>
          <p:cNvCxnSpPr>
            <a:cxnSpLocks/>
            <a:stCxn id="61" idx="0"/>
            <a:endCxn id="25" idx="2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02DE4006-08C6-E14E-9345-6E61BA316946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244;g3d6e2211149_2_228">
            <a:extLst>
              <a:ext uri="{FF2B5EF4-FFF2-40B4-BE49-F238E27FC236}">
                <a16:creationId xmlns:a16="http://schemas.microsoft.com/office/drawing/2014/main" id="{1E3EE837-1D58-ED4D-A7C1-79FA3C7235AA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F037BB-85A1-044D-8C5F-CD33936AD1F9}"/>
              </a:ext>
            </a:extLst>
          </p:cNvPr>
          <p:cNvSpPr txBox="1"/>
          <p:nvPr/>
        </p:nvSpPr>
        <p:spPr>
          <a:xfrm>
            <a:off x="5257270" y="4230045"/>
            <a:ext cx="3838396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 xml:space="preserve">STEP 1. </a:t>
            </a:r>
            <a:r>
              <a:rPr lang="en-US" altLang="ko-KR" sz="1100"/>
              <a:t>LifeSync360</a:t>
            </a:r>
            <a:r>
              <a:rPr lang="ko-KR" altLang="en-US" sz="1100"/>
              <a:t xml:space="preserve"> 회원 가입 </a:t>
            </a:r>
            <a:r>
              <a:rPr lang="en-US" altLang="ko-KR" sz="1100"/>
              <a:t>-&gt;</a:t>
            </a:r>
            <a:r>
              <a:rPr lang="ko-KR" altLang="en-US" sz="1100"/>
              <a:t xml:space="preserve"> 회원가입 </a:t>
            </a:r>
            <a:r>
              <a:rPr lang="en-US" altLang="ko-KR" sz="1100"/>
              <a:t>API</a:t>
            </a:r>
            <a:r>
              <a:rPr lang="ko-KR" altLang="en-US" sz="1100"/>
              <a:t xml:space="preserve"> 요청</a:t>
            </a:r>
            <a:endParaRPr lang="en-US" altLang="ko-KR" sz="1100"/>
          </a:p>
          <a:p>
            <a:endParaRPr lang="en-US" altLang="ko-KR" sz="1100"/>
          </a:p>
          <a:p>
            <a:r>
              <a:rPr lang="en-US" sz="1100"/>
              <a:t xml:space="preserve">STEP 2. </a:t>
            </a:r>
            <a:r>
              <a:rPr lang="ko-KR" altLang="en-US" sz="1100"/>
              <a:t xml:space="preserve">회원 계정 생성 </a:t>
            </a:r>
            <a:r>
              <a:rPr lang="en-US" altLang="ko-KR" sz="1100"/>
              <a:t>(users)</a:t>
            </a:r>
            <a:endParaRPr lang="en-US" sz="1100"/>
          </a:p>
          <a:p>
            <a:r>
              <a:rPr lang="en-US" sz="1100"/>
              <a:t xml:space="preserve">LifeSync user_id </a:t>
            </a:r>
            <a:r>
              <a:rPr lang="ko-KR" altLang="en-US" sz="1100"/>
              <a:t>생성</a:t>
            </a:r>
            <a:r>
              <a:rPr lang="ko-KR" altLang="en-US" sz="1000"/>
              <a:t xml:space="preserve"> </a:t>
            </a:r>
            <a:r>
              <a:rPr lang="en-US" altLang="ko-KR" sz="1000"/>
              <a:t>(</a:t>
            </a:r>
            <a:r>
              <a:rPr lang="ko-KR" altLang="en-US" sz="1000"/>
              <a:t>플랫폼 내부 회원번호</a:t>
            </a:r>
            <a:r>
              <a:rPr lang="en-US" altLang="ko-KR" sz="1000"/>
              <a:t>)</a:t>
            </a:r>
          </a:p>
          <a:p>
            <a:endParaRPr lang="en-US" sz="1100"/>
          </a:p>
          <a:p>
            <a:endParaRPr lang="en-US" sz="1100"/>
          </a:p>
          <a:p>
            <a:endParaRPr lang="en-US" sz="1100"/>
          </a:p>
          <a:p>
            <a:r>
              <a:rPr lang="en-US" sz="1100"/>
              <a:t>STEP 3.</a:t>
            </a:r>
            <a:r>
              <a:rPr lang="en-US" sz="1400"/>
              <a:t xml:space="preserve"> </a:t>
            </a:r>
            <a:r>
              <a:rPr lang="en-US" sz="1100"/>
              <a:t xml:space="preserve">PII </a:t>
            </a:r>
            <a:r>
              <a:rPr lang="ko-KR" altLang="en-US" sz="1100"/>
              <a:t>암호화 저장</a:t>
            </a:r>
            <a:endParaRPr lang="en-US" altLang="ko-KR" sz="1100"/>
          </a:p>
          <a:p>
            <a:r>
              <a:rPr lang="en-US" sz="1100"/>
              <a:t xml:space="preserve">PII Token </a:t>
            </a:r>
            <a:r>
              <a:rPr lang="ko-KR" altLang="en-US" sz="1100"/>
              <a:t>생성</a:t>
            </a:r>
            <a:endParaRPr lang="en-US" sz="1100"/>
          </a:p>
        </p:txBody>
      </p: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3AF7E3B0-DD71-7845-A42B-3A7EC1825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711403"/>
              </p:ext>
            </p:extLst>
          </p:nvPr>
        </p:nvGraphicFramePr>
        <p:xfrm>
          <a:off x="9866670" y="1527616"/>
          <a:ext cx="2188236" cy="1463040"/>
        </p:xfrm>
        <a:graphic>
          <a:graphicData uri="http://schemas.openxmlformats.org/drawingml/2006/table">
            <a:tbl>
              <a:tblPr/>
              <a:tblGrid>
                <a:gridCol w="2188236">
                  <a:extLst>
                    <a:ext uri="{9D8B030D-6E8A-4147-A177-3AD203B41FA5}">
                      <a16:colId xmlns:a16="http://schemas.microsoft.com/office/drawing/2014/main" val="28755453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900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1984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성별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9075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주민번호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4748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이메일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4353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주소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7836948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CF48CA14-95EF-C045-8CF9-28AAAE96AD7D}"/>
              </a:ext>
            </a:extLst>
          </p:cNvPr>
          <p:cNvSpPr txBox="1"/>
          <p:nvPr/>
        </p:nvSpPr>
        <p:spPr>
          <a:xfrm>
            <a:off x="9776158" y="1197307"/>
            <a:ext cx="23692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>회원 입력 정보</a:t>
            </a:r>
            <a:endParaRPr lang="en-KR" sz="1000" b="1"/>
          </a:p>
        </p:txBody>
      </p:sp>
      <p:pic>
        <p:nvPicPr>
          <p:cNvPr id="61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9BEF6711-E99E-614B-BBBD-20C1D0BE9B0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249;g3d6e2211149_2_228">
            <a:extLst>
              <a:ext uri="{FF2B5EF4-FFF2-40B4-BE49-F238E27FC236}">
                <a16:creationId xmlns:a16="http://schemas.microsoft.com/office/drawing/2014/main" id="{E929E475-BA18-D84D-ABB6-FDABB846C500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cxnSp>
        <p:nvCxnSpPr>
          <p:cNvPr id="65" name="Google Shape;366;g3d6e2211149_2_228">
            <a:extLst>
              <a:ext uri="{FF2B5EF4-FFF2-40B4-BE49-F238E27FC236}">
                <a16:creationId xmlns:a16="http://schemas.microsoft.com/office/drawing/2014/main" id="{E5E85B16-80C2-8940-957A-4A41752C9548}"/>
              </a:ext>
            </a:extLst>
          </p:cNvPr>
          <p:cNvCxnSpPr>
            <a:cxnSpLocks/>
            <a:endCxn id="61" idx="1"/>
          </p:cNvCxnSpPr>
          <p:nvPr/>
        </p:nvCxnSpPr>
        <p:spPr>
          <a:xfrm flipV="1">
            <a:off x="3468399" y="3450315"/>
            <a:ext cx="445506" cy="140554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67" name="Google Shape;303;g3d6896b4338_0_0">
            <a:extLst>
              <a:ext uri="{FF2B5EF4-FFF2-40B4-BE49-F238E27FC236}">
                <a16:creationId xmlns:a16="http://schemas.microsoft.com/office/drawing/2014/main" id="{A5E8CFA3-00DB-194F-90D6-79719D83736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3FA98FE-E543-5549-AFAB-A0C2872B186D}"/>
              </a:ext>
            </a:extLst>
          </p:cNvPr>
          <p:cNvSpPr txBox="1"/>
          <p:nvPr/>
        </p:nvSpPr>
        <p:spPr>
          <a:xfrm>
            <a:off x="5237741" y="5010820"/>
            <a:ext cx="23692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LS000000001</a:t>
            </a:r>
            <a:endParaRPr lang="en-KR" sz="1000" dirty="0"/>
          </a:p>
        </p:txBody>
      </p:sp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7A3D5340-C60A-6743-BB40-692736CB5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616097"/>
              </p:ext>
            </p:extLst>
          </p:nvPr>
        </p:nvGraphicFramePr>
        <p:xfrm>
          <a:off x="9122792" y="3936002"/>
          <a:ext cx="2921794" cy="1463040"/>
        </p:xfrm>
        <a:graphic>
          <a:graphicData uri="http://schemas.openxmlformats.org/drawingml/2006/table">
            <a:tbl>
              <a:tblPr/>
              <a:tblGrid>
                <a:gridCol w="1460897">
                  <a:extLst>
                    <a:ext uri="{9D8B030D-6E8A-4147-A177-3AD203B41FA5}">
                      <a16:colId xmlns:a16="http://schemas.microsoft.com/office/drawing/2014/main" val="406909774"/>
                    </a:ext>
                  </a:extLst>
                </a:gridCol>
                <a:gridCol w="1460897">
                  <a:extLst>
                    <a:ext uri="{9D8B030D-6E8A-4147-A177-3AD203B41FA5}">
                      <a16:colId xmlns:a16="http://schemas.microsoft.com/office/drawing/2014/main" val="1440918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58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ls_user_id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플랫폼 회원번호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70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login_id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이메일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휴대폰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219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password_hash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085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join_dt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가입일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209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2211055"/>
                  </a:ext>
                </a:extLst>
              </a:tr>
            </a:tbl>
          </a:graphicData>
        </a:graphic>
      </p:graphicFrame>
      <p:pic>
        <p:nvPicPr>
          <p:cNvPr id="54" name="Google Shape;275;g3d6e2211149_2_228" descr="Amazon Aurora service icon.">
            <a:extLst>
              <a:ext uri="{FF2B5EF4-FFF2-40B4-BE49-F238E27FC236}">
                <a16:creationId xmlns:a16="http://schemas.microsoft.com/office/drawing/2014/main" id="{5E53ABA3-5385-1240-A436-B14199E96094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76;g3d6e2211149_2_228">
            <a:extLst>
              <a:ext uri="{FF2B5EF4-FFF2-40B4-BE49-F238E27FC236}">
                <a16:creationId xmlns:a16="http://schemas.microsoft.com/office/drawing/2014/main" id="{208F2DFD-02DE-E94B-80C9-F5910532321B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57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76DA72C7-A401-6344-98BE-0B73123D41EF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280;g3d6e2211149_2_228">
            <a:extLst>
              <a:ext uri="{FF2B5EF4-FFF2-40B4-BE49-F238E27FC236}">
                <a16:creationId xmlns:a16="http://schemas.microsoft.com/office/drawing/2014/main" id="{4B6440C8-FA0B-2B41-85E5-6AA5F64933E6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59" name="Google Shape;294;g3d6e2211149_2_228" descr="AWS Lambda service icon.">
            <a:extLst>
              <a:ext uri="{FF2B5EF4-FFF2-40B4-BE49-F238E27FC236}">
                <a16:creationId xmlns:a16="http://schemas.microsoft.com/office/drawing/2014/main" id="{4CEDF51D-8E1D-6F44-81EE-64C9B3382D11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295;g3d6e2211149_2_228">
            <a:extLst>
              <a:ext uri="{FF2B5EF4-FFF2-40B4-BE49-F238E27FC236}">
                <a16:creationId xmlns:a16="http://schemas.microsoft.com/office/drawing/2014/main" id="{6CE3589C-3938-464D-9EEC-A78503935EB5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63" name="Google Shape;341;g3d6e2211149_2_228">
            <a:extLst>
              <a:ext uri="{FF2B5EF4-FFF2-40B4-BE49-F238E27FC236}">
                <a16:creationId xmlns:a16="http://schemas.microsoft.com/office/drawing/2014/main" id="{C6262E59-3E91-504C-9B56-3F8B94219F44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64" name="Google Shape;342;g3d6e2211149_2_228" descr="Private subnet group icon. ">
            <a:extLst>
              <a:ext uri="{FF2B5EF4-FFF2-40B4-BE49-F238E27FC236}">
                <a16:creationId xmlns:a16="http://schemas.microsoft.com/office/drawing/2014/main" id="{1BDA2F82-0723-824A-A817-F2E514439169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B283BEDF-F488-EF47-9821-3B7E92466943}"/>
              </a:ext>
            </a:extLst>
          </p:cNvPr>
          <p:cNvCxnSpPr>
            <a:cxnSpLocks/>
            <a:stCxn id="72" idx="2"/>
            <a:endCxn id="74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70" name="Google Shape;303;g3d6896b4338_0_0">
            <a:extLst>
              <a:ext uri="{FF2B5EF4-FFF2-40B4-BE49-F238E27FC236}">
                <a16:creationId xmlns:a16="http://schemas.microsoft.com/office/drawing/2014/main" id="{2991D291-A257-7D48-B515-2160190A6BCA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238;g3d6e2211149_2_228">
            <a:extLst>
              <a:ext uri="{FF2B5EF4-FFF2-40B4-BE49-F238E27FC236}">
                <a16:creationId xmlns:a16="http://schemas.microsoft.com/office/drawing/2014/main" id="{1502E787-D7DD-7C49-AA9E-25C73EEF47CA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(Local VM)</a:t>
            </a:r>
            <a:endParaRPr/>
          </a:p>
        </p:txBody>
      </p:sp>
      <p:sp>
        <p:nvSpPr>
          <p:cNvPr id="72" name="Google Shape;300;g3d6e2211149_2_228">
            <a:extLst>
              <a:ext uri="{FF2B5EF4-FFF2-40B4-BE49-F238E27FC236}">
                <a16:creationId xmlns:a16="http://schemas.microsoft.com/office/drawing/2014/main" id="{C0AE1030-2E6F-A141-A97E-D265FC9C0EB1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73" name="Google Shape;302;g3d6e2211149_2_228">
            <a:extLst>
              <a:ext uri="{FF2B5EF4-FFF2-40B4-BE49-F238E27FC236}">
                <a16:creationId xmlns:a16="http://schemas.microsoft.com/office/drawing/2014/main" id="{F4D25F0E-E164-8F48-B797-D90A8DA83AE3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74" name="Google Shape;302;g3d6e2211149_2_228">
            <a:extLst>
              <a:ext uri="{FF2B5EF4-FFF2-40B4-BE49-F238E27FC236}">
                <a16:creationId xmlns:a16="http://schemas.microsoft.com/office/drawing/2014/main" id="{9B90E5B6-8730-B749-956E-64817CB44027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75" name="Picture 2" descr="VirtualBox macOS BigSur - free Icon PNG, SVG">
            <a:extLst>
              <a:ext uri="{FF2B5EF4-FFF2-40B4-BE49-F238E27FC236}">
                <a16:creationId xmlns:a16="http://schemas.microsoft.com/office/drawing/2014/main" id="{41A902AC-1C8C-C04F-B738-997BDDACB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2" descr="VirtualBox macOS BigSur - free Icon PNG, SVG">
            <a:extLst>
              <a:ext uri="{FF2B5EF4-FFF2-40B4-BE49-F238E27FC236}">
                <a16:creationId xmlns:a16="http://schemas.microsoft.com/office/drawing/2014/main" id="{2AF7E63F-DFDE-F44B-9FC0-580051FC0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2" descr="VirtualBox macOS BigSur - free Icon PNG, SVG">
            <a:extLst>
              <a:ext uri="{FF2B5EF4-FFF2-40B4-BE49-F238E27FC236}">
                <a16:creationId xmlns:a16="http://schemas.microsoft.com/office/drawing/2014/main" id="{AFF9E131-F1AE-2A48-923D-1B17C5B9A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04B72562-9B63-BF49-A571-F36EE82CF97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64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회원 가입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 – 2/3)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AC636-E2F6-4240-B37A-4633CB613AE8}"/>
              </a:ext>
            </a:extLst>
          </p:cNvPr>
          <p:cNvSpPr txBox="1"/>
          <p:nvPr/>
        </p:nvSpPr>
        <p:spPr>
          <a:xfrm>
            <a:off x="6024004" y="3264809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회원가입 프로세스 </a:t>
            </a:r>
            <a:endParaRPr lang="en-US" altLang="ko-KR" sz="1200" b="1"/>
          </a:p>
        </p:txBody>
      </p:sp>
      <p:sp>
        <p:nvSpPr>
          <p:cNvPr id="6" name="Google Shape;242;g3d6e2211149_2_228">
            <a:extLst>
              <a:ext uri="{FF2B5EF4-FFF2-40B4-BE49-F238E27FC236}">
                <a16:creationId xmlns:a16="http://schemas.microsoft.com/office/drawing/2014/main" id="{C61062AC-94D4-D546-9A95-81C2060035FC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243;g3d6e2211149_2_228">
            <a:extLst>
              <a:ext uri="{FF2B5EF4-FFF2-40B4-BE49-F238E27FC236}">
                <a16:creationId xmlns:a16="http://schemas.microsoft.com/office/drawing/2014/main" id="{29DF72EB-FAF1-7D4D-AA4D-98BC9FB3FA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66;g3d6e2211149_2_228">
            <a:extLst>
              <a:ext uri="{FF2B5EF4-FFF2-40B4-BE49-F238E27FC236}">
                <a16:creationId xmlns:a16="http://schemas.microsoft.com/office/drawing/2014/main" id="{D937D98F-A166-2C4C-8708-0AAF82345475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9" name="Google Shape;244;g3d6e2211149_2_228">
            <a:extLst>
              <a:ext uri="{FF2B5EF4-FFF2-40B4-BE49-F238E27FC236}">
                <a16:creationId xmlns:a16="http://schemas.microsoft.com/office/drawing/2014/main" id="{1E3EE837-1D58-ED4D-A7C1-79FA3C7235AA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F037BB-85A1-044D-8C5F-CD33936AD1F9}"/>
              </a:ext>
            </a:extLst>
          </p:cNvPr>
          <p:cNvSpPr txBox="1"/>
          <p:nvPr/>
        </p:nvSpPr>
        <p:spPr>
          <a:xfrm>
            <a:off x="6008180" y="3630216"/>
            <a:ext cx="38383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 xml:space="preserve">STEP 4. Global ID </a:t>
            </a:r>
            <a:r>
              <a:rPr lang="ko-KR" altLang="en-US" sz="1100" dirty="0"/>
              <a:t>조회</a:t>
            </a:r>
            <a:endParaRPr lang="en-US" altLang="ko-KR" sz="11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17EE2B-17FD-2C4C-8124-55260C0116C5}"/>
              </a:ext>
            </a:extLst>
          </p:cNvPr>
          <p:cNvSpPr txBox="1"/>
          <p:nvPr/>
        </p:nvSpPr>
        <p:spPr>
          <a:xfrm>
            <a:off x="6109285" y="4043344"/>
            <a:ext cx="23692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/>
              <a:t>조회 테이블</a:t>
            </a:r>
            <a:endParaRPr lang="en-KR" sz="1000" b="1"/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02516781-6209-6F47-995E-5D06BD997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32947"/>
              </p:ext>
            </p:extLst>
          </p:nvPr>
        </p:nvGraphicFramePr>
        <p:xfrm>
          <a:off x="6172157" y="4319409"/>
          <a:ext cx="3711000" cy="1706880"/>
        </p:xfrm>
        <a:graphic>
          <a:graphicData uri="http://schemas.openxmlformats.org/drawingml/2006/table">
            <a:tbl>
              <a:tblPr/>
              <a:tblGrid>
                <a:gridCol w="1855500">
                  <a:extLst>
                    <a:ext uri="{9D8B030D-6E8A-4147-A177-3AD203B41FA5}">
                      <a16:colId xmlns:a16="http://schemas.microsoft.com/office/drawing/2014/main" val="3727468041"/>
                    </a:ext>
                  </a:extLst>
                </a:gridCol>
                <a:gridCol w="1855500">
                  <a:extLst>
                    <a:ext uri="{9D8B030D-6E8A-4147-A177-3AD203B41FA5}">
                      <a16:colId xmlns:a16="http://schemas.microsoft.com/office/drawing/2014/main" val="1612653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447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master_customer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대표 고객 마스터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98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customer_identity_map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계열사 고객번호 매핑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101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customer_pii_secure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실명정보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131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matching_audit_log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매칭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392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customer_360_profile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분석 프로필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470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consent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동의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700030"/>
                  </a:ext>
                </a:extLst>
              </a:tr>
            </a:tbl>
          </a:graphicData>
        </a:graphic>
      </p:graphicFrame>
      <p:pic>
        <p:nvPicPr>
          <p:cNvPr id="61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9BEF6711-E99E-614B-BBBD-20C1D0BE9B0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249;g3d6e2211149_2_228">
            <a:extLst>
              <a:ext uri="{FF2B5EF4-FFF2-40B4-BE49-F238E27FC236}">
                <a16:creationId xmlns:a16="http://schemas.microsoft.com/office/drawing/2014/main" id="{E929E475-BA18-D84D-ABB6-FDABB846C500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cxnSp>
        <p:nvCxnSpPr>
          <p:cNvPr id="65" name="Google Shape;366;g3d6e2211149_2_228">
            <a:extLst>
              <a:ext uri="{FF2B5EF4-FFF2-40B4-BE49-F238E27FC236}">
                <a16:creationId xmlns:a16="http://schemas.microsoft.com/office/drawing/2014/main" id="{E5E85B16-80C2-8940-957A-4A41752C9548}"/>
              </a:ext>
            </a:extLst>
          </p:cNvPr>
          <p:cNvCxnSpPr>
            <a:cxnSpLocks/>
            <a:stCxn id="99" idx="0"/>
          </p:cNvCxnSpPr>
          <p:nvPr/>
        </p:nvCxnSpPr>
        <p:spPr>
          <a:xfrm flipV="1">
            <a:off x="3516034" y="3449089"/>
            <a:ext cx="404439" cy="13435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67" name="Google Shape;303;g3d6896b4338_0_0">
            <a:extLst>
              <a:ext uri="{FF2B5EF4-FFF2-40B4-BE49-F238E27FC236}">
                <a16:creationId xmlns:a16="http://schemas.microsoft.com/office/drawing/2014/main" id="{A5E8CFA3-00DB-194F-90D6-79719D83736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50;g3d6e2211149_2_228">
            <a:extLst>
              <a:ext uri="{FF2B5EF4-FFF2-40B4-BE49-F238E27FC236}">
                <a16:creationId xmlns:a16="http://schemas.microsoft.com/office/drawing/2014/main" id="{6A4365FD-D057-D444-B591-F81E9991668A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54" name="Google Shape;251;g3d6e2211149_2_228" descr="VPC group icon. ">
            <a:extLst>
              <a:ext uri="{FF2B5EF4-FFF2-40B4-BE49-F238E27FC236}">
                <a16:creationId xmlns:a16="http://schemas.microsoft.com/office/drawing/2014/main" id="{08FD03D6-6C32-9A47-BBED-8CB2478EF9F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252;g3d6e2211149_2_228">
            <a:extLst>
              <a:ext uri="{FF2B5EF4-FFF2-40B4-BE49-F238E27FC236}">
                <a16:creationId xmlns:a16="http://schemas.microsoft.com/office/drawing/2014/main" id="{4E1A0979-BCD2-944E-B643-CE35FFA98E26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7" name="Google Shape;253;g3d6e2211149_2_228" descr="Public subnet group icon. ">
            <a:extLst>
              <a:ext uri="{FF2B5EF4-FFF2-40B4-BE49-F238E27FC236}">
                <a16:creationId xmlns:a16="http://schemas.microsoft.com/office/drawing/2014/main" id="{EA66A31C-E715-BB4E-B6C7-F9CD3D43F0C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73C149B6-16C8-034A-AC95-FEAC750C96E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0DCF7A5C-21E7-3B4D-9F60-6898D6E1FF5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284;g3d6e2211149_2_228">
            <a:extLst>
              <a:ext uri="{FF2B5EF4-FFF2-40B4-BE49-F238E27FC236}">
                <a16:creationId xmlns:a16="http://schemas.microsoft.com/office/drawing/2014/main" id="{85E2827A-7B14-D344-84CE-B5E9E123D6A1}"/>
              </a:ext>
            </a:extLst>
          </p:cNvPr>
          <p:cNvCxnSpPr>
            <a:stCxn id="64" idx="3"/>
            <a:endCxn id="60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4" name="Google Shape;285;g3d6e2211149_2_228" descr="AWS WAF service icon.">
            <a:extLst>
              <a:ext uri="{FF2B5EF4-FFF2-40B4-BE49-F238E27FC236}">
                <a16:creationId xmlns:a16="http://schemas.microsoft.com/office/drawing/2014/main" id="{C698368D-7073-CD4B-8E26-71D2D974894B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286;g3d6e2211149_2_228">
            <a:extLst>
              <a:ext uri="{FF2B5EF4-FFF2-40B4-BE49-F238E27FC236}">
                <a16:creationId xmlns:a16="http://schemas.microsoft.com/office/drawing/2014/main" id="{CD82357D-D93E-8244-A0A3-E084F05E855D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68" name="Google Shape;287;g3d6e2211149_2_228">
            <a:extLst>
              <a:ext uri="{FF2B5EF4-FFF2-40B4-BE49-F238E27FC236}">
                <a16:creationId xmlns:a16="http://schemas.microsoft.com/office/drawing/2014/main" id="{DBDB7256-BBB0-3147-8FDB-C61CA481B955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69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21A597F-CF49-EC43-8E40-A0A63BD4797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297;g3d6e2211149_2_228">
            <a:extLst>
              <a:ext uri="{FF2B5EF4-FFF2-40B4-BE49-F238E27FC236}">
                <a16:creationId xmlns:a16="http://schemas.microsoft.com/office/drawing/2014/main" id="{59620B60-F6F6-0441-8B3F-4255BC168528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71" name="Google Shape;298;g3d6e2211149_2_228">
            <a:extLst>
              <a:ext uri="{FF2B5EF4-FFF2-40B4-BE49-F238E27FC236}">
                <a16:creationId xmlns:a16="http://schemas.microsoft.com/office/drawing/2014/main" id="{A9BDCC39-94EE-9843-A893-12477FA7294E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2" name="Google Shape;303;g3d6e2211149_2_228">
            <a:extLst>
              <a:ext uri="{FF2B5EF4-FFF2-40B4-BE49-F238E27FC236}">
                <a16:creationId xmlns:a16="http://schemas.microsoft.com/office/drawing/2014/main" id="{6A535E0C-BFD6-6D41-B7FA-45A7593B9BCF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7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7E5D088-AF66-CE48-A63F-68C112E3B36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305;g3d6e2211149_2_228">
            <a:extLst>
              <a:ext uri="{FF2B5EF4-FFF2-40B4-BE49-F238E27FC236}">
                <a16:creationId xmlns:a16="http://schemas.microsoft.com/office/drawing/2014/main" id="{54CA8660-C3B0-B442-B701-F9247665A6B6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75" name="Google Shape;306;g3d6e2211149_2_228">
            <a:extLst>
              <a:ext uri="{FF2B5EF4-FFF2-40B4-BE49-F238E27FC236}">
                <a16:creationId xmlns:a16="http://schemas.microsoft.com/office/drawing/2014/main" id="{9E8096A4-CF82-1348-BB16-FBA3A7FA1AC3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F01AE951-2A00-7E49-B4B3-17BAA106549A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341;g3d6e2211149_2_228">
            <a:extLst>
              <a:ext uri="{FF2B5EF4-FFF2-40B4-BE49-F238E27FC236}">
                <a16:creationId xmlns:a16="http://schemas.microsoft.com/office/drawing/2014/main" id="{86B6FA15-D23E-FA4A-A3DF-603A6100380E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78" name="Google Shape;342;g3d6e2211149_2_228" descr="Private subnet group icon. ">
            <a:extLst>
              <a:ext uri="{FF2B5EF4-FFF2-40B4-BE49-F238E27FC236}">
                <a16:creationId xmlns:a16="http://schemas.microsoft.com/office/drawing/2014/main" id="{184DD98A-4718-684E-A012-09A59E3047C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347;g3d6e2211149_2_228" descr="AWS Auto Scaling service icon.">
            <a:extLst>
              <a:ext uri="{FF2B5EF4-FFF2-40B4-BE49-F238E27FC236}">
                <a16:creationId xmlns:a16="http://schemas.microsoft.com/office/drawing/2014/main" id="{74F301B2-4305-5A48-ADE3-0D2D6B936463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366;g3d6e2211149_2_228">
            <a:extLst>
              <a:ext uri="{FF2B5EF4-FFF2-40B4-BE49-F238E27FC236}">
                <a16:creationId xmlns:a16="http://schemas.microsoft.com/office/drawing/2014/main" id="{657F0D36-0B28-6A42-90BE-2963172D133E}"/>
              </a:ext>
            </a:extLst>
          </p:cNvPr>
          <p:cNvCxnSpPr>
            <a:cxnSpLocks/>
            <a:endCxn id="75" idx="2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81" name="Google Shape;275;g3d6e2211149_2_228" descr="Amazon Aurora service icon.">
            <a:extLst>
              <a:ext uri="{FF2B5EF4-FFF2-40B4-BE49-F238E27FC236}">
                <a16:creationId xmlns:a16="http://schemas.microsoft.com/office/drawing/2014/main" id="{E6926626-D3C4-254F-A364-AE98EB5282C1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276;g3d6e2211149_2_228">
            <a:extLst>
              <a:ext uri="{FF2B5EF4-FFF2-40B4-BE49-F238E27FC236}">
                <a16:creationId xmlns:a16="http://schemas.microsoft.com/office/drawing/2014/main" id="{F75B4481-CE52-3F40-BD1A-1D83732BF5FA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83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BD02DD27-E28C-BC40-8506-370C7F85B6F8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280;g3d6e2211149_2_228">
            <a:extLst>
              <a:ext uri="{FF2B5EF4-FFF2-40B4-BE49-F238E27FC236}">
                <a16:creationId xmlns:a16="http://schemas.microsoft.com/office/drawing/2014/main" id="{688DC776-6A5A-C344-B7D0-FF4944AA2405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85" name="Google Shape;294;g3d6e2211149_2_228" descr="AWS Lambda service icon.">
            <a:extLst>
              <a:ext uri="{FF2B5EF4-FFF2-40B4-BE49-F238E27FC236}">
                <a16:creationId xmlns:a16="http://schemas.microsoft.com/office/drawing/2014/main" id="{2B0A340A-B97B-C447-968A-01EB841F3D87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295;g3d6e2211149_2_228">
            <a:extLst>
              <a:ext uri="{FF2B5EF4-FFF2-40B4-BE49-F238E27FC236}">
                <a16:creationId xmlns:a16="http://schemas.microsoft.com/office/drawing/2014/main" id="{1C1D5CDC-C4FD-B946-9F7D-00B68C96761C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87" name="Google Shape;341;g3d6e2211149_2_228">
            <a:extLst>
              <a:ext uri="{FF2B5EF4-FFF2-40B4-BE49-F238E27FC236}">
                <a16:creationId xmlns:a16="http://schemas.microsoft.com/office/drawing/2014/main" id="{5A2856B6-1C9C-7643-8C25-D5151B246E03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88" name="Google Shape;342;g3d6e2211149_2_228" descr="Private subnet group icon. ">
            <a:extLst>
              <a:ext uri="{FF2B5EF4-FFF2-40B4-BE49-F238E27FC236}">
                <a16:creationId xmlns:a16="http://schemas.microsoft.com/office/drawing/2014/main" id="{2BC8989E-BDC4-094D-B58B-70027708FCD0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255;g3d6e2211149_2_228">
            <a:extLst>
              <a:ext uri="{FF2B5EF4-FFF2-40B4-BE49-F238E27FC236}">
                <a16:creationId xmlns:a16="http://schemas.microsoft.com/office/drawing/2014/main" id="{C8304F00-0552-1D4B-B506-D80AAA3A1D97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88FDAE97-6EC8-4D47-B328-F54F0DEBBBF9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C2CEAAB0-51D5-864A-8338-A7D43ADD22A9}"/>
              </a:ext>
            </a:extLst>
          </p:cNvPr>
          <p:cNvCxnSpPr>
            <a:cxnSpLocks/>
            <a:stCxn id="94" idx="2"/>
            <a:endCxn id="96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92" name="Google Shape;303;g3d6896b4338_0_0">
            <a:extLst>
              <a:ext uri="{FF2B5EF4-FFF2-40B4-BE49-F238E27FC236}">
                <a16:creationId xmlns:a16="http://schemas.microsoft.com/office/drawing/2014/main" id="{FDE90E1A-C582-2048-84F4-71D2CD701B19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238;g3d6e2211149_2_228">
            <a:extLst>
              <a:ext uri="{FF2B5EF4-FFF2-40B4-BE49-F238E27FC236}">
                <a16:creationId xmlns:a16="http://schemas.microsoft.com/office/drawing/2014/main" id="{3502A3C4-3AAB-204B-86E1-26C1FA05D950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(Local VM)</a:t>
            </a:r>
            <a:endParaRPr/>
          </a:p>
        </p:txBody>
      </p:sp>
      <p:sp>
        <p:nvSpPr>
          <p:cNvPr id="94" name="Google Shape;300;g3d6e2211149_2_228">
            <a:extLst>
              <a:ext uri="{FF2B5EF4-FFF2-40B4-BE49-F238E27FC236}">
                <a16:creationId xmlns:a16="http://schemas.microsoft.com/office/drawing/2014/main" id="{35A2E6AC-D678-8842-B1D8-EF64B4FC4A48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95" name="Google Shape;302;g3d6e2211149_2_228">
            <a:extLst>
              <a:ext uri="{FF2B5EF4-FFF2-40B4-BE49-F238E27FC236}">
                <a16:creationId xmlns:a16="http://schemas.microsoft.com/office/drawing/2014/main" id="{3A50994F-40C8-004B-A60A-2424F246F28B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96" name="Google Shape;302;g3d6e2211149_2_228">
            <a:extLst>
              <a:ext uri="{FF2B5EF4-FFF2-40B4-BE49-F238E27FC236}">
                <a16:creationId xmlns:a16="http://schemas.microsoft.com/office/drawing/2014/main" id="{F8D85830-F15D-0E45-A280-A5C304BFFFEC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97" name="Picture 2" descr="VirtualBox macOS BigSur - free Icon PNG, SVG">
            <a:extLst>
              <a:ext uri="{FF2B5EF4-FFF2-40B4-BE49-F238E27FC236}">
                <a16:creationId xmlns:a16="http://schemas.microsoft.com/office/drawing/2014/main" id="{16BAB303-ACB6-8049-ADD6-03BBF5DCB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2" descr="VirtualBox macOS BigSur - free Icon PNG, SVG">
            <a:extLst>
              <a:ext uri="{FF2B5EF4-FFF2-40B4-BE49-F238E27FC236}">
                <a16:creationId xmlns:a16="http://schemas.microsoft.com/office/drawing/2014/main" id="{EF39B400-5EBE-F741-B48E-813530F2C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2" descr="VirtualBox macOS BigSur - free Icon PNG, SVG">
            <a:extLst>
              <a:ext uri="{FF2B5EF4-FFF2-40B4-BE49-F238E27FC236}">
                <a16:creationId xmlns:a16="http://schemas.microsoft.com/office/drawing/2014/main" id="{4677EA0B-4645-3F4B-A1FC-D9BFC7A44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A62A7ECA-8C75-0146-81B8-A7FE6077FA0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952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회원 가입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 – 3/3)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AC636-E2F6-4240-B37A-4633CB613AE8}"/>
              </a:ext>
            </a:extLst>
          </p:cNvPr>
          <p:cNvSpPr txBox="1"/>
          <p:nvPr/>
        </p:nvSpPr>
        <p:spPr>
          <a:xfrm>
            <a:off x="6319452" y="3242566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회원가입 프로세스 </a:t>
            </a:r>
            <a:endParaRPr lang="en-US" altLang="ko-KR" sz="12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962C36-9773-3744-B21A-6D9C0BAF287F}"/>
              </a:ext>
            </a:extLst>
          </p:cNvPr>
          <p:cNvSpPr txBox="1"/>
          <p:nvPr/>
        </p:nvSpPr>
        <p:spPr>
          <a:xfrm>
            <a:off x="6329588" y="3751440"/>
            <a:ext cx="42331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STEP 5-A</a:t>
            </a:r>
            <a:r>
              <a:rPr lang="en-US" altLang="ko-KR" sz="1000" dirty="0"/>
              <a:t>.</a:t>
            </a:r>
            <a:r>
              <a:rPr lang="ko-KR" altLang="en-US" sz="1000" dirty="0"/>
              <a:t xml:space="preserve"> 기본 고객 이면 </a:t>
            </a:r>
            <a:r>
              <a:rPr lang="en-US" altLang="ko-KR" sz="1000" dirty="0"/>
              <a:t>-&gt;</a:t>
            </a:r>
            <a:r>
              <a:rPr lang="ko-KR" altLang="en-US" sz="1000" dirty="0"/>
              <a:t xml:space="preserve"> 기존 </a:t>
            </a:r>
            <a:r>
              <a:rPr lang="en-US" altLang="ko-KR" sz="1000" dirty="0"/>
              <a:t>Global ID</a:t>
            </a:r>
            <a:r>
              <a:rPr lang="ko-KR" altLang="en-US" sz="1000" dirty="0"/>
              <a:t xml:space="preserve"> 연결</a:t>
            </a:r>
            <a:endParaRPr lang="en-US" altLang="ko-KR" sz="1000" dirty="0"/>
          </a:p>
          <a:p>
            <a:endParaRPr lang="en-US" sz="1000" dirty="0"/>
          </a:p>
          <a:p>
            <a:r>
              <a:rPr lang="en-KR" sz="1000" dirty="0"/>
              <a:t xml:space="preserve">STEP 5-B. </a:t>
            </a:r>
            <a:r>
              <a:rPr lang="ko-KR" altLang="en-US" sz="1000"/>
              <a:t xml:space="preserve">신규 고객이면 </a:t>
            </a:r>
            <a:r>
              <a:rPr lang="en-US" altLang="ko-KR" sz="1000" dirty="0"/>
              <a:t>-&gt;</a:t>
            </a:r>
            <a:r>
              <a:rPr lang="ko-KR" altLang="en-US" sz="1000" dirty="0"/>
              <a:t xml:space="preserve"> 새 </a:t>
            </a:r>
            <a:r>
              <a:rPr lang="en-US" altLang="ko-KR" sz="1000" dirty="0"/>
              <a:t>Global ID</a:t>
            </a:r>
            <a:r>
              <a:rPr lang="ko-KR" altLang="en-US" sz="1000" dirty="0"/>
              <a:t xml:space="preserve"> 생성 및 저장</a:t>
            </a:r>
            <a:endParaRPr lang="en-US" altLang="ko-KR" sz="1000" dirty="0"/>
          </a:p>
          <a:p>
            <a:r>
              <a:rPr lang="ko-KR" altLang="en-US" sz="1000" dirty="0"/>
              <a:t xml:space="preserve"> 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실명정보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토큰정보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err="1"/>
              <a:t>마스킹정보</a:t>
            </a:r>
            <a:endParaRPr lang="ko-KR" alt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대표</a:t>
            </a:r>
            <a:r>
              <a:rPr lang="en-US" altLang="ko-KR" sz="1000" dirty="0"/>
              <a:t>ID</a:t>
            </a:r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 xml:space="preserve">STEP 6. </a:t>
            </a:r>
            <a:r>
              <a:rPr lang="ko-KR" altLang="en-US" sz="1000" dirty="0"/>
              <a:t>가입 완료</a:t>
            </a:r>
            <a:endParaRPr lang="en-US" altLang="ko-KR" sz="1000" dirty="0"/>
          </a:p>
        </p:txBody>
      </p:sp>
      <p:sp>
        <p:nvSpPr>
          <p:cNvPr id="6" name="Google Shape;242;g3d6e2211149_2_228">
            <a:extLst>
              <a:ext uri="{FF2B5EF4-FFF2-40B4-BE49-F238E27FC236}">
                <a16:creationId xmlns:a16="http://schemas.microsoft.com/office/drawing/2014/main" id="{C61062AC-94D4-D546-9A95-81C2060035FC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243;g3d6e2211149_2_228">
            <a:extLst>
              <a:ext uri="{FF2B5EF4-FFF2-40B4-BE49-F238E27FC236}">
                <a16:creationId xmlns:a16="http://schemas.microsoft.com/office/drawing/2014/main" id="{29DF72EB-FAF1-7D4D-AA4D-98BC9FB3FA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55;g3d6e2211149_2_228">
            <a:extLst>
              <a:ext uri="{FF2B5EF4-FFF2-40B4-BE49-F238E27FC236}">
                <a16:creationId xmlns:a16="http://schemas.microsoft.com/office/drawing/2014/main" id="{C634C07A-0C14-7B4C-9662-D88B6A563EB3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30" name="Google Shape;366;g3d6e2211149_2_228">
            <a:extLst>
              <a:ext uri="{FF2B5EF4-FFF2-40B4-BE49-F238E27FC236}">
                <a16:creationId xmlns:a16="http://schemas.microsoft.com/office/drawing/2014/main" id="{D937D98F-A166-2C4C-8708-0AAF82345475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1" name="Google Shape;366;g3d6e2211149_2_228">
            <a:extLst>
              <a:ext uri="{FF2B5EF4-FFF2-40B4-BE49-F238E27FC236}">
                <a16:creationId xmlns:a16="http://schemas.microsoft.com/office/drawing/2014/main" id="{BF611E9D-8549-1940-9026-3FA9C6D1071E}"/>
              </a:ext>
            </a:extLst>
          </p:cNvPr>
          <p:cNvCxnSpPr>
            <a:cxnSpLocks/>
            <a:stCxn id="61" idx="0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9" name="Google Shape;244;g3d6e2211149_2_228">
            <a:extLst>
              <a:ext uri="{FF2B5EF4-FFF2-40B4-BE49-F238E27FC236}">
                <a16:creationId xmlns:a16="http://schemas.microsoft.com/office/drawing/2014/main" id="{1E3EE837-1D58-ED4D-A7C1-79FA3C7235AA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9BEF6711-E99E-614B-BBBD-20C1D0BE9B0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249;g3d6e2211149_2_228">
            <a:extLst>
              <a:ext uri="{FF2B5EF4-FFF2-40B4-BE49-F238E27FC236}">
                <a16:creationId xmlns:a16="http://schemas.microsoft.com/office/drawing/2014/main" id="{E929E475-BA18-D84D-ABB6-FDABB846C500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67" name="Google Shape;303;g3d6896b4338_0_0">
            <a:extLst>
              <a:ext uri="{FF2B5EF4-FFF2-40B4-BE49-F238E27FC236}">
                <a16:creationId xmlns:a16="http://schemas.microsoft.com/office/drawing/2014/main" id="{A5E8CFA3-00DB-194F-90D6-79719D83736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1DB0D74-9D19-4E42-8EA5-2EEAB2E29C66}"/>
              </a:ext>
            </a:extLst>
          </p:cNvPr>
          <p:cNvSpPr txBox="1"/>
          <p:nvPr/>
        </p:nvSpPr>
        <p:spPr>
          <a:xfrm>
            <a:off x="6343746" y="5241719"/>
            <a:ext cx="2357977" cy="1015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1.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고객 대표 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ID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관리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2.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개인정보 안전 저장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3.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계열사 고객번호 매핑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4.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매칭 로그 추적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5.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분석 프로필 관리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6.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고객 동의 관리</a:t>
            </a:r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B53BF5-5A07-384F-A02A-54BB427FC64B}"/>
              </a:ext>
            </a:extLst>
          </p:cNvPr>
          <p:cNvSpPr txBox="1"/>
          <p:nvPr/>
        </p:nvSpPr>
        <p:spPr>
          <a:xfrm>
            <a:off x="9241246" y="5254573"/>
            <a:ext cx="2357977" cy="1015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1.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master_customer</a:t>
            </a:r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2.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customer_pii_secure</a:t>
            </a:r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3.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customer_identity_map</a:t>
            </a:r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4. customer_360_profile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5. consent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6.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matching_audit_log</a:t>
            </a:r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386D4D1-2EDF-BE49-BE34-3EA65D817D52}"/>
              </a:ext>
            </a:extLst>
          </p:cNvPr>
          <p:cNvSpPr txBox="1"/>
          <p:nvPr/>
        </p:nvSpPr>
        <p:spPr>
          <a:xfrm>
            <a:off x="9196962" y="4978293"/>
            <a:ext cx="23692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/>
              <a:t>생성 순서</a:t>
            </a:r>
            <a:endParaRPr lang="en-KR" sz="1000" b="1"/>
          </a:p>
        </p:txBody>
      </p:sp>
      <p:sp>
        <p:nvSpPr>
          <p:cNvPr id="53" name="Google Shape;250;g3d6e2211149_2_228">
            <a:extLst>
              <a:ext uri="{FF2B5EF4-FFF2-40B4-BE49-F238E27FC236}">
                <a16:creationId xmlns:a16="http://schemas.microsoft.com/office/drawing/2014/main" id="{A3DAA57F-0E22-2640-8267-282835289E79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54" name="Google Shape;251;g3d6e2211149_2_228" descr="VPC group icon. ">
            <a:extLst>
              <a:ext uri="{FF2B5EF4-FFF2-40B4-BE49-F238E27FC236}">
                <a16:creationId xmlns:a16="http://schemas.microsoft.com/office/drawing/2014/main" id="{FBF94C35-0773-F244-85A4-E3DC2304AD9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52;g3d6e2211149_2_228">
            <a:extLst>
              <a:ext uri="{FF2B5EF4-FFF2-40B4-BE49-F238E27FC236}">
                <a16:creationId xmlns:a16="http://schemas.microsoft.com/office/drawing/2014/main" id="{4E98EA98-A8CC-C048-A55A-0485CFDA61B7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6" name="Google Shape;253;g3d6e2211149_2_228" descr="Public subnet group icon. ">
            <a:extLst>
              <a:ext uri="{FF2B5EF4-FFF2-40B4-BE49-F238E27FC236}">
                <a16:creationId xmlns:a16="http://schemas.microsoft.com/office/drawing/2014/main" id="{2C82C9BB-746B-4441-881E-5EE4748F600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92F2D6B-416C-E44F-9134-127E8D0AD7D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8025AC9C-CD20-7344-BDCD-91DE77F8C48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284;g3d6e2211149_2_228">
            <a:extLst>
              <a:ext uri="{FF2B5EF4-FFF2-40B4-BE49-F238E27FC236}">
                <a16:creationId xmlns:a16="http://schemas.microsoft.com/office/drawing/2014/main" id="{CFC7F228-E8E1-0B42-AD7D-A4D06FC2C402}"/>
              </a:ext>
            </a:extLst>
          </p:cNvPr>
          <p:cNvCxnSpPr>
            <a:stCxn id="66" idx="3"/>
            <a:endCxn id="63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6" name="Google Shape;285;g3d6e2211149_2_228" descr="AWS WAF service icon.">
            <a:extLst>
              <a:ext uri="{FF2B5EF4-FFF2-40B4-BE49-F238E27FC236}">
                <a16:creationId xmlns:a16="http://schemas.microsoft.com/office/drawing/2014/main" id="{5D5B0BFE-E503-9C4F-9D90-AA972E74047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286;g3d6e2211149_2_228">
            <a:extLst>
              <a:ext uri="{FF2B5EF4-FFF2-40B4-BE49-F238E27FC236}">
                <a16:creationId xmlns:a16="http://schemas.microsoft.com/office/drawing/2014/main" id="{309D54D4-6401-2C4B-A2AF-22565CA17B31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69" name="Google Shape;287;g3d6e2211149_2_228">
            <a:extLst>
              <a:ext uri="{FF2B5EF4-FFF2-40B4-BE49-F238E27FC236}">
                <a16:creationId xmlns:a16="http://schemas.microsoft.com/office/drawing/2014/main" id="{325AA327-B1E3-BC4D-B56C-5AFC0296B473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70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1FAF283-5451-6A4D-AB16-B9E4C016833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7;g3d6e2211149_2_228">
            <a:extLst>
              <a:ext uri="{FF2B5EF4-FFF2-40B4-BE49-F238E27FC236}">
                <a16:creationId xmlns:a16="http://schemas.microsoft.com/office/drawing/2014/main" id="{CAC7CBBD-7C44-534A-B142-FB2E37F2F475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72" name="Google Shape;298;g3d6e2211149_2_228">
            <a:extLst>
              <a:ext uri="{FF2B5EF4-FFF2-40B4-BE49-F238E27FC236}">
                <a16:creationId xmlns:a16="http://schemas.microsoft.com/office/drawing/2014/main" id="{97170B98-FFA5-3D49-9823-F71E4C66AA6B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3" name="Google Shape;303;g3d6e2211149_2_228">
            <a:extLst>
              <a:ext uri="{FF2B5EF4-FFF2-40B4-BE49-F238E27FC236}">
                <a16:creationId xmlns:a16="http://schemas.microsoft.com/office/drawing/2014/main" id="{7BAA5ECC-B1ED-5F45-BD4E-91B1FDBE81CF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74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ECB2764-5E4D-3A43-A9C0-E0CB7C5BC67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05;g3d6e2211149_2_228">
            <a:extLst>
              <a:ext uri="{FF2B5EF4-FFF2-40B4-BE49-F238E27FC236}">
                <a16:creationId xmlns:a16="http://schemas.microsoft.com/office/drawing/2014/main" id="{DBA8DB25-B74C-E94B-86EF-56F776325E30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76" name="Google Shape;306;g3d6e2211149_2_228">
            <a:extLst>
              <a:ext uri="{FF2B5EF4-FFF2-40B4-BE49-F238E27FC236}">
                <a16:creationId xmlns:a16="http://schemas.microsoft.com/office/drawing/2014/main" id="{ABE11A61-9B6E-E140-A2F6-3E0E64994E40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EAD05D97-402F-AC47-8068-56C72F4E81F7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341;g3d6e2211149_2_228">
            <a:extLst>
              <a:ext uri="{FF2B5EF4-FFF2-40B4-BE49-F238E27FC236}">
                <a16:creationId xmlns:a16="http://schemas.microsoft.com/office/drawing/2014/main" id="{6B665904-53D5-5544-BED0-42CC1FF597A2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79" name="Google Shape;342;g3d6e2211149_2_228" descr="Private subnet group icon. ">
            <a:extLst>
              <a:ext uri="{FF2B5EF4-FFF2-40B4-BE49-F238E27FC236}">
                <a16:creationId xmlns:a16="http://schemas.microsoft.com/office/drawing/2014/main" id="{CC3E2E8A-0D3A-1E40-A859-58EAF92D72C9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347;g3d6e2211149_2_228" descr="AWS Auto Scaling service icon.">
            <a:extLst>
              <a:ext uri="{FF2B5EF4-FFF2-40B4-BE49-F238E27FC236}">
                <a16:creationId xmlns:a16="http://schemas.microsoft.com/office/drawing/2014/main" id="{182A1061-A194-D945-9AD9-A1E788013648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366;g3d6e2211149_2_228">
            <a:extLst>
              <a:ext uri="{FF2B5EF4-FFF2-40B4-BE49-F238E27FC236}">
                <a16:creationId xmlns:a16="http://schemas.microsoft.com/office/drawing/2014/main" id="{69CEAEDA-85B4-BA4E-8F1E-33A2EB4670C0}"/>
              </a:ext>
            </a:extLst>
          </p:cNvPr>
          <p:cNvCxnSpPr>
            <a:cxnSpLocks/>
            <a:endCxn id="76" idx="2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82" name="Google Shape;275;g3d6e2211149_2_228" descr="Amazon Aurora service icon.">
            <a:extLst>
              <a:ext uri="{FF2B5EF4-FFF2-40B4-BE49-F238E27FC236}">
                <a16:creationId xmlns:a16="http://schemas.microsoft.com/office/drawing/2014/main" id="{A1F14F37-DC75-3F4A-AE8B-91F51D850718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276;g3d6e2211149_2_228">
            <a:extLst>
              <a:ext uri="{FF2B5EF4-FFF2-40B4-BE49-F238E27FC236}">
                <a16:creationId xmlns:a16="http://schemas.microsoft.com/office/drawing/2014/main" id="{0BB03D6F-AC8D-DA48-9368-93F4FA9B190D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84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AC662D50-0102-5544-8A90-01CA55E385A3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280;g3d6e2211149_2_228">
            <a:extLst>
              <a:ext uri="{FF2B5EF4-FFF2-40B4-BE49-F238E27FC236}">
                <a16:creationId xmlns:a16="http://schemas.microsoft.com/office/drawing/2014/main" id="{78FAA990-5731-9B45-8BC7-9A5C445B351C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86" name="Google Shape;294;g3d6e2211149_2_228" descr="AWS Lambda service icon.">
            <a:extLst>
              <a:ext uri="{FF2B5EF4-FFF2-40B4-BE49-F238E27FC236}">
                <a16:creationId xmlns:a16="http://schemas.microsoft.com/office/drawing/2014/main" id="{9E7C8C27-359E-8944-B8C5-116D3EE02F53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295;g3d6e2211149_2_228">
            <a:extLst>
              <a:ext uri="{FF2B5EF4-FFF2-40B4-BE49-F238E27FC236}">
                <a16:creationId xmlns:a16="http://schemas.microsoft.com/office/drawing/2014/main" id="{B92D797D-F95E-8A40-8408-6A7D7BE1101D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88" name="Google Shape;341;g3d6e2211149_2_228">
            <a:extLst>
              <a:ext uri="{FF2B5EF4-FFF2-40B4-BE49-F238E27FC236}">
                <a16:creationId xmlns:a16="http://schemas.microsoft.com/office/drawing/2014/main" id="{3C4B0340-2130-4A4B-A6DE-0ECFF4720AD3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89" name="Google Shape;342;g3d6e2211149_2_228" descr="Private subnet group icon. ">
            <a:extLst>
              <a:ext uri="{FF2B5EF4-FFF2-40B4-BE49-F238E27FC236}">
                <a16:creationId xmlns:a16="http://schemas.microsoft.com/office/drawing/2014/main" id="{7B429CD2-C5A4-8045-BC55-3B272E1A34C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366;g3d6e2211149_2_228">
            <a:extLst>
              <a:ext uri="{FF2B5EF4-FFF2-40B4-BE49-F238E27FC236}">
                <a16:creationId xmlns:a16="http://schemas.microsoft.com/office/drawing/2014/main" id="{243C0FF0-CA0C-5745-888B-DAB697D92896}"/>
              </a:ext>
            </a:extLst>
          </p:cNvPr>
          <p:cNvCxnSpPr>
            <a:cxnSpLocks/>
            <a:stCxn id="100" idx="0"/>
          </p:cNvCxnSpPr>
          <p:nvPr/>
        </p:nvCxnSpPr>
        <p:spPr>
          <a:xfrm flipV="1">
            <a:off x="3516034" y="3449089"/>
            <a:ext cx="404439" cy="13435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91" name="Google Shape;303;g3d6896b4338_0_0">
            <a:extLst>
              <a:ext uri="{FF2B5EF4-FFF2-40B4-BE49-F238E27FC236}">
                <a16:creationId xmlns:a16="http://schemas.microsoft.com/office/drawing/2014/main" id="{98004994-3F88-BD41-821D-14279A279CF2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209F5B51-F41A-7948-8A64-872DB2C46CA0}"/>
              </a:ext>
            </a:extLst>
          </p:cNvPr>
          <p:cNvCxnSpPr>
            <a:cxnSpLocks/>
            <a:stCxn id="95" idx="2"/>
            <a:endCxn id="97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93" name="Google Shape;303;g3d6896b4338_0_0">
            <a:extLst>
              <a:ext uri="{FF2B5EF4-FFF2-40B4-BE49-F238E27FC236}">
                <a16:creationId xmlns:a16="http://schemas.microsoft.com/office/drawing/2014/main" id="{0C747B48-3A6B-FD48-879A-AA3FA43B19B8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238;g3d6e2211149_2_228">
            <a:extLst>
              <a:ext uri="{FF2B5EF4-FFF2-40B4-BE49-F238E27FC236}">
                <a16:creationId xmlns:a16="http://schemas.microsoft.com/office/drawing/2014/main" id="{75913406-25FF-F943-A7B7-7797ADCA66CC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(Local VM)</a:t>
            </a:r>
            <a:endParaRPr/>
          </a:p>
        </p:txBody>
      </p:sp>
      <p:sp>
        <p:nvSpPr>
          <p:cNvPr id="95" name="Google Shape;300;g3d6e2211149_2_228">
            <a:extLst>
              <a:ext uri="{FF2B5EF4-FFF2-40B4-BE49-F238E27FC236}">
                <a16:creationId xmlns:a16="http://schemas.microsoft.com/office/drawing/2014/main" id="{E535C2E9-A53D-374A-8658-7B168A823293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96" name="Google Shape;302;g3d6e2211149_2_228">
            <a:extLst>
              <a:ext uri="{FF2B5EF4-FFF2-40B4-BE49-F238E27FC236}">
                <a16:creationId xmlns:a16="http://schemas.microsoft.com/office/drawing/2014/main" id="{12CCFDA0-4EC6-DF49-AEDA-2D6B77CE6BA0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97" name="Google Shape;302;g3d6e2211149_2_228">
            <a:extLst>
              <a:ext uri="{FF2B5EF4-FFF2-40B4-BE49-F238E27FC236}">
                <a16:creationId xmlns:a16="http://schemas.microsoft.com/office/drawing/2014/main" id="{77208261-7223-4D49-90EA-4902F175D2F2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98" name="Picture 2" descr="VirtualBox macOS BigSur - free Icon PNG, SVG">
            <a:extLst>
              <a:ext uri="{FF2B5EF4-FFF2-40B4-BE49-F238E27FC236}">
                <a16:creationId xmlns:a16="http://schemas.microsoft.com/office/drawing/2014/main" id="{8BD4179C-60C8-E147-9160-20160A90D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2" descr="VirtualBox macOS BigSur - free Icon PNG, SVG">
            <a:extLst>
              <a:ext uri="{FF2B5EF4-FFF2-40B4-BE49-F238E27FC236}">
                <a16:creationId xmlns:a16="http://schemas.microsoft.com/office/drawing/2014/main" id="{6863DEEC-A008-1F47-98AB-9CBB4FC50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2" descr="VirtualBox macOS BigSur - free Icon PNG, SVG">
            <a:extLst>
              <a:ext uri="{FF2B5EF4-FFF2-40B4-BE49-F238E27FC236}">
                <a16:creationId xmlns:a16="http://schemas.microsoft.com/office/drawing/2014/main" id="{3CEDE30D-FCC4-4341-856B-BDE862CA3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ACDD5A7E-D914-8D48-9123-353235E592A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8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로그인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42;g3d6e2211149_2_228">
            <a:extLst>
              <a:ext uri="{FF2B5EF4-FFF2-40B4-BE49-F238E27FC236}">
                <a16:creationId xmlns:a16="http://schemas.microsoft.com/office/drawing/2014/main" id="{702015B0-895A-454E-8237-9D65CEA06DF3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243;g3d6e2211149_2_228">
            <a:extLst>
              <a:ext uri="{FF2B5EF4-FFF2-40B4-BE49-F238E27FC236}">
                <a16:creationId xmlns:a16="http://schemas.microsoft.com/office/drawing/2014/main" id="{8C5245C6-B2FF-FE42-9629-B2F38BE791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366;g3d6e2211149_2_228">
            <a:extLst>
              <a:ext uri="{FF2B5EF4-FFF2-40B4-BE49-F238E27FC236}">
                <a16:creationId xmlns:a16="http://schemas.microsoft.com/office/drawing/2014/main" id="{5DB5F8B4-B2C4-A743-B3E6-E1C22760BEF6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8" name="Google Shape;366;g3d6e2211149_2_228">
            <a:extLst>
              <a:ext uri="{FF2B5EF4-FFF2-40B4-BE49-F238E27FC236}">
                <a16:creationId xmlns:a16="http://schemas.microsoft.com/office/drawing/2014/main" id="{6D1E961B-C577-C24E-8E43-DF76A6972070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244;g3d6e2211149_2_228">
            <a:extLst>
              <a:ext uri="{FF2B5EF4-FFF2-40B4-BE49-F238E27FC236}">
                <a16:creationId xmlns:a16="http://schemas.microsoft.com/office/drawing/2014/main" id="{740E0532-119C-8547-BE06-1B57B06793D2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887CB9AC-DC4B-D14C-9CA7-0FE8DD2635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49;g3d6e2211149_2_228">
            <a:extLst>
              <a:ext uri="{FF2B5EF4-FFF2-40B4-BE49-F238E27FC236}">
                <a16:creationId xmlns:a16="http://schemas.microsoft.com/office/drawing/2014/main" id="{E2EBA396-FBF0-FA4B-ABEF-B2A660805E71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A09926C1-EC20-A547-A6F1-2CF283E50B1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ECDE58-F978-3C41-9997-D1215D6F3F53}"/>
              </a:ext>
            </a:extLst>
          </p:cNvPr>
          <p:cNvSpPr txBox="1"/>
          <p:nvPr/>
        </p:nvSpPr>
        <p:spPr>
          <a:xfrm>
            <a:off x="6478067" y="3310589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로그인 후</a:t>
            </a:r>
            <a:r>
              <a:rPr lang="en-US" altLang="ko-KR" sz="1200" b="1"/>
              <a:t>,</a:t>
            </a:r>
            <a:r>
              <a:rPr lang="ko-KR" altLang="en-US" sz="1200" b="1"/>
              <a:t xml:space="preserve"> 동의 프로세스 </a:t>
            </a:r>
            <a:endParaRPr lang="en-US" altLang="ko-KR" sz="1200" b="1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C4C71F-AA14-5C45-BE16-0FB3D732485B}"/>
              </a:ext>
            </a:extLst>
          </p:cNvPr>
          <p:cNvSpPr txBox="1"/>
          <p:nvPr/>
        </p:nvSpPr>
        <p:spPr>
          <a:xfrm>
            <a:off x="9083464" y="3310589"/>
            <a:ext cx="2459114" cy="27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JWT Payload (</a:t>
            </a:r>
            <a:r>
              <a:rPr lang="ko-KR" altLang="en-US" sz="1200" b="1"/>
              <a:t>예시</a:t>
            </a:r>
            <a:r>
              <a:rPr lang="en-US" altLang="ko-KR" sz="1200" b="1"/>
              <a:t>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E0A3D8E-3116-554B-AA68-712F07455A22}"/>
              </a:ext>
            </a:extLst>
          </p:cNvPr>
          <p:cNvSpPr txBox="1"/>
          <p:nvPr/>
        </p:nvSpPr>
        <p:spPr>
          <a:xfrm>
            <a:off x="9083464" y="3734967"/>
            <a:ext cx="2459114" cy="8617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"sub": "</a:t>
            </a:r>
            <a:r>
              <a:rPr lang="en-US" altLang="ko-KR" sz="1000" dirty="0"/>
              <a:t>LS000000001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"gid": "G000000001",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"exp": 1770000000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3580279-F790-5E4B-B986-0527B2985262}"/>
              </a:ext>
            </a:extLst>
          </p:cNvPr>
          <p:cNvSpPr txBox="1"/>
          <p:nvPr/>
        </p:nvSpPr>
        <p:spPr>
          <a:xfrm>
            <a:off x="6490607" y="3727047"/>
            <a:ext cx="24958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 dirty="0"/>
              <a:t>로그인 페이지 접속</a:t>
            </a:r>
          </a:p>
          <a:p>
            <a:pPr marL="228600" indent="-228600">
              <a:buFont typeface="+mj-lt"/>
              <a:buAutoNum type="arabicParenR"/>
            </a:pPr>
            <a:endParaRPr lang="en-KR" sz="1000" dirty="0"/>
          </a:p>
          <a:p>
            <a:pPr marL="228600" indent="-228600">
              <a:buFont typeface="+mj-lt"/>
              <a:buAutoNum type="arabicParenR"/>
            </a:pPr>
            <a:r>
              <a:rPr lang="en-KR" sz="1000" dirty="0"/>
              <a:t>이메일/비밀번호 입력</a:t>
            </a:r>
          </a:p>
          <a:p>
            <a:pPr marL="228600" indent="-228600">
              <a:buFont typeface="+mj-lt"/>
              <a:buAutoNum type="arabicParenR"/>
            </a:pPr>
            <a:endParaRPr lang="en-KR" sz="1000" dirty="0"/>
          </a:p>
          <a:p>
            <a:pPr marL="228600" indent="-228600">
              <a:buFont typeface="+mj-lt"/>
              <a:buAutoNum type="arabicParenR"/>
            </a:pPr>
            <a:r>
              <a:rPr lang="en-KR" sz="1000" dirty="0"/>
              <a:t>POST /login</a:t>
            </a:r>
          </a:p>
          <a:p>
            <a:pPr marL="228600" indent="-228600">
              <a:buFont typeface="+mj-lt"/>
              <a:buAutoNum type="arabicParenR"/>
            </a:pPr>
            <a:endParaRPr lang="en-KR" sz="1000" dirty="0"/>
          </a:p>
          <a:p>
            <a:pPr marL="228600" indent="-228600">
              <a:buFont typeface="+mj-lt"/>
              <a:buAutoNum type="arabicParenR"/>
            </a:pPr>
            <a:r>
              <a:rPr lang="en-KR" sz="1000" dirty="0"/>
              <a:t>FastAPI users 테이블 조회</a:t>
            </a:r>
          </a:p>
          <a:p>
            <a:pPr marL="228600" indent="-228600">
              <a:buFont typeface="+mj-lt"/>
              <a:buAutoNum type="arabicParenR"/>
            </a:pPr>
            <a:endParaRPr lang="en-KR" sz="1000" dirty="0"/>
          </a:p>
          <a:p>
            <a:pPr marL="228600" indent="-228600">
              <a:buFont typeface="+mj-lt"/>
              <a:buAutoNum type="arabicParenR"/>
            </a:pPr>
            <a:r>
              <a:rPr lang="en-KR" sz="1000" dirty="0"/>
              <a:t>비밀번호 bcrypt 검증</a:t>
            </a:r>
          </a:p>
          <a:p>
            <a:pPr marL="228600" indent="-228600">
              <a:buFont typeface="+mj-lt"/>
              <a:buAutoNum type="arabicParenR"/>
            </a:pPr>
            <a:endParaRPr lang="en-KR" sz="1000" dirty="0"/>
          </a:p>
          <a:p>
            <a:pPr marL="228600" indent="-228600">
              <a:buFont typeface="+mj-lt"/>
              <a:buAutoNum type="arabicParenR"/>
            </a:pPr>
            <a:r>
              <a:rPr lang="en-KR" sz="1000" dirty="0"/>
              <a:t>JWT 발급</a:t>
            </a:r>
          </a:p>
          <a:p>
            <a:pPr marL="228600" indent="-228600">
              <a:buFont typeface="+mj-lt"/>
              <a:buAutoNum type="arabicParenR"/>
            </a:pPr>
            <a:endParaRPr lang="en-KR" sz="1000" dirty="0"/>
          </a:p>
          <a:p>
            <a:pPr marL="228600" indent="-228600">
              <a:buFont typeface="+mj-lt"/>
              <a:buAutoNum type="arabicParenR"/>
            </a:pPr>
            <a:r>
              <a:rPr lang="en-KR" sz="1000" dirty="0"/>
              <a:t>브라우저 localStorage 저장</a:t>
            </a:r>
          </a:p>
          <a:p>
            <a:pPr marL="228600" indent="-228600">
              <a:buFont typeface="+mj-lt"/>
              <a:buAutoNum type="arabicParenR"/>
            </a:pPr>
            <a:endParaRPr lang="en-KR" sz="1000" dirty="0"/>
          </a:p>
          <a:p>
            <a:pPr marL="228600" indent="-228600">
              <a:buFont typeface="+mj-lt"/>
              <a:buAutoNum type="arabicParenR"/>
            </a:pPr>
            <a:r>
              <a:rPr lang="en-KR" sz="1000" dirty="0"/>
              <a:t>/me 호출 시 Authorization Bearer 전송</a:t>
            </a:r>
          </a:p>
          <a:p>
            <a:pPr marL="228600" indent="-228600">
              <a:buFont typeface="+mj-lt"/>
              <a:buAutoNum type="arabicParenR"/>
            </a:pPr>
            <a:endParaRPr lang="en-KR" sz="1000" dirty="0"/>
          </a:p>
          <a:p>
            <a:pPr marL="228600" indent="-228600">
              <a:buFont typeface="+mj-lt"/>
              <a:buAutoNum type="arabicParenR"/>
            </a:pPr>
            <a:r>
              <a:rPr lang="en-KR" sz="1000" dirty="0"/>
              <a:t>JWT 검증 후 내정보 반환</a:t>
            </a:r>
          </a:p>
        </p:txBody>
      </p:sp>
      <p:sp>
        <p:nvSpPr>
          <p:cNvPr id="53" name="Google Shape;250;g3d6e2211149_2_228">
            <a:extLst>
              <a:ext uri="{FF2B5EF4-FFF2-40B4-BE49-F238E27FC236}">
                <a16:creationId xmlns:a16="http://schemas.microsoft.com/office/drawing/2014/main" id="{5238FA64-44BB-D44C-B62A-85B059445557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54" name="Google Shape;251;g3d6e2211149_2_228" descr="VPC group icon. ">
            <a:extLst>
              <a:ext uri="{FF2B5EF4-FFF2-40B4-BE49-F238E27FC236}">
                <a16:creationId xmlns:a16="http://schemas.microsoft.com/office/drawing/2014/main" id="{A0928733-4EF5-264E-80BC-A10E15593E6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252;g3d6e2211149_2_228">
            <a:extLst>
              <a:ext uri="{FF2B5EF4-FFF2-40B4-BE49-F238E27FC236}">
                <a16:creationId xmlns:a16="http://schemas.microsoft.com/office/drawing/2014/main" id="{6A9787DB-029B-2F4C-85E7-2DED8023F7F7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8" name="Google Shape;253;g3d6e2211149_2_228" descr="Public subnet group icon. ">
            <a:extLst>
              <a:ext uri="{FF2B5EF4-FFF2-40B4-BE49-F238E27FC236}">
                <a16:creationId xmlns:a16="http://schemas.microsoft.com/office/drawing/2014/main" id="{A0AD9B37-002D-F847-9910-207ABA739E6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1A8E7CA2-D62D-864B-B8C3-A5366D0D38C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2009BDFB-4A66-BE48-ACBD-8BED289838B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284;g3d6e2211149_2_228">
            <a:extLst>
              <a:ext uri="{FF2B5EF4-FFF2-40B4-BE49-F238E27FC236}">
                <a16:creationId xmlns:a16="http://schemas.microsoft.com/office/drawing/2014/main" id="{6327CE70-61AB-614C-AC57-490317706100}"/>
              </a:ext>
            </a:extLst>
          </p:cNvPr>
          <p:cNvCxnSpPr>
            <a:stCxn id="62" idx="3"/>
            <a:endCxn id="60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2" name="Google Shape;285;g3d6e2211149_2_228" descr="AWS WAF service icon.">
            <a:extLst>
              <a:ext uri="{FF2B5EF4-FFF2-40B4-BE49-F238E27FC236}">
                <a16:creationId xmlns:a16="http://schemas.microsoft.com/office/drawing/2014/main" id="{3D7C71F2-42E2-E34C-89E8-2FFC5A5AE46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286;g3d6e2211149_2_228">
            <a:extLst>
              <a:ext uri="{FF2B5EF4-FFF2-40B4-BE49-F238E27FC236}">
                <a16:creationId xmlns:a16="http://schemas.microsoft.com/office/drawing/2014/main" id="{E12AA6EF-2276-5D4F-ACB7-E659A68D4602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64" name="Google Shape;287;g3d6e2211149_2_228">
            <a:extLst>
              <a:ext uri="{FF2B5EF4-FFF2-40B4-BE49-F238E27FC236}">
                <a16:creationId xmlns:a16="http://schemas.microsoft.com/office/drawing/2014/main" id="{8B2A58E6-DD48-0449-B60C-B5503BF767DB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65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0C33983-B7E7-0A41-B7ED-311F2BA575B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297;g3d6e2211149_2_228">
            <a:extLst>
              <a:ext uri="{FF2B5EF4-FFF2-40B4-BE49-F238E27FC236}">
                <a16:creationId xmlns:a16="http://schemas.microsoft.com/office/drawing/2014/main" id="{F4D36597-7E91-5B4D-8079-F0E87AFDA97F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67" name="Google Shape;298;g3d6e2211149_2_228">
            <a:extLst>
              <a:ext uri="{FF2B5EF4-FFF2-40B4-BE49-F238E27FC236}">
                <a16:creationId xmlns:a16="http://schemas.microsoft.com/office/drawing/2014/main" id="{B3A27FE1-893B-5F46-8B19-CA852F1F5C10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8" name="Google Shape;303;g3d6e2211149_2_228">
            <a:extLst>
              <a:ext uri="{FF2B5EF4-FFF2-40B4-BE49-F238E27FC236}">
                <a16:creationId xmlns:a16="http://schemas.microsoft.com/office/drawing/2014/main" id="{11FBAA07-969C-134E-8C8E-A4C2EF928010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69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2156875-10E6-EC4D-BFCF-D0C867C44D4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305;g3d6e2211149_2_228">
            <a:extLst>
              <a:ext uri="{FF2B5EF4-FFF2-40B4-BE49-F238E27FC236}">
                <a16:creationId xmlns:a16="http://schemas.microsoft.com/office/drawing/2014/main" id="{30A9B7D0-D479-9841-83D9-617AC69B2475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71" name="Google Shape;306;g3d6e2211149_2_228">
            <a:extLst>
              <a:ext uri="{FF2B5EF4-FFF2-40B4-BE49-F238E27FC236}">
                <a16:creationId xmlns:a16="http://schemas.microsoft.com/office/drawing/2014/main" id="{E9DDA94D-AC59-3942-B943-B650E3B6796F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AAFF68D1-8EF8-9D4B-B79D-393F7248720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341;g3d6e2211149_2_228">
            <a:extLst>
              <a:ext uri="{FF2B5EF4-FFF2-40B4-BE49-F238E27FC236}">
                <a16:creationId xmlns:a16="http://schemas.microsoft.com/office/drawing/2014/main" id="{54610BA9-B6C0-AA49-821C-FCE83C6A44D6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74" name="Google Shape;342;g3d6e2211149_2_228" descr="Private subnet group icon. ">
            <a:extLst>
              <a:ext uri="{FF2B5EF4-FFF2-40B4-BE49-F238E27FC236}">
                <a16:creationId xmlns:a16="http://schemas.microsoft.com/office/drawing/2014/main" id="{84409F8F-891D-154D-BA3C-25BE97A94D6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347;g3d6e2211149_2_228" descr="AWS Auto Scaling service icon.">
            <a:extLst>
              <a:ext uri="{FF2B5EF4-FFF2-40B4-BE49-F238E27FC236}">
                <a16:creationId xmlns:a16="http://schemas.microsoft.com/office/drawing/2014/main" id="{C1901959-C0F9-D64E-8E02-082151C1372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" name="Google Shape;366;g3d6e2211149_2_228">
            <a:extLst>
              <a:ext uri="{FF2B5EF4-FFF2-40B4-BE49-F238E27FC236}">
                <a16:creationId xmlns:a16="http://schemas.microsoft.com/office/drawing/2014/main" id="{2971AA3F-E6F1-AA48-978A-1A09EC5A8F38}"/>
              </a:ext>
            </a:extLst>
          </p:cNvPr>
          <p:cNvCxnSpPr>
            <a:cxnSpLocks/>
            <a:endCxn id="71" idx="2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77" name="Google Shape;275;g3d6e2211149_2_228" descr="Amazon Aurora service icon.">
            <a:extLst>
              <a:ext uri="{FF2B5EF4-FFF2-40B4-BE49-F238E27FC236}">
                <a16:creationId xmlns:a16="http://schemas.microsoft.com/office/drawing/2014/main" id="{E89A6579-CB95-234C-8BFE-31045AB6688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276;g3d6e2211149_2_228">
            <a:extLst>
              <a:ext uri="{FF2B5EF4-FFF2-40B4-BE49-F238E27FC236}">
                <a16:creationId xmlns:a16="http://schemas.microsoft.com/office/drawing/2014/main" id="{B29CA8F1-CB5F-5D42-8F62-8F43B13C395D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79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D41E41CE-9B9D-E24C-96C3-28D0156BAED9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280;g3d6e2211149_2_228">
            <a:extLst>
              <a:ext uri="{FF2B5EF4-FFF2-40B4-BE49-F238E27FC236}">
                <a16:creationId xmlns:a16="http://schemas.microsoft.com/office/drawing/2014/main" id="{BD92048B-3DB5-774A-84C1-35B02FB54232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81" name="Google Shape;294;g3d6e2211149_2_228" descr="AWS Lambda service icon.">
            <a:extLst>
              <a:ext uri="{FF2B5EF4-FFF2-40B4-BE49-F238E27FC236}">
                <a16:creationId xmlns:a16="http://schemas.microsoft.com/office/drawing/2014/main" id="{DC9EF185-11ED-CF4C-9068-35256E9704D8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295;g3d6e2211149_2_228">
            <a:extLst>
              <a:ext uri="{FF2B5EF4-FFF2-40B4-BE49-F238E27FC236}">
                <a16:creationId xmlns:a16="http://schemas.microsoft.com/office/drawing/2014/main" id="{506A9F67-DDFA-7A49-8949-CE71AD2D37D7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83" name="Google Shape;341;g3d6e2211149_2_228">
            <a:extLst>
              <a:ext uri="{FF2B5EF4-FFF2-40B4-BE49-F238E27FC236}">
                <a16:creationId xmlns:a16="http://schemas.microsoft.com/office/drawing/2014/main" id="{66212956-7549-5343-A18B-137CB7A0C7F2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84" name="Google Shape;342;g3d6e2211149_2_228" descr="Private subnet group icon. ">
            <a:extLst>
              <a:ext uri="{FF2B5EF4-FFF2-40B4-BE49-F238E27FC236}">
                <a16:creationId xmlns:a16="http://schemas.microsoft.com/office/drawing/2014/main" id="{DAD1B3DD-0097-8B49-9CDB-83710006F012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255;g3d6e2211149_2_228">
            <a:extLst>
              <a:ext uri="{FF2B5EF4-FFF2-40B4-BE49-F238E27FC236}">
                <a16:creationId xmlns:a16="http://schemas.microsoft.com/office/drawing/2014/main" id="{AA73C0A1-C2F5-3547-B1E1-83D092294E7D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86" name="Google Shape;366;g3d6e2211149_2_228">
            <a:extLst>
              <a:ext uri="{FF2B5EF4-FFF2-40B4-BE49-F238E27FC236}">
                <a16:creationId xmlns:a16="http://schemas.microsoft.com/office/drawing/2014/main" id="{92CFB3FC-04D3-0144-97B9-8BA59CD20417}"/>
              </a:ext>
            </a:extLst>
          </p:cNvPr>
          <p:cNvCxnSpPr>
            <a:cxnSpLocks/>
            <a:stCxn id="96" idx="0"/>
          </p:cNvCxnSpPr>
          <p:nvPr/>
        </p:nvCxnSpPr>
        <p:spPr>
          <a:xfrm flipV="1">
            <a:off x="3516034" y="3449089"/>
            <a:ext cx="404439" cy="13435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7" name="Google Shape;303;g3d6896b4338_0_0">
            <a:extLst>
              <a:ext uri="{FF2B5EF4-FFF2-40B4-BE49-F238E27FC236}">
                <a16:creationId xmlns:a16="http://schemas.microsoft.com/office/drawing/2014/main" id="{D71305B8-1202-6441-99A6-FEDC217BFDA9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CE8CE018-C812-F446-AC71-4B8C7432179C}"/>
              </a:ext>
            </a:extLst>
          </p:cNvPr>
          <p:cNvCxnSpPr>
            <a:cxnSpLocks/>
            <a:stCxn id="91" idx="2"/>
            <a:endCxn id="93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DE267978-7FF3-D84C-B57F-C91C973F0E2E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238;g3d6e2211149_2_228">
            <a:extLst>
              <a:ext uri="{FF2B5EF4-FFF2-40B4-BE49-F238E27FC236}">
                <a16:creationId xmlns:a16="http://schemas.microsoft.com/office/drawing/2014/main" id="{DE2B1FEA-ED98-894B-A033-E91F74EC130E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(Local VM)</a:t>
            </a:r>
            <a:endParaRPr/>
          </a:p>
        </p:txBody>
      </p:sp>
      <p:sp>
        <p:nvSpPr>
          <p:cNvPr id="91" name="Google Shape;300;g3d6e2211149_2_228">
            <a:extLst>
              <a:ext uri="{FF2B5EF4-FFF2-40B4-BE49-F238E27FC236}">
                <a16:creationId xmlns:a16="http://schemas.microsoft.com/office/drawing/2014/main" id="{29F0C9A5-AA69-E34A-85BF-5AB14087566D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92" name="Google Shape;302;g3d6e2211149_2_228">
            <a:extLst>
              <a:ext uri="{FF2B5EF4-FFF2-40B4-BE49-F238E27FC236}">
                <a16:creationId xmlns:a16="http://schemas.microsoft.com/office/drawing/2014/main" id="{99213DDB-1AA0-5640-893E-82C8FD26C930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93" name="Google Shape;302;g3d6e2211149_2_228">
            <a:extLst>
              <a:ext uri="{FF2B5EF4-FFF2-40B4-BE49-F238E27FC236}">
                <a16:creationId xmlns:a16="http://schemas.microsoft.com/office/drawing/2014/main" id="{F6D343A0-59FC-414A-9420-9925450A86B3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94" name="Picture 2" descr="VirtualBox macOS BigSur - free Icon PNG, SVG">
            <a:extLst>
              <a:ext uri="{FF2B5EF4-FFF2-40B4-BE49-F238E27FC236}">
                <a16:creationId xmlns:a16="http://schemas.microsoft.com/office/drawing/2014/main" id="{D0B4F689-8C3E-D440-8DB2-E623F5117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Picture 2" descr="VirtualBox macOS BigSur - free Icon PNG, SVG">
            <a:extLst>
              <a:ext uri="{FF2B5EF4-FFF2-40B4-BE49-F238E27FC236}">
                <a16:creationId xmlns:a16="http://schemas.microsoft.com/office/drawing/2014/main" id="{183B3555-187B-514C-94B5-730113BA5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2" descr="VirtualBox macOS BigSur - free Icon PNG, SVG">
            <a:extLst>
              <a:ext uri="{FF2B5EF4-FFF2-40B4-BE49-F238E27FC236}">
                <a16:creationId xmlns:a16="http://schemas.microsoft.com/office/drawing/2014/main" id="{2F67034D-E5B0-EE46-9038-37171E329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211CF367-E828-DC40-A347-F0923CBB037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9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동의 건이 없는 경우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42;g3d6e2211149_2_228">
            <a:extLst>
              <a:ext uri="{FF2B5EF4-FFF2-40B4-BE49-F238E27FC236}">
                <a16:creationId xmlns:a16="http://schemas.microsoft.com/office/drawing/2014/main" id="{702015B0-895A-454E-8237-9D65CEA06DF3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243;g3d6e2211149_2_228">
            <a:extLst>
              <a:ext uri="{FF2B5EF4-FFF2-40B4-BE49-F238E27FC236}">
                <a16:creationId xmlns:a16="http://schemas.microsoft.com/office/drawing/2014/main" id="{8C5245C6-B2FF-FE42-9629-B2F38BE791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366;g3d6e2211149_2_228">
            <a:extLst>
              <a:ext uri="{FF2B5EF4-FFF2-40B4-BE49-F238E27FC236}">
                <a16:creationId xmlns:a16="http://schemas.microsoft.com/office/drawing/2014/main" id="{5DB5F8B4-B2C4-A743-B3E6-E1C22760BEF6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8" name="Google Shape;366;g3d6e2211149_2_228">
            <a:extLst>
              <a:ext uri="{FF2B5EF4-FFF2-40B4-BE49-F238E27FC236}">
                <a16:creationId xmlns:a16="http://schemas.microsoft.com/office/drawing/2014/main" id="{6D1E961B-C577-C24E-8E43-DF76A6972070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244;g3d6e2211149_2_228">
            <a:extLst>
              <a:ext uri="{FF2B5EF4-FFF2-40B4-BE49-F238E27FC236}">
                <a16:creationId xmlns:a16="http://schemas.microsoft.com/office/drawing/2014/main" id="{740E0532-119C-8547-BE06-1B57B06793D2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887CB9AC-DC4B-D14C-9CA7-0FE8DD2635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49;g3d6e2211149_2_228">
            <a:extLst>
              <a:ext uri="{FF2B5EF4-FFF2-40B4-BE49-F238E27FC236}">
                <a16:creationId xmlns:a16="http://schemas.microsoft.com/office/drawing/2014/main" id="{E2EBA396-FBF0-FA4B-ABEF-B2A660805E71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A09926C1-EC20-A547-A6F1-2CF283E50B1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ECDE58-F978-3C41-9997-D1215D6F3F53}"/>
              </a:ext>
            </a:extLst>
          </p:cNvPr>
          <p:cNvSpPr txBox="1"/>
          <p:nvPr/>
        </p:nvSpPr>
        <p:spPr>
          <a:xfrm>
            <a:off x="5445482" y="3241903"/>
            <a:ext cx="40108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로그인 후</a:t>
            </a:r>
            <a:r>
              <a:rPr lang="en-US" altLang="ko-KR" sz="1200" b="1"/>
              <a:t>,</a:t>
            </a:r>
            <a:r>
              <a:rPr lang="ko-KR" altLang="en-US" sz="1200" b="1"/>
              <a:t xml:space="preserve"> 동의 프로세스 </a:t>
            </a:r>
            <a:r>
              <a:rPr lang="en-US" altLang="ko-KR" sz="1200" b="1"/>
              <a:t>(</a:t>
            </a:r>
            <a:r>
              <a:rPr lang="ko-KR" altLang="en-US" sz="1200" b="1"/>
              <a:t>동의 건이 없는 경우</a:t>
            </a:r>
            <a:r>
              <a:rPr lang="en-US" altLang="ko-KR" sz="1200" b="1"/>
              <a:t>)</a:t>
            </a:r>
            <a:r>
              <a:rPr lang="ko-KR" altLang="en-US" sz="1200" b="1"/>
              <a:t xml:space="preserve">  </a:t>
            </a:r>
            <a:endParaRPr lang="en-US" altLang="ko-KR" sz="1200" b="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B98C18-BB5A-E94C-8256-886E382E2FD2}"/>
              </a:ext>
            </a:extLst>
          </p:cNvPr>
          <p:cNvSpPr txBox="1"/>
          <p:nvPr/>
        </p:nvSpPr>
        <p:spPr>
          <a:xfrm>
            <a:off x="5429658" y="3607310"/>
            <a:ext cx="3838396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 xml:space="preserve">STEP 1. </a:t>
            </a:r>
            <a:r>
              <a:rPr lang="ko-KR" altLang="en-US" sz="1100"/>
              <a:t xml:space="preserve">로그인 </a:t>
            </a:r>
            <a:endParaRPr lang="en-US" altLang="ko-KR" sz="1100"/>
          </a:p>
          <a:p>
            <a:r>
              <a:rPr lang="en-US" altLang="ko-KR" sz="1100"/>
              <a:t>Users</a:t>
            </a:r>
            <a:r>
              <a:rPr lang="ko-KR" altLang="en-US" sz="1100"/>
              <a:t xml:space="preserve"> 인증 성공 </a:t>
            </a:r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STEP 2. consent</a:t>
            </a:r>
            <a:r>
              <a:rPr lang="ko-KR" altLang="en-US" sz="1100"/>
              <a:t xml:space="preserve"> 상태 조회 </a:t>
            </a:r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r>
              <a:rPr lang="en-US" sz="1100"/>
              <a:t xml:space="preserve">STEP </a:t>
            </a:r>
            <a:r>
              <a:rPr lang="en-US" altLang="ko-KR" sz="1100"/>
              <a:t>3</a:t>
            </a:r>
            <a:r>
              <a:rPr lang="en-US" sz="1100"/>
              <a:t xml:space="preserve">. </a:t>
            </a:r>
            <a:r>
              <a:rPr lang="ko-KR" altLang="en-US" sz="1100"/>
              <a:t xml:space="preserve">동의 완료 여부 판단 </a:t>
            </a:r>
            <a:r>
              <a:rPr lang="en-US" altLang="ko-KR" sz="1100"/>
              <a:t>(</a:t>
            </a:r>
            <a:r>
              <a:rPr lang="ko-KR" altLang="en-US" sz="1100"/>
              <a:t xml:space="preserve">최소 </a:t>
            </a:r>
            <a:r>
              <a:rPr lang="en-US" altLang="ko-KR" sz="1100"/>
              <a:t>1</a:t>
            </a:r>
            <a:r>
              <a:rPr lang="ko-KR" altLang="en-US" sz="1100"/>
              <a:t>개 이상 동의 조건</a:t>
            </a:r>
            <a:r>
              <a:rPr lang="en-US" altLang="ko-KR" sz="1100"/>
              <a:t>)</a:t>
            </a:r>
          </a:p>
          <a:p>
            <a:endParaRPr lang="en-US" altLang="ko-KR" sz="1100"/>
          </a:p>
          <a:p>
            <a:endParaRPr lang="en-US" sz="1100"/>
          </a:p>
          <a:p>
            <a:r>
              <a:rPr lang="en-US" sz="1100"/>
              <a:t xml:space="preserve">STEP 3. </a:t>
            </a:r>
            <a:r>
              <a:rPr lang="ko-KR" altLang="en-US" sz="1100"/>
              <a:t>동의 설정 후</a:t>
            </a:r>
            <a:r>
              <a:rPr lang="en-US" altLang="ko-KR" sz="1100"/>
              <a:t>,</a:t>
            </a:r>
            <a:r>
              <a:rPr lang="ko-KR" altLang="en-US" sz="1100"/>
              <a:t xml:space="preserve"> 저장</a:t>
            </a:r>
            <a:endParaRPr lang="en-US" altLang="ko-KR" sz="11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A2B270-438F-0042-A3A3-2EBB497C6244}"/>
              </a:ext>
            </a:extLst>
          </p:cNvPr>
          <p:cNvSpPr txBox="1"/>
          <p:nvPr/>
        </p:nvSpPr>
        <p:spPr>
          <a:xfrm>
            <a:off x="9718487" y="1595612"/>
            <a:ext cx="2357977" cy="1631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은행 데이터 활용 동의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카드 데이터 활용 동의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[ 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보험 데이터 활용 동의</a:t>
            </a:r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온라인 보험 데이터 활용 동의</a:t>
            </a:r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증권 데이터 활용 동의</a:t>
            </a:r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헬스케어 데이터 활용 동의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병원 데이터 활용 동의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웨어러블 동의</a:t>
            </a:r>
          </a:p>
          <a:p>
            <a:endParaRPr lang="ko-KR" altLang="en-US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저장 후 시작하기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]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FA09D4-EB69-6742-8FAB-8D10709CCE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87891"/>
              </p:ext>
            </p:extLst>
          </p:nvPr>
        </p:nvGraphicFramePr>
        <p:xfrm>
          <a:off x="9144000" y="3689848"/>
          <a:ext cx="2932464" cy="1005840"/>
        </p:xfrm>
        <a:graphic>
          <a:graphicData uri="http://schemas.openxmlformats.org/drawingml/2006/table">
            <a:tbl>
              <a:tblPr/>
              <a:tblGrid>
                <a:gridCol w="977488">
                  <a:extLst>
                    <a:ext uri="{9D8B030D-6E8A-4147-A177-3AD203B41FA5}">
                      <a16:colId xmlns:a16="http://schemas.microsoft.com/office/drawing/2014/main" val="2421081559"/>
                    </a:ext>
                  </a:extLst>
                </a:gridCol>
                <a:gridCol w="977488">
                  <a:extLst>
                    <a:ext uri="{9D8B030D-6E8A-4147-A177-3AD203B41FA5}">
                      <a16:colId xmlns:a16="http://schemas.microsoft.com/office/drawing/2014/main" val="2244032297"/>
                    </a:ext>
                  </a:extLst>
                </a:gridCol>
                <a:gridCol w="977488">
                  <a:extLst>
                    <a:ext uri="{9D8B030D-6E8A-4147-A177-3AD203B41FA5}">
                      <a16:colId xmlns:a16="http://schemas.microsoft.com/office/drawing/2014/main" val="3576694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global_id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domain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consent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030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349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881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2053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4812567E-354A-6544-A332-0F57380666F7}"/>
              </a:ext>
            </a:extLst>
          </p:cNvPr>
          <p:cNvSpPr txBox="1"/>
          <p:nvPr/>
        </p:nvSpPr>
        <p:spPr>
          <a:xfrm>
            <a:off x="5427599" y="5692788"/>
            <a:ext cx="383839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STEP 4. STEP 3. main (dashboard)</a:t>
            </a:r>
            <a:r>
              <a:rPr lang="ko-KR" altLang="en-US" sz="1100"/>
              <a:t xml:space="preserve"> 페이지로 이동 </a:t>
            </a:r>
            <a:endParaRPr lang="en-US" sz="1100"/>
          </a:p>
          <a:p>
            <a:endParaRPr lang="en-US" sz="1100"/>
          </a:p>
          <a:p>
            <a:endParaRPr lang="en-US" sz="1100"/>
          </a:p>
          <a:p>
            <a:r>
              <a:rPr lang="en-US" sz="1100"/>
              <a:t xml:space="preserve">STEP </a:t>
            </a:r>
            <a:r>
              <a:rPr lang="en-US" altLang="ko-KR" sz="1100"/>
              <a:t>5</a:t>
            </a:r>
            <a:r>
              <a:rPr lang="en-US" sz="1100"/>
              <a:t xml:space="preserve">. </a:t>
            </a:r>
            <a:r>
              <a:rPr lang="ko-KR" altLang="en-US" sz="1100"/>
              <a:t>가입한 날짜 기준</a:t>
            </a:r>
            <a:r>
              <a:rPr lang="en-US" altLang="ko-KR" sz="1100"/>
              <a:t>,</a:t>
            </a:r>
            <a:r>
              <a:rPr lang="ko-KR" altLang="en-US" sz="1100"/>
              <a:t xml:space="preserve"> 다음날 오전 </a:t>
            </a:r>
            <a:r>
              <a:rPr lang="en-US" altLang="ko-KR" sz="1100"/>
              <a:t>1:00</a:t>
            </a:r>
            <a:r>
              <a:rPr lang="ko-KR" altLang="en-US" sz="1100"/>
              <a:t>시</a:t>
            </a:r>
            <a:r>
              <a:rPr lang="en-US" altLang="ko-KR" sz="1100"/>
              <a:t>,</a:t>
            </a:r>
            <a:r>
              <a:rPr lang="ko-KR" altLang="en-US" sz="1100"/>
              <a:t xml:space="preserve"> </a:t>
            </a:r>
            <a:r>
              <a:rPr lang="en-US" altLang="ko-KR" sz="1100"/>
              <a:t>Glue ETL</a:t>
            </a:r>
            <a:r>
              <a:rPr lang="ko-KR" altLang="en-US" sz="1100"/>
              <a:t xml:space="preserve">이 실행되는 시점 부터 데이터 정제화에 반영 시작 </a:t>
            </a:r>
            <a:endParaRPr lang="en-US" altLang="ko-KR" sz="1100"/>
          </a:p>
        </p:txBody>
      </p:sp>
      <p:sp>
        <p:nvSpPr>
          <p:cNvPr id="53" name="Google Shape;250;g3d6e2211149_2_228">
            <a:extLst>
              <a:ext uri="{FF2B5EF4-FFF2-40B4-BE49-F238E27FC236}">
                <a16:creationId xmlns:a16="http://schemas.microsoft.com/office/drawing/2014/main" id="{F6F6AEA4-C251-F04F-858D-F8ECB61E6582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54" name="Google Shape;251;g3d6e2211149_2_228" descr="VPC group icon. ">
            <a:extLst>
              <a:ext uri="{FF2B5EF4-FFF2-40B4-BE49-F238E27FC236}">
                <a16:creationId xmlns:a16="http://schemas.microsoft.com/office/drawing/2014/main" id="{9D50DA84-B69B-C34E-8FD2-61232A44C9F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52;g3d6e2211149_2_228">
            <a:extLst>
              <a:ext uri="{FF2B5EF4-FFF2-40B4-BE49-F238E27FC236}">
                <a16:creationId xmlns:a16="http://schemas.microsoft.com/office/drawing/2014/main" id="{07902173-6866-714E-B293-2DC8D6FC9319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6" name="Google Shape;253;g3d6e2211149_2_228" descr="Public subnet group icon. ">
            <a:extLst>
              <a:ext uri="{FF2B5EF4-FFF2-40B4-BE49-F238E27FC236}">
                <a16:creationId xmlns:a16="http://schemas.microsoft.com/office/drawing/2014/main" id="{C340F538-0AFE-AF4A-BACB-32F0B4D2A06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9DB18359-AF5B-7546-A762-C575E974314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AF3A9AF0-D416-5D42-8402-4C44C9C19D9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284;g3d6e2211149_2_228">
            <a:extLst>
              <a:ext uri="{FF2B5EF4-FFF2-40B4-BE49-F238E27FC236}">
                <a16:creationId xmlns:a16="http://schemas.microsoft.com/office/drawing/2014/main" id="{509BA9DD-348E-3348-99F7-A2585003B42F}"/>
              </a:ext>
            </a:extLst>
          </p:cNvPr>
          <p:cNvCxnSpPr>
            <a:stCxn id="60" idx="3"/>
            <a:endCxn id="58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0" name="Google Shape;285;g3d6e2211149_2_228" descr="AWS WAF service icon.">
            <a:extLst>
              <a:ext uri="{FF2B5EF4-FFF2-40B4-BE49-F238E27FC236}">
                <a16:creationId xmlns:a16="http://schemas.microsoft.com/office/drawing/2014/main" id="{853E446C-8B45-6B48-955A-B91B5114B67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286;g3d6e2211149_2_228">
            <a:extLst>
              <a:ext uri="{FF2B5EF4-FFF2-40B4-BE49-F238E27FC236}">
                <a16:creationId xmlns:a16="http://schemas.microsoft.com/office/drawing/2014/main" id="{AE2DB5A8-B323-C741-82C6-0F5E175CAB64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62" name="Google Shape;287;g3d6e2211149_2_228">
            <a:extLst>
              <a:ext uri="{FF2B5EF4-FFF2-40B4-BE49-F238E27FC236}">
                <a16:creationId xmlns:a16="http://schemas.microsoft.com/office/drawing/2014/main" id="{93576385-206F-6C4E-A777-584410A86A90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63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F39410C-122E-EB48-BC48-B182D8612A8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297;g3d6e2211149_2_228">
            <a:extLst>
              <a:ext uri="{FF2B5EF4-FFF2-40B4-BE49-F238E27FC236}">
                <a16:creationId xmlns:a16="http://schemas.microsoft.com/office/drawing/2014/main" id="{A5396E2A-58AA-6748-A14B-64236CEB4E39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65" name="Google Shape;298;g3d6e2211149_2_228">
            <a:extLst>
              <a:ext uri="{FF2B5EF4-FFF2-40B4-BE49-F238E27FC236}">
                <a16:creationId xmlns:a16="http://schemas.microsoft.com/office/drawing/2014/main" id="{404B9398-559C-884E-97FA-96F82A2C356E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6" name="Google Shape;303;g3d6e2211149_2_228">
            <a:extLst>
              <a:ext uri="{FF2B5EF4-FFF2-40B4-BE49-F238E27FC236}">
                <a16:creationId xmlns:a16="http://schemas.microsoft.com/office/drawing/2014/main" id="{51378C3D-4DC4-4842-9EA6-8A2398BDCC2C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67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8B0294D-3506-1D45-A175-240AFC46DC0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305;g3d6e2211149_2_228">
            <a:extLst>
              <a:ext uri="{FF2B5EF4-FFF2-40B4-BE49-F238E27FC236}">
                <a16:creationId xmlns:a16="http://schemas.microsoft.com/office/drawing/2014/main" id="{6786367D-3B3F-AF4D-A582-2EFAFC7C8D79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69" name="Google Shape;306;g3d6e2211149_2_228">
            <a:extLst>
              <a:ext uri="{FF2B5EF4-FFF2-40B4-BE49-F238E27FC236}">
                <a16:creationId xmlns:a16="http://schemas.microsoft.com/office/drawing/2014/main" id="{FD49B849-46A1-A946-9962-18757D380A1F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4325C0C3-728F-8645-9409-FAAA8CC39C2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341;g3d6e2211149_2_228">
            <a:extLst>
              <a:ext uri="{FF2B5EF4-FFF2-40B4-BE49-F238E27FC236}">
                <a16:creationId xmlns:a16="http://schemas.microsoft.com/office/drawing/2014/main" id="{0379B47B-8189-C947-A9C0-0E7064DE3F1E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72" name="Google Shape;342;g3d6e2211149_2_228" descr="Private subnet group icon. ">
            <a:extLst>
              <a:ext uri="{FF2B5EF4-FFF2-40B4-BE49-F238E27FC236}">
                <a16:creationId xmlns:a16="http://schemas.microsoft.com/office/drawing/2014/main" id="{44549FA7-1D31-A04D-AC77-318D522FEAC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347;g3d6e2211149_2_228" descr="AWS Auto Scaling service icon.">
            <a:extLst>
              <a:ext uri="{FF2B5EF4-FFF2-40B4-BE49-F238E27FC236}">
                <a16:creationId xmlns:a16="http://schemas.microsoft.com/office/drawing/2014/main" id="{66DAA7CB-5B99-B44E-8EC9-A600036E9636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275;g3d6e2211149_2_228" descr="Amazon Aurora service icon.">
            <a:extLst>
              <a:ext uri="{FF2B5EF4-FFF2-40B4-BE49-F238E27FC236}">
                <a16:creationId xmlns:a16="http://schemas.microsoft.com/office/drawing/2014/main" id="{EBEFE133-39F9-FC43-ABEC-E686314A479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276;g3d6e2211149_2_228">
            <a:extLst>
              <a:ext uri="{FF2B5EF4-FFF2-40B4-BE49-F238E27FC236}">
                <a16:creationId xmlns:a16="http://schemas.microsoft.com/office/drawing/2014/main" id="{EAB0FC3D-E5E4-BF4D-B6A5-8BA23DAE9488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76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E4771CFD-1E8E-624A-8391-2B7694198C53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280;g3d6e2211149_2_228">
            <a:extLst>
              <a:ext uri="{FF2B5EF4-FFF2-40B4-BE49-F238E27FC236}">
                <a16:creationId xmlns:a16="http://schemas.microsoft.com/office/drawing/2014/main" id="{C78D8C32-E2F4-B949-B263-76786922EAC0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78" name="Google Shape;294;g3d6e2211149_2_228" descr="AWS Lambda service icon.">
            <a:extLst>
              <a:ext uri="{FF2B5EF4-FFF2-40B4-BE49-F238E27FC236}">
                <a16:creationId xmlns:a16="http://schemas.microsoft.com/office/drawing/2014/main" id="{6419A8F8-2856-F544-9C37-D9DBEE1FE794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295;g3d6e2211149_2_228">
            <a:extLst>
              <a:ext uri="{FF2B5EF4-FFF2-40B4-BE49-F238E27FC236}">
                <a16:creationId xmlns:a16="http://schemas.microsoft.com/office/drawing/2014/main" id="{EC2E6405-F533-384E-9CC9-EC49096FCA9A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80" name="Google Shape;341;g3d6e2211149_2_228">
            <a:extLst>
              <a:ext uri="{FF2B5EF4-FFF2-40B4-BE49-F238E27FC236}">
                <a16:creationId xmlns:a16="http://schemas.microsoft.com/office/drawing/2014/main" id="{CBCD7A09-B41B-5344-9053-C7EB18BAC3EA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81" name="Google Shape;342;g3d6e2211149_2_228" descr="Private subnet group icon. ">
            <a:extLst>
              <a:ext uri="{FF2B5EF4-FFF2-40B4-BE49-F238E27FC236}">
                <a16:creationId xmlns:a16="http://schemas.microsoft.com/office/drawing/2014/main" id="{402C69E8-6F98-0B43-B2B5-2B715554DC0E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255;g3d6e2211149_2_228">
            <a:extLst>
              <a:ext uri="{FF2B5EF4-FFF2-40B4-BE49-F238E27FC236}">
                <a16:creationId xmlns:a16="http://schemas.microsoft.com/office/drawing/2014/main" id="{716D829F-71AF-344F-B40C-19D8E3768569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83" name="Google Shape;366;g3d6e2211149_2_228">
            <a:extLst>
              <a:ext uri="{FF2B5EF4-FFF2-40B4-BE49-F238E27FC236}">
                <a16:creationId xmlns:a16="http://schemas.microsoft.com/office/drawing/2014/main" id="{FBBB1F2C-153F-B846-B38E-19462C22F8E4}"/>
              </a:ext>
            </a:extLst>
          </p:cNvPr>
          <p:cNvCxnSpPr>
            <a:cxnSpLocks/>
            <a:stCxn id="93" idx="0"/>
          </p:cNvCxnSpPr>
          <p:nvPr/>
        </p:nvCxnSpPr>
        <p:spPr>
          <a:xfrm flipV="1">
            <a:off x="3516034" y="3449089"/>
            <a:ext cx="404439" cy="13435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693FB7F5-F441-C14B-BA66-B2B406FCE6CD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Elbow Connector 84">
            <a:extLst>
              <a:ext uri="{FF2B5EF4-FFF2-40B4-BE49-F238E27FC236}">
                <a16:creationId xmlns:a16="http://schemas.microsoft.com/office/drawing/2014/main" id="{91CE141F-E265-C946-8A3B-17598AA7083D}"/>
              </a:ext>
            </a:extLst>
          </p:cNvPr>
          <p:cNvCxnSpPr>
            <a:cxnSpLocks/>
            <a:stCxn id="88" idx="2"/>
            <a:endCxn id="90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6" name="Google Shape;303;g3d6896b4338_0_0">
            <a:extLst>
              <a:ext uri="{FF2B5EF4-FFF2-40B4-BE49-F238E27FC236}">
                <a16:creationId xmlns:a16="http://schemas.microsoft.com/office/drawing/2014/main" id="{D871AFA1-D3A7-4E4E-B9CC-6E18580BAB9A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238;g3d6e2211149_2_228">
            <a:extLst>
              <a:ext uri="{FF2B5EF4-FFF2-40B4-BE49-F238E27FC236}">
                <a16:creationId xmlns:a16="http://schemas.microsoft.com/office/drawing/2014/main" id="{4FB87F26-CAD2-6C4F-88C3-324FA6284096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(Local VM)</a:t>
            </a:r>
            <a:endParaRPr/>
          </a:p>
        </p:txBody>
      </p:sp>
      <p:sp>
        <p:nvSpPr>
          <p:cNvPr id="88" name="Google Shape;300;g3d6e2211149_2_228">
            <a:extLst>
              <a:ext uri="{FF2B5EF4-FFF2-40B4-BE49-F238E27FC236}">
                <a16:creationId xmlns:a16="http://schemas.microsoft.com/office/drawing/2014/main" id="{2B9AA0C6-8F2E-0846-A740-E734E645CD89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89" name="Google Shape;302;g3d6e2211149_2_228">
            <a:extLst>
              <a:ext uri="{FF2B5EF4-FFF2-40B4-BE49-F238E27FC236}">
                <a16:creationId xmlns:a16="http://schemas.microsoft.com/office/drawing/2014/main" id="{6B03575C-CAFE-AB44-BBF2-073A945E706F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90" name="Google Shape;302;g3d6e2211149_2_228">
            <a:extLst>
              <a:ext uri="{FF2B5EF4-FFF2-40B4-BE49-F238E27FC236}">
                <a16:creationId xmlns:a16="http://schemas.microsoft.com/office/drawing/2014/main" id="{EC68AAEA-6E02-2845-9208-D78BC90D4E80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91" name="Picture 2" descr="VirtualBox macOS BigSur - free Icon PNG, SVG">
            <a:extLst>
              <a:ext uri="{FF2B5EF4-FFF2-40B4-BE49-F238E27FC236}">
                <a16:creationId xmlns:a16="http://schemas.microsoft.com/office/drawing/2014/main" id="{224B4E69-B139-2548-9420-0B870C567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" descr="VirtualBox macOS BigSur - free Icon PNG, SVG">
            <a:extLst>
              <a:ext uri="{FF2B5EF4-FFF2-40B4-BE49-F238E27FC236}">
                <a16:creationId xmlns:a16="http://schemas.microsoft.com/office/drawing/2014/main" id="{89DBD944-4BEB-8948-B2D1-39D1F23DA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2" descr="VirtualBox macOS BigSur - free Icon PNG, SVG">
            <a:extLst>
              <a:ext uri="{FF2B5EF4-FFF2-40B4-BE49-F238E27FC236}">
                <a16:creationId xmlns:a16="http://schemas.microsoft.com/office/drawing/2014/main" id="{76FF69D1-B325-0141-9D47-5776C46DB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65041191-9BD1-AA47-8ACF-621B35C9D7B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0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동의 건이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개 이상 있는 경우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42;g3d6e2211149_2_228">
            <a:extLst>
              <a:ext uri="{FF2B5EF4-FFF2-40B4-BE49-F238E27FC236}">
                <a16:creationId xmlns:a16="http://schemas.microsoft.com/office/drawing/2014/main" id="{702015B0-895A-454E-8237-9D65CEA06DF3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243;g3d6e2211149_2_228">
            <a:extLst>
              <a:ext uri="{FF2B5EF4-FFF2-40B4-BE49-F238E27FC236}">
                <a16:creationId xmlns:a16="http://schemas.microsoft.com/office/drawing/2014/main" id="{8C5245C6-B2FF-FE42-9629-B2F38BE791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366;g3d6e2211149_2_228">
            <a:extLst>
              <a:ext uri="{FF2B5EF4-FFF2-40B4-BE49-F238E27FC236}">
                <a16:creationId xmlns:a16="http://schemas.microsoft.com/office/drawing/2014/main" id="{5DB5F8B4-B2C4-A743-B3E6-E1C22760BEF6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8" name="Google Shape;366;g3d6e2211149_2_228">
            <a:extLst>
              <a:ext uri="{FF2B5EF4-FFF2-40B4-BE49-F238E27FC236}">
                <a16:creationId xmlns:a16="http://schemas.microsoft.com/office/drawing/2014/main" id="{6D1E961B-C577-C24E-8E43-DF76A6972070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244;g3d6e2211149_2_228">
            <a:extLst>
              <a:ext uri="{FF2B5EF4-FFF2-40B4-BE49-F238E27FC236}">
                <a16:creationId xmlns:a16="http://schemas.microsoft.com/office/drawing/2014/main" id="{740E0532-119C-8547-BE06-1B57B06793D2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887CB9AC-DC4B-D14C-9CA7-0FE8DD2635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49;g3d6e2211149_2_228">
            <a:extLst>
              <a:ext uri="{FF2B5EF4-FFF2-40B4-BE49-F238E27FC236}">
                <a16:creationId xmlns:a16="http://schemas.microsoft.com/office/drawing/2014/main" id="{E2EBA396-FBF0-FA4B-ABEF-B2A660805E71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A09926C1-EC20-A547-A6F1-2CF283E50B1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ECDE58-F978-3C41-9997-D1215D6F3F53}"/>
              </a:ext>
            </a:extLst>
          </p:cNvPr>
          <p:cNvSpPr txBox="1"/>
          <p:nvPr/>
        </p:nvSpPr>
        <p:spPr>
          <a:xfrm>
            <a:off x="5927750" y="3642798"/>
            <a:ext cx="40108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로그인 후</a:t>
            </a:r>
            <a:r>
              <a:rPr lang="en-US" altLang="ko-KR" sz="1200" b="1"/>
              <a:t>,</a:t>
            </a:r>
            <a:r>
              <a:rPr lang="ko-KR" altLang="en-US" sz="1200" b="1"/>
              <a:t xml:space="preserve"> 동의 프로세스 </a:t>
            </a:r>
            <a:r>
              <a:rPr lang="en-US" altLang="ko-KR" sz="1200" b="1"/>
              <a:t>(</a:t>
            </a:r>
            <a:r>
              <a:rPr lang="ko-KR" altLang="en-US" sz="1200" b="1"/>
              <a:t xml:space="preserve">동의 건이 </a:t>
            </a:r>
            <a:r>
              <a:rPr lang="en-US" altLang="ko-KR" sz="1200" b="1"/>
              <a:t>1</a:t>
            </a:r>
            <a:r>
              <a:rPr lang="ko-KR" altLang="en-US" sz="1200" b="1"/>
              <a:t>개 이상 있는 경우</a:t>
            </a:r>
            <a:r>
              <a:rPr lang="en-US" altLang="ko-KR" sz="1200" b="1"/>
              <a:t>)</a:t>
            </a:r>
            <a:r>
              <a:rPr lang="ko-KR" altLang="en-US" sz="1200" b="1"/>
              <a:t xml:space="preserve">  </a:t>
            </a:r>
            <a:endParaRPr lang="en-US" altLang="ko-KR" sz="1200" b="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B98C18-BB5A-E94C-8256-886E382E2FD2}"/>
              </a:ext>
            </a:extLst>
          </p:cNvPr>
          <p:cNvSpPr txBox="1"/>
          <p:nvPr/>
        </p:nvSpPr>
        <p:spPr>
          <a:xfrm>
            <a:off x="5911926" y="4008205"/>
            <a:ext cx="3838396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 xml:space="preserve">STEP 1. </a:t>
            </a:r>
            <a:r>
              <a:rPr lang="ko-KR" altLang="en-US" sz="1100"/>
              <a:t xml:space="preserve">로그인 </a:t>
            </a:r>
            <a:endParaRPr lang="en-US" altLang="ko-KR" sz="1100"/>
          </a:p>
          <a:p>
            <a:r>
              <a:rPr lang="en-US" altLang="ko-KR" sz="1100"/>
              <a:t>Users</a:t>
            </a:r>
            <a:r>
              <a:rPr lang="ko-KR" altLang="en-US" sz="1100"/>
              <a:t xml:space="preserve"> 인증 성공 </a:t>
            </a:r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STEP 2. consent</a:t>
            </a:r>
            <a:r>
              <a:rPr lang="ko-KR" altLang="en-US" sz="1100"/>
              <a:t xml:space="preserve"> 상태 조회 </a:t>
            </a:r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r>
              <a:rPr lang="en-US" sz="1100"/>
              <a:t xml:space="preserve">STEP </a:t>
            </a:r>
            <a:r>
              <a:rPr lang="en-US" altLang="ko-KR" sz="1100"/>
              <a:t>3</a:t>
            </a:r>
            <a:r>
              <a:rPr lang="en-US" sz="1100"/>
              <a:t xml:space="preserve">. </a:t>
            </a:r>
            <a:r>
              <a:rPr lang="ko-KR" altLang="en-US" sz="1100"/>
              <a:t xml:space="preserve">동의 완료 여부 판단 </a:t>
            </a:r>
            <a:r>
              <a:rPr lang="en-US" altLang="ko-KR" sz="1100"/>
              <a:t>(</a:t>
            </a:r>
            <a:r>
              <a:rPr lang="ko-KR" altLang="en-US" sz="1100"/>
              <a:t xml:space="preserve">최소 </a:t>
            </a:r>
            <a:r>
              <a:rPr lang="en-US" altLang="ko-KR" sz="1100"/>
              <a:t>1</a:t>
            </a:r>
            <a:r>
              <a:rPr lang="ko-KR" altLang="en-US" sz="1100"/>
              <a:t>개 이상 동의 조건</a:t>
            </a:r>
            <a:r>
              <a:rPr lang="en-US" altLang="ko-KR" sz="1100"/>
              <a:t>)</a:t>
            </a:r>
          </a:p>
          <a:p>
            <a:endParaRPr lang="en-US" altLang="ko-KR" sz="1100"/>
          </a:p>
          <a:p>
            <a:endParaRPr lang="en-US" sz="1100"/>
          </a:p>
          <a:p>
            <a:r>
              <a:rPr lang="en-US" sz="1100"/>
              <a:t>STEP 3. main (dashboard)</a:t>
            </a:r>
            <a:r>
              <a:rPr lang="ko-KR" altLang="en-US" sz="1100"/>
              <a:t xml:space="preserve"> 페이지로 이동 </a:t>
            </a:r>
            <a:endParaRPr lang="en-US" altLang="ko-KR" sz="1100"/>
          </a:p>
        </p:txBody>
      </p:sp>
      <p:sp>
        <p:nvSpPr>
          <p:cNvPr id="50" name="Google Shape;250;g3d6e2211149_2_228">
            <a:extLst>
              <a:ext uri="{FF2B5EF4-FFF2-40B4-BE49-F238E27FC236}">
                <a16:creationId xmlns:a16="http://schemas.microsoft.com/office/drawing/2014/main" id="{B467745F-7E91-F14E-843F-31758CA1566B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51" name="Google Shape;251;g3d6e2211149_2_228" descr="VPC group icon. ">
            <a:extLst>
              <a:ext uri="{FF2B5EF4-FFF2-40B4-BE49-F238E27FC236}">
                <a16:creationId xmlns:a16="http://schemas.microsoft.com/office/drawing/2014/main" id="{C09A405E-D87F-C249-8C39-FE984DC5BA6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52;g3d6e2211149_2_228">
            <a:extLst>
              <a:ext uri="{FF2B5EF4-FFF2-40B4-BE49-F238E27FC236}">
                <a16:creationId xmlns:a16="http://schemas.microsoft.com/office/drawing/2014/main" id="{37C67E3D-40C9-0946-9B30-56119CACDE2A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3" name="Google Shape;253;g3d6e2211149_2_228" descr="Public subnet group icon. ">
            <a:extLst>
              <a:ext uri="{FF2B5EF4-FFF2-40B4-BE49-F238E27FC236}">
                <a16:creationId xmlns:a16="http://schemas.microsoft.com/office/drawing/2014/main" id="{B578438F-CEA1-774A-8E72-A73F750208C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DE9D0B90-5109-A744-AAF9-211E9CC10E4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0D367435-6AD8-BA43-94FD-00EB38F8671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" name="Google Shape;284;g3d6e2211149_2_228">
            <a:extLst>
              <a:ext uri="{FF2B5EF4-FFF2-40B4-BE49-F238E27FC236}">
                <a16:creationId xmlns:a16="http://schemas.microsoft.com/office/drawing/2014/main" id="{AC8FEC0A-997B-374E-A1A9-180101B36355}"/>
              </a:ext>
            </a:extLst>
          </p:cNvPr>
          <p:cNvCxnSpPr>
            <a:stCxn id="57" idx="3"/>
            <a:endCxn id="55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57" name="Google Shape;285;g3d6e2211149_2_228" descr="AWS WAF service icon.">
            <a:extLst>
              <a:ext uri="{FF2B5EF4-FFF2-40B4-BE49-F238E27FC236}">
                <a16:creationId xmlns:a16="http://schemas.microsoft.com/office/drawing/2014/main" id="{EB449792-EE8D-4B4D-AFF2-C628A60D53C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286;g3d6e2211149_2_228">
            <a:extLst>
              <a:ext uri="{FF2B5EF4-FFF2-40B4-BE49-F238E27FC236}">
                <a16:creationId xmlns:a16="http://schemas.microsoft.com/office/drawing/2014/main" id="{1E418B69-BB01-7342-A76D-67BCDB577DE9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59" name="Google Shape;287;g3d6e2211149_2_228">
            <a:extLst>
              <a:ext uri="{FF2B5EF4-FFF2-40B4-BE49-F238E27FC236}">
                <a16:creationId xmlns:a16="http://schemas.microsoft.com/office/drawing/2014/main" id="{BF12DD1B-A9B6-1640-864F-A326D758A8B7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60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030447A-63DE-7942-AA23-53028F05D89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297;g3d6e2211149_2_228">
            <a:extLst>
              <a:ext uri="{FF2B5EF4-FFF2-40B4-BE49-F238E27FC236}">
                <a16:creationId xmlns:a16="http://schemas.microsoft.com/office/drawing/2014/main" id="{16438E03-C085-EF4A-B043-478281E4B858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62" name="Google Shape;298;g3d6e2211149_2_228">
            <a:extLst>
              <a:ext uri="{FF2B5EF4-FFF2-40B4-BE49-F238E27FC236}">
                <a16:creationId xmlns:a16="http://schemas.microsoft.com/office/drawing/2014/main" id="{3544E587-6614-274C-A824-A19E0442233C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3" name="Google Shape;303;g3d6e2211149_2_228">
            <a:extLst>
              <a:ext uri="{FF2B5EF4-FFF2-40B4-BE49-F238E27FC236}">
                <a16:creationId xmlns:a16="http://schemas.microsoft.com/office/drawing/2014/main" id="{B5B1ACE8-5F0A-314A-88E7-5F3789B9EADA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64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D162A5-1F46-3443-803B-7BB943449D4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305;g3d6e2211149_2_228">
            <a:extLst>
              <a:ext uri="{FF2B5EF4-FFF2-40B4-BE49-F238E27FC236}">
                <a16:creationId xmlns:a16="http://schemas.microsoft.com/office/drawing/2014/main" id="{6499D759-4373-5141-BA95-4F034388E73D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66" name="Google Shape;306;g3d6e2211149_2_228">
            <a:extLst>
              <a:ext uri="{FF2B5EF4-FFF2-40B4-BE49-F238E27FC236}">
                <a16:creationId xmlns:a16="http://schemas.microsoft.com/office/drawing/2014/main" id="{29C84A24-D281-954E-A436-D72FFE765E47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B428579C-B933-334D-9192-125D2B490A4B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341;g3d6e2211149_2_228">
            <a:extLst>
              <a:ext uri="{FF2B5EF4-FFF2-40B4-BE49-F238E27FC236}">
                <a16:creationId xmlns:a16="http://schemas.microsoft.com/office/drawing/2014/main" id="{44A44983-F41C-F349-82F6-91A793D519A6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69" name="Google Shape;342;g3d6e2211149_2_228" descr="Private subnet group icon. ">
            <a:extLst>
              <a:ext uri="{FF2B5EF4-FFF2-40B4-BE49-F238E27FC236}">
                <a16:creationId xmlns:a16="http://schemas.microsoft.com/office/drawing/2014/main" id="{FEE2660D-1A7C-0643-9032-1ED94D89A154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347;g3d6e2211149_2_228" descr="AWS Auto Scaling service icon.">
            <a:extLst>
              <a:ext uri="{FF2B5EF4-FFF2-40B4-BE49-F238E27FC236}">
                <a16:creationId xmlns:a16="http://schemas.microsoft.com/office/drawing/2014/main" id="{41349AFC-94BF-AF4E-80F4-8DE84A0D12A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275;g3d6e2211149_2_228" descr="Amazon Aurora service icon.">
            <a:extLst>
              <a:ext uri="{FF2B5EF4-FFF2-40B4-BE49-F238E27FC236}">
                <a16:creationId xmlns:a16="http://schemas.microsoft.com/office/drawing/2014/main" id="{A0D60EB2-7397-C444-8CD5-2369DFEC2E0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276;g3d6e2211149_2_228">
            <a:extLst>
              <a:ext uri="{FF2B5EF4-FFF2-40B4-BE49-F238E27FC236}">
                <a16:creationId xmlns:a16="http://schemas.microsoft.com/office/drawing/2014/main" id="{945CB3A8-91C2-AD41-B953-A2601631F651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73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F7879938-B6E5-B440-BB94-5D5C2A8DBFD3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280;g3d6e2211149_2_228">
            <a:extLst>
              <a:ext uri="{FF2B5EF4-FFF2-40B4-BE49-F238E27FC236}">
                <a16:creationId xmlns:a16="http://schemas.microsoft.com/office/drawing/2014/main" id="{0290DA83-3529-4B4F-B501-0792FD80E1F6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75" name="Google Shape;294;g3d6e2211149_2_228" descr="AWS Lambda service icon.">
            <a:extLst>
              <a:ext uri="{FF2B5EF4-FFF2-40B4-BE49-F238E27FC236}">
                <a16:creationId xmlns:a16="http://schemas.microsoft.com/office/drawing/2014/main" id="{8D6A6958-FE3A-0F4D-AC4D-55CCAB069DFF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295;g3d6e2211149_2_228">
            <a:extLst>
              <a:ext uri="{FF2B5EF4-FFF2-40B4-BE49-F238E27FC236}">
                <a16:creationId xmlns:a16="http://schemas.microsoft.com/office/drawing/2014/main" id="{413307E2-99D2-9F46-9912-C5591B66506C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77" name="Google Shape;341;g3d6e2211149_2_228">
            <a:extLst>
              <a:ext uri="{FF2B5EF4-FFF2-40B4-BE49-F238E27FC236}">
                <a16:creationId xmlns:a16="http://schemas.microsoft.com/office/drawing/2014/main" id="{B8FFF075-BEB0-B648-BAF3-9DFBA010E086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78" name="Google Shape;342;g3d6e2211149_2_228" descr="Private subnet group icon. ">
            <a:extLst>
              <a:ext uri="{FF2B5EF4-FFF2-40B4-BE49-F238E27FC236}">
                <a16:creationId xmlns:a16="http://schemas.microsoft.com/office/drawing/2014/main" id="{1B5A0399-85F3-D54C-9696-AE03F7D48BA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255;g3d6e2211149_2_228">
            <a:extLst>
              <a:ext uri="{FF2B5EF4-FFF2-40B4-BE49-F238E27FC236}">
                <a16:creationId xmlns:a16="http://schemas.microsoft.com/office/drawing/2014/main" id="{775DB918-B56F-2947-9492-516141291880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80" name="Google Shape;366;g3d6e2211149_2_228">
            <a:extLst>
              <a:ext uri="{FF2B5EF4-FFF2-40B4-BE49-F238E27FC236}">
                <a16:creationId xmlns:a16="http://schemas.microsoft.com/office/drawing/2014/main" id="{31624AE4-7A72-6142-AB16-7F0569373AC1}"/>
              </a:ext>
            </a:extLst>
          </p:cNvPr>
          <p:cNvCxnSpPr>
            <a:cxnSpLocks/>
            <a:stCxn id="90" idx="0"/>
          </p:cNvCxnSpPr>
          <p:nvPr/>
        </p:nvCxnSpPr>
        <p:spPr>
          <a:xfrm flipV="1">
            <a:off x="3516034" y="3449089"/>
            <a:ext cx="404439" cy="13435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DC6FEC4B-209E-194B-A3C8-F89DF90034D3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4F92542F-31C4-9E44-AD2B-E62FDC7B55E0}"/>
              </a:ext>
            </a:extLst>
          </p:cNvPr>
          <p:cNvCxnSpPr>
            <a:cxnSpLocks/>
            <a:stCxn id="85" idx="2"/>
            <a:endCxn id="87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3" name="Google Shape;303;g3d6896b4338_0_0">
            <a:extLst>
              <a:ext uri="{FF2B5EF4-FFF2-40B4-BE49-F238E27FC236}">
                <a16:creationId xmlns:a16="http://schemas.microsoft.com/office/drawing/2014/main" id="{9C42AF4C-E1CA-C349-879C-F7D44EEE867B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238;g3d6e2211149_2_228">
            <a:extLst>
              <a:ext uri="{FF2B5EF4-FFF2-40B4-BE49-F238E27FC236}">
                <a16:creationId xmlns:a16="http://schemas.microsoft.com/office/drawing/2014/main" id="{9852FA7B-6452-8145-9A62-3CC3DD68F78D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(Local VM)</a:t>
            </a:r>
            <a:endParaRPr/>
          </a:p>
        </p:txBody>
      </p:sp>
      <p:sp>
        <p:nvSpPr>
          <p:cNvPr id="85" name="Google Shape;300;g3d6e2211149_2_228">
            <a:extLst>
              <a:ext uri="{FF2B5EF4-FFF2-40B4-BE49-F238E27FC236}">
                <a16:creationId xmlns:a16="http://schemas.microsoft.com/office/drawing/2014/main" id="{C97EC51E-3BA6-2C46-8AA0-E9D7041FA8EE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86" name="Google Shape;302;g3d6e2211149_2_228">
            <a:extLst>
              <a:ext uri="{FF2B5EF4-FFF2-40B4-BE49-F238E27FC236}">
                <a16:creationId xmlns:a16="http://schemas.microsoft.com/office/drawing/2014/main" id="{C27D6952-920B-2043-8576-E876D1A5C894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87" name="Google Shape;302;g3d6e2211149_2_228">
            <a:extLst>
              <a:ext uri="{FF2B5EF4-FFF2-40B4-BE49-F238E27FC236}">
                <a16:creationId xmlns:a16="http://schemas.microsoft.com/office/drawing/2014/main" id="{8DAEC411-2BB7-DC4B-92FB-DF740715D3F3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88" name="Picture 2" descr="VirtualBox macOS BigSur - free Icon PNG, SVG">
            <a:extLst>
              <a:ext uri="{FF2B5EF4-FFF2-40B4-BE49-F238E27FC236}">
                <a16:creationId xmlns:a16="http://schemas.microsoft.com/office/drawing/2014/main" id="{B572D27D-FD3A-794B-8108-6B422FC7F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Picture 2" descr="VirtualBox macOS BigSur - free Icon PNG, SVG">
            <a:extLst>
              <a:ext uri="{FF2B5EF4-FFF2-40B4-BE49-F238E27FC236}">
                <a16:creationId xmlns:a16="http://schemas.microsoft.com/office/drawing/2014/main" id="{DBC3AB33-7456-B349-8D4A-FA57EE71B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2" descr="VirtualBox macOS BigSur - free Icon PNG, SVG">
            <a:extLst>
              <a:ext uri="{FF2B5EF4-FFF2-40B4-BE49-F238E27FC236}">
                <a16:creationId xmlns:a16="http://schemas.microsoft.com/office/drawing/2014/main" id="{04F18C65-260F-7543-9A2C-A4549DBFD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F7345425-5E2E-B749-8E1D-9FA7B61427E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240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6DA0EB93-BBA6-A541-8A85-09D032C057EC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81214331-2099-8949-B50C-888868CC2A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D5DB389F-7D7B-3748-B753-CC9D16BE91BB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D2D63E66-6F54-9141-8BBE-F47540167B2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32AE6F1-D8D3-7746-93B3-27AB40DE0FA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63136F95-5550-6546-9DAF-37B8FFAD75D2}"/>
              </a:ext>
            </a:extLst>
          </p:cNvPr>
          <p:cNvSpPr txBox="1"/>
          <p:nvPr/>
        </p:nvSpPr>
        <p:spPr>
          <a:xfrm>
            <a:off x="3386244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7582A2-7C91-994C-A411-5C83D6308B9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C90580A2-A663-AB4C-9FDA-90E32BBA7CB4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2CD1529B-8528-D748-AD30-6F3469415634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3BA0F579-CDAB-B84E-8DDA-D88D7C7A30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AA9B6BC-DC74-9D49-8032-88150F899946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8CA3ADD1-B877-B044-8781-B9ECE889C7B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090509C-3FF1-FC4A-A6A5-86318BA30C7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D9060E9-0E7A-A548-966A-2C06F3F0BD9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262CD35-7285-6F4F-8DB3-FF47C81DFB2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A7CDA4E-16DC-EF49-8340-7D3E3E05B9C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1549EA5C-A755-D543-9D9D-F0A7886EA6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4604A4B-11AD-2F45-85DD-C5723AE8EDE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9F51B289-63A9-1345-AF5B-3631416C6047}"/>
              </a:ext>
            </a:extLst>
          </p:cNvPr>
          <p:cNvSpPr txBox="1"/>
          <p:nvPr/>
        </p:nvSpPr>
        <p:spPr>
          <a:xfrm>
            <a:off x="390471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F8C9744F-A389-654A-A418-FE89D4EBB9CA}"/>
              </a:ext>
            </a:extLst>
          </p:cNvPr>
          <p:cNvSpPr txBox="1"/>
          <p:nvPr/>
        </p:nvSpPr>
        <p:spPr>
          <a:xfrm>
            <a:off x="440351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F0E8018E-FD23-BF43-89EF-798DD84C4B79}"/>
              </a:ext>
            </a:extLst>
          </p:cNvPr>
          <p:cNvSpPr txBox="1"/>
          <p:nvPr/>
        </p:nvSpPr>
        <p:spPr>
          <a:xfrm>
            <a:off x="4930576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6303C51B-644D-DB4D-9F5B-D2FCF5822991}"/>
              </a:ext>
            </a:extLst>
          </p:cNvPr>
          <p:cNvSpPr txBox="1"/>
          <p:nvPr/>
        </p:nvSpPr>
        <p:spPr>
          <a:xfrm>
            <a:off x="5401107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A3F51B55-5A01-5E48-9990-FA8DFBC95853}"/>
              </a:ext>
            </a:extLst>
          </p:cNvPr>
          <p:cNvSpPr txBox="1"/>
          <p:nvPr/>
        </p:nvSpPr>
        <p:spPr>
          <a:xfrm>
            <a:off x="5920446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9A0C4F37-A482-0440-827E-A6B918A5DFA9}"/>
              </a:ext>
            </a:extLst>
          </p:cNvPr>
          <p:cNvSpPr txBox="1"/>
          <p:nvPr/>
        </p:nvSpPr>
        <p:spPr>
          <a:xfrm>
            <a:off x="6453576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AB2F74-202B-BF41-9999-3C0DBF392047}"/>
              </a:ext>
            </a:extLst>
          </p:cNvPr>
          <p:cNvSpPr txBox="1"/>
          <p:nvPr/>
        </p:nvSpPr>
        <p:spPr>
          <a:xfrm>
            <a:off x="3216700" y="5346444"/>
            <a:ext cx="195802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실명정보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매핑정보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마스킹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Tokenization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대표 ID 생성</a:t>
            </a:r>
          </a:p>
        </p:txBody>
      </p:sp>
      <p:pic>
        <p:nvPicPr>
          <p:cNvPr id="45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0411452-9305-D24E-BCB0-F7EC668D253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6858" y="3960749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274;g3d6e2211149_2_228">
            <a:extLst>
              <a:ext uri="{FF2B5EF4-FFF2-40B4-BE49-F238E27FC236}">
                <a16:creationId xmlns:a16="http://schemas.microsoft.com/office/drawing/2014/main" id="{BE61D9CF-E090-3D45-8B51-5DACBDE19F5E}"/>
              </a:ext>
            </a:extLst>
          </p:cNvPr>
          <p:cNvSpPr txBox="1"/>
          <p:nvPr/>
        </p:nvSpPr>
        <p:spPr>
          <a:xfrm>
            <a:off x="4991029" y="3981928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E8DF19-FB30-F645-B8AA-A941D66835DE}"/>
              </a:ext>
            </a:extLst>
          </p:cNvPr>
          <p:cNvSpPr txBox="1"/>
          <p:nvPr/>
        </p:nvSpPr>
        <p:spPr>
          <a:xfrm>
            <a:off x="548712" y="3581934"/>
            <a:ext cx="285926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 xml:space="preserve">마스터 테이블 </a:t>
            </a:r>
            <a:r>
              <a:rPr lang="en-US" altLang="ko-KR" sz="900" dirty="0"/>
              <a:t>(</a:t>
            </a:r>
            <a:r>
              <a:rPr lang="en-US" altLang="ko-KR" sz="900" dirty="0" err="1"/>
              <a:t>master_customer</a:t>
            </a:r>
            <a:r>
              <a:rPr lang="en-US" altLang="ko-KR" sz="900" dirty="0"/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 xml:space="preserve">고객 매핑 테이블 </a:t>
            </a:r>
            <a:r>
              <a:rPr lang="en-US" altLang="ko-KR" sz="900" dirty="0"/>
              <a:t>(</a:t>
            </a:r>
            <a:r>
              <a:rPr lang="en-US" sz="900" dirty="0" err="1"/>
              <a:t>customer_identity_map</a:t>
            </a:r>
            <a:r>
              <a:rPr lang="en-US" altLang="ko-KR" sz="900" dirty="0"/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>개인정보 원본 테이블</a:t>
            </a:r>
            <a:r>
              <a:rPr lang="en-US" altLang="ko-KR" sz="900" dirty="0"/>
              <a:t>(</a:t>
            </a:r>
            <a:r>
              <a:rPr lang="en-US" altLang="ko-KR" sz="900" dirty="0" err="1"/>
              <a:t>customer_pii_secure</a:t>
            </a:r>
            <a:r>
              <a:rPr lang="en-US" altLang="ko-KR" sz="900" dirty="0"/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altLang="ko-KR" sz="900" dirty="0" err="1"/>
              <a:t>Matching_audit_log</a:t>
            </a:r>
            <a:endParaRPr lang="en-US" altLang="ko-KR" sz="900" dirty="0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 xml:space="preserve">분석용 고객 테이블 </a:t>
            </a:r>
            <a:r>
              <a:rPr lang="en-US" altLang="ko-KR" sz="900" dirty="0"/>
              <a:t>(customer_360_profile)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A6C12C-6268-F345-99C7-1286C1D34851}"/>
              </a:ext>
            </a:extLst>
          </p:cNvPr>
          <p:cNvSpPr txBox="1"/>
          <p:nvPr/>
        </p:nvSpPr>
        <p:spPr>
          <a:xfrm>
            <a:off x="5640688" y="4523886"/>
            <a:ext cx="27395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lifesync-raw</a:t>
            </a:r>
            <a:r>
              <a:rPr lang="ko-KR" altLang="en-US" sz="900"/>
              <a:t>에는 원천 데이터를 적재하고</a:t>
            </a:r>
            <a:r>
              <a:rPr lang="en-US" altLang="ko-KR" sz="900"/>
              <a:t>,</a:t>
            </a:r>
            <a:br>
              <a:rPr lang="en-US" altLang="ko-KR" sz="900"/>
            </a:br>
            <a:r>
              <a:rPr lang="ko-KR" altLang="en-US" sz="900"/>
              <a:t xml:space="preserve">고객 동의 대상군만 선별하여 </a:t>
            </a:r>
            <a:r>
              <a:rPr lang="en-US" sz="900"/>
              <a:t xml:space="preserve">processed/curated </a:t>
            </a:r>
            <a:r>
              <a:rPr lang="ko-KR" altLang="en-US" sz="900"/>
              <a:t>영역에서 활용</a:t>
            </a:r>
            <a:endParaRPr lang="en-KR" sz="9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A8E4C2-CEEF-CA4B-BD27-7C4664F9090C}"/>
              </a:ext>
            </a:extLst>
          </p:cNvPr>
          <p:cNvSpPr txBox="1"/>
          <p:nvPr/>
        </p:nvSpPr>
        <p:spPr>
          <a:xfrm>
            <a:off x="3266404" y="6213728"/>
            <a:ext cx="2410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/>
              <a:t>각 계열사 고객번호 유지</a:t>
            </a:r>
            <a:endParaRPr lang="en-US" altLang="ko-KR" sz="900"/>
          </a:p>
          <a:p>
            <a:r>
              <a:rPr lang="en-US" altLang="ko-KR" sz="900"/>
              <a:t>+</a:t>
            </a:r>
            <a:r>
              <a:rPr lang="ko-KR" altLang="en-US" sz="900"/>
              <a:t xml:space="preserve"> 중앙 </a:t>
            </a:r>
            <a:r>
              <a:rPr lang="en-US" sz="900"/>
              <a:t xml:space="preserve">Global ID </a:t>
            </a:r>
            <a:r>
              <a:rPr lang="ko-KR" altLang="en-US" sz="900"/>
              <a:t>신규 생성</a:t>
            </a:r>
            <a:endParaRPr lang="en-KR" sz="900"/>
          </a:p>
        </p:txBody>
      </p:sp>
      <p:cxnSp>
        <p:nvCxnSpPr>
          <p:cNvPr id="50" name="Google Shape;358;g3d6e2211149_2_228">
            <a:extLst>
              <a:ext uri="{FF2B5EF4-FFF2-40B4-BE49-F238E27FC236}">
                <a16:creationId xmlns:a16="http://schemas.microsoft.com/office/drawing/2014/main" id="{64C24CE5-369A-FE4E-A4F3-B2A3579D11CD}"/>
              </a:ext>
            </a:extLst>
          </p:cNvPr>
          <p:cNvCxnSpPr>
            <a:cxnSpLocks/>
            <a:stCxn id="67" idx="2"/>
            <a:endCxn id="51" idx="0"/>
          </p:cNvCxnSpPr>
          <p:nvPr/>
        </p:nvCxnSpPr>
        <p:spPr>
          <a:xfrm>
            <a:off x="4441494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1" name="Google Shape;294;g3d6e2211149_2_228" descr="AWS Lambda service icon.">
            <a:extLst>
              <a:ext uri="{FF2B5EF4-FFF2-40B4-BE49-F238E27FC236}">
                <a16:creationId xmlns:a16="http://schemas.microsoft.com/office/drawing/2014/main" id="{EEB2869D-FE89-234A-895C-AC11CE5E1C6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12591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95;g3d6e2211149_2_228">
            <a:extLst>
              <a:ext uri="{FF2B5EF4-FFF2-40B4-BE49-F238E27FC236}">
                <a16:creationId xmlns:a16="http://schemas.microsoft.com/office/drawing/2014/main" id="{CF83B0C2-015D-6549-BA40-FF76AB933ADC}"/>
              </a:ext>
            </a:extLst>
          </p:cNvPr>
          <p:cNvSpPr txBox="1"/>
          <p:nvPr/>
        </p:nvSpPr>
        <p:spPr>
          <a:xfrm>
            <a:off x="4429435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4" name="Google Shape;358;g3d6e2211149_2_228">
            <a:extLst>
              <a:ext uri="{FF2B5EF4-FFF2-40B4-BE49-F238E27FC236}">
                <a16:creationId xmlns:a16="http://schemas.microsoft.com/office/drawing/2014/main" id="{BD1840C0-CC95-5E41-B977-68D1BAA55CAA}"/>
              </a:ext>
            </a:extLst>
          </p:cNvPr>
          <p:cNvCxnSpPr>
            <a:cxnSpLocks/>
          </p:cNvCxnSpPr>
          <p:nvPr/>
        </p:nvCxnSpPr>
        <p:spPr>
          <a:xfrm>
            <a:off x="4919670" y="3668655"/>
            <a:ext cx="995794" cy="27321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6" name="Google Shape;303;g3d6896b4338_0_0">
            <a:extLst>
              <a:ext uri="{FF2B5EF4-FFF2-40B4-BE49-F238E27FC236}">
                <a16:creationId xmlns:a16="http://schemas.microsoft.com/office/drawing/2014/main" id="{69AD80BF-73E7-0648-B41A-80106A62F0D3}"/>
              </a:ext>
            </a:extLst>
          </p:cNvPr>
          <p:cNvSpPr/>
          <p:nvPr/>
        </p:nvSpPr>
        <p:spPr>
          <a:xfrm>
            <a:off x="3904461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303;g3d6896b4338_0_0">
            <a:extLst>
              <a:ext uri="{FF2B5EF4-FFF2-40B4-BE49-F238E27FC236}">
                <a16:creationId xmlns:a16="http://schemas.microsoft.com/office/drawing/2014/main" id="{F7BE7379-E792-284A-906A-194C2613CE97}"/>
              </a:ext>
            </a:extLst>
          </p:cNvPr>
          <p:cNvSpPr/>
          <p:nvPr/>
        </p:nvSpPr>
        <p:spPr>
          <a:xfrm>
            <a:off x="5255893" y="347368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68B790-B0D4-5F46-995C-E068CCADF3E3}"/>
              </a:ext>
            </a:extLst>
          </p:cNvPr>
          <p:cNvSpPr txBox="1"/>
          <p:nvPr/>
        </p:nvSpPr>
        <p:spPr>
          <a:xfrm>
            <a:off x="6926874" y="407849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52FE675-5DF6-B144-8DB2-D827A96769A5}"/>
              </a:ext>
            </a:extLst>
          </p:cNvPr>
          <p:cNvSpPr txBox="1"/>
          <p:nvPr/>
        </p:nvSpPr>
        <p:spPr>
          <a:xfrm>
            <a:off x="82051" y="5588398"/>
            <a:ext cx="668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/>
              <a:t>Global ID</a:t>
            </a:r>
            <a:r>
              <a:rPr lang="ko-KR" altLang="en-US" sz="900"/>
              <a:t xml:space="preserve"> </a:t>
            </a:r>
            <a:endParaRPr lang="en-US" altLang="ko-KR" sz="900"/>
          </a:p>
          <a:p>
            <a:pPr algn="ctr"/>
            <a:r>
              <a:rPr lang="ko-KR" altLang="en-US" sz="900"/>
              <a:t>조회</a:t>
            </a:r>
            <a:endParaRPr lang="en-KR" sz="9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1BE953D-DDAE-E246-8F9B-AB48256EC16D}"/>
              </a:ext>
            </a:extLst>
          </p:cNvPr>
          <p:cNvSpPr txBox="1"/>
          <p:nvPr/>
        </p:nvSpPr>
        <p:spPr>
          <a:xfrm>
            <a:off x="3223369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 xml:space="preserve"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5" name="Google Shape;303;g3d6896b4338_0_0">
            <a:extLst>
              <a:ext uri="{FF2B5EF4-FFF2-40B4-BE49-F238E27FC236}">
                <a16:creationId xmlns:a16="http://schemas.microsoft.com/office/drawing/2014/main" id="{E88982D3-8E60-984E-85F5-9765714C2247}"/>
              </a:ext>
            </a:extLst>
          </p:cNvPr>
          <p:cNvSpPr/>
          <p:nvPr/>
        </p:nvSpPr>
        <p:spPr>
          <a:xfrm>
            <a:off x="6309389" y="39809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B7C01A-1B26-4443-9232-EC354F7275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0810758A-B302-3940-9013-D287AE771A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316741CC-9597-7648-A0BB-18DEF9ECD6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DFF6B1A1-8C95-5B4D-B3B9-D32833E698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A4F2B37-4766-954A-9B15-681A4E61B9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F424FF01-ADCC-F842-90EF-8F1F0C88C3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BC41FD5-B0DE-6C4D-9A98-FA7B06A83E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7CA2EE-C24B-F94E-A013-A92DEAECC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341657"/>
              </p:ext>
            </p:extLst>
          </p:nvPr>
        </p:nvGraphicFramePr>
        <p:xfrm>
          <a:off x="9605989" y="716362"/>
          <a:ext cx="2484884" cy="112776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00:00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계열사 업무 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714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00:10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 xml:space="preserve">계열사 </a:t>
                      </a:r>
                      <a:r>
                        <a:rPr lang="en-US" sz="1000"/>
                        <a:t xml:space="preserve">Raw </a:t>
                      </a:r>
                      <a:r>
                        <a:rPr lang="ko-KR" altLang="en-US" sz="1000"/>
                        <a:t>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093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00:20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 xml:space="preserve">그룹 </a:t>
                      </a:r>
                      <a:r>
                        <a:rPr lang="en-US" sz="1000"/>
                        <a:t xml:space="preserve">Raw </a:t>
                      </a:r>
                      <a:r>
                        <a:rPr lang="ko-KR" altLang="en-US" sz="1000"/>
                        <a:t>저장소 업로드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587387"/>
                  </a:ext>
                </a:extLst>
              </a:tr>
            </a:tbl>
          </a:graphicData>
        </a:graphic>
      </p:graphicFrame>
      <p:pic>
        <p:nvPicPr>
          <p:cNvPr id="73" name="Google Shape;294;g3d6e2211149_2_228" descr="AWS Lambda service icon.">
            <a:extLst>
              <a:ext uri="{FF2B5EF4-FFF2-40B4-BE49-F238E27FC236}">
                <a16:creationId xmlns:a16="http://schemas.microsoft.com/office/drawing/2014/main" id="{6625DD25-B754-8847-B88D-727B43BE481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58164" y="6087186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295;g3d6e2211149_2_228">
            <a:extLst>
              <a:ext uri="{FF2B5EF4-FFF2-40B4-BE49-F238E27FC236}">
                <a16:creationId xmlns:a16="http://schemas.microsoft.com/office/drawing/2014/main" id="{8B343E1A-1481-7C4F-99DD-B5ACBBC5B118}"/>
              </a:ext>
            </a:extLst>
          </p:cNvPr>
          <p:cNvSpPr txBox="1"/>
          <p:nvPr/>
        </p:nvSpPr>
        <p:spPr>
          <a:xfrm>
            <a:off x="7682447" y="611996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75" name="Google Shape;318;g3d6e2211149_2_228">
            <a:extLst>
              <a:ext uri="{FF2B5EF4-FFF2-40B4-BE49-F238E27FC236}">
                <a16:creationId xmlns:a16="http://schemas.microsoft.com/office/drawing/2014/main" id="{EED51F4B-2A05-4244-AE47-6D09D0495E07}"/>
              </a:ext>
            </a:extLst>
          </p:cNvPr>
          <p:cNvSpPr txBox="1"/>
          <p:nvPr/>
        </p:nvSpPr>
        <p:spPr>
          <a:xfrm>
            <a:off x="5170730" y="5169497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DF314A47-5085-8743-89E7-AAD8FB2321BD}"/>
              </a:ext>
            </a:extLst>
          </p:cNvPr>
          <p:cNvCxnSpPr>
            <a:cxnSpLocks/>
          </p:cNvCxnSpPr>
          <p:nvPr/>
        </p:nvCxnSpPr>
        <p:spPr>
          <a:xfrm>
            <a:off x="1775623" y="2552359"/>
            <a:ext cx="3034181" cy="270923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77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D53143F6-31BE-0747-BB5D-02AE00074C9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87256" y="5999700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371;g3d6e2211149_2_228">
            <a:extLst>
              <a:ext uri="{FF2B5EF4-FFF2-40B4-BE49-F238E27FC236}">
                <a16:creationId xmlns:a16="http://schemas.microsoft.com/office/drawing/2014/main" id="{63B532EC-F4DB-9B4D-9D4E-CA3EE20C9691}"/>
              </a:ext>
            </a:extLst>
          </p:cNvPr>
          <p:cNvSpPr txBox="1"/>
          <p:nvPr/>
        </p:nvSpPr>
        <p:spPr>
          <a:xfrm>
            <a:off x="5533823" y="6361279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C1575F67-963B-5C42-ADE2-A0266E69885C}"/>
              </a:ext>
            </a:extLst>
          </p:cNvPr>
          <p:cNvCxnSpPr>
            <a:cxnSpLocks/>
            <a:endCxn id="80" idx="0"/>
          </p:cNvCxnSpPr>
          <p:nvPr/>
        </p:nvCxnSpPr>
        <p:spPr>
          <a:xfrm>
            <a:off x="4934316" y="5344683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Google Shape;356;g3d6e2211149_2_228">
            <a:extLst>
              <a:ext uri="{FF2B5EF4-FFF2-40B4-BE49-F238E27FC236}">
                <a16:creationId xmlns:a16="http://schemas.microsoft.com/office/drawing/2014/main" id="{F4734456-7106-E249-BBB9-DE2E5218DB89}"/>
              </a:ext>
            </a:extLst>
          </p:cNvPr>
          <p:cNvSpPr txBox="1"/>
          <p:nvPr/>
        </p:nvSpPr>
        <p:spPr>
          <a:xfrm>
            <a:off x="4711876" y="5822798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81" name="Google Shape;319;g3d6e2211149_2_228">
            <a:extLst>
              <a:ext uri="{FF2B5EF4-FFF2-40B4-BE49-F238E27FC236}">
                <a16:creationId xmlns:a16="http://schemas.microsoft.com/office/drawing/2014/main" id="{D89894E3-A379-BD4E-B67D-3B2D415010A1}"/>
              </a:ext>
            </a:extLst>
          </p:cNvPr>
          <p:cNvCxnSpPr>
            <a:cxnSpLocks/>
            <a:endCxn id="77" idx="1"/>
          </p:cNvCxnSpPr>
          <p:nvPr/>
        </p:nvCxnSpPr>
        <p:spPr>
          <a:xfrm>
            <a:off x="5567405" y="6080034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2" name="Google Shape;319;g3d6e2211149_2_228">
            <a:extLst>
              <a:ext uri="{FF2B5EF4-FFF2-40B4-BE49-F238E27FC236}">
                <a16:creationId xmlns:a16="http://schemas.microsoft.com/office/drawing/2014/main" id="{380BFA3E-3BB2-F64C-9D5F-97D8A31BC0F8}"/>
              </a:ext>
            </a:extLst>
          </p:cNvPr>
          <p:cNvCxnSpPr>
            <a:cxnSpLocks/>
            <a:stCxn id="73" idx="0"/>
          </p:cNvCxnSpPr>
          <p:nvPr/>
        </p:nvCxnSpPr>
        <p:spPr>
          <a:xfrm flipH="1" flipV="1">
            <a:off x="6059866" y="4366764"/>
            <a:ext cx="1502138" cy="172042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7C219358-7268-EA44-B96B-056F055FD08C}"/>
              </a:ext>
            </a:extLst>
          </p:cNvPr>
          <p:cNvSpPr txBox="1"/>
          <p:nvPr/>
        </p:nvSpPr>
        <p:spPr>
          <a:xfrm>
            <a:off x="1308495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13BEF990-83F9-8D4C-8336-7B368D945B22}"/>
              </a:ext>
            </a:extLst>
          </p:cNvPr>
          <p:cNvSpPr/>
          <p:nvPr/>
        </p:nvSpPr>
        <p:spPr>
          <a:xfrm>
            <a:off x="1248601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303;g3d6896b4338_0_0">
            <a:extLst>
              <a:ext uri="{FF2B5EF4-FFF2-40B4-BE49-F238E27FC236}">
                <a16:creationId xmlns:a16="http://schemas.microsoft.com/office/drawing/2014/main" id="{6FB726BB-07A6-D845-B8A1-E38E56366836}"/>
              </a:ext>
            </a:extLst>
          </p:cNvPr>
          <p:cNvSpPr/>
          <p:nvPr/>
        </p:nvSpPr>
        <p:spPr>
          <a:xfrm>
            <a:off x="5273240" y="6189053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319;g3d6e2211149_2_228">
            <a:extLst>
              <a:ext uri="{FF2B5EF4-FFF2-40B4-BE49-F238E27FC236}">
                <a16:creationId xmlns:a16="http://schemas.microsoft.com/office/drawing/2014/main" id="{B00DF8BA-DE20-584D-B3B8-352C7AA03670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6228765" y="6219784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7" name="Google Shape;303;g3d6896b4338_0_0">
            <a:extLst>
              <a:ext uri="{FF2B5EF4-FFF2-40B4-BE49-F238E27FC236}">
                <a16:creationId xmlns:a16="http://schemas.microsoft.com/office/drawing/2014/main" id="{6CF3195D-D444-1A4F-B387-92787B1D2E67}"/>
              </a:ext>
            </a:extLst>
          </p:cNvPr>
          <p:cNvSpPr/>
          <p:nvPr/>
        </p:nvSpPr>
        <p:spPr>
          <a:xfrm>
            <a:off x="3278911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D767DA3-D91D-6A49-A92B-F18A2A4F01C6}"/>
              </a:ext>
            </a:extLst>
          </p:cNvPr>
          <p:cNvSpPr txBox="1"/>
          <p:nvPr/>
        </p:nvSpPr>
        <p:spPr>
          <a:xfrm>
            <a:off x="2543604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 xml:space="preserve"> </a:t>
            </a:r>
            <a:r>
              <a:rPr lang="en-US" sz="900"/>
              <a:t xml:space="preserve"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 xml:space="preserve"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92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9193154-6722-254C-BFF3-C70EC1F462A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96735" y="4967383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303;g3d6896b4338_0_0">
            <a:extLst>
              <a:ext uri="{FF2B5EF4-FFF2-40B4-BE49-F238E27FC236}">
                <a16:creationId xmlns:a16="http://schemas.microsoft.com/office/drawing/2014/main" id="{EFB316A5-7D52-644E-8B98-E163A5F438C0}"/>
              </a:ext>
            </a:extLst>
          </p:cNvPr>
          <p:cNvSpPr/>
          <p:nvPr/>
        </p:nvSpPr>
        <p:spPr>
          <a:xfrm>
            <a:off x="4445678" y="538640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303;g3d6896b4338_0_0">
            <a:extLst>
              <a:ext uri="{FF2B5EF4-FFF2-40B4-BE49-F238E27FC236}">
                <a16:creationId xmlns:a16="http://schemas.microsoft.com/office/drawing/2014/main" id="{BA42B9E3-9D77-4B4F-B6E3-11074AC3630E}"/>
              </a:ext>
            </a:extLst>
          </p:cNvPr>
          <p:cNvSpPr/>
          <p:nvPr/>
        </p:nvSpPr>
        <p:spPr>
          <a:xfrm>
            <a:off x="6607523" y="413153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303;g3d6896b4338_0_0">
            <a:extLst>
              <a:ext uri="{FF2B5EF4-FFF2-40B4-BE49-F238E27FC236}">
                <a16:creationId xmlns:a16="http://schemas.microsoft.com/office/drawing/2014/main" id="{667EF616-EA25-6147-B53D-B5BF8DF4A5CD}"/>
              </a:ext>
            </a:extLst>
          </p:cNvPr>
          <p:cNvSpPr/>
          <p:nvPr/>
        </p:nvSpPr>
        <p:spPr>
          <a:xfrm>
            <a:off x="7013223" y="6340882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A43DF25E-1497-A945-9D99-BD7968F63F63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4017594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8" name="Google Shape;358;g3d6e2211149_2_228">
            <a:extLst>
              <a:ext uri="{FF2B5EF4-FFF2-40B4-BE49-F238E27FC236}">
                <a16:creationId xmlns:a16="http://schemas.microsoft.com/office/drawing/2014/main" id="{5179410A-37AC-3C44-A253-A169942D6397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4716431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9" name="Google Shape;358;g3d6e2211149_2_228">
            <a:extLst>
              <a:ext uri="{FF2B5EF4-FFF2-40B4-BE49-F238E27FC236}">
                <a16:creationId xmlns:a16="http://schemas.microsoft.com/office/drawing/2014/main" id="{F1BB41CA-D0EA-D640-9916-23DAB267B91F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4716431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0" name="Google Shape;358;g3d6e2211149_2_228">
            <a:extLst>
              <a:ext uri="{FF2B5EF4-FFF2-40B4-BE49-F238E27FC236}">
                <a16:creationId xmlns:a16="http://schemas.microsoft.com/office/drawing/2014/main" id="{F270C3C7-5EE4-854E-BF29-7EEB4B3178D8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4716431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1" name="Google Shape;358;g3d6e2211149_2_228">
            <a:extLst>
              <a:ext uri="{FF2B5EF4-FFF2-40B4-BE49-F238E27FC236}">
                <a16:creationId xmlns:a16="http://schemas.microsoft.com/office/drawing/2014/main" id="{24A14C70-17D0-9D46-9874-ADEACC133601}"/>
              </a:ext>
            </a:extLst>
          </p:cNvPr>
          <p:cNvCxnSpPr>
            <a:cxnSpLocks/>
            <a:stCxn id="70" idx="1"/>
            <a:endCxn id="51" idx="0"/>
          </p:cNvCxnSpPr>
          <p:nvPr/>
        </p:nvCxnSpPr>
        <p:spPr>
          <a:xfrm flipH="1">
            <a:off x="4716431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2" name="Google Shape;358;g3d6e2211149_2_228">
            <a:extLst>
              <a:ext uri="{FF2B5EF4-FFF2-40B4-BE49-F238E27FC236}">
                <a16:creationId xmlns:a16="http://schemas.microsoft.com/office/drawing/2014/main" id="{291FE83D-0225-144F-84D1-2F5EE6FCEF75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4716431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9" name="Google Shape;358;g3d6e2211149_2_228">
            <a:extLst>
              <a:ext uri="{FF2B5EF4-FFF2-40B4-BE49-F238E27FC236}">
                <a16:creationId xmlns:a16="http://schemas.microsoft.com/office/drawing/2014/main" id="{7B3D2C33-1154-D844-8493-176BFF5440B0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4716431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14C59FD9-C006-C24B-8B90-FB6BB37153B3}"/>
              </a:ext>
            </a:extLst>
          </p:cNvPr>
          <p:cNvSpPr txBox="1"/>
          <p:nvPr/>
        </p:nvSpPr>
        <p:spPr>
          <a:xfrm>
            <a:off x="9143058" y="3952875"/>
            <a:ext cx="25002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계열사 </a:t>
            </a:r>
            <a:r>
              <a:rPr lang="en-US" altLang="ko-KR" sz="1200" b="1"/>
              <a:t>/</a:t>
            </a:r>
            <a:r>
              <a:rPr lang="ko-KR" altLang="en-US" sz="1200" b="1"/>
              <a:t xml:space="preserve"> 웨어러블 데이터 발생 </a:t>
            </a:r>
            <a:endParaRPr lang="en-US" altLang="ko-KR" sz="1200" b="1"/>
          </a:p>
          <a:p>
            <a:endParaRPr lang="en-US" altLang="ko-K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은행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카드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증권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보험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병원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헬스케어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웨어러블</a:t>
            </a:r>
            <a:endParaRPr lang="en-US" altLang="ko-KR" sz="120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DFCDB1F-92B5-FB44-9F62-AB41E8CA4457}"/>
              </a:ext>
            </a:extLst>
          </p:cNvPr>
          <p:cNvSpPr txBox="1"/>
          <p:nvPr/>
        </p:nvSpPr>
        <p:spPr>
          <a:xfrm>
            <a:off x="9136908" y="2240397"/>
            <a:ext cx="2944071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계열사 </a:t>
            </a:r>
            <a:r>
              <a:rPr lang="en-US" altLang="ko-KR" sz="1200" b="1"/>
              <a:t>/</a:t>
            </a:r>
            <a:r>
              <a:rPr lang="ko-KR" altLang="en-US" sz="1200" b="1"/>
              <a:t xml:space="preserve"> 웨어러블 프로세스 절차</a:t>
            </a:r>
            <a:endParaRPr lang="en-KR" sz="1200"/>
          </a:p>
          <a:p>
            <a:endParaRPr lang="en-KR" sz="1000"/>
          </a:p>
          <a:p>
            <a:r>
              <a:rPr lang="ko-KR" altLang="en-US" sz="1000"/>
              <a:t xml:space="preserve">각 계열사 </a:t>
            </a:r>
            <a:r>
              <a:rPr lang="en-US" sz="1000"/>
              <a:t>EC2 Agent</a:t>
            </a:r>
            <a:r>
              <a:rPr lang="ko-KR" altLang="en-US" sz="1000"/>
              <a:t>는</a:t>
            </a:r>
            <a:br>
              <a:rPr lang="ko-KR" altLang="en-US" sz="1000"/>
            </a:br>
            <a:r>
              <a:rPr lang="en-US" altLang="ko-KR" sz="1000"/>
              <a:t xml:space="preserve">(1) </a:t>
            </a:r>
            <a:r>
              <a:rPr lang="ko-KR" altLang="en-US" sz="1000"/>
              <a:t xml:space="preserve">거래성 원천 데이터를 </a:t>
            </a:r>
            <a:r>
              <a:rPr lang="en-US" sz="1000"/>
              <a:t>MySQL</a:t>
            </a:r>
            <a:r>
              <a:rPr lang="ko-KR" altLang="en-US" sz="1000"/>
              <a:t>에 누적 저장</a:t>
            </a:r>
            <a:br>
              <a:rPr lang="ko-KR" altLang="en-US" sz="1000"/>
            </a:br>
            <a:r>
              <a:rPr lang="en-US" altLang="ko-KR" sz="1000"/>
              <a:t xml:space="preserve">(2) </a:t>
            </a:r>
            <a:r>
              <a:rPr lang="ko-KR" altLang="en-US" sz="1000"/>
              <a:t xml:space="preserve">하루 마감 후 전일 데이터 </a:t>
            </a:r>
            <a:r>
              <a:rPr lang="en-US" sz="1000"/>
              <a:t xml:space="preserve">Export JSON </a:t>
            </a:r>
            <a:r>
              <a:rPr lang="ko-KR" altLang="en-US" sz="1000"/>
              <a:t>생성</a:t>
            </a:r>
            <a:br>
              <a:rPr lang="ko-KR" altLang="en-US" sz="1000"/>
            </a:br>
            <a:r>
              <a:rPr lang="en-US" altLang="ko-KR" sz="1000"/>
              <a:t xml:space="preserve">(3) </a:t>
            </a:r>
            <a:r>
              <a:rPr lang="en-US" sz="1000"/>
              <a:t xml:space="preserve">Raw </a:t>
            </a:r>
            <a:r>
              <a:rPr lang="ko-KR" altLang="en-US" sz="1000"/>
              <a:t>플랫폼 전송</a:t>
            </a:r>
            <a:endParaRPr lang="en-KR" sz="1000"/>
          </a:p>
        </p:txBody>
      </p:sp>
      <p:sp>
        <p:nvSpPr>
          <p:cNvPr id="117" name="Google Shape;371;g3d6e2211149_2_228">
            <a:extLst>
              <a:ext uri="{FF2B5EF4-FFF2-40B4-BE49-F238E27FC236}">
                <a16:creationId xmlns:a16="http://schemas.microsoft.com/office/drawing/2014/main" id="{A1510C7B-20EA-9443-A0CC-0763F06F003D}"/>
              </a:ext>
            </a:extLst>
          </p:cNvPr>
          <p:cNvSpPr txBox="1"/>
          <p:nvPr/>
        </p:nvSpPr>
        <p:spPr>
          <a:xfrm>
            <a:off x="6386384" y="5882996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  <p:cxnSp>
        <p:nvCxnSpPr>
          <p:cNvPr id="96" name="Elbow Connector 95">
            <a:extLst>
              <a:ext uri="{FF2B5EF4-FFF2-40B4-BE49-F238E27FC236}">
                <a16:creationId xmlns:a16="http://schemas.microsoft.com/office/drawing/2014/main" id="{5539DFE8-67AE-9C49-9540-8E6E6273D155}"/>
              </a:ext>
            </a:extLst>
          </p:cNvPr>
          <p:cNvCxnSpPr>
            <a:cxnSpLocks/>
            <a:stCxn id="105" idx="2"/>
            <a:endCxn id="107" idx="2"/>
          </p:cNvCxnSpPr>
          <p:nvPr/>
        </p:nvCxnSpPr>
        <p:spPr>
          <a:xfrm rot="5400000" flipH="1">
            <a:off x="1875825" y="5099911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03" name="Google Shape;303;g3d6896b4338_0_0">
            <a:extLst>
              <a:ext uri="{FF2B5EF4-FFF2-40B4-BE49-F238E27FC236}">
                <a16:creationId xmlns:a16="http://schemas.microsoft.com/office/drawing/2014/main" id="{66B18F38-50A4-9D45-BA89-D4178BAA7F66}"/>
              </a:ext>
            </a:extLst>
          </p:cNvPr>
          <p:cNvSpPr/>
          <p:nvPr/>
        </p:nvSpPr>
        <p:spPr>
          <a:xfrm>
            <a:off x="700538" y="591016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238;g3d6e2211149_2_228">
            <a:extLst>
              <a:ext uri="{FF2B5EF4-FFF2-40B4-BE49-F238E27FC236}">
                <a16:creationId xmlns:a16="http://schemas.microsoft.com/office/drawing/2014/main" id="{36E15C24-F98C-3B4D-9F14-B497D7A7A536}"/>
              </a:ext>
            </a:extLst>
          </p:cNvPr>
          <p:cNvSpPr/>
          <p:nvPr/>
        </p:nvSpPr>
        <p:spPr>
          <a:xfrm>
            <a:off x="652510" y="4568619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(Local VM)</a:t>
            </a:r>
            <a:endParaRPr/>
          </a:p>
        </p:txBody>
      </p:sp>
      <p:sp>
        <p:nvSpPr>
          <p:cNvPr id="105" name="Google Shape;300;g3d6e2211149_2_228">
            <a:extLst>
              <a:ext uri="{FF2B5EF4-FFF2-40B4-BE49-F238E27FC236}">
                <a16:creationId xmlns:a16="http://schemas.microsoft.com/office/drawing/2014/main" id="{81D199C5-3D54-564A-AB7A-0B1DA4E67113}"/>
              </a:ext>
            </a:extLst>
          </p:cNvPr>
          <p:cNvSpPr txBox="1"/>
          <p:nvPr/>
        </p:nvSpPr>
        <p:spPr>
          <a:xfrm>
            <a:off x="2132541" y="5519342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106" name="Google Shape;302;g3d6e2211149_2_228">
            <a:extLst>
              <a:ext uri="{FF2B5EF4-FFF2-40B4-BE49-F238E27FC236}">
                <a16:creationId xmlns:a16="http://schemas.microsoft.com/office/drawing/2014/main" id="{D8B7896E-7BA5-7341-B293-73DD6E89FE7C}"/>
              </a:ext>
            </a:extLst>
          </p:cNvPr>
          <p:cNvSpPr txBox="1"/>
          <p:nvPr/>
        </p:nvSpPr>
        <p:spPr>
          <a:xfrm>
            <a:off x="1375541" y="5513158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107" name="Google Shape;302;g3d6e2211149_2_228">
            <a:extLst>
              <a:ext uri="{FF2B5EF4-FFF2-40B4-BE49-F238E27FC236}">
                <a16:creationId xmlns:a16="http://schemas.microsoft.com/office/drawing/2014/main" id="{46785153-686C-AB4F-9BC9-70B6E738660A}"/>
              </a:ext>
            </a:extLst>
          </p:cNvPr>
          <p:cNvSpPr txBox="1"/>
          <p:nvPr/>
        </p:nvSpPr>
        <p:spPr>
          <a:xfrm>
            <a:off x="571226" y="5508210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108" name="Picture 2" descr="VirtualBox macOS BigSur - free Icon PNG, SVG">
            <a:extLst>
              <a:ext uri="{FF2B5EF4-FFF2-40B4-BE49-F238E27FC236}">
                <a16:creationId xmlns:a16="http://schemas.microsoft.com/office/drawing/2014/main" id="{372173D0-40A4-9149-BCFE-0EEC6176A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26" y="4969126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2" descr="VirtualBox macOS BigSur - free Icon PNG, SVG">
            <a:extLst>
              <a:ext uri="{FF2B5EF4-FFF2-40B4-BE49-F238E27FC236}">
                <a16:creationId xmlns:a16="http://schemas.microsoft.com/office/drawing/2014/main" id="{7B383F70-DFF1-E046-937F-A91A4982C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869" y="4961011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Picture 2" descr="VirtualBox macOS BigSur - free Icon PNG, SVG">
            <a:extLst>
              <a:ext uri="{FF2B5EF4-FFF2-40B4-BE49-F238E27FC236}">
                <a16:creationId xmlns:a16="http://schemas.microsoft.com/office/drawing/2014/main" id="{BEEE421B-9E4F-EC46-B7F5-B8C44E2AF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491" y="4956031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0B692F8D-F634-4446-89C6-2186E06DBD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2603" y="4596214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56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 -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은행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7" y="4268009"/>
            <a:ext cx="20654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가입고객 100만명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일평균 활성 18%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1인 평균 거래 2.3건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하루 약 41만건 생성</a:t>
            </a:r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은행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 xml:space="preserve"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 xml:space="preserve"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 xml:space="preserve"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 xml:space="preserve"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 dirty="0"/>
              <a:t>1. bank_customer</a:t>
            </a:r>
          </a:p>
          <a:p>
            <a:r>
              <a:rPr lang="en-KR" sz="1000" dirty="0"/>
              <a:t>2. bank_transaction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37A22DE-E9B5-734D-A257-7A9C43364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076195"/>
              </p:ext>
            </p:extLst>
          </p:nvPr>
        </p:nvGraphicFramePr>
        <p:xfrm>
          <a:off x="3770058" y="4391160"/>
          <a:ext cx="3261026" cy="1249680"/>
        </p:xfrm>
        <a:graphic>
          <a:graphicData uri="http://schemas.openxmlformats.org/drawingml/2006/table">
            <a:tbl>
              <a:tblPr/>
              <a:tblGrid>
                <a:gridCol w="1630513">
                  <a:extLst>
                    <a:ext uri="{9D8B030D-6E8A-4147-A177-3AD203B41FA5}">
                      <a16:colId xmlns:a16="http://schemas.microsoft.com/office/drawing/2014/main" val="3827469799"/>
                    </a:ext>
                  </a:extLst>
                </a:gridCol>
                <a:gridCol w="1630513">
                  <a:extLst>
                    <a:ext uri="{9D8B030D-6E8A-4147-A177-3AD203B41FA5}">
                      <a16:colId xmlns:a16="http://schemas.microsoft.com/office/drawing/2014/main" val="2195957180"/>
                    </a:ext>
                  </a:extLst>
                </a:gridCol>
              </a:tblGrid>
              <a:tr h="2145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91328"/>
                  </a:ext>
                </a:extLst>
              </a:tr>
              <a:tr h="214530">
                <a:tc>
                  <a:txBody>
                    <a:bodyPr/>
                    <a:lstStyle/>
                    <a:p>
                      <a:r>
                        <a:rPr lang="ko-KR" altLang="en-US" sz="1000"/>
                        <a:t>급여일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/>
                        <a:t>25</a:t>
                      </a:r>
                      <a:r>
                        <a:rPr lang="ko-KR" altLang="en-US" sz="1000"/>
                        <a:t>일 입금 급증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0761321"/>
                  </a:ext>
                </a:extLst>
              </a:tr>
              <a:tr h="214530">
                <a:tc>
                  <a:txBody>
                    <a:bodyPr/>
                    <a:lstStyle/>
                    <a:p>
                      <a:r>
                        <a:rPr lang="ko-KR" altLang="en-US" sz="1000"/>
                        <a:t>점심시간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FOOD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9620713"/>
                  </a:ext>
                </a:extLst>
              </a:tr>
              <a:tr h="214530">
                <a:tc>
                  <a:txBody>
                    <a:bodyPr/>
                    <a:lstStyle/>
                    <a:p>
                      <a:r>
                        <a:rPr lang="ko-KR" altLang="en-US" sz="1000"/>
                        <a:t>월말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이체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2754535"/>
                  </a:ext>
                </a:extLst>
              </a:tr>
              <a:tr h="21453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 xml:space="preserve">평균 금액 </a:t>
                      </a:r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399577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CREATE TABLE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bank_customer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(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bank_id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 PRIMARY KEY,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ls_user_id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account_no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account_type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VARCHAR(20),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branch_code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VARCHAR(10),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join_dt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DATE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BCC13A-20B7-374E-9837-98290CA345C1}"/>
              </a:ext>
            </a:extLst>
          </p:cNvPr>
          <p:cNvSpPr txBox="1"/>
          <p:nvPr/>
        </p:nvSpPr>
        <p:spPr>
          <a:xfrm>
            <a:off x="8013013" y="3469188"/>
            <a:ext cx="3712804" cy="20928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CREATE TABLE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bank_transaction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(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txn_id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BIGINT AUTO_INCREMENT PRIMARY KEY,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bank_id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ls_user_id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transaction_id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VARCHAR(50),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transaction_dt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DATETIME,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transaction_type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VARCHAR(20),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amount INT,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balance_after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INT,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merchant_category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channel VARCHAR(20),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created_dt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TIMESTAMP DEFAULT CURRENT_TIMESTAMP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150117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카드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7" y="4268009"/>
            <a:ext cx="20654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가입 </a:t>
            </a:r>
            <a:r>
              <a:rPr lang="en-US" altLang="ko-KR" sz="1000"/>
              <a:t>70</a:t>
            </a:r>
            <a:r>
              <a:rPr lang="ko-KR" altLang="en-US" sz="1000"/>
              <a:t>만명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활성 </a:t>
            </a:r>
            <a:r>
              <a:rPr lang="en-US" altLang="ko-KR" sz="1000"/>
              <a:t>22%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>1</a:t>
            </a:r>
            <a:r>
              <a:rPr lang="ko-KR" altLang="en-US" sz="1000"/>
              <a:t xml:space="preserve">인 평균 승인 </a:t>
            </a:r>
            <a:r>
              <a:rPr lang="en-US" altLang="ko-KR" sz="1000"/>
              <a:t>3.1</a:t>
            </a:r>
            <a:r>
              <a:rPr lang="ko-KR" altLang="en-US" sz="1000"/>
              <a:t>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하루 약 </a:t>
            </a:r>
            <a:r>
              <a:rPr lang="en-US" altLang="ko-KR" sz="1000"/>
              <a:t>47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카드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 xml:space="preserve"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 xml:space="preserve"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 xml:space="preserve"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 xml:space="preserve"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 dirty="0"/>
              <a:t>1. card_customer</a:t>
            </a:r>
          </a:p>
          <a:p>
            <a:r>
              <a:rPr lang="en-KR" sz="1000" dirty="0"/>
              <a:t>2. card_approval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169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CREATE TABLE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card_customer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(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card_id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 PRIMARY KEY,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ls_user_id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card_grade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VARCHAR(20),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limit_amount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INT,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issue_dt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DATE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BCC13A-20B7-374E-9837-98290CA345C1}"/>
              </a:ext>
            </a:extLst>
          </p:cNvPr>
          <p:cNvSpPr txBox="1"/>
          <p:nvPr/>
        </p:nvSpPr>
        <p:spPr>
          <a:xfrm>
            <a:off x="8013013" y="3469188"/>
            <a:ext cx="3712804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CREATE TABLE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card_approval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(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id BIGINT AUTO_INCREMENT PRIMARY KEY,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card_id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ls_user_id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approval_no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VARCHAR(50),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approval_dt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DATETIME,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merchant_name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VARCHAR(100),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merchant_category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amount INT,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installment_months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INT,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payment_status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VARCHAR(20)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58D0A63-2A9C-E24C-B930-7E4A78967F9B}"/>
              </a:ext>
            </a:extLst>
          </p:cNvPr>
          <p:cNvSpPr txBox="1"/>
          <p:nvPr/>
        </p:nvSpPr>
        <p:spPr>
          <a:xfrm>
            <a:off x="3870167" y="4268009"/>
            <a:ext cx="30794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>40</a:t>
            </a:r>
            <a:r>
              <a:rPr lang="ko-KR" altLang="en-US" sz="1000"/>
              <a:t xml:space="preserve">대 고소득 </a:t>
            </a:r>
            <a:r>
              <a:rPr lang="en-US" altLang="ko-KR" sz="1000"/>
              <a:t xml:space="preserve">= </a:t>
            </a:r>
            <a:r>
              <a:rPr lang="ko-KR" altLang="en-US" sz="1000"/>
              <a:t xml:space="preserve">승인금액 </a:t>
            </a:r>
            <a:r>
              <a:rPr lang="en-US" altLang="ko-KR" sz="1000"/>
              <a:t>2</a:t>
            </a:r>
            <a:r>
              <a:rPr lang="ko-KR" altLang="en-US" sz="1000"/>
              <a:t>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주말 </a:t>
            </a:r>
            <a:r>
              <a:rPr lang="en-US" altLang="ko-KR" sz="1000"/>
              <a:t xml:space="preserve">= leisure </a:t>
            </a:r>
            <a:r>
              <a:rPr lang="ko-KR" altLang="en-US" sz="1000"/>
              <a:t>증가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당뇨 고객 </a:t>
            </a:r>
            <a:r>
              <a:rPr lang="en-US" altLang="ko-KR" sz="1000"/>
              <a:t xml:space="preserve">= medical </a:t>
            </a:r>
            <a:r>
              <a:rPr lang="ko-KR" altLang="en-US" sz="1000"/>
              <a:t>증가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 xml:space="preserve">VIP = premium shopping </a:t>
            </a:r>
            <a:r>
              <a:rPr lang="ko-KR" altLang="en-US" sz="1000"/>
              <a:t>증가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861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증권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6" y="4268009"/>
            <a:ext cx="23144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가입고객 25만명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시장 영업일만 생성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평일 </a:t>
            </a:r>
            <a:r>
              <a:rPr lang="en-US" altLang="ko-KR" sz="1000"/>
              <a:t xml:space="preserve">09:00 ~ 15:30 </a:t>
            </a:r>
            <a:r>
              <a:rPr lang="ko-KR" altLang="en-US" sz="1000"/>
              <a:t>집중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비활성 고객 다수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소수 </a:t>
            </a:r>
            <a:r>
              <a:rPr lang="az-Cyrl-AZ" altLang="ko-KR" sz="1000"/>
              <a:t xml:space="preserve">актив </a:t>
            </a:r>
            <a:r>
              <a:rPr lang="en-US" altLang="ko-KR" sz="1000"/>
              <a:t xml:space="preserve">trader </a:t>
            </a:r>
            <a:r>
              <a:rPr lang="ko-KR" altLang="en-US" sz="1000"/>
              <a:t>집중 거래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하루 생성 건수 </a:t>
            </a:r>
            <a:r>
              <a:rPr lang="en-US" altLang="ko-KR" sz="1000"/>
              <a:t>:</a:t>
            </a:r>
            <a:r>
              <a:rPr lang="ko-KR" altLang="en-US" sz="1000"/>
              <a:t xml:space="preserve"> 약 </a:t>
            </a:r>
            <a:r>
              <a:rPr lang="en-US" altLang="ko-KR" sz="1000"/>
              <a:t>8</a:t>
            </a:r>
            <a:r>
              <a:rPr lang="ko-KR" altLang="en-US" sz="1000"/>
              <a:t xml:space="preserve">만 </a:t>
            </a:r>
            <a:r>
              <a:rPr lang="en-US" altLang="ko-KR" sz="1000"/>
              <a:t>~ 15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증권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 xml:space="preserve"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 xml:space="preserve"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 xml:space="preserve"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 xml:space="preserve"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securities_account</a:t>
            </a:r>
          </a:p>
          <a:p>
            <a:r>
              <a:rPr lang="en-KR" sz="1000"/>
              <a:t>2. securities_trade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CREATE TABLE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securities_account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(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sec_id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 PRIMARY KEY,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ls_user_id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risk_grade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VARCHAR(20),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open_dt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DATE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BCC13A-20B7-374E-9837-98290CA345C1}"/>
              </a:ext>
            </a:extLst>
          </p:cNvPr>
          <p:cNvSpPr txBox="1"/>
          <p:nvPr/>
        </p:nvSpPr>
        <p:spPr>
          <a:xfrm>
            <a:off x="8013013" y="3469188"/>
            <a:ext cx="3712804" cy="20928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securities_trade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sec_id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trade_id VARCHAR(50),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trade_dt DATETIME,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stock_code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asset_type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trade_type VARCHAR(10),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quantity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trade_price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trade_amount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return_rate DECIMAL(8,4)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3242E9-CFBD-0F46-BC90-4FC6546BB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370110"/>
              </p:ext>
            </p:extLst>
          </p:nvPr>
        </p:nvGraphicFramePr>
        <p:xfrm>
          <a:off x="3895018" y="4363131"/>
          <a:ext cx="3355694" cy="1493520"/>
        </p:xfrm>
        <a:graphic>
          <a:graphicData uri="http://schemas.openxmlformats.org/drawingml/2006/table">
            <a:tbl>
              <a:tblPr/>
              <a:tblGrid>
                <a:gridCol w="1677847">
                  <a:extLst>
                    <a:ext uri="{9D8B030D-6E8A-4147-A177-3AD203B41FA5}">
                      <a16:colId xmlns:a16="http://schemas.microsoft.com/office/drawing/2014/main" val="3694899526"/>
                    </a:ext>
                  </a:extLst>
                </a:gridCol>
                <a:gridCol w="1677847">
                  <a:extLst>
                    <a:ext uri="{9D8B030D-6E8A-4147-A177-3AD203B41FA5}">
                      <a16:colId xmlns:a16="http://schemas.microsoft.com/office/drawing/2014/main" val="40552555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308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40</a:t>
                      </a:r>
                      <a:r>
                        <a:rPr lang="ko-KR" altLang="en-US" sz="1000"/>
                        <a:t>대 고소득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ETF </a:t>
                      </a:r>
                      <a:r>
                        <a:rPr lang="ko-KR" altLang="en-US" sz="1000"/>
                        <a:t>매수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021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채권</a:t>
                      </a:r>
                      <a:r>
                        <a:rPr lang="en-US" altLang="ko-KR" sz="1000"/>
                        <a:t>/</a:t>
                      </a:r>
                      <a:r>
                        <a:rPr lang="en-US" sz="1000"/>
                        <a:t xml:space="preserve">BOND </a:t>
                      </a:r>
                      <a:r>
                        <a:rPr lang="ko-KR" altLang="en-US" sz="1000"/>
                        <a:t>비중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303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시장 급락일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SELL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06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월급날 직후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BUY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0296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20~30</a:t>
                      </a:r>
                      <a:r>
                        <a:rPr lang="ko-KR" altLang="en-US" sz="1000"/>
                        <a:t>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 xml:space="preserve">해외 </a:t>
                      </a:r>
                      <a:r>
                        <a:rPr lang="en-US" sz="1000"/>
                        <a:t xml:space="preserve">ETF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16735"/>
                  </a:ext>
                </a:extLst>
              </a:tr>
            </a:tbl>
          </a:graphicData>
        </a:graphic>
      </p:graphicFrame>
      <p:sp>
        <p:nvSpPr>
          <p:cNvPr id="60" name="Google Shape;274;g3d6e2211149_2_228">
            <a:extLst>
              <a:ext uri="{FF2B5EF4-FFF2-40B4-BE49-F238E27FC236}">
                <a16:creationId xmlns:a16="http://schemas.microsoft.com/office/drawing/2014/main" id="{62761EC3-4A8D-E84E-B7D7-57AF08F160FE}"/>
              </a:ext>
            </a:extLst>
          </p:cNvPr>
          <p:cNvSpPr txBox="1"/>
          <p:nvPr/>
        </p:nvSpPr>
        <p:spPr>
          <a:xfrm>
            <a:off x="971752" y="5472707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 xml:space="preserve">종목 추천 생성 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0E10FB5-5504-9448-8185-FFBB71A437B8}"/>
              </a:ext>
            </a:extLst>
          </p:cNvPr>
          <p:cNvSpPr txBox="1"/>
          <p:nvPr/>
        </p:nvSpPr>
        <p:spPr>
          <a:xfrm>
            <a:off x="984089" y="5767529"/>
            <a:ext cx="19221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KODEX200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TIGER ETF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미국S&amp;P500 ETF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국채 ETF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우량주</a:t>
            </a:r>
          </a:p>
        </p:txBody>
      </p:sp>
      <p:sp>
        <p:nvSpPr>
          <p:cNvPr id="62" name="Google Shape;274;g3d6e2211149_2_228">
            <a:extLst>
              <a:ext uri="{FF2B5EF4-FFF2-40B4-BE49-F238E27FC236}">
                <a16:creationId xmlns:a16="http://schemas.microsoft.com/office/drawing/2014/main" id="{A49DE3F4-5629-F74D-8D68-34AA6B9FF781}"/>
              </a:ext>
            </a:extLst>
          </p:cNvPr>
          <p:cNvSpPr txBox="1"/>
          <p:nvPr/>
        </p:nvSpPr>
        <p:spPr>
          <a:xfrm>
            <a:off x="3820224" y="599668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 xml:space="preserve">시간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8B20D07-2134-794D-8B6E-33687D91ED33}"/>
              </a:ext>
            </a:extLst>
          </p:cNvPr>
          <p:cNvSpPr txBox="1"/>
          <p:nvPr/>
        </p:nvSpPr>
        <p:spPr>
          <a:xfrm>
            <a:off x="3832561" y="6291510"/>
            <a:ext cx="19221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 xml:space="preserve">09:00 </a:t>
            </a:r>
            <a:r>
              <a:rPr lang="ko-KR" altLang="en-US" sz="1000"/>
              <a:t>개장 매수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 xml:space="preserve">14:30 </a:t>
            </a:r>
            <a:r>
              <a:rPr lang="ko-KR" altLang="en-US" sz="1000"/>
              <a:t>종가 전 거래 급증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893899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보험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6" y="4268009"/>
            <a:ext cx="25382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보험은 거래성 데이터보다 계약 이벤트 중심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납입 </a:t>
            </a:r>
            <a:r>
              <a:rPr lang="en-US" altLang="ko-KR" sz="1000"/>
              <a:t xml:space="preserve">/ </a:t>
            </a:r>
            <a:r>
              <a:rPr lang="ko-KR" altLang="en-US" sz="1000"/>
              <a:t xml:space="preserve">갱신 </a:t>
            </a:r>
            <a:r>
              <a:rPr lang="en-US" altLang="ko-KR" sz="1000"/>
              <a:t xml:space="preserve">/ </a:t>
            </a:r>
            <a:r>
              <a:rPr lang="ko-KR" altLang="en-US" sz="1000"/>
              <a:t xml:space="preserve">청구 </a:t>
            </a:r>
            <a:r>
              <a:rPr lang="en-US" altLang="ko-KR" sz="1000"/>
              <a:t xml:space="preserve">/ </a:t>
            </a:r>
            <a:r>
              <a:rPr lang="ko-KR" altLang="en-US" sz="1000"/>
              <a:t>해지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하루 예상 건수 </a:t>
            </a:r>
            <a:r>
              <a:rPr lang="en-US" altLang="ko-KR" sz="1000"/>
              <a:t>:</a:t>
            </a:r>
            <a:r>
              <a:rPr lang="ko-KR" altLang="en-US" sz="1000"/>
              <a:t xml:space="preserve"> </a:t>
            </a:r>
            <a:r>
              <a:rPr lang="en-US" altLang="ko-KR" sz="1000"/>
              <a:t>1</a:t>
            </a:r>
            <a:r>
              <a:rPr lang="ko-KR" altLang="en-US" sz="1000"/>
              <a:t xml:space="preserve">만 </a:t>
            </a:r>
            <a:r>
              <a:rPr lang="en-US" altLang="ko-KR" sz="1000"/>
              <a:t>~</a:t>
            </a:r>
            <a:r>
              <a:rPr lang="ko-KR" altLang="en-US" sz="1000"/>
              <a:t xml:space="preserve"> </a:t>
            </a:r>
            <a:r>
              <a:rPr lang="en-US" altLang="ko-KR" sz="1000"/>
              <a:t>2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보험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 xml:space="preserve"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 xml:space="preserve"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4209698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 xml:space="preserve"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 xml:space="preserve"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 xml:space="preserve">1. </a:t>
            </a:r>
            <a:r>
              <a:rPr lang="en-US" sz="1000"/>
              <a:t>insurance_policy</a:t>
            </a:r>
            <a:endParaRPr lang="en-KR" sz="1000"/>
          </a:p>
          <a:p>
            <a:r>
              <a:rPr lang="en-KR" sz="1000"/>
              <a:t>2. insurance_event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CREATE TABLE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insurance_policy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(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policy_no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VARCHAR(40) PRIMARY KEY,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ins_id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ls_user_id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product_code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product_name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VARCHAR(100),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premium_amount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INT,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status VARCHAR(20)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BCC13A-20B7-374E-9837-98290CA345C1}"/>
              </a:ext>
            </a:extLst>
          </p:cNvPr>
          <p:cNvSpPr txBox="1"/>
          <p:nvPr/>
        </p:nvSpPr>
        <p:spPr>
          <a:xfrm>
            <a:off x="8013013" y="3656071"/>
            <a:ext cx="3712804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insurance_event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policy_no VARCHAR(40),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event_type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event_dt DATETIME,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payment_status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amount INT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6" name="Google Shape;274;g3d6e2211149_2_228">
            <a:extLst>
              <a:ext uri="{FF2B5EF4-FFF2-40B4-BE49-F238E27FC236}">
                <a16:creationId xmlns:a16="http://schemas.microsoft.com/office/drawing/2014/main" id="{E58E1EEE-9608-7D43-B5C9-79129730EA7F}"/>
              </a:ext>
            </a:extLst>
          </p:cNvPr>
          <p:cNvSpPr txBox="1"/>
          <p:nvPr/>
        </p:nvSpPr>
        <p:spPr>
          <a:xfrm>
            <a:off x="964196" y="5003156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 xml:space="preserve">일일 이벤트 율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634B365-C948-6349-8E35-CCB3A1313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818845"/>
              </p:ext>
            </p:extLst>
          </p:nvPr>
        </p:nvGraphicFramePr>
        <p:xfrm>
          <a:off x="948129" y="5344176"/>
          <a:ext cx="2554278" cy="1219200"/>
        </p:xfrm>
        <a:graphic>
          <a:graphicData uri="http://schemas.openxmlformats.org/drawingml/2006/table">
            <a:tbl>
              <a:tblPr/>
              <a:tblGrid>
                <a:gridCol w="1277139">
                  <a:extLst>
                    <a:ext uri="{9D8B030D-6E8A-4147-A177-3AD203B41FA5}">
                      <a16:colId xmlns:a16="http://schemas.microsoft.com/office/drawing/2014/main" val="1206641707"/>
                    </a:ext>
                  </a:extLst>
                </a:gridCol>
                <a:gridCol w="1277139">
                  <a:extLst>
                    <a:ext uri="{9D8B030D-6E8A-4147-A177-3AD203B41FA5}">
                      <a16:colId xmlns:a16="http://schemas.microsoft.com/office/drawing/2014/main" val="37589886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고객군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발생률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602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 유지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84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납입일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438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청구 발생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0.5%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565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>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460549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55CDF1-F604-3E48-BA2A-03D278D12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511115"/>
              </p:ext>
            </p:extLst>
          </p:nvPr>
        </p:nvGraphicFramePr>
        <p:xfrm>
          <a:off x="4229160" y="4412143"/>
          <a:ext cx="3037638" cy="1249680"/>
        </p:xfrm>
        <a:graphic>
          <a:graphicData uri="http://schemas.openxmlformats.org/drawingml/2006/table">
            <a:tbl>
              <a:tblPr/>
              <a:tblGrid>
                <a:gridCol w="1518819">
                  <a:extLst>
                    <a:ext uri="{9D8B030D-6E8A-4147-A177-3AD203B41FA5}">
                      <a16:colId xmlns:a16="http://schemas.microsoft.com/office/drawing/2014/main" val="2196410388"/>
                    </a:ext>
                  </a:extLst>
                </a:gridCol>
                <a:gridCol w="1518819">
                  <a:extLst>
                    <a:ext uri="{9D8B030D-6E8A-4147-A177-3AD203B41FA5}">
                      <a16:colId xmlns:a16="http://schemas.microsoft.com/office/drawing/2014/main" val="32118202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4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40</a:t>
                      </a:r>
                      <a:r>
                        <a:rPr lang="ko-KR" altLang="en-US" sz="1000"/>
                        <a:t>대 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건강보험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4856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자녀 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어린이보험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757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 xml:space="preserve">종신보험 </a:t>
                      </a:r>
                      <a:r>
                        <a:rPr lang="en-US" altLang="ko-KR" sz="1000"/>
                        <a:t xml:space="preserve">/ </a:t>
                      </a:r>
                      <a:r>
                        <a:rPr lang="ko-KR" altLang="en-US" sz="1000"/>
                        <a:t>자산형 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773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당뇨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실손청구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177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421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온라인 보험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7" y="4268009"/>
            <a:ext cx="24270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모바일</a:t>
            </a:r>
            <a:r>
              <a:rPr lang="en-US" altLang="ko-KR" sz="1000"/>
              <a:t>/</a:t>
            </a:r>
            <a:r>
              <a:rPr lang="ko-KR" altLang="en-US" sz="1000"/>
              <a:t>웹 채널 중심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소액 단기보험 많음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시간대 </a:t>
            </a:r>
            <a:r>
              <a:rPr lang="en-US" altLang="ko-KR" sz="1000"/>
              <a:t>:</a:t>
            </a:r>
            <a:r>
              <a:rPr lang="ko-KR" altLang="en-US" sz="1000"/>
              <a:t xml:space="preserve"> </a:t>
            </a:r>
            <a:r>
              <a:rPr lang="en-US" altLang="ko-KR" sz="1000"/>
              <a:t xml:space="preserve">20:00~24:00 </a:t>
            </a:r>
            <a:r>
              <a:rPr lang="ko-KR" altLang="en-US" sz="1000"/>
              <a:t>가입 많음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하루 예상 건수 </a:t>
            </a:r>
            <a:r>
              <a:rPr lang="en-US" altLang="ko-KR" sz="1000"/>
              <a:t>:</a:t>
            </a:r>
            <a:r>
              <a:rPr lang="ko-KR" altLang="en-US" sz="1000"/>
              <a:t xml:space="preserve"> </a:t>
            </a:r>
            <a:r>
              <a:rPr lang="en-US" altLang="ko-KR" sz="1000"/>
              <a:t>5</a:t>
            </a:r>
            <a:r>
              <a:rPr lang="ko-KR" altLang="en-US" sz="1000"/>
              <a:t xml:space="preserve">천 </a:t>
            </a:r>
            <a:r>
              <a:rPr lang="en-US" altLang="ko-KR" sz="1000"/>
              <a:t>~</a:t>
            </a:r>
            <a:r>
              <a:rPr lang="ko-KR" altLang="en-US" sz="1000"/>
              <a:t xml:space="preserve"> </a:t>
            </a:r>
            <a:r>
              <a:rPr lang="en-US" altLang="ko-KR" sz="1000"/>
              <a:t>1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온라인 보험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 xml:space="preserve"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 xml:space="preserve"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 xml:space="preserve"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 xml:space="preserve"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F3D5B6F-2ABD-AB4A-97ED-302D52A947B3}"/>
              </a:ext>
            </a:extLst>
          </p:cNvPr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 xml:space="preserve">1. </a:t>
            </a:r>
            <a:r>
              <a:rPr lang="en-US" sz="1000"/>
              <a:t>insurance_policy</a:t>
            </a:r>
            <a:endParaRPr lang="en-KR" sz="1000"/>
          </a:p>
          <a:p>
            <a:r>
              <a:rPr lang="en-KR" sz="1000"/>
              <a:t>2. insurance_event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160D7C-DF03-3D49-90F9-FA473B0F585A}"/>
              </a:ext>
            </a:extLst>
          </p:cNvPr>
          <p:cNvSpPr txBox="1"/>
          <p:nvPr/>
        </p:nvSpPr>
        <p:spPr>
          <a:xfrm>
            <a:off x="8013013" y="1933893"/>
            <a:ext cx="3712804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CREATE TABLE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insurance_policy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(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policy_no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VARCHAR(40) PRIMARY KEY,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ins_id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ls_user_id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product_code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product_name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VARCHAR(100),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premium_amount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INT,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status VARCHAR(20)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C6DC33C-B4EC-BC49-B7CF-34D32C2BA824}"/>
              </a:ext>
            </a:extLst>
          </p:cNvPr>
          <p:cNvSpPr txBox="1"/>
          <p:nvPr/>
        </p:nvSpPr>
        <p:spPr>
          <a:xfrm>
            <a:off x="8013013" y="3656071"/>
            <a:ext cx="3712804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insurance_event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policy_no VARCHAR(40),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event_type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event_dt DATETIME,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payment_status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amount INT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4B974A2-7E01-804F-B2D6-10A9341174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447434"/>
              </p:ext>
            </p:extLst>
          </p:nvPr>
        </p:nvGraphicFramePr>
        <p:xfrm>
          <a:off x="3967634" y="4371959"/>
          <a:ext cx="3283078" cy="1249680"/>
        </p:xfrm>
        <a:graphic>
          <a:graphicData uri="http://schemas.openxmlformats.org/drawingml/2006/table">
            <a:tbl>
              <a:tblPr/>
              <a:tblGrid>
                <a:gridCol w="1641539">
                  <a:extLst>
                    <a:ext uri="{9D8B030D-6E8A-4147-A177-3AD203B41FA5}">
                      <a16:colId xmlns:a16="http://schemas.microsoft.com/office/drawing/2014/main" val="1261844720"/>
                    </a:ext>
                  </a:extLst>
                </a:gridCol>
                <a:gridCol w="1641539">
                  <a:extLst>
                    <a:ext uri="{9D8B030D-6E8A-4147-A177-3AD203B41FA5}">
                      <a16:colId xmlns:a16="http://schemas.microsoft.com/office/drawing/2014/main" val="8829960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03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여름 휴가철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여행보험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184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20</a:t>
                      </a:r>
                      <a:r>
                        <a:rPr lang="ko-KR" altLang="en-US" sz="1000"/>
                        <a:t>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단기보험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7329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차량 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운전자보험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0773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반려동물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펫보험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1908609"/>
                  </a:ext>
                </a:extLst>
              </a:tr>
            </a:tbl>
          </a:graphicData>
        </a:graphic>
      </p:graphicFrame>
      <p:sp>
        <p:nvSpPr>
          <p:cNvPr id="61" name="Google Shape;274;g3d6e2211149_2_228">
            <a:extLst>
              <a:ext uri="{FF2B5EF4-FFF2-40B4-BE49-F238E27FC236}">
                <a16:creationId xmlns:a16="http://schemas.microsoft.com/office/drawing/2014/main" id="{D2619684-DAFA-E741-B990-B60551A5DE14}"/>
              </a:ext>
            </a:extLst>
          </p:cNvPr>
          <p:cNvSpPr txBox="1"/>
          <p:nvPr/>
        </p:nvSpPr>
        <p:spPr>
          <a:xfrm>
            <a:off x="945690" y="510030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하루 이벤트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5FAD8D-FD97-C84F-A4DC-E0EE2A7B6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578387"/>
              </p:ext>
            </p:extLst>
          </p:nvPr>
        </p:nvGraphicFramePr>
        <p:xfrm>
          <a:off x="923444" y="5413629"/>
          <a:ext cx="2671312" cy="1249680"/>
        </p:xfrm>
        <a:graphic>
          <a:graphicData uri="http://schemas.openxmlformats.org/drawingml/2006/table">
            <a:tbl>
              <a:tblPr/>
              <a:tblGrid>
                <a:gridCol w="1335656">
                  <a:extLst>
                    <a:ext uri="{9D8B030D-6E8A-4147-A177-3AD203B41FA5}">
                      <a16:colId xmlns:a16="http://schemas.microsoft.com/office/drawing/2014/main" val="1524945339"/>
                    </a:ext>
                  </a:extLst>
                </a:gridCol>
                <a:gridCol w="1335656">
                  <a:extLst>
                    <a:ext uri="{9D8B030D-6E8A-4147-A177-3AD203B41FA5}">
                      <a16:colId xmlns:a16="http://schemas.microsoft.com/office/drawing/2014/main" val="27627926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비율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739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여행자보험 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515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운전자보험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640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반려동물보험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399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생활보장형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40%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910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678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헬스케어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6" y="4268009"/>
            <a:ext cx="28815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가입고객 30</a:t>
            </a:r>
            <a:r>
              <a:rPr lang="ko-KR" altLang="en-US" sz="1000"/>
              <a:t>만명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앱 활동 </a:t>
            </a:r>
            <a:r>
              <a:rPr lang="en-US" altLang="ko-KR" sz="1000"/>
              <a:t xml:space="preserve">/ </a:t>
            </a:r>
            <a:r>
              <a:rPr lang="ko-KR" altLang="en-US" sz="1000"/>
              <a:t xml:space="preserve">운동 </a:t>
            </a:r>
            <a:r>
              <a:rPr lang="en-US" altLang="ko-KR" sz="1000"/>
              <a:t xml:space="preserve">/ BMI / </a:t>
            </a:r>
            <a:r>
              <a:rPr lang="ko-KR" altLang="en-US" sz="1000"/>
              <a:t xml:space="preserve">식단 </a:t>
            </a:r>
            <a:r>
              <a:rPr lang="en-US" altLang="ko-KR" sz="1000"/>
              <a:t xml:space="preserve">/ </a:t>
            </a:r>
            <a:r>
              <a:rPr lang="ko-KR" altLang="en-US" sz="1000"/>
              <a:t>코칭 데이터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시간대 </a:t>
            </a:r>
            <a:r>
              <a:rPr lang="en-US" altLang="ko-KR" sz="1000"/>
              <a:t>:</a:t>
            </a:r>
            <a:r>
              <a:rPr lang="ko-KR" altLang="en-US" sz="1000"/>
              <a:t xml:space="preserve"> </a:t>
            </a:r>
            <a:r>
              <a:rPr lang="en-US" altLang="ko-KR" sz="1000"/>
              <a:t xml:space="preserve">06~08 </a:t>
            </a:r>
            <a:r>
              <a:rPr lang="ko-KR" altLang="en-US" sz="1000"/>
              <a:t>운동</a:t>
            </a:r>
            <a:r>
              <a:rPr lang="en-US" altLang="ko-KR" sz="1000"/>
              <a:t>,</a:t>
            </a:r>
            <a:r>
              <a:rPr lang="ko-KR" altLang="en-US" sz="1000"/>
              <a:t xml:space="preserve"> </a:t>
            </a:r>
            <a:r>
              <a:rPr lang="en-US" altLang="ko-KR" sz="1000"/>
              <a:t xml:space="preserve">18~22 </a:t>
            </a:r>
            <a:r>
              <a:rPr lang="ko-KR" altLang="en-US" sz="1000"/>
              <a:t>운동 피크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하루 예상 건수 </a:t>
            </a:r>
            <a:r>
              <a:rPr lang="en-US" altLang="ko-KR" sz="1000"/>
              <a:t>:</a:t>
            </a:r>
            <a:r>
              <a:rPr lang="ko-KR" altLang="en-US" sz="1000"/>
              <a:t xml:space="preserve"> </a:t>
            </a:r>
            <a:r>
              <a:rPr lang="en-US" altLang="ko-KR" sz="1000"/>
              <a:t>5</a:t>
            </a:r>
            <a:r>
              <a:rPr lang="ko-KR" altLang="en-US" sz="1000"/>
              <a:t xml:space="preserve">만 </a:t>
            </a:r>
            <a:r>
              <a:rPr lang="en-US" altLang="ko-KR" sz="1000"/>
              <a:t>~ 10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헬스케어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 xml:space="preserve"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 xml:space="preserve"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 xml:space="preserve"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 xml:space="preserve">1. </a:t>
            </a:r>
            <a:r>
              <a:rPr lang="en-US" sz="1000"/>
              <a:t>healthcare_record</a:t>
            </a:r>
            <a:endParaRPr lang="en-KR" sz="10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CREATE TABLE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healthcare_record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(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id BIGINT AUTO_INCREMENT PRIMARY KEY,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hc_id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ls_user_id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record_dt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DATETIME,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bmi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DECIMAL(4,1),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weight_kg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DECIMAL(5,1),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exercise_type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VARCHAR(20),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exercise_duration_min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INT,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calories INT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6" name="Google Shape;274;g3d6e2211149_2_228">
            <a:extLst>
              <a:ext uri="{FF2B5EF4-FFF2-40B4-BE49-F238E27FC236}">
                <a16:creationId xmlns:a16="http://schemas.microsoft.com/office/drawing/2014/main" id="{9EABD38D-2707-764C-8D69-028DD0A1EB19}"/>
              </a:ext>
            </a:extLst>
          </p:cNvPr>
          <p:cNvSpPr txBox="1"/>
          <p:nvPr/>
        </p:nvSpPr>
        <p:spPr>
          <a:xfrm>
            <a:off x="4072196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 xml:space="preserve"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33D293-5033-584C-845D-79F08B7EF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421297"/>
              </p:ext>
            </p:extLst>
          </p:nvPr>
        </p:nvGraphicFramePr>
        <p:xfrm>
          <a:off x="4072196" y="4412143"/>
          <a:ext cx="3178516" cy="1249680"/>
        </p:xfrm>
        <a:graphic>
          <a:graphicData uri="http://schemas.openxmlformats.org/drawingml/2006/table">
            <a:tbl>
              <a:tblPr/>
              <a:tblGrid>
                <a:gridCol w="1589258">
                  <a:extLst>
                    <a:ext uri="{9D8B030D-6E8A-4147-A177-3AD203B41FA5}">
                      <a16:colId xmlns:a16="http://schemas.microsoft.com/office/drawing/2014/main" val="4118834414"/>
                    </a:ext>
                  </a:extLst>
                </a:gridCol>
                <a:gridCol w="1589258">
                  <a:extLst>
                    <a:ext uri="{9D8B030D-6E8A-4147-A177-3AD203B41FA5}">
                      <a16:colId xmlns:a16="http://schemas.microsoft.com/office/drawing/2014/main" val="15944654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636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다이어트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RUNNING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328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당뇨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걷기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9244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30</a:t>
                      </a:r>
                      <a:r>
                        <a:rPr lang="ko-KR" altLang="en-US" sz="1000"/>
                        <a:t>대 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요가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107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40</a:t>
                      </a:r>
                      <a:r>
                        <a:rPr lang="ko-KR" altLang="en-US" sz="1000"/>
                        <a:t>대 남성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4068917"/>
                  </a:ext>
                </a:extLst>
              </a:tr>
            </a:tbl>
          </a:graphicData>
        </a:graphic>
      </p:graphicFrame>
      <p:sp>
        <p:nvSpPr>
          <p:cNvPr id="59" name="Google Shape;274;g3d6e2211149_2_228">
            <a:extLst>
              <a:ext uri="{FF2B5EF4-FFF2-40B4-BE49-F238E27FC236}">
                <a16:creationId xmlns:a16="http://schemas.microsoft.com/office/drawing/2014/main" id="{695A1A8A-EA6A-C149-9581-B2039AACA1E9}"/>
              </a:ext>
            </a:extLst>
          </p:cNvPr>
          <p:cNvSpPr txBox="1"/>
          <p:nvPr/>
        </p:nvSpPr>
        <p:spPr>
          <a:xfrm>
            <a:off x="8041812" y="3987506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활동률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CA52E55-B2FE-7C40-B92F-83D43B821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498914"/>
              </p:ext>
            </p:extLst>
          </p:nvPr>
        </p:nvGraphicFramePr>
        <p:xfrm>
          <a:off x="8104653" y="4370399"/>
          <a:ext cx="2578964" cy="1249680"/>
        </p:xfrm>
        <a:graphic>
          <a:graphicData uri="http://schemas.openxmlformats.org/drawingml/2006/table">
            <a:tbl>
              <a:tblPr/>
              <a:tblGrid>
                <a:gridCol w="1289482">
                  <a:extLst>
                    <a:ext uri="{9D8B030D-6E8A-4147-A177-3AD203B41FA5}">
                      <a16:colId xmlns:a16="http://schemas.microsoft.com/office/drawing/2014/main" val="452784422"/>
                    </a:ext>
                  </a:extLst>
                </a:gridCol>
                <a:gridCol w="1289482">
                  <a:extLst>
                    <a:ext uri="{9D8B030D-6E8A-4147-A177-3AD203B41FA5}">
                      <a16:colId xmlns:a16="http://schemas.microsoft.com/office/drawing/2014/main" val="24914818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생성률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38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910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운동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45%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4117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웨어러블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60%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442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>건강관리형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114133"/>
                  </a:ext>
                </a:extLst>
              </a:tr>
            </a:tbl>
          </a:graphicData>
        </a:graphic>
      </p:graphicFrame>
      <p:sp>
        <p:nvSpPr>
          <p:cNvPr id="60" name="Google Shape;274;g3d6e2211149_2_228">
            <a:extLst>
              <a:ext uri="{FF2B5EF4-FFF2-40B4-BE49-F238E27FC236}">
                <a16:creationId xmlns:a16="http://schemas.microsoft.com/office/drawing/2014/main" id="{6645DD30-99BB-A344-8363-B29DAC26B9E4}"/>
              </a:ext>
            </a:extLst>
          </p:cNvPr>
          <p:cNvSpPr txBox="1"/>
          <p:nvPr/>
        </p:nvSpPr>
        <p:spPr>
          <a:xfrm>
            <a:off x="971752" y="5217443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생성 항목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00B274-B5E6-C444-9929-95996DC0730E}"/>
              </a:ext>
            </a:extLst>
          </p:cNvPr>
          <p:cNvSpPr txBox="1"/>
          <p:nvPr/>
        </p:nvSpPr>
        <p:spPr>
          <a:xfrm>
            <a:off x="914037" y="5491820"/>
            <a:ext cx="12603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BMI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체중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운동시간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칼로리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식단점수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수면점수</a:t>
            </a:r>
          </a:p>
        </p:txBody>
      </p:sp>
    </p:spTree>
    <p:extLst>
      <p:ext uri="{BB962C8B-B14F-4D97-AF65-F5344CB8AC3E}">
        <p14:creationId xmlns:p14="http://schemas.microsoft.com/office/powerpoint/2010/main" val="208985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병원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7" y="4268009"/>
            <a:ext cx="24270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가입고객 20만명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외래 </a:t>
            </a:r>
            <a:r>
              <a:rPr lang="en-US" altLang="ko-KR" sz="1000"/>
              <a:t xml:space="preserve">/ </a:t>
            </a:r>
            <a:r>
              <a:rPr lang="ko-KR" altLang="en-US" sz="1000"/>
              <a:t xml:space="preserve">진료 </a:t>
            </a:r>
            <a:r>
              <a:rPr lang="en-US" altLang="ko-KR" sz="1000"/>
              <a:t xml:space="preserve">/ </a:t>
            </a:r>
            <a:r>
              <a:rPr lang="ko-KR" altLang="en-US" sz="1000"/>
              <a:t xml:space="preserve">검진 </a:t>
            </a:r>
            <a:r>
              <a:rPr lang="en-US" altLang="ko-KR" sz="1000"/>
              <a:t xml:space="preserve">/ </a:t>
            </a:r>
            <a:r>
              <a:rPr lang="ko-KR" altLang="en-US" sz="1000"/>
              <a:t xml:space="preserve">약처방 </a:t>
            </a:r>
            <a:r>
              <a:rPr lang="en-US" altLang="ko-KR" sz="1000"/>
              <a:t xml:space="preserve">/ </a:t>
            </a:r>
            <a:r>
              <a:rPr lang="ko-KR" altLang="en-US" sz="1000"/>
              <a:t>입원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시간대 </a:t>
            </a:r>
            <a:r>
              <a:rPr lang="en-US" altLang="ko-KR" sz="1000"/>
              <a:t>:</a:t>
            </a:r>
            <a:r>
              <a:rPr lang="ko-KR" altLang="en-US" sz="1000"/>
              <a:t xml:space="preserve"> </a:t>
            </a:r>
            <a:r>
              <a:rPr lang="en-US" altLang="ko-KR" sz="1000"/>
              <a:t xml:space="preserve">09:00~12:00 </a:t>
            </a:r>
            <a:r>
              <a:rPr lang="ko-KR" altLang="en-US" sz="1000"/>
              <a:t>외래 집중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하루 예상 건수 </a:t>
            </a:r>
            <a:r>
              <a:rPr lang="en-US" altLang="ko-KR" sz="1000"/>
              <a:t>:</a:t>
            </a:r>
            <a:r>
              <a:rPr lang="ko-KR" altLang="en-US" sz="1000"/>
              <a:t xml:space="preserve"> </a:t>
            </a:r>
            <a:r>
              <a:rPr lang="en-US" altLang="ko-KR" sz="1000"/>
              <a:t>1</a:t>
            </a:r>
            <a:r>
              <a:rPr lang="ko-KR" altLang="en-US" sz="1000"/>
              <a:t xml:space="preserve">만 </a:t>
            </a:r>
            <a:r>
              <a:rPr lang="en-US" altLang="ko-KR" sz="1000"/>
              <a:t>~ 2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병원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 xml:space="preserve"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 xml:space="preserve"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 xml:space="preserve"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 xml:space="preserve"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hospital_visit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CREATE TABLE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hospital_visit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(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visit_id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BIGINT AUTO_INCREMENT PRIMARY KEY,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hospital_id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ls_user_id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visit_dt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DATETIME,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dept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diagnosis_code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VARCHAR(20),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treatment_cost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INT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3790CD-B82F-2F47-8FC5-52006AEF3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5795"/>
              </p:ext>
            </p:extLst>
          </p:nvPr>
        </p:nvGraphicFramePr>
        <p:xfrm>
          <a:off x="3849633" y="4412143"/>
          <a:ext cx="3324890" cy="1249680"/>
        </p:xfrm>
        <a:graphic>
          <a:graphicData uri="http://schemas.openxmlformats.org/drawingml/2006/table">
            <a:tbl>
              <a:tblPr/>
              <a:tblGrid>
                <a:gridCol w="1662445">
                  <a:extLst>
                    <a:ext uri="{9D8B030D-6E8A-4147-A177-3AD203B41FA5}">
                      <a16:colId xmlns:a16="http://schemas.microsoft.com/office/drawing/2014/main" val="3790228484"/>
                    </a:ext>
                  </a:extLst>
                </a:gridCol>
                <a:gridCol w="1662445">
                  <a:extLst>
                    <a:ext uri="{9D8B030D-6E8A-4147-A177-3AD203B41FA5}">
                      <a16:colId xmlns:a16="http://schemas.microsoft.com/office/drawing/2014/main" val="28588495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742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당뇨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내과 방문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9146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50</a:t>
                      </a:r>
                      <a:r>
                        <a:rPr lang="ko-KR" altLang="en-US" sz="1000"/>
                        <a:t>대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종합검진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506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산부인과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검진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7605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겨울철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호흡기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5804967"/>
                  </a:ext>
                </a:extLst>
              </a:tr>
            </a:tbl>
          </a:graphicData>
        </a:graphic>
      </p:graphicFrame>
      <p:sp>
        <p:nvSpPr>
          <p:cNvPr id="59" name="Google Shape;274;g3d6e2211149_2_228">
            <a:extLst>
              <a:ext uri="{FF2B5EF4-FFF2-40B4-BE49-F238E27FC236}">
                <a16:creationId xmlns:a16="http://schemas.microsoft.com/office/drawing/2014/main" id="{6C655029-69B2-8F4A-8268-AEF054F8FF68}"/>
              </a:ext>
            </a:extLst>
          </p:cNvPr>
          <p:cNvSpPr txBox="1"/>
          <p:nvPr/>
        </p:nvSpPr>
        <p:spPr>
          <a:xfrm>
            <a:off x="7952169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발생률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2588E2-4346-D24D-A040-B01D48E46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758300"/>
              </p:ext>
            </p:extLst>
          </p:nvPr>
        </p:nvGraphicFramePr>
        <p:xfrm>
          <a:off x="8013013" y="4412143"/>
          <a:ext cx="2561252" cy="1249680"/>
        </p:xfrm>
        <a:graphic>
          <a:graphicData uri="http://schemas.openxmlformats.org/drawingml/2006/table">
            <a:tbl>
              <a:tblPr/>
              <a:tblGrid>
                <a:gridCol w="1280626">
                  <a:extLst>
                    <a:ext uri="{9D8B030D-6E8A-4147-A177-3AD203B41FA5}">
                      <a16:colId xmlns:a16="http://schemas.microsoft.com/office/drawing/2014/main" val="4036306745"/>
                    </a:ext>
                  </a:extLst>
                </a:gridCol>
                <a:gridCol w="1280626">
                  <a:extLst>
                    <a:ext uri="{9D8B030D-6E8A-4147-A177-3AD203B41FA5}">
                      <a16:colId xmlns:a16="http://schemas.microsoft.com/office/drawing/2014/main" val="2912785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발생률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51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1028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만성질환자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03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당뇨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1234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>검진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772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11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Wearable)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7" y="4268009"/>
            <a:ext cx="20654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가입고객 100만명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일평균 활성 18%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1인 평균 거래 2.3건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하루 약 41만건 생성</a:t>
            </a:r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웨어러블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 xml:space="preserve"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 xml:space="preserve"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 xml:space="preserve"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 xml:space="preserve"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 xml:space="preserve">1. </a:t>
            </a:r>
            <a:r>
              <a:rPr lang="en-US" sz="1000"/>
              <a:t>batch_export_log</a:t>
            </a:r>
            <a:endParaRPr lang="en-KR" sz="10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batch_export_log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source_name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target_dt DATE,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row_count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file_name VARCHAR(200),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export_status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 created_dt TIMESTAMP DEFAULT CURRENT_TIMESTAMP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E5672E-6283-504B-B68A-D293B8096441}"/>
              </a:ext>
            </a:extLst>
          </p:cNvPr>
          <p:cNvSpPr txBox="1"/>
          <p:nvPr/>
        </p:nvSpPr>
        <p:spPr>
          <a:xfrm>
            <a:off x="3893777" y="4351718"/>
            <a:ext cx="32807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08시 출근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12시 점심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18시 퇴근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22시 야간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3749F3-5F1F-0A4C-B1CB-76A6D1F334AB}"/>
              </a:ext>
            </a:extLst>
          </p:cNvPr>
          <p:cNvSpPr txBox="1"/>
          <p:nvPr/>
        </p:nvSpPr>
        <p:spPr>
          <a:xfrm>
            <a:off x="8038605" y="4397884"/>
            <a:ext cx="22490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while True:</a:t>
            </a:r>
          </a:p>
          <a:p>
            <a:r>
              <a:rPr lang="en-KR" sz="1000"/>
              <a:t xml:space="preserve">   초당 TPS=50건 생성</a:t>
            </a:r>
          </a:p>
          <a:p>
            <a:r>
              <a:rPr lang="en-KR" sz="1000"/>
              <a:t xml:space="preserve">   ↓</a:t>
            </a:r>
          </a:p>
          <a:p>
            <a:r>
              <a:rPr lang="en-KR" sz="1000"/>
              <a:t xml:space="preserve">   MySQL 저장</a:t>
            </a:r>
          </a:p>
          <a:p>
            <a:r>
              <a:rPr lang="en-KR" sz="1000"/>
              <a:t xml:space="preserve">   ↓</a:t>
            </a:r>
          </a:p>
          <a:p>
            <a:r>
              <a:rPr lang="en-KR" sz="1000"/>
              <a:t xml:space="preserve">   boto3 put_record()</a:t>
            </a:r>
          </a:p>
          <a:p>
            <a:r>
              <a:rPr lang="en-KR" sz="1000"/>
              <a:t xml:space="preserve">   ↓</a:t>
            </a:r>
          </a:p>
          <a:p>
            <a:r>
              <a:rPr lang="en-KR" sz="1000"/>
              <a:t xml:space="preserve">   Kinesis Stream 전송</a:t>
            </a:r>
          </a:p>
        </p:txBody>
      </p:sp>
      <p:sp>
        <p:nvSpPr>
          <p:cNvPr id="60" name="Google Shape;274;g3d6e2211149_2_228">
            <a:extLst>
              <a:ext uri="{FF2B5EF4-FFF2-40B4-BE49-F238E27FC236}">
                <a16:creationId xmlns:a16="http://schemas.microsoft.com/office/drawing/2014/main" id="{C37F223E-FC9B-BA4F-9523-3F4EC10DBA72}"/>
              </a:ext>
            </a:extLst>
          </p:cNvPr>
          <p:cNvSpPr txBox="1"/>
          <p:nvPr/>
        </p:nvSpPr>
        <p:spPr>
          <a:xfrm>
            <a:off x="7991698" y="40322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처리 프로세스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3862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전송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065F5B3C-FA33-914C-B38A-8D364C77779F}"/>
              </a:ext>
            </a:extLst>
          </p:cNvPr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D4E88399-F7F6-C84D-9A6B-1D2070353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79F51887-D95B-EE45-8C98-E383F3F65334}"/>
              </a:ext>
            </a:extLst>
          </p:cNvPr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BB48A3CD-2B2B-E847-9582-3200A95C5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5DEC0DD-FA57-014A-B69C-F8511295E9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8CF95F2F-6302-6E44-B583-07DEACFCBC30}"/>
              </a:ext>
            </a:extLst>
          </p:cNvPr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1316A3E-64D0-3841-B5FC-A73E846AD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E9DB676A-9388-0242-83ED-2D62B763B1B1}"/>
              </a:ext>
            </a:extLst>
          </p:cNvPr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69F9D9B6-3C63-114B-B728-7101005BA7CC}"/>
              </a:ext>
            </a:extLst>
          </p:cNvPr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E5033E34-A2D5-754E-A965-94435F5FE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9E606FAF-F7D8-DC4E-A1E2-463A9CBA9CDE}"/>
              </a:ext>
            </a:extLst>
          </p:cNvPr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29316988-7FFF-A64D-848C-3436A72D33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DBE09C9-6A68-9344-8586-3D80B7EBA9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C93E396-BE6F-214E-97CF-EA3AD8356D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2F2D15C-272F-8F40-98A8-81D093CBFC1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DED5E00-CCFC-3343-9A55-E5C8DD3C9F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BB0F293-D29F-4143-82F0-14742BBF95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2335079-648E-D04C-963A-4D16D3E1A0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580B812C-AC57-FF4C-BD12-A140A05A0D64}"/>
              </a:ext>
            </a:extLst>
          </p:cNvPr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DE5C978-AFE9-B04F-8937-C709A0778D68}"/>
              </a:ext>
            </a:extLst>
          </p:cNvPr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420A71A9-ED3E-AB4E-9FE4-79E3F93538AC}"/>
              </a:ext>
            </a:extLst>
          </p:cNvPr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D35FAD48-7D8D-3140-B553-8224A512AA1E}"/>
              </a:ext>
            </a:extLst>
          </p:cNvPr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70C27F7-54E6-BB4B-93A8-C4152F725C81}"/>
              </a:ext>
            </a:extLst>
          </p:cNvPr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A3A01193-8651-A546-B390-697C5FF05352}"/>
              </a:ext>
            </a:extLst>
          </p:cNvPr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BCE09EF-2E60-994B-AC90-07B4E42348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7F52EAD8-1C2B-4847-851A-2498F9887215}"/>
              </a:ext>
            </a:extLst>
          </p:cNvPr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358;g3d6e2211149_2_228">
            <a:extLst>
              <a:ext uri="{FF2B5EF4-FFF2-40B4-BE49-F238E27FC236}">
                <a16:creationId xmlns:a16="http://schemas.microsoft.com/office/drawing/2014/main" id="{31B65FE9-3F72-9441-9980-FB76D9318670}"/>
              </a:ext>
            </a:extLst>
          </p:cNvPr>
          <p:cNvCxnSpPr>
            <a:cxnSpLocks/>
            <a:stCxn id="64" idx="2"/>
            <a:endCxn id="50" idx="0"/>
          </p:cNvCxnSpPr>
          <p:nvPr/>
        </p:nvCxnSpPr>
        <p:spPr>
          <a:xfrm>
            <a:off x="4078425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0" name="Google Shape;294;g3d6e2211149_2_228" descr="AWS Lambda service icon.">
            <a:extLst>
              <a:ext uri="{FF2B5EF4-FFF2-40B4-BE49-F238E27FC236}">
                <a16:creationId xmlns:a16="http://schemas.microsoft.com/office/drawing/2014/main" id="{E890B654-D3C1-6347-B745-92C914FB60C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95;g3d6e2211149_2_228">
            <a:extLst>
              <a:ext uri="{FF2B5EF4-FFF2-40B4-BE49-F238E27FC236}">
                <a16:creationId xmlns:a16="http://schemas.microsoft.com/office/drawing/2014/main" id="{C64DB38C-68C4-B943-9BF6-88393087F543}"/>
              </a:ext>
            </a:extLst>
          </p:cNvPr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3" name="Google Shape;358;g3d6e2211149_2_228">
            <a:extLst>
              <a:ext uri="{FF2B5EF4-FFF2-40B4-BE49-F238E27FC236}">
                <a16:creationId xmlns:a16="http://schemas.microsoft.com/office/drawing/2014/main" id="{8B6C9EE8-6B36-794A-8D09-13BF401D9120}"/>
              </a:ext>
            </a:extLst>
          </p:cNvPr>
          <p:cNvCxnSpPr>
            <a:cxnSpLocks/>
            <a:stCxn id="51" idx="0"/>
            <a:endCxn id="44" idx="0"/>
          </p:cNvCxnSpPr>
          <p:nvPr/>
        </p:nvCxnSpPr>
        <p:spPr>
          <a:xfrm>
            <a:off x="4377016" y="3846316"/>
            <a:ext cx="123132" cy="78151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5" name="Google Shape;303;g3d6896b4338_0_0">
            <a:extLst>
              <a:ext uri="{FF2B5EF4-FFF2-40B4-BE49-F238E27FC236}">
                <a16:creationId xmlns:a16="http://schemas.microsoft.com/office/drawing/2014/main" id="{C445D4DE-6773-C34B-9AE2-FE776C4D3502}"/>
              </a:ext>
            </a:extLst>
          </p:cNvPr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03;g3d6896b4338_0_0">
            <a:extLst>
              <a:ext uri="{FF2B5EF4-FFF2-40B4-BE49-F238E27FC236}">
                <a16:creationId xmlns:a16="http://schemas.microsoft.com/office/drawing/2014/main" id="{FB07EB28-ED64-8043-A179-7B47C055EC9C}"/>
              </a:ext>
            </a:extLst>
          </p:cNvPr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02987-6A22-9C48-A5B2-D1616B1BE2E4}"/>
              </a:ext>
            </a:extLst>
          </p:cNvPr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E65E49-F983-D84F-84CB-2972BB3BE1ED}"/>
              </a:ext>
            </a:extLst>
          </p:cNvPr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 xml:space="preserve"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E2F5F49A-6DC7-6E47-BAC1-AECA07AC1661}"/>
              </a:ext>
            </a:extLst>
          </p:cNvPr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C7AB01C-9E59-EF41-B9BC-D6AB9AD70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3392" y="2534805"/>
            <a:ext cx="255735" cy="25573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033F992-1053-D447-A637-551D91BF1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557" y="2534805"/>
            <a:ext cx="255735" cy="2557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EB2A368-6B88-D942-9182-CA95039A5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411" y="2534805"/>
            <a:ext cx="255735" cy="2557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AD147D8-E533-4543-8DCF-1600AFE35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7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CA6A3B-BBF5-CC4B-9744-AC43A3385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150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0D17E9B-54BE-C548-9960-79C02C4697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3061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9129F70-138B-1E44-9403-FEAC2B3F4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961" y="2534805"/>
            <a:ext cx="255735" cy="255735"/>
          </a:xfrm>
          <a:prstGeom prst="rect">
            <a:avLst/>
          </a:prstGeom>
        </p:spPr>
      </p:pic>
      <p:pic>
        <p:nvPicPr>
          <p:cNvPr id="70" name="Google Shape;294;g3d6e2211149_2_228" descr="AWS Lambda service icon.">
            <a:extLst>
              <a:ext uri="{FF2B5EF4-FFF2-40B4-BE49-F238E27FC236}">
                <a16:creationId xmlns:a16="http://schemas.microsoft.com/office/drawing/2014/main" id="{5E78E3EB-F90F-0B4C-A361-AC62FF2386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5;g3d6e2211149_2_228">
            <a:extLst>
              <a:ext uri="{FF2B5EF4-FFF2-40B4-BE49-F238E27FC236}">
                <a16:creationId xmlns:a16="http://schemas.microsoft.com/office/drawing/2014/main" id="{ADADF232-6F86-9C42-800F-0AB133EE9861}"/>
              </a:ext>
            </a:extLst>
          </p:cNvPr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4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5B9C5F16-8CFB-3248-B6ED-0EB79A66ADF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71;g3d6e2211149_2_228">
            <a:extLst>
              <a:ext uri="{FF2B5EF4-FFF2-40B4-BE49-F238E27FC236}">
                <a16:creationId xmlns:a16="http://schemas.microsoft.com/office/drawing/2014/main" id="{6E471D02-9091-9D4C-8140-BCC7FFAE54D1}"/>
              </a:ext>
            </a:extLst>
          </p:cNvPr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EFECFC27-345C-254D-9E3F-4C1C67D6255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2132753" y="4878979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" name="Google Shape;356;g3d6e2211149_2_228">
            <a:extLst>
              <a:ext uri="{FF2B5EF4-FFF2-40B4-BE49-F238E27FC236}">
                <a16:creationId xmlns:a16="http://schemas.microsoft.com/office/drawing/2014/main" id="{F2042C1E-ABCF-EE41-BD57-C0C0993AA020}"/>
              </a:ext>
            </a:extLst>
          </p:cNvPr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78" name="Google Shape;319;g3d6e2211149_2_228">
            <a:extLst>
              <a:ext uri="{FF2B5EF4-FFF2-40B4-BE49-F238E27FC236}">
                <a16:creationId xmlns:a16="http://schemas.microsoft.com/office/drawing/2014/main" id="{F6DE196D-16A8-9C46-A55C-EA35C2839565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765842" y="5614330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95C75166-EB59-BC4A-8D83-4502AB14FFE9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4500148" y="5076841"/>
            <a:ext cx="260293" cy="54464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CD4630-DD6B-6444-BCFE-631A300017BD}"/>
              </a:ext>
            </a:extLst>
          </p:cNvPr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61E2B155-81C6-E94E-964D-C787DDEB9C7E}"/>
              </a:ext>
            </a:extLst>
          </p:cNvPr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303;g3d6896b4338_0_0">
            <a:extLst>
              <a:ext uri="{FF2B5EF4-FFF2-40B4-BE49-F238E27FC236}">
                <a16:creationId xmlns:a16="http://schemas.microsoft.com/office/drawing/2014/main" id="{256A1939-1943-2540-AA08-7DDDD7176369}"/>
              </a:ext>
            </a:extLst>
          </p:cNvPr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319;g3d6e2211149_2_228">
            <a:extLst>
              <a:ext uri="{FF2B5EF4-FFF2-40B4-BE49-F238E27FC236}">
                <a16:creationId xmlns:a16="http://schemas.microsoft.com/office/drawing/2014/main" id="{0FA2D4E0-F12C-9A4F-9EA4-BFD2ABD5306B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427202" y="5754080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B97D5AA8-6C90-2A4E-A6B1-33FF65275FCE}"/>
              </a:ext>
            </a:extLst>
          </p:cNvPr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B02B1A-74E4-CC47-A8A6-027CDBF603CF}"/>
              </a:ext>
            </a:extLst>
          </p:cNvPr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 xml:space="preserve"> </a:t>
            </a:r>
            <a:r>
              <a:rPr lang="en-US" sz="900"/>
              <a:t xml:space="preserve"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 xml:space="preserve"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8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0B89A230-15F0-E048-96F8-A191F91DA85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3966E475-77E9-0A4C-A3C7-AA354703DDB1}"/>
              </a:ext>
            </a:extLst>
          </p:cNvPr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ADA0F2E0-4ECF-924D-91AF-7F8B4F40146D}"/>
              </a:ext>
            </a:extLst>
          </p:cNvPr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532782FE-EDE3-7045-8CBF-F388387924CF}"/>
              </a:ext>
            </a:extLst>
          </p:cNvPr>
          <p:cNvSpPr/>
          <p:nvPr/>
        </p:nvSpPr>
        <p:spPr>
          <a:xfrm>
            <a:off x="4211660" y="587517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358;g3d6e2211149_2_228">
            <a:extLst>
              <a:ext uri="{FF2B5EF4-FFF2-40B4-BE49-F238E27FC236}">
                <a16:creationId xmlns:a16="http://schemas.microsoft.com/office/drawing/2014/main" id="{2A235FA3-2631-4A4C-8491-44D35909777A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654525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2" name="Google Shape;358;g3d6e2211149_2_228">
            <a:extLst>
              <a:ext uri="{FF2B5EF4-FFF2-40B4-BE49-F238E27FC236}">
                <a16:creationId xmlns:a16="http://schemas.microsoft.com/office/drawing/2014/main" id="{650D3890-5B47-BA45-83B0-BC1222F4B27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3" name="Google Shape;358;g3d6e2211149_2_228">
            <a:extLst>
              <a:ext uri="{FF2B5EF4-FFF2-40B4-BE49-F238E27FC236}">
                <a16:creationId xmlns:a16="http://schemas.microsoft.com/office/drawing/2014/main" id="{2C270E30-151F-534F-AD05-483C9021153D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4" name="Google Shape;358;g3d6e2211149_2_228">
            <a:extLst>
              <a:ext uri="{FF2B5EF4-FFF2-40B4-BE49-F238E27FC236}">
                <a16:creationId xmlns:a16="http://schemas.microsoft.com/office/drawing/2014/main" id="{B91030D0-1E32-3244-967D-28807C98A0C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5" name="Google Shape;358;g3d6e2211149_2_228">
            <a:extLst>
              <a:ext uri="{FF2B5EF4-FFF2-40B4-BE49-F238E27FC236}">
                <a16:creationId xmlns:a16="http://schemas.microsoft.com/office/drawing/2014/main" id="{BCF5EE62-A10D-2E49-A8BC-94D58F5075FC}"/>
              </a:ext>
            </a:extLst>
          </p:cNvPr>
          <p:cNvCxnSpPr>
            <a:cxnSpLocks/>
            <a:stCxn id="67" idx="1"/>
            <a:endCxn id="50" idx="0"/>
          </p:cNvCxnSpPr>
          <p:nvPr/>
        </p:nvCxnSpPr>
        <p:spPr>
          <a:xfrm flipH="1">
            <a:off x="4353362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6" name="Google Shape;358;g3d6e2211149_2_228">
            <a:extLst>
              <a:ext uri="{FF2B5EF4-FFF2-40B4-BE49-F238E27FC236}">
                <a16:creationId xmlns:a16="http://schemas.microsoft.com/office/drawing/2014/main" id="{226BF464-AD51-F549-AE22-930414E20097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76710C9A-E00E-0C4D-868A-E6ADD5FE7A0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2" name="Google Shape;318;g3d6e2211149_2_228">
            <a:extLst>
              <a:ext uri="{FF2B5EF4-FFF2-40B4-BE49-F238E27FC236}">
                <a16:creationId xmlns:a16="http://schemas.microsoft.com/office/drawing/2014/main" id="{EA30BD87-495E-B14F-AD61-A386C5D0BD81}"/>
              </a:ext>
            </a:extLst>
          </p:cNvPr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3" name="Google Shape;319;g3d6e2211149_2_228">
            <a:extLst>
              <a:ext uri="{FF2B5EF4-FFF2-40B4-BE49-F238E27FC236}">
                <a16:creationId xmlns:a16="http://schemas.microsoft.com/office/drawing/2014/main" id="{AC493477-E72F-B84A-84A7-1BADE742ADFB}"/>
              </a:ext>
            </a:extLst>
          </p:cNvPr>
          <p:cNvCxnSpPr>
            <a:cxnSpLocks/>
          </p:cNvCxnSpPr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F182E1E0-C599-B84B-A9F1-514191A1E432}"/>
              </a:ext>
            </a:extLst>
          </p:cNvPr>
          <p:cNvSpPr txBox="1"/>
          <p:nvPr/>
        </p:nvSpPr>
        <p:spPr>
          <a:xfrm>
            <a:off x="4964281" y="3576098"/>
            <a:ext cx="27335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lifesync-batch-loader-lambda</a:t>
            </a:r>
            <a:endParaRPr lang="en-KR" sz="1200" b="1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CF94618-C2F5-B44F-AE5D-8AAD2CC8F05C}"/>
              </a:ext>
            </a:extLst>
          </p:cNvPr>
          <p:cNvSpPr txBox="1"/>
          <p:nvPr/>
        </p:nvSpPr>
        <p:spPr>
          <a:xfrm>
            <a:off x="5466248" y="5654262"/>
            <a:ext cx="27335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lifesync-wearable-stream-lambda</a:t>
            </a:r>
            <a:endParaRPr lang="en-KR" sz="1200" b="1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05C4D23-6131-6D45-A1BD-33617E922218}"/>
              </a:ext>
            </a:extLst>
          </p:cNvPr>
          <p:cNvSpPr txBox="1"/>
          <p:nvPr/>
        </p:nvSpPr>
        <p:spPr>
          <a:xfrm>
            <a:off x="8422024" y="1295931"/>
            <a:ext cx="310967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200" b="1"/>
              <a:t>은행/카드/보험/증권/병원/헬스케어</a:t>
            </a:r>
          </a:p>
          <a:p>
            <a:endParaRPr lang="en-KR" sz="1200"/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Daily JSON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Lambda(batch-loader)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S3 Raw 저장</a:t>
            </a:r>
          </a:p>
          <a:p>
            <a:endParaRPr lang="en-KR" sz="1200"/>
          </a:p>
          <a:p>
            <a:endParaRPr lang="en-KR" sz="1200"/>
          </a:p>
          <a:p>
            <a:endParaRPr lang="en-KR" sz="1200"/>
          </a:p>
          <a:p>
            <a:r>
              <a:rPr lang="en-KR" sz="1200" b="1"/>
              <a:t>웨어러블 EC2 Agent</a:t>
            </a:r>
          </a:p>
          <a:p>
            <a:endParaRPr lang="en-KR" sz="1200"/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Kinesis Stream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Lambda(wearable-stream)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S3 Raw</a:t>
            </a:r>
          </a:p>
        </p:txBody>
      </p:sp>
      <p:sp>
        <p:nvSpPr>
          <p:cNvPr id="99" name="Google Shape;371;g3d6e2211149_2_228">
            <a:extLst>
              <a:ext uri="{FF2B5EF4-FFF2-40B4-BE49-F238E27FC236}">
                <a16:creationId xmlns:a16="http://schemas.microsoft.com/office/drawing/2014/main" id="{542696CF-A7B9-9441-A111-4AC6E7688346}"/>
              </a:ext>
            </a:extLst>
          </p:cNvPr>
          <p:cNvSpPr txBox="1"/>
          <p:nvPr/>
        </p:nvSpPr>
        <p:spPr>
          <a:xfrm>
            <a:off x="3655899" y="616469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230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전송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그룹사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Batch)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065F5B3C-FA33-914C-B38A-8D364C77779F}"/>
              </a:ext>
            </a:extLst>
          </p:cNvPr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D4E88399-F7F6-C84D-9A6B-1D2070353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79F51887-D95B-EE45-8C98-E383F3F65334}"/>
              </a:ext>
            </a:extLst>
          </p:cNvPr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BB48A3CD-2B2B-E847-9582-3200A95C5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5DEC0DD-FA57-014A-B69C-F8511295E9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8CF95F2F-6302-6E44-B583-07DEACFCBC30}"/>
              </a:ext>
            </a:extLst>
          </p:cNvPr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1316A3E-64D0-3841-B5FC-A73E846AD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E9DB676A-9388-0242-83ED-2D62B763B1B1}"/>
              </a:ext>
            </a:extLst>
          </p:cNvPr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69F9D9B6-3C63-114B-B728-7101005BA7CC}"/>
              </a:ext>
            </a:extLst>
          </p:cNvPr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E5033E34-A2D5-754E-A965-94435F5FE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9E606FAF-F7D8-DC4E-A1E2-463A9CBA9CDE}"/>
              </a:ext>
            </a:extLst>
          </p:cNvPr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29316988-7FFF-A64D-848C-3436A72D33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DBE09C9-6A68-9344-8586-3D80B7EBA9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C93E396-BE6F-214E-97CF-EA3AD8356D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2F2D15C-272F-8F40-98A8-81D093CBFC1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DED5E00-CCFC-3343-9A55-E5C8DD3C9F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BB0F293-D29F-4143-82F0-14742BBF95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2335079-648E-D04C-963A-4D16D3E1A0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580B812C-AC57-FF4C-BD12-A140A05A0D64}"/>
              </a:ext>
            </a:extLst>
          </p:cNvPr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DE5C978-AFE9-B04F-8937-C709A0778D68}"/>
              </a:ext>
            </a:extLst>
          </p:cNvPr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420A71A9-ED3E-AB4E-9FE4-79E3F93538AC}"/>
              </a:ext>
            </a:extLst>
          </p:cNvPr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D35FAD48-7D8D-3140-B553-8224A512AA1E}"/>
              </a:ext>
            </a:extLst>
          </p:cNvPr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70C27F7-54E6-BB4B-93A8-C4152F725C81}"/>
              </a:ext>
            </a:extLst>
          </p:cNvPr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A3A01193-8651-A546-B390-697C5FF05352}"/>
              </a:ext>
            </a:extLst>
          </p:cNvPr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BCE09EF-2E60-994B-AC90-07B4E42348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7F52EAD8-1C2B-4847-851A-2498F9887215}"/>
              </a:ext>
            </a:extLst>
          </p:cNvPr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358;g3d6e2211149_2_228">
            <a:extLst>
              <a:ext uri="{FF2B5EF4-FFF2-40B4-BE49-F238E27FC236}">
                <a16:creationId xmlns:a16="http://schemas.microsoft.com/office/drawing/2014/main" id="{31B65FE9-3F72-9441-9980-FB76D9318670}"/>
              </a:ext>
            </a:extLst>
          </p:cNvPr>
          <p:cNvCxnSpPr>
            <a:cxnSpLocks/>
            <a:stCxn id="64" idx="2"/>
            <a:endCxn id="50" idx="0"/>
          </p:cNvCxnSpPr>
          <p:nvPr/>
        </p:nvCxnSpPr>
        <p:spPr>
          <a:xfrm>
            <a:off x="4078425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0" name="Google Shape;294;g3d6e2211149_2_228" descr="AWS Lambda service icon.">
            <a:extLst>
              <a:ext uri="{FF2B5EF4-FFF2-40B4-BE49-F238E27FC236}">
                <a16:creationId xmlns:a16="http://schemas.microsoft.com/office/drawing/2014/main" id="{E890B654-D3C1-6347-B745-92C914FB60C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95;g3d6e2211149_2_228">
            <a:extLst>
              <a:ext uri="{FF2B5EF4-FFF2-40B4-BE49-F238E27FC236}">
                <a16:creationId xmlns:a16="http://schemas.microsoft.com/office/drawing/2014/main" id="{C64DB38C-68C4-B943-9BF6-88393087F543}"/>
              </a:ext>
            </a:extLst>
          </p:cNvPr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3" name="Google Shape;358;g3d6e2211149_2_228">
            <a:extLst>
              <a:ext uri="{FF2B5EF4-FFF2-40B4-BE49-F238E27FC236}">
                <a16:creationId xmlns:a16="http://schemas.microsoft.com/office/drawing/2014/main" id="{8B6C9EE8-6B36-794A-8D09-13BF401D9120}"/>
              </a:ext>
            </a:extLst>
          </p:cNvPr>
          <p:cNvCxnSpPr>
            <a:cxnSpLocks/>
            <a:stCxn id="51" idx="0"/>
            <a:endCxn id="44" idx="0"/>
          </p:cNvCxnSpPr>
          <p:nvPr/>
        </p:nvCxnSpPr>
        <p:spPr>
          <a:xfrm>
            <a:off x="4377016" y="3846316"/>
            <a:ext cx="123132" cy="78151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5" name="Google Shape;303;g3d6896b4338_0_0">
            <a:extLst>
              <a:ext uri="{FF2B5EF4-FFF2-40B4-BE49-F238E27FC236}">
                <a16:creationId xmlns:a16="http://schemas.microsoft.com/office/drawing/2014/main" id="{C445D4DE-6773-C34B-9AE2-FE776C4D3502}"/>
              </a:ext>
            </a:extLst>
          </p:cNvPr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03;g3d6896b4338_0_0">
            <a:extLst>
              <a:ext uri="{FF2B5EF4-FFF2-40B4-BE49-F238E27FC236}">
                <a16:creationId xmlns:a16="http://schemas.microsoft.com/office/drawing/2014/main" id="{FB07EB28-ED64-8043-A179-7B47C055EC9C}"/>
              </a:ext>
            </a:extLst>
          </p:cNvPr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02987-6A22-9C48-A5B2-D1616B1BE2E4}"/>
              </a:ext>
            </a:extLst>
          </p:cNvPr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E65E49-F983-D84F-84CB-2972BB3BE1ED}"/>
              </a:ext>
            </a:extLst>
          </p:cNvPr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 xml:space="preserve"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E2F5F49A-6DC7-6E47-BAC1-AECA07AC1661}"/>
              </a:ext>
            </a:extLst>
          </p:cNvPr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C7AB01C-9E59-EF41-B9BC-D6AB9AD70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3392" y="2534805"/>
            <a:ext cx="255735" cy="25573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033F992-1053-D447-A637-551D91BF1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557" y="2534805"/>
            <a:ext cx="255735" cy="2557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EB2A368-6B88-D942-9182-CA95039A5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411" y="2534805"/>
            <a:ext cx="255735" cy="2557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AD147D8-E533-4543-8DCF-1600AFE35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7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CA6A3B-BBF5-CC4B-9744-AC43A3385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150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0D17E9B-54BE-C548-9960-79C02C4697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3061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9129F70-138B-1E44-9403-FEAC2B3F4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961" y="2534805"/>
            <a:ext cx="255735" cy="255735"/>
          </a:xfrm>
          <a:prstGeom prst="rect">
            <a:avLst/>
          </a:prstGeom>
        </p:spPr>
      </p:pic>
      <p:pic>
        <p:nvPicPr>
          <p:cNvPr id="70" name="Google Shape;294;g3d6e2211149_2_228" descr="AWS Lambda service icon.">
            <a:extLst>
              <a:ext uri="{FF2B5EF4-FFF2-40B4-BE49-F238E27FC236}">
                <a16:creationId xmlns:a16="http://schemas.microsoft.com/office/drawing/2014/main" id="{5E78E3EB-F90F-0B4C-A361-AC62FF2386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5;g3d6e2211149_2_228">
            <a:extLst>
              <a:ext uri="{FF2B5EF4-FFF2-40B4-BE49-F238E27FC236}">
                <a16:creationId xmlns:a16="http://schemas.microsoft.com/office/drawing/2014/main" id="{ADADF232-6F86-9C42-800F-0AB133EE9861}"/>
              </a:ext>
            </a:extLst>
          </p:cNvPr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4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5B9C5F16-8CFB-3248-B6ED-0EB79A66ADF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71;g3d6e2211149_2_228">
            <a:extLst>
              <a:ext uri="{FF2B5EF4-FFF2-40B4-BE49-F238E27FC236}">
                <a16:creationId xmlns:a16="http://schemas.microsoft.com/office/drawing/2014/main" id="{6E471D02-9091-9D4C-8140-BCC7FFAE54D1}"/>
              </a:ext>
            </a:extLst>
          </p:cNvPr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EFECFC27-345C-254D-9E3F-4C1C67D6255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2132753" y="4878979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" name="Google Shape;356;g3d6e2211149_2_228">
            <a:extLst>
              <a:ext uri="{FF2B5EF4-FFF2-40B4-BE49-F238E27FC236}">
                <a16:creationId xmlns:a16="http://schemas.microsoft.com/office/drawing/2014/main" id="{F2042C1E-ABCF-EE41-BD57-C0C0993AA020}"/>
              </a:ext>
            </a:extLst>
          </p:cNvPr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78" name="Google Shape;319;g3d6e2211149_2_228">
            <a:extLst>
              <a:ext uri="{FF2B5EF4-FFF2-40B4-BE49-F238E27FC236}">
                <a16:creationId xmlns:a16="http://schemas.microsoft.com/office/drawing/2014/main" id="{F6DE196D-16A8-9C46-A55C-EA35C2839565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765842" y="5614330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95C75166-EB59-BC4A-8D83-4502AB14FFE9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4500148" y="5076841"/>
            <a:ext cx="260293" cy="54464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CD4630-DD6B-6444-BCFE-631A300017BD}"/>
              </a:ext>
            </a:extLst>
          </p:cNvPr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61E2B155-81C6-E94E-964D-C787DDEB9C7E}"/>
              </a:ext>
            </a:extLst>
          </p:cNvPr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303;g3d6896b4338_0_0">
            <a:extLst>
              <a:ext uri="{FF2B5EF4-FFF2-40B4-BE49-F238E27FC236}">
                <a16:creationId xmlns:a16="http://schemas.microsoft.com/office/drawing/2014/main" id="{256A1939-1943-2540-AA08-7DDDD7176369}"/>
              </a:ext>
            </a:extLst>
          </p:cNvPr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319;g3d6e2211149_2_228">
            <a:extLst>
              <a:ext uri="{FF2B5EF4-FFF2-40B4-BE49-F238E27FC236}">
                <a16:creationId xmlns:a16="http://schemas.microsoft.com/office/drawing/2014/main" id="{0FA2D4E0-F12C-9A4F-9EA4-BFD2ABD5306B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427202" y="5754080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B97D5AA8-6C90-2A4E-A6B1-33FF65275FCE}"/>
              </a:ext>
            </a:extLst>
          </p:cNvPr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B02B1A-74E4-CC47-A8A6-027CDBF603CF}"/>
              </a:ext>
            </a:extLst>
          </p:cNvPr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 xml:space="preserve"> </a:t>
            </a:r>
            <a:r>
              <a:rPr lang="en-US" sz="900"/>
              <a:t xml:space="preserve"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 xml:space="preserve"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8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0B89A230-15F0-E048-96F8-A191F91DA85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3966E475-77E9-0A4C-A3C7-AA354703DDB1}"/>
              </a:ext>
            </a:extLst>
          </p:cNvPr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ADA0F2E0-4ECF-924D-91AF-7F8B4F40146D}"/>
              </a:ext>
            </a:extLst>
          </p:cNvPr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532782FE-EDE3-7045-8CBF-F388387924CF}"/>
              </a:ext>
            </a:extLst>
          </p:cNvPr>
          <p:cNvSpPr/>
          <p:nvPr/>
        </p:nvSpPr>
        <p:spPr>
          <a:xfrm>
            <a:off x="4211660" y="587517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358;g3d6e2211149_2_228">
            <a:extLst>
              <a:ext uri="{FF2B5EF4-FFF2-40B4-BE49-F238E27FC236}">
                <a16:creationId xmlns:a16="http://schemas.microsoft.com/office/drawing/2014/main" id="{2A235FA3-2631-4A4C-8491-44D35909777A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654525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2" name="Google Shape;358;g3d6e2211149_2_228">
            <a:extLst>
              <a:ext uri="{FF2B5EF4-FFF2-40B4-BE49-F238E27FC236}">
                <a16:creationId xmlns:a16="http://schemas.microsoft.com/office/drawing/2014/main" id="{650D3890-5B47-BA45-83B0-BC1222F4B27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3" name="Google Shape;358;g3d6e2211149_2_228">
            <a:extLst>
              <a:ext uri="{FF2B5EF4-FFF2-40B4-BE49-F238E27FC236}">
                <a16:creationId xmlns:a16="http://schemas.microsoft.com/office/drawing/2014/main" id="{2C270E30-151F-534F-AD05-483C9021153D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4" name="Google Shape;358;g3d6e2211149_2_228">
            <a:extLst>
              <a:ext uri="{FF2B5EF4-FFF2-40B4-BE49-F238E27FC236}">
                <a16:creationId xmlns:a16="http://schemas.microsoft.com/office/drawing/2014/main" id="{B91030D0-1E32-3244-967D-28807C98A0C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5" name="Google Shape;358;g3d6e2211149_2_228">
            <a:extLst>
              <a:ext uri="{FF2B5EF4-FFF2-40B4-BE49-F238E27FC236}">
                <a16:creationId xmlns:a16="http://schemas.microsoft.com/office/drawing/2014/main" id="{BCF5EE62-A10D-2E49-A8BC-94D58F5075FC}"/>
              </a:ext>
            </a:extLst>
          </p:cNvPr>
          <p:cNvCxnSpPr>
            <a:cxnSpLocks/>
            <a:stCxn id="67" idx="1"/>
            <a:endCxn id="50" idx="0"/>
          </p:cNvCxnSpPr>
          <p:nvPr/>
        </p:nvCxnSpPr>
        <p:spPr>
          <a:xfrm flipH="1">
            <a:off x="4353362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6" name="Google Shape;358;g3d6e2211149_2_228">
            <a:extLst>
              <a:ext uri="{FF2B5EF4-FFF2-40B4-BE49-F238E27FC236}">
                <a16:creationId xmlns:a16="http://schemas.microsoft.com/office/drawing/2014/main" id="{226BF464-AD51-F549-AE22-930414E20097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76710C9A-E00E-0C4D-868A-E6ADD5FE7A0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2" name="Google Shape;318;g3d6e2211149_2_228">
            <a:extLst>
              <a:ext uri="{FF2B5EF4-FFF2-40B4-BE49-F238E27FC236}">
                <a16:creationId xmlns:a16="http://schemas.microsoft.com/office/drawing/2014/main" id="{EA30BD87-495E-B14F-AD61-A386C5D0BD81}"/>
              </a:ext>
            </a:extLst>
          </p:cNvPr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3" name="Google Shape;319;g3d6e2211149_2_228">
            <a:extLst>
              <a:ext uri="{FF2B5EF4-FFF2-40B4-BE49-F238E27FC236}">
                <a16:creationId xmlns:a16="http://schemas.microsoft.com/office/drawing/2014/main" id="{AC493477-E72F-B84A-84A7-1BADE742ADFB}"/>
              </a:ext>
            </a:extLst>
          </p:cNvPr>
          <p:cNvCxnSpPr>
            <a:cxnSpLocks/>
          </p:cNvCxnSpPr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CD271C1-CC76-EA49-8521-A05CF7FF893E}"/>
              </a:ext>
            </a:extLst>
          </p:cNvPr>
          <p:cNvSpPr txBox="1"/>
          <p:nvPr/>
        </p:nvSpPr>
        <p:spPr>
          <a:xfrm>
            <a:off x="7054110" y="1474578"/>
            <a:ext cx="46986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200" b="1"/>
              <a:t>1. lifesync-batch-loader-lambda</a:t>
            </a:r>
          </a:p>
          <a:p>
            <a:r>
              <a:rPr lang="en-KR" sz="1000"/>
              <a:t>= 계열사 Daily Batch 수집 Lambda</a:t>
            </a:r>
          </a:p>
        </p:txBody>
      </p:sp>
      <p:sp>
        <p:nvSpPr>
          <p:cNvPr id="108" name="Google Shape;274;g3d6e2211149_2_228">
            <a:extLst>
              <a:ext uri="{FF2B5EF4-FFF2-40B4-BE49-F238E27FC236}">
                <a16:creationId xmlns:a16="http://schemas.microsoft.com/office/drawing/2014/main" id="{A85DB49D-C822-CB4E-83A6-064B4D82FE7C}"/>
              </a:ext>
            </a:extLst>
          </p:cNvPr>
          <p:cNvSpPr txBox="1"/>
          <p:nvPr/>
        </p:nvSpPr>
        <p:spPr>
          <a:xfrm>
            <a:off x="7104515" y="213602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입력 소스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B95D54C-2337-E345-B474-2D6E6BFB8014}"/>
              </a:ext>
            </a:extLst>
          </p:cNvPr>
          <p:cNvSpPr txBox="1"/>
          <p:nvPr/>
        </p:nvSpPr>
        <p:spPr>
          <a:xfrm>
            <a:off x="7137724" y="2479008"/>
            <a:ext cx="3712804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bank_20250901.json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card_20250901.json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insurance_20250901.json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...</a:t>
            </a:r>
          </a:p>
        </p:txBody>
      </p:sp>
      <p:sp>
        <p:nvSpPr>
          <p:cNvPr id="110" name="Google Shape;274;g3d6e2211149_2_228">
            <a:extLst>
              <a:ext uri="{FF2B5EF4-FFF2-40B4-BE49-F238E27FC236}">
                <a16:creationId xmlns:a16="http://schemas.microsoft.com/office/drawing/2014/main" id="{4DE79465-CB0B-2B47-AD15-CFA8B8E0DC98}"/>
              </a:ext>
            </a:extLst>
          </p:cNvPr>
          <p:cNvSpPr txBox="1"/>
          <p:nvPr/>
        </p:nvSpPr>
        <p:spPr>
          <a:xfrm>
            <a:off x="7104515" y="3514256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처리 프로세스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FEB3DB0-4990-8641-AC64-795AAC93A53E}"/>
              </a:ext>
            </a:extLst>
          </p:cNvPr>
          <p:cNvSpPr txBox="1"/>
          <p:nvPr/>
        </p:nvSpPr>
        <p:spPr>
          <a:xfrm>
            <a:off x="7051349" y="3925951"/>
            <a:ext cx="37991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[1] Lambda 호출 수신</a:t>
            </a:r>
          </a:p>
          <a:p>
            <a:r>
              <a:rPr lang="en-KR" sz="1000"/>
              <a:t>[2] source 확인</a:t>
            </a:r>
            <a:r>
              <a:rPr lang="ko-KR" altLang="en-US" sz="1000"/>
              <a:t xml:space="preserve"> </a:t>
            </a:r>
            <a:r>
              <a:rPr lang="en-KR" sz="1000"/>
              <a:t>(bank/card/insurance...)</a:t>
            </a:r>
          </a:p>
          <a:p>
            <a:r>
              <a:rPr lang="en-KR" sz="1000"/>
              <a:t>[3] payload schema 검증</a:t>
            </a:r>
          </a:p>
          <a:p>
            <a:r>
              <a:rPr lang="en-KR" sz="1000"/>
              <a:t>[4] record_count 확인</a:t>
            </a:r>
          </a:p>
          <a:p>
            <a:r>
              <a:rPr lang="en-KR" sz="1000"/>
              <a:t>[5] S3 Raw 저장</a:t>
            </a:r>
          </a:p>
          <a:p>
            <a:r>
              <a:rPr lang="en-KR" sz="1000"/>
              <a:t>s3://lifesync-raw/bank/dt=2025-09-01/bank_xxx.json</a:t>
            </a:r>
          </a:p>
          <a:p>
            <a:r>
              <a:rPr lang="en-KR" sz="1000"/>
              <a:t>[6] CloudWatch Log 적재</a:t>
            </a:r>
          </a:p>
          <a:p>
            <a:r>
              <a:rPr lang="en-KR" sz="1000"/>
              <a:t>[7] 성공 응답</a:t>
            </a:r>
          </a:p>
        </p:txBody>
      </p:sp>
      <p:sp>
        <p:nvSpPr>
          <p:cNvPr id="113" name="Google Shape;274;g3d6e2211149_2_228">
            <a:extLst>
              <a:ext uri="{FF2B5EF4-FFF2-40B4-BE49-F238E27FC236}">
                <a16:creationId xmlns:a16="http://schemas.microsoft.com/office/drawing/2014/main" id="{E0414727-CDBD-2547-B81F-97A9FD542C76}"/>
              </a:ext>
            </a:extLst>
          </p:cNvPr>
          <p:cNvSpPr txBox="1"/>
          <p:nvPr/>
        </p:nvSpPr>
        <p:spPr>
          <a:xfrm>
            <a:off x="7104515" y="553219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저장 구조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155EC2A-C0B2-7D4F-80CA-A88D53B4D731}"/>
              </a:ext>
            </a:extLst>
          </p:cNvPr>
          <p:cNvSpPr txBox="1"/>
          <p:nvPr/>
        </p:nvSpPr>
        <p:spPr>
          <a:xfrm>
            <a:off x="7137724" y="5875178"/>
            <a:ext cx="3712804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lifesync-raw/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├ bank/dt=2025-09-01/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├ card/dt=2025-09-01/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├ insurance/dt=2025-09-01/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87F0ED9-E2F3-2146-AD6D-C8106AB252ED}"/>
              </a:ext>
            </a:extLst>
          </p:cNvPr>
          <p:cNvSpPr txBox="1"/>
          <p:nvPr/>
        </p:nvSpPr>
        <p:spPr>
          <a:xfrm>
            <a:off x="4986878" y="3549884"/>
            <a:ext cx="16010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파일 row count 검증</a:t>
            </a:r>
          </a:p>
          <a:p>
            <a:r>
              <a:rPr lang="en-KR" sz="900"/>
              <a:t>Schema mismatch 탐지</a:t>
            </a:r>
          </a:p>
          <a:p>
            <a:r>
              <a:rPr lang="en-KR" sz="900"/>
              <a:t>중복 업로드 방지</a:t>
            </a:r>
          </a:p>
        </p:txBody>
      </p:sp>
      <p:sp>
        <p:nvSpPr>
          <p:cNvPr id="117" name="Google Shape;371;g3d6e2211149_2_228">
            <a:extLst>
              <a:ext uri="{FF2B5EF4-FFF2-40B4-BE49-F238E27FC236}">
                <a16:creationId xmlns:a16="http://schemas.microsoft.com/office/drawing/2014/main" id="{35853E3D-0116-D64C-A6EE-08C9A17A88FA}"/>
              </a:ext>
            </a:extLst>
          </p:cNvPr>
          <p:cNvSpPr txBox="1"/>
          <p:nvPr/>
        </p:nvSpPr>
        <p:spPr>
          <a:xfrm>
            <a:off x="3655899" y="616469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6898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전송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Wearable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실시간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065F5B3C-FA33-914C-B38A-8D364C77779F}"/>
              </a:ext>
            </a:extLst>
          </p:cNvPr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D4E88399-F7F6-C84D-9A6B-1D2070353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79F51887-D95B-EE45-8C98-E383F3F65334}"/>
              </a:ext>
            </a:extLst>
          </p:cNvPr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BB48A3CD-2B2B-E847-9582-3200A95C5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5DEC0DD-FA57-014A-B69C-F8511295E9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8CF95F2F-6302-6E44-B583-07DEACFCBC30}"/>
              </a:ext>
            </a:extLst>
          </p:cNvPr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1316A3E-64D0-3841-B5FC-A73E846AD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E9DB676A-9388-0242-83ED-2D62B763B1B1}"/>
              </a:ext>
            </a:extLst>
          </p:cNvPr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69F9D9B6-3C63-114B-B728-7101005BA7CC}"/>
              </a:ext>
            </a:extLst>
          </p:cNvPr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E5033E34-A2D5-754E-A965-94435F5FE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9E606FAF-F7D8-DC4E-A1E2-463A9CBA9CDE}"/>
              </a:ext>
            </a:extLst>
          </p:cNvPr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29316988-7FFF-A64D-848C-3436A72D33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DBE09C9-6A68-9344-8586-3D80B7EBA9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C93E396-BE6F-214E-97CF-EA3AD8356D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2F2D15C-272F-8F40-98A8-81D093CBFC1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DED5E00-CCFC-3343-9A55-E5C8DD3C9F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BB0F293-D29F-4143-82F0-14742BBF95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2335079-648E-D04C-963A-4D16D3E1A0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580B812C-AC57-FF4C-BD12-A140A05A0D64}"/>
              </a:ext>
            </a:extLst>
          </p:cNvPr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DE5C978-AFE9-B04F-8937-C709A0778D68}"/>
              </a:ext>
            </a:extLst>
          </p:cNvPr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420A71A9-ED3E-AB4E-9FE4-79E3F93538AC}"/>
              </a:ext>
            </a:extLst>
          </p:cNvPr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D35FAD48-7D8D-3140-B553-8224A512AA1E}"/>
              </a:ext>
            </a:extLst>
          </p:cNvPr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70C27F7-54E6-BB4B-93A8-C4152F725C81}"/>
              </a:ext>
            </a:extLst>
          </p:cNvPr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A3A01193-8651-A546-B390-697C5FF05352}"/>
              </a:ext>
            </a:extLst>
          </p:cNvPr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BCE09EF-2E60-994B-AC90-07B4E42348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7F52EAD8-1C2B-4847-851A-2498F9887215}"/>
              </a:ext>
            </a:extLst>
          </p:cNvPr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358;g3d6e2211149_2_228">
            <a:extLst>
              <a:ext uri="{FF2B5EF4-FFF2-40B4-BE49-F238E27FC236}">
                <a16:creationId xmlns:a16="http://schemas.microsoft.com/office/drawing/2014/main" id="{31B65FE9-3F72-9441-9980-FB76D9318670}"/>
              </a:ext>
            </a:extLst>
          </p:cNvPr>
          <p:cNvCxnSpPr>
            <a:cxnSpLocks/>
            <a:stCxn id="64" idx="2"/>
            <a:endCxn id="50" idx="0"/>
          </p:cNvCxnSpPr>
          <p:nvPr/>
        </p:nvCxnSpPr>
        <p:spPr>
          <a:xfrm>
            <a:off x="4078425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0" name="Google Shape;294;g3d6e2211149_2_228" descr="AWS Lambda service icon.">
            <a:extLst>
              <a:ext uri="{FF2B5EF4-FFF2-40B4-BE49-F238E27FC236}">
                <a16:creationId xmlns:a16="http://schemas.microsoft.com/office/drawing/2014/main" id="{E890B654-D3C1-6347-B745-92C914FB60C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95;g3d6e2211149_2_228">
            <a:extLst>
              <a:ext uri="{FF2B5EF4-FFF2-40B4-BE49-F238E27FC236}">
                <a16:creationId xmlns:a16="http://schemas.microsoft.com/office/drawing/2014/main" id="{C64DB38C-68C4-B943-9BF6-88393087F543}"/>
              </a:ext>
            </a:extLst>
          </p:cNvPr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3" name="Google Shape;358;g3d6e2211149_2_228">
            <a:extLst>
              <a:ext uri="{FF2B5EF4-FFF2-40B4-BE49-F238E27FC236}">
                <a16:creationId xmlns:a16="http://schemas.microsoft.com/office/drawing/2014/main" id="{8B6C9EE8-6B36-794A-8D09-13BF401D9120}"/>
              </a:ext>
            </a:extLst>
          </p:cNvPr>
          <p:cNvCxnSpPr>
            <a:cxnSpLocks/>
            <a:stCxn id="51" idx="0"/>
            <a:endCxn id="44" idx="0"/>
          </p:cNvCxnSpPr>
          <p:nvPr/>
        </p:nvCxnSpPr>
        <p:spPr>
          <a:xfrm>
            <a:off x="4377016" y="3846316"/>
            <a:ext cx="123132" cy="78151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5" name="Google Shape;303;g3d6896b4338_0_0">
            <a:extLst>
              <a:ext uri="{FF2B5EF4-FFF2-40B4-BE49-F238E27FC236}">
                <a16:creationId xmlns:a16="http://schemas.microsoft.com/office/drawing/2014/main" id="{C445D4DE-6773-C34B-9AE2-FE776C4D3502}"/>
              </a:ext>
            </a:extLst>
          </p:cNvPr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03;g3d6896b4338_0_0">
            <a:extLst>
              <a:ext uri="{FF2B5EF4-FFF2-40B4-BE49-F238E27FC236}">
                <a16:creationId xmlns:a16="http://schemas.microsoft.com/office/drawing/2014/main" id="{FB07EB28-ED64-8043-A179-7B47C055EC9C}"/>
              </a:ext>
            </a:extLst>
          </p:cNvPr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02987-6A22-9C48-A5B2-D1616B1BE2E4}"/>
              </a:ext>
            </a:extLst>
          </p:cNvPr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E65E49-F983-D84F-84CB-2972BB3BE1ED}"/>
              </a:ext>
            </a:extLst>
          </p:cNvPr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 xml:space="preserve"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E2F5F49A-6DC7-6E47-BAC1-AECA07AC1661}"/>
              </a:ext>
            </a:extLst>
          </p:cNvPr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C7AB01C-9E59-EF41-B9BC-D6AB9AD70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3392" y="2534805"/>
            <a:ext cx="255735" cy="25573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033F992-1053-D447-A637-551D91BF1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557" y="2534805"/>
            <a:ext cx="255735" cy="2557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EB2A368-6B88-D942-9182-CA95039A5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411" y="2534805"/>
            <a:ext cx="255735" cy="2557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AD147D8-E533-4543-8DCF-1600AFE35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7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CA6A3B-BBF5-CC4B-9744-AC43A3385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150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0D17E9B-54BE-C548-9960-79C02C4697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3061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9129F70-138B-1E44-9403-FEAC2B3F4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961" y="2534805"/>
            <a:ext cx="255735" cy="255735"/>
          </a:xfrm>
          <a:prstGeom prst="rect">
            <a:avLst/>
          </a:prstGeom>
        </p:spPr>
      </p:pic>
      <p:pic>
        <p:nvPicPr>
          <p:cNvPr id="70" name="Google Shape;294;g3d6e2211149_2_228" descr="AWS Lambda service icon.">
            <a:extLst>
              <a:ext uri="{FF2B5EF4-FFF2-40B4-BE49-F238E27FC236}">
                <a16:creationId xmlns:a16="http://schemas.microsoft.com/office/drawing/2014/main" id="{5E78E3EB-F90F-0B4C-A361-AC62FF2386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5;g3d6e2211149_2_228">
            <a:extLst>
              <a:ext uri="{FF2B5EF4-FFF2-40B4-BE49-F238E27FC236}">
                <a16:creationId xmlns:a16="http://schemas.microsoft.com/office/drawing/2014/main" id="{ADADF232-6F86-9C42-800F-0AB133EE9861}"/>
              </a:ext>
            </a:extLst>
          </p:cNvPr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4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5B9C5F16-8CFB-3248-B6ED-0EB79A66ADF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71;g3d6e2211149_2_228">
            <a:extLst>
              <a:ext uri="{FF2B5EF4-FFF2-40B4-BE49-F238E27FC236}">
                <a16:creationId xmlns:a16="http://schemas.microsoft.com/office/drawing/2014/main" id="{6E471D02-9091-9D4C-8140-BCC7FFAE54D1}"/>
              </a:ext>
            </a:extLst>
          </p:cNvPr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EFECFC27-345C-254D-9E3F-4C1C67D6255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2132753" y="4878979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" name="Google Shape;356;g3d6e2211149_2_228">
            <a:extLst>
              <a:ext uri="{FF2B5EF4-FFF2-40B4-BE49-F238E27FC236}">
                <a16:creationId xmlns:a16="http://schemas.microsoft.com/office/drawing/2014/main" id="{F2042C1E-ABCF-EE41-BD57-C0C0993AA020}"/>
              </a:ext>
            </a:extLst>
          </p:cNvPr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78" name="Google Shape;319;g3d6e2211149_2_228">
            <a:extLst>
              <a:ext uri="{FF2B5EF4-FFF2-40B4-BE49-F238E27FC236}">
                <a16:creationId xmlns:a16="http://schemas.microsoft.com/office/drawing/2014/main" id="{F6DE196D-16A8-9C46-A55C-EA35C2839565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765842" y="5614330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95C75166-EB59-BC4A-8D83-4502AB14FFE9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4500148" y="5076841"/>
            <a:ext cx="260293" cy="54464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CD4630-DD6B-6444-BCFE-631A300017BD}"/>
              </a:ext>
            </a:extLst>
          </p:cNvPr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61E2B155-81C6-E94E-964D-C787DDEB9C7E}"/>
              </a:ext>
            </a:extLst>
          </p:cNvPr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303;g3d6896b4338_0_0">
            <a:extLst>
              <a:ext uri="{FF2B5EF4-FFF2-40B4-BE49-F238E27FC236}">
                <a16:creationId xmlns:a16="http://schemas.microsoft.com/office/drawing/2014/main" id="{256A1939-1943-2540-AA08-7DDDD7176369}"/>
              </a:ext>
            </a:extLst>
          </p:cNvPr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319;g3d6e2211149_2_228">
            <a:extLst>
              <a:ext uri="{FF2B5EF4-FFF2-40B4-BE49-F238E27FC236}">
                <a16:creationId xmlns:a16="http://schemas.microsoft.com/office/drawing/2014/main" id="{0FA2D4E0-F12C-9A4F-9EA4-BFD2ABD5306B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427202" y="5754080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B97D5AA8-6C90-2A4E-A6B1-33FF65275FCE}"/>
              </a:ext>
            </a:extLst>
          </p:cNvPr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B02B1A-74E4-CC47-A8A6-027CDBF603CF}"/>
              </a:ext>
            </a:extLst>
          </p:cNvPr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 xml:space="preserve"> </a:t>
            </a:r>
            <a:r>
              <a:rPr lang="en-US" sz="900"/>
              <a:t xml:space="preserve"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 xml:space="preserve"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8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0B89A230-15F0-E048-96F8-A191F91DA85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3966E475-77E9-0A4C-A3C7-AA354703DDB1}"/>
              </a:ext>
            </a:extLst>
          </p:cNvPr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ADA0F2E0-4ECF-924D-91AF-7F8B4F40146D}"/>
              </a:ext>
            </a:extLst>
          </p:cNvPr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358;g3d6e2211149_2_228">
            <a:extLst>
              <a:ext uri="{FF2B5EF4-FFF2-40B4-BE49-F238E27FC236}">
                <a16:creationId xmlns:a16="http://schemas.microsoft.com/office/drawing/2014/main" id="{2A235FA3-2631-4A4C-8491-44D35909777A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654525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2" name="Google Shape;358;g3d6e2211149_2_228">
            <a:extLst>
              <a:ext uri="{FF2B5EF4-FFF2-40B4-BE49-F238E27FC236}">
                <a16:creationId xmlns:a16="http://schemas.microsoft.com/office/drawing/2014/main" id="{650D3890-5B47-BA45-83B0-BC1222F4B27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3" name="Google Shape;358;g3d6e2211149_2_228">
            <a:extLst>
              <a:ext uri="{FF2B5EF4-FFF2-40B4-BE49-F238E27FC236}">
                <a16:creationId xmlns:a16="http://schemas.microsoft.com/office/drawing/2014/main" id="{2C270E30-151F-534F-AD05-483C9021153D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4" name="Google Shape;358;g3d6e2211149_2_228">
            <a:extLst>
              <a:ext uri="{FF2B5EF4-FFF2-40B4-BE49-F238E27FC236}">
                <a16:creationId xmlns:a16="http://schemas.microsoft.com/office/drawing/2014/main" id="{B91030D0-1E32-3244-967D-28807C98A0C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5" name="Google Shape;358;g3d6e2211149_2_228">
            <a:extLst>
              <a:ext uri="{FF2B5EF4-FFF2-40B4-BE49-F238E27FC236}">
                <a16:creationId xmlns:a16="http://schemas.microsoft.com/office/drawing/2014/main" id="{BCF5EE62-A10D-2E49-A8BC-94D58F5075FC}"/>
              </a:ext>
            </a:extLst>
          </p:cNvPr>
          <p:cNvCxnSpPr>
            <a:cxnSpLocks/>
            <a:stCxn id="67" idx="1"/>
            <a:endCxn id="50" idx="0"/>
          </p:cNvCxnSpPr>
          <p:nvPr/>
        </p:nvCxnSpPr>
        <p:spPr>
          <a:xfrm flipH="1">
            <a:off x="4353362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6" name="Google Shape;358;g3d6e2211149_2_228">
            <a:extLst>
              <a:ext uri="{FF2B5EF4-FFF2-40B4-BE49-F238E27FC236}">
                <a16:creationId xmlns:a16="http://schemas.microsoft.com/office/drawing/2014/main" id="{226BF464-AD51-F549-AE22-930414E20097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76710C9A-E00E-0C4D-868A-E6ADD5FE7A0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2" name="Google Shape;318;g3d6e2211149_2_228">
            <a:extLst>
              <a:ext uri="{FF2B5EF4-FFF2-40B4-BE49-F238E27FC236}">
                <a16:creationId xmlns:a16="http://schemas.microsoft.com/office/drawing/2014/main" id="{EA30BD87-495E-B14F-AD61-A386C5D0BD81}"/>
              </a:ext>
            </a:extLst>
          </p:cNvPr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3" name="Google Shape;319;g3d6e2211149_2_228">
            <a:extLst>
              <a:ext uri="{FF2B5EF4-FFF2-40B4-BE49-F238E27FC236}">
                <a16:creationId xmlns:a16="http://schemas.microsoft.com/office/drawing/2014/main" id="{AC493477-E72F-B84A-84A7-1BADE742ADFB}"/>
              </a:ext>
            </a:extLst>
          </p:cNvPr>
          <p:cNvCxnSpPr>
            <a:cxnSpLocks/>
          </p:cNvCxnSpPr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CD271C1-CC76-EA49-8521-A05CF7FF893E}"/>
              </a:ext>
            </a:extLst>
          </p:cNvPr>
          <p:cNvSpPr txBox="1"/>
          <p:nvPr/>
        </p:nvSpPr>
        <p:spPr>
          <a:xfrm>
            <a:off x="7054110" y="1474578"/>
            <a:ext cx="2987917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 xml:space="preserve">Kinesis Data Stream </a:t>
            </a:r>
            <a:endParaRPr lang="en-KR" sz="1200" b="1"/>
          </a:p>
          <a:p>
            <a:endParaRPr lang="en-KR" sz="1000"/>
          </a:p>
          <a:p>
            <a:endParaRPr lang="en-KR" sz="1000"/>
          </a:p>
          <a:p>
            <a:r>
              <a:rPr lang="en-KR" sz="1000"/>
              <a:t>Shard (</a:t>
            </a:r>
            <a:r>
              <a:rPr lang="ko-KR" altLang="en-US" sz="1000"/>
              <a:t xml:space="preserve">처리 성능 단위 </a:t>
            </a:r>
            <a:r>
              <a:rPr lang="en-US" altLang="ko-KR" sz="1000"/>
              <a:t>=</a:t>
            </a:r>
            <a:r>
              <a:rPr lang="ko-KR" altLang="en-US" sz="1000"/>
              <a:t xml:space="preserve"> </a:t>
            </a:r>
            <a:r>
              <a:rPr lang="en-US" altLang="ko-KR" sz="1000"/>
              <a:t>TPS / 1000)</a:t>
            </a:r>
          </a:p>
          <a:p>
            <a:r>
              <a:rPr lang="en-US" altLang="ko-KR" sz="1000"/>
              <a:t>:</a:t>
            </a:r>
            <a:r>
              <a:rPr lang="ko-KR" altLang="en-US" sz="1000"/>
              <a:t xml:space="preserve"> </a:t>
            </a:r>
            <a:r>
              <a:rPr lang="en-US" altLang="ko-KR" sz="1000"/>
              <a:t>TPS = 50</a:t>
            </a:r>
            <a:r>
              <a:rPr lang="ko-KR" altLang="en-US" sz="1000"/>
              <a:t>건</a:t>
            </a:r>
            <a:r>
              <a:rPr lang="en-US" altLang="ko-KR" sz="1000"/>
              <a:t>/sec -&gt; 1</a:t>
            </a:r>
            <a:r>
              <a:rPr lang="ko-KR" altLang="en-US" sz="1000"/>
              <a:t xml:space="preserve">건 </a:t>
            </a:r>
            <a:r>
              <a:rPr lang="en-US" altLang="ko-KR" sz="1000"/>
              <a:t>payload (500 bytes ~ 1KB -&gt; 50KB/sec</a:t>
            </a:r>
            <a:r>
              <a:rPr lang="ko-KR" altLang="en-US" sz="1000"/>
              <a:t xml:space="preserve"> </a:t>
            </a:r>
            <a:r>
              <a:rPr lang="en-US" altLang="ko-KR" sz="1000"/>
              <a:t>-&gt;</a:t>
            </a:r>
            <a:r>
              <a:rPr lang="ko-KR" altLang="en-US" sz="1000"/>
              <a:t xml:space="preserve"> </a:t>
            </a:r>
            <a:r>
              <a:rPr lang="en-US" altLang="ko-KR" sz="1000"/>
              <a:t>2 Shared (Lambda</a:t>
            </a:r>
            <a:r>
              <a:rPr lang="ko-KR" altLang="en-US" sz="1000"/>
              <a:t xml:space="preserve"> 병렬 처리</a:t>
            </a:r>
            <a:r>
              <a:rPr lang="en-US" altLang="ko-KR" sz="1000"/>
              <a:t>)</a:t>
            </a:r>
            <a:endParaRPr lang="en-KR" sz="10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B859779-56C8-DB44-8144-96647AFB04C7}"/>
              </a:ext>
            </a:extLst>
          </p:cNvPr>
          <p:cNvSpPr txBox="1"/>
          <p:nvPr/>
        </p:nvSpPr>
        <p:spPr>
          <a:xfrm>
            <a:off x="7033643" y="4350939"/>
            <a:ext cx="2946319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Wearable EC2 Agent (</a:t>
            </a:r>
            <a:r>
              <a:rPr lang="ko-KR" altLang="en-US" sz="1000"/>
              <a:t xml:space="preserve">초당 </a:t>
            </a:r>
            <a:r>
              <a:rPr lang="en-US" altLang="ko-KR" sz="1000"/>
              <a:t>50</a:t>
            </a:r>
            <a:r>
              <a:rPr lang="ko-KR" altLang="en-US" sz="1000"/>
              <a:t>건 생성</a:t>
            </a:r>
            <a:r>
              <a:rPr lang="en-US" altLang="ko-KR" sz="1000"/>
              <a:t>)</a:t>
            </a:r>
            <a:br>
              <a:rPr lang="en-US" altLang="ko-KR" sz="1000"/>
            </a:b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AWS SDK boto3</a:t>
            </a:r>
            <a:br>
              <a:rPr lang="en-US" sz="1000"/>
            </a:b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Kinesis Endpoint</a:t>
            </a:r>
            <a:br>
              <a:rPr lang="en-US" sz="1000"/>
            </a:b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Kinesis Data Stream (2 shared)</a:t>
            </a:r>
            <a:br>
              <a:rPr lang="en-US" sz="1000"/>
            </a:b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Lambda Event Source Mapping</a:t>
            </a:r>
          </a:p>
          <a:p>
            <a:pPr marL="228600" indent="-228600">
              <a:buFont typeface="+mj-lt"/>
              <a:buAutoNum type="arabicParenR"/>
            </a:pP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100"/>
              <a:t>Lambda (2 consumers)</a:t>
            </a:r>
          </a:p>
          <a:p>
            <a:pPr marL="228600" indent="-228600">
              <a:buFont typeface="+mj-lt"/>
              <a:buAutoNum type="arabicParenR"/>
            </a:pP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S3 Raw</a:t>
            </a:r>
            <a:endParaRPr lang="en-KR" sz="10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5A30089-A66C-B945-96C3-427C21112136}"/>
              </a:ext>
            </a:extLst>
          </p:cNvPr>
          <p:cNvSpPr txBox="1"/>
          <p:nvPr/>
        </p:nvSpPr>
        <p:spPr>
          <a:xfrm>
            <a:off x="7033643" y="3967872"/>
            <a:ext cx="20199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처리 프로세스 </a:t>
            </a:r>
            <a:endParaRPr lang="en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0A4517-ACD4-2843-9094-214E0CB6C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993586"/>
              </p:ext>
            </p:extLst>
          </p:nvPr>
        </p:nvGraphicFramePr>
        <p:xfrm>
          <a:off x="7175792" y="2649648"/>
          <a:ext cx="2804170" cy="975360"/>
        </p:xfrm>
        <a:graphic>
          <a:graphicData uri="http://schemas.openxmlformats.org/drawingml/2006/table">
            <a:tbl>
              <a:tblPr/>
              <a:tblGrid>
                <a:gridCol w="1402085">
                  <a:extLst>
                    <a:ext uri="{9D8B030D-6E8A-4147-A177-3AD203B41FA5}">
                      <a16:colId xmlns:a16="http://schemas.microsoft.com/office/drawing/2014/main" val="3287708405"/>
                    </a:ext>
                  </a:extLst>
                </a:gridCol>
                <a:gridCol w="1402085">
                  <a:extLst>
                    <a:ext uri="{9D8B030D-6E8A-4147-A177-3AD203B41FA5}">
                      <a16:colId xmlns:a16="http://schemas.microsoft.com/office/drawing/2014/main" val="613634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Shard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 xml:space="preserve">Lambda </a:t>
                      </a:r>
                      <a:r>
                        <a:rPr lang="ko-KR" altLang="en-US" sz="1000" b="1"/>
                        <a:t>동시 처리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201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065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6894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559279"/>
                  </a:ext>
                </a:extLst>
              </a:tr>
            </a:tbl>
          </a:graphicData>
        </a:graphic>
      </p:graphicFrame>
      <p:sp>
        <p:nvSpPr>
          <p:cNvPr id="110" name="Google Shape;303;g3d6896b4338_0_0">
            <a:extLst>
              <a:ext uri="{FF2B5EF4-FFF2-40B4-BE49-F238E27FC236}">
                <a16:creationId xmlns:a16="http://schemas.microsoft.com/office/drawing/2014/main" id="{B86A0EC3-0288-5143-AD88-67C054897BB5}"/>
              </a:ext>
            </a:extLst>
          </p:cNvPr>
          <p:cNvSpPr/>
          <p:nvPr/>
        </p:nvSpPr>
        <p:spPr>
          <a:xfrm>
            <a:off x="4022940" y="5890491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371;g3d6e2211149_2_228">
            <a:extLst>
              <a:ext uri="{FF2B5EF4-FFF2-40B4-BE49-F238E27FC236}">
                <a16:creationId xmlns:a16="http://schemas.microsoft.com/office/drawing/2014/main" id="{52CF9308-FF85-7243-8768-F2B21FEEA71E}"/>
              </a:ext>
            </a:extLst>
          </p:cNvPr>
          <p:cNvSpPr txBox="1"/>
          <p:nvPr/>
        </p:nvSpPr>
        <p:spPr>
          <a:xfrm>
            <a:off x="3655899" y="616469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46136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전송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Wearable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실시간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065F5B3C-FA33-914C-B38A-8D364C77779F}"/>
              </a:ext>
            </a:extLst>
          </p:cNvPr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D4E88399-F7F6-C84D-9A6B-1D2070353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79F51887-D95B-EE45-8C98-E383F3F65334}"/>
              </a:ext>
            </a:extLst>
          </p:cNvPr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BB48A3CD-2B2B-E847-9582-3200A95C5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5DEC0DD-FA57-014A-B69C-F8511295E9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8CF95F2F-6302-6E44-B583-07DEACFCBC30}"/>
              </a:ext>
            </a:extLst>
          </p:cNvPr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1316A3E-64D0-3841-B5FC-A73E846AD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E9DB676A-9388-0242-83ED-2D62B763B1B1}"/>
              </a:ext>
            </a:extLst>
          </p:cNvPr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69F9D9B6-3C63-114B-B728-7101005BA7CC}"/>
              </a:ext>
            </a:extLst>
          </p:cNvPr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E5033E34-A2D5-754E-A965-94435F5FE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9E606FAF-F7D8-DC4E-A1E2-463A9CBA9CDE}"/>
              </a:ext>
            </a:extLst>
          </p:cNvPr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29316988-7FFF-A64D-848C-3436A72D33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DBE09C9-6A68-9344-8586-3D80B7EBA9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C93E396-BE6F-214E-97CF-EA3AD8356D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2F2D15C-272F-8F40-98A8-81D093CBFC1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DED5E00-CCFC-3343-9A55-E5C8DD3C9F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BB0F293-D29F-4143-82F0-14742BBF95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2335079-648E-D04C-963A-4D16D3E1A0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580B812C-AC57-FF4C-BD12-A140A05A0D64}"/>
              </a:ext>
            </a:extLst>
          </p:cNvPr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DE5C978-AFE9-B04F-8937-C709A0778D68}"/>
              </a:ext>
            </a:extLst>
          </p:cNvPr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420A71A9-ED3E-AB4E-9FE4-79E3F93538AC}"/>
              </a:ext>
            </a:extLst>
          </p:cNvPr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D35FAD48-7D8D-3140-B553-8224A512AA1E}"/>
              </a:ext>
            </a:extLst>
          </p:cNvPr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70C27F7-54E6-BB4B-93A8-C4152F725C81}"/>
              </a:ext>
            </a:extLst>
          </p:cNvPr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A3A01193-8651-A546-B390-697C5FF05352}"/>
              </a:ext>
            </a:extLst>
          </p:cNvPr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BCE09EF-2E60-994B-AC90-07B4E42348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7F52EAD8-1C2B-4847-851A-2498F9887215}"/>
              </a:ext>
            </a:extLst>
          </p:cNvPr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358;g3d6e2211149_2_228">
            <a:extLst>
              <a:ext uri="{FF2B5EF4-FFF2-40B4-BE49-F238E27FC236}">
                <a16:creationId xmlns:a16="http://schemas.microsoft.com/office/drawing/2014/main" id="{31B65FE9-3F72-9441-9980-FB76D9318670}"/>
              </a:ext>
            </a:extLst>
          </p:cNvPr>
          <p:cNvCxnSpPr>
            <a:cxnSpLocks/>
            <a:stCxn id="64" idx="2"/>
            <a:endCxn id="50" idx="0"/>
          </p:cNvCxnSpPr>
          <p:nvPr/>
        </p:nvCxnSpPr>
        <p:spPr>
          <a:xfrm>
            <a:off x="4078425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0" name="Google Shape;294;g3d6e2211149_2_228" descr="AWS Lambda service icon.">
            <a:extLst>
              <a:ext uri="{FF2B5EF4-FFF2-40B4-BE49-F238E27FC236}">
                <a16:creationId xmlns:a16="http://schemas.microsoft.com/office/drawing/2014/main" id="{E890B654-D3C1-6347-B745-92C914FB60C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95;g3d6e2211149_2_228">
            <a:extLst>
              <a:ext uri="{FF2B5EF4-FFF2-40B4-BE49-F238E27FC236}">
                <a16:creationId xmlns:a16="http://schemas.microsoft.com/office/drawing/2014/main" id="{C64DB38C-68C4-B943-9BF6-88393087F543}"/>
              </a:ext>
            </a:extLst>
          </p:cNvPr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3" name="Google Shape;358;g3d6e2211149_2_228">
            <a:extLst>
              <a:ext uri="{FF2B5EF4-FFF2-40B4-BE49-F238E27FC236}">
                <a16:creationId xmlns:a16="http://schemas.microsoft.com/office/drawing/2014/main" id="{8B6C9EE8-6B36-794A-8D09-13BF401D9120}"/>
              </a:ext>
            </a:extLst>
          </p:cNvPr>
          <p:cNvCxnSpPr>
            <a:cxnSpLocks/>
            <a:stCxn id="51" idx="0"/>
            <a:endCxn id="44" idx="0"/>
          </p:cNvCxnSpPr>
          <p:nvPr/>
        </p:nvCxnSpPr>
        <p:spPr>
          <a:xfrm>
            <a:off x="4377016" y="3846316"/>
            <a:ext cx="123132" cy="78151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5" name="Google Shape;303;g3d6896b4338_0_0">
            <a:extLst>
              <a:ext uri="{FF2B5EF4-FFF2-40B4-BE49-F238E27FC236}">
                <a16:creationId xmlns:a16="http://schemas.microsoft.com/office/drawing/2014/main" id="{C445D4DE-6773-C34B-9AE2-FE776C4D3502}"/>
              </a:ext>
            </a:extLst>
          </p:cNvPr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03;g3d6896b4338_0_0">
            <a:extLst>
              <a:ext uri="{FF2B5EF4-FFF2-40B4-BE49-F238E27FC236}">
                <a16:creationId xmlns:a16="http://schemas.microsoft.com/office/drawing/2014/main" id="{FB07EB28-ED64-8043-A179-7B47C055EC9C}"/>
              </a:ext>
            </a:extLst>
          </p:cNvPr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02987-6A22-9C48-A5B2-D1616B1BE2E4}"/>
              </a:ext>
            </a:extLst>
          </p:cNvPr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E65E49-F983-D84F-84CB-2972BB3BE1ED}"/>
              </a:ext>
            </a:extLst>
          </p:cNvPr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 xml:space="preserve"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E2F5F49A-6DC7-6E47-BAC1-AECA07AC1661}"/>
              </a:ext>
            </a:extLst>
          </p:cNvPr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C7AB01C-9E59-EF41-B9BC-D6AB9AD70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3392" y="2534805"/>
            <a:ext cx="255735" cy="25573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033F992-1053-D447-A637-551D91BF1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557" y="2534805"/>
            <a:ext cx="255735" cy="2557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EB2A368-6B88-D942-9182-CA95039A5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411" y="2534805"/>
            <a:ext cx="255735" cy="2557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AD147D8-E533-4543-8DCF-1600AFE35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7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CA6A3B-BBF5-CC4B-9744-AC43A3385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150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0D17E9B-54BE-C548-9960-79C02C4697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3061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9129F70-138B-1E44-9403-FEAC2B3F4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961" y="2534805"/>
            <a:ext cx="255735" cy="255735"/>
          </a:xfrm>
          <a:prstGeom prst="rect">
            <a:avLst/>
          </a:prstGeom>
        </p:spPr>
      </p:pic>
      <p:pic>
        <p:nvPicPr>
          <p:cNvPr id="70" name="Google Shape;294;g3d6e2211149_2_228" descr="AWS Lambda service icon.">
            <a:extLst>
              <a:ext uri="{FF2B5EF4-FFF2-40B4-BE49-F238E27FC236}">
                <a16:creationId xmlns:a16="http://schemas.microsoft.com/office/drawing/2014/main" id="{5E78E3EB-F90F-0B4C-A361-AC62FF2386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5;g3d6e2211149_2_228">
            <a:extLst>
              <a:ext uri="{FF2B5EF4-FFF2-40B4-BE49-F238E27FC236}">
                <a16:creationId xmlns:a16="http://schemas.microsoft.com/office/drawing/2014/main" id="{ADADF232-6F86-9C42-800F-0AB133EE9861}"/>
              </a:ext>
            </a:extLst>
          </p:cNvPr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4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5B9C5F16-8CFB-3248-B6ED-0EB79A66ADF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71;g3d6e2211149_2_228">
            <a:extLst>
              <a:ext uri="{FF2B5EF4-FFF2-40B4-BE49-F238E27FC236}">
                <a16:creationId xmlns:a16="http://schemas.microsoft.com/office/drawing/2014/main" id="{6E471D02-9091-9D4C-8140-BCC7FFAE54D1}"/>
              </a:ext>
            </a:extLst>
          </p:cNvPr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EFECFC27-345C-254D-9E3F-4C1C67D6255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2132753" y="4878979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" name="Google Shape;356;g3d6e2211149_2_228">
            <a:extLst>
              <a:ext uri="{FF2B5EF4-FFF2-40B4-BE49-F238E27FC236}">
                <a16:creationId xmlns:a16="http://schemas.microsoft.com/office/drawing/2014/main" id="{F2042C1E-ABCF-EE41-BD57-C0C0993AA020}"/>
              </a:ext>
            </a:extLst>
          </p:cNvPr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78" name="Google Shape;319;g3d6e2211149_2_228">
            <a:extLst>
              <a:ext uri="{FF2B5EF4-FFF2-40B4-BE49-F238E27FC236}">
                <a16:creationId xmlns:a16="http://schemas.microsoft.com/office/drawing/2014/main" id="{F6DE196D-16A8-9C46-A55C-EA35C2839565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765842" y="5614330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95C75166-EB59-BC4A-8D83-4502AB14FFE9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4500148" y="5076841"/>
            <a:ext cx="260293" cy="54464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CD4630-DD6B-6444-BCFE-631A300017BD}"/>
              </a:ext>
            </a:extLst>
          </p:cNvPr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61E2B155-81C6-E94E-964D-C787DDEB9C7E}"/>
              </a:ext>
            </a:extLst>
          </p:cNvPr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303;g3d6896b4338_0_0">
            <a:extLst>
              <a:ext uri="{FF2B5EF4-FFF2-40B4-BE49-F238E27FC236}">
                <a16:creationId xmlns:a16="http://schemas.microsoft.com/office/drawing/2014/main" id="{256A1939-1943-2540-AA08-7DDDD7176369}"/>
              </a:ext>
            </a:extLst>
          </p:cNvPr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319;g3d6e2211149_2_228">
            <a:extLst>
              <a:ext uri="{FF2B5EF4-FFF2-40B4-BE49-F238E27FC236}">
                <a16:creationId xmlns:a16="http://schemas.microsoft.com/office/drawing/2014/main" id="{0FA2D4E0-F12C-9A4F-9EA4-BFD2ABD5306B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427202" y="5754080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B97D5AA8-6C90-2A4E-A6B1-33FF65275FCE}"/>
              </a:ext>
            </a:extLst>
          </p:cNvPr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B02B1A-74E4-CC47-A8A6-027CDBF603CF}"/>
              </a:ext>
            </a:extLst>
          </p:cNvPr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 xml:space="preserve"> </a:t>
            </a:r>
            <a:r>
              <a:rPr lang="en-US" sz="900"/>
              <a:t xml:space="preserve"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 xml:space="preserve"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8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0B89A230-15F0-E048-96F8-A191F91DA85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3966E475-77E9-0A4C-A3C7-AA354703DDB1}"/>
              </a:ext>
            </a:extLst>
          </p:cNvPr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ADA0F2E0-4ECF-924D-91AF-7F8B4F40146D}"/>
              </a:ext>
            </a:extLst>
          </p:cNvPr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532782FE-EDE3-7045-8CBF-F388387924CF}"/>
              </a:ext>
            </a:extLst>
          </p:cNvPr>
          <p:cNvSpPr/>
          <p:nvPr/>
        </p:nvSpPr>
        <p:spPr>
          <a:xfrm>
            <a:off x="4022940" y="5890491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358;g3d6e2211149_2_228">
            <a:extLst>
              <a:ext uri="{FF2B5EF4-FFF2-40B4-BE49-F238E27FC236}">
                <a16:creationId xmlns:a16="http://schemas.microsoft.com/office/drawing/2014/main" id="{2A235FA3-2631-4A4C-8491-44D35909777A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654525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2" name="Google Shape;358;g3d6e2211149_2_228">
            <a:extLst>
              <a:ext uri="{FF2B5EF4-FFF2-40B4-BE49-F238E27FC236}">
                <a16:creationId xmlns:a16="http://schemas.microsoft.com/office/drawing/2014/main" id="{650D3890-5B47-BA45-83B0-BC1222F4B27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3" name="Google Shape;358;g3d6e2211149_2_228">
            <a:extLst>
              <a:ext uri="{FF2B5EF4-FFF2-40B4-BE49-F238E27FC236}">
                <a16:creationId xmlns:a16="http://schemas.microsoft.com/office/drawing/2014/main" id="{2C270E30-151F-534F-AD05-483C9021153D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4" name="Google Shape;358;g3d6e2211149_2_228">
            <a:extLst>
              <a:ext uri="{FF2B5EF4-FFF2-40B4-BE49-F238E27FC236}">
                <a16:creationId xmlns:a16="http://schemas.microsoft.com/office/drawing/2014/main" id="{B91030D0-1E32-3244-967D-28807C98A0C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5" name="Google Shape;358;g3d6e2211149_2_228">
            <a:extLst>
              <a:ext uri="{FF2B5EF4-FFF2-40B4-BE49-F238E27FC236}">
                <a16:creationId xmlns:a16="http://schemas.microsoft.com/office/drawing/2014/main" id="{BCF5EE62-A10D-2E49-A8BC-94D58F5075FC}"/>
              </a:ext>
            </a:extLst>
          </p:cNvPr>
          <p:cNvCxnSpPr>
            <a:cxnSpLocks/>
            <a:stCxn id="67" idx="1"/>
            <a:endCxn id="50" idx="0"/>
          </p:cNvCxnSpPr>
          <p:nvPr/>
        </p:nvCxnSpPr>
        <p:spPr>
          <a:xfrm flipH="1">
            <a:off x="4353362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6" name="Google Shape;358;g3d6e2211149_2_228">
            <a:extLst>
              <a:ext uri="{FF2B5EF4-FFF2-40B4-BE49-F238E27FC236}">
                <a16:creationId xmlns:a16="http://schemas.microsoft.com/office/drawing/2014/main" id="{226BF464-AD51-F549-AE22-930414E20097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76710C9A-E00E-0C4D-868A-E6ADD5FE7A0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2" name="Google Shape;318;g3d6e2211149_2_228">
            <a:extLst>
              <a:ext uri="{FF2B5EF4-FFF2-40B4-BE49-F238E27FC236}">
                <a16:creationId xmlns:a16="http://schemas.microsoft.com/office/drawing/2014/main" id="{EA30BD87-495E-B14F-AD61-A386C5D0BD81}"/>
              </a:ext>
            </a:extLst>
          </p:cNvPr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3" name="Google Shape;319;g3d6e2211149_2_228">
            <a:extLst>
              <a:ext uri="{FF2B5EF4-FFF2-40B4-BE49-F238E27FC236}">
                <a16:creationId xmlns:a16="http://schemas.microsoft.com/office/drawing/2014/main" id="{AC493477-E72F-B84A-84A7-1BADE742ADFB}"/>
              </a:ext>
            </a:extLst>
          </p:cNvPr>
          <p:cNvCxnSpPr>
            <a:cxnSpLocks/>
          </p:cNvCxnSpPr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CD271C1-CC76-EA49-8521-A05CF7FF893E}"/>
              </a:ext>
            </a:extLst>
          </p:cNvPr>
          <p:cNvSpPr txBox="1"/>
          <p:nvPr/>
        </p:nvSpPr>
        <p:spPr>
          <a:xfrm>
            <a:off x="7054110" y="1474578"/>
            <a:ext cx="4839649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Lambda Event Source Mapping</a:t>
            </a:r>
            <a:endParaRPr lang="en-KR" sz="1200" b="1"/>
          </a:p>
          <a:p>
            <a:endParaRPr lang="en-US" sz="1000"/>
          </a:p>
          <a:p>
            <a:r>
              <a:rPr lang="en-US" sz="1000"/>
              <a:t xml:space="preserve">Event Source Mapping </a:t>
            </a:r>
            <a:r>
              <a:rPr lang="ko-KR" altLang="en-US" sz="1000"/>
              <a:t>설정이 있어야</a:t>
            </a:r>
            <a:r>
              <a:rPr lang="en-US" sz="1000"/>
              <a:t>Kinesis</a:t>
            </a:r>
            <a:r>
              <a:rPr lang="ko-KR" altLang="en-US" sz="1000"/>
              <a:t xml:space="preserve">에 데이터가 들어올 때 </a:t>
            </a:r>
            <a:r>
              <a:rPr lang="en-US" sz="1000"/>
              <a:t>Lambda</a:t>
            </a:r>
            <a:r>
              <a:rPr lang="ko-KR" altLang="en-US" sz="1000"/>
              <a:t>가 자동 실행</a:t>
            </a:r>
            <a:endParaRPr lang="en-US" altLang="ko-KR" sz="1000"/>
          </a:p>
          <a:p>
            <a:endParaRPr lang="en-US" sz="1000"/>
          </a:p>
          <a:p>
            <a:r>
              <a:rPr lang="ko-KR" altLang="en-US" sz="1000" b="1"/>
              <a:t xml:space="preserve">역할 </a:t>
            </a:r>
            <a:r>
              <a:rPr lang="en-US" altLang="ko-KR" sz="1000" b="1"/>
              <a:t>:</a:t>
            </a:r>
            <a:r>
              <a:rPr lang="ko-KR" altLang="en-US" sz="1000" b="1"/>
              <a:t xml:space="preserve"> </a:t>
            </a:r>
            <a:r>
              <a:rPr lang="en-US" sz="1000"/>
              <a:t xml:space="preserve">Polling + Batch </a:t>
            </a:r>
            <a:r>
              <a:rPr lang="ko-KR" altLang="en-US" sz="1000"/>
              <a:t xml:space="preserve">전달 </a:t>
            </a:r>
            <a:r>
              <a:rPr lang="en-US" altLang="ko-KR" sz="1000"/>
              <a:t xml:space="preserve">+ </a:t>
            </a:r>
            <a:r>
              <a:rPr lang="en-US" sz="1000"/>
              <a:t xml:space="preserve">Retry + </a:t>
            </a:r>
            <a:r>
              <a:rPr lang="ko-KR" altLang="en-US" sz="1000"/>
              <a:t>병렬 처리</a:t>
            </a:r>
            <a:endParaRPr lang="en-KR" sz="1000"/>
          </a:p>
        </p:txBody>
      </p:sp>
      <p:sp>
        <p:nvSpPr>
          <p:cNvPr id="98" name="Google Shape;371;g3d6e2211149_2_228">
            <a:extLst>
              <a:ext uri="{FF2B5EF4-FFF2-40B4-BE49-F238E27FC236}">
                <a16:creationId xmlns:a16="http://schemas.microsoft.com/office/drawing/2014/main" id="{9A1E3B65-461C-3D41-84BD-859CC5756774}"/>
              </a:ext>
            </a:extLst>
          </p:cNvPr>
          <p:cNvSpPr txBox="1"/>
          <p:nvPr/>
        </p:nvSpPr>
        <p:spPr>
          <a:xfrm>
            <a:off x="3655899" y="616469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356BE9-8076-154D-BBF4-9B5B4D734CEC}"/>
              </a:ext>
            </a:extLst>
          </p:cNvPr>
          <p:cNvSpPr txBox="1"/>
          <p:nvPr/>
        </p:nvSpPr>
        <p:spPr>
          <a:xfrm>
            <a:off x="256257" y="807714"/>
            <a:ext cx="113705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Lambda Event Source Mapping</a:t>
            </a:r>
            <a:r>
              <a:rPr lang="ko-KR" altLang="en-US"/>
              <a:t>은</a:t>
            </a:r>
            <a:r>
              <a:rPr lang="en-US" altLang="ko-KR"/>
              <a:t xml:space="preserve"> </a:t>
            </a:r>
            <a:r>
              <a:rPr lang="en-US"/>
              <a:t xml:space="preserve">Kinesis Stream </a:t>
            </a:r>
            <a:r>
              <a:rPr lang="ko-KR" altLang="en-US"/>
              <a:t xml:space="preserve">데이터를 </a:t>
            </a:r>
            <a:r>
              <a:rPr lang="en-US"/>
              <a:t>Lambda</a:t>
            </a:r>
            <a:r>
              <a:rPr lang="ko-KR" altLang="en-US"/>
              <a:t>가 자동으로 읽도록 연결하는 핵심 설정</a:t>
            </a:r>
            <a:endParaRPr lang="en-US" altLang="ko-KR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CD63C4-C887-4744-A4BB-23B81EB66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003974"/>
              </p:ext>
            </p:extLst>
          </p:nvPr>
        </p:nvGraphicFramePr>
        <p:xfrm>
          <a:off x="7163397" y="2673253"/>
          <a:ext cx="4730362" cy="2225040"/>
        </p:xfrm>
        <a:graphic>
          <a:graphicData uri="http://schemas.openxmlformats.org/drawingml/2006/table">
            <a:tbl>
              <a:tblPr/>
              <a:tblGrid>
                <a:gridCol w="2365181">
                  <a:extLst>
                    <a:ext uri="{9D8B030D-6E8A-4147-A177-3AD203B41FA5}">
                      <a16:colId xmlns:a16="http://schemas.microsoft.com/office/drawing/2014/main" val="2763884125"/>
                    </a:ext>
                  </a:extLst>
                </a:gridCol>
                <a:gridCol w="2365181">
                  <a:extLst>
                    <a:ext uri="{9D8B030D-6E8A-4147-A177-3AD203B41FA5}">
                      <a16:colId xmlns:a16="http://schemas.microsoft.com/office/drawing/2014/main" val="39805891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15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Kinesis 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490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lifesync-wearable-stream-lambda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956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Starting 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LATEST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새로 들어온 데이터만 처리</a:t>
                      </a:r>
                      <a:r>
                        <a:rPr lang="en-US" altLang="ko-KR" sz="1000"/>
                        <a:t>)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1276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Batch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100</a:t>
                      </a:r>
                      <a:r>
                        <a:rPr lang="ko-KR" altLang="en-US" sz="1000"/>
                        <a:t xml:space="preserve"> </a:t>
                      </a:r>
                      <a:r>
                        <a:rPr lang="en-US" altLang="ko-KR" sz="1000"/>
                        <a:t>(100</a:t>
                      </a:r>
                      <a:r>
                        <a:rPr lang="ko-KR" altLang="en-US" sz="1000"/>
                        <a:t xml:space="preserve">건씩 </a:t>
                      </a:r>
                      <a:r>
                        <a:rPr lang="en-US" altLang="ko-KR" sz="1000"/>
                        <a:t>Lambda</a:t>
                      </a:r>
                      <a:r>
                        <a:rPr lang="ko-KR" altLang="en-US" sz="1000"/>
                        <a:t xml:space="preserve"> 전달</a:t>
                      </a:r>
                      <a:r>
                        <a:rPr lang="en-US" altLang="ko-KR" sz="1000"/>
                        <a:t>)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8195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Batch Window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 sec</a:t>
                      </a:r>
                      <a:r>
                        <a:rPr lang="ko-KR" altLang="en-US" sz="1000"/>
                        <a:t xml:space="preserve">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처리 주기</a:t>
                      </a:r>
                      <a:r>
                        <a:rPr lang="en-US" altLang="ko-KR" sz="1000"/>
                        <a:t>)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043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Parallelization Factor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</a:t>
                      </a:r>
                      <a:r>
                        <a:rPr lang="ko-KR" altLang="en-US" sz="1000"/>
                        <a:t xml:space="preserve"> </a:t>
                      </a:r>
                      <a:r>
                        <a:rPr lang="en-US" altLang="ko-KR" sz="1000"/>
                        <a:t>(Shared</a:t>
                      </a:r>
                      <a:r>
                        <a:rPr lang="ko-KR" altLang="en-US" sz="1000"/>
                        <a:t xml:space="preserve"> 당 두개의 </a:t>
                      </a:r>
                      <a:r>
                        <a:rPr lang="en-US" altLang="ko-KR" sz="1000"/>
                        <a:t>Lambda)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955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799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Bisect on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1386323"/>
                  </a:ext>
                </a:extLst>
              </a:tr>
            </a:tbl>
          </a:graphicData>
        </a:graphic>
      </p:graphicFrame>
      <p:sp>
        <p:nvSpPr>
          <p:cNvPr id="100" name="TextBox 99">
            <a:extLst>
              <a:ext uri="{FF2B5EF4-FFF2-40B4-BE49-F238E27FC236}">
                <a16:creationId xmlns:a16="http://schemas.microsoft.com/office/drawing/2014/main" id="{3B3C83BF-7683-E04D-ACA4-F6A84C74C863}"/>
              </a:ext>
            </a:extLst>
          </p:cNvPr>
          <p:cNvSpPr txBox="1"/>
          <p:nvPr/>
        </p:nvSpPr>
        <p:spPr>
          <a:xfrm>
            <a:off x="7054110" y="5444397"/>
            <a:ext cx="48396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Wearable EC2 Agent -&gt; put_record()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Kinesis -&gt; 100건 or 1초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 xml:space="preserve">Lambda 자동 실행 -&gt; </a:t>
            </a:r>
            <a:r>
              <a:rPr lang="ko-KR" altLang="en-US" sz="1000"/>
              <a:t>병렬 처리</a:t>
            </a: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S3 저장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BB83606-85F4-BC4D-9870-FE25C8C6E5A4}"/>
              </a:ext>
            </a:extLst>
          </p:cNvPr>
          <p:cNvSpPr txBox="1"/>
          <p:nvPr/>
        </p:nvSpPr>
        <p:spPr>
          <a:xfrm>
            <a:off x="7049007" y="5118036"/>
            <a:ext cx="20199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처리 프로세스 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7385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전송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Wearable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실시간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065F5B3C-FA33-914C-B38A-8D364C77779F}"/>
              </a:ext>
            </a:extLst>
          </p:cNvPr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D4E88399-F7F6-C84D-9A6B-1D2070353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79F51887-D95B-EE45-8C98-E383F3F65334}"/>
              </a:ext>
            </a:extLst>
          </p:cNvPr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BB48A3CD-2B2B-E847-9582-3200A95C5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5DEC0DD-FA57-014A-B69C-F8511295E9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8CF95F2F-6302-6E44-B583-07DEACFCBC30}"/>
              </a:ext>
            </a:extLst>
          </p:cNvPr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1316A3E-64D0-3841-B5FC-A73E846AD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E9DB676A-9388-0242-83ED-2D62B763B1B1}"/>
              </a:ext>
            </a:extLst>
          </p:cNvPr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69F9D9B6-3C63-114B-B728-7101005BA7CC}"/>
              </a:ext>
            </a:extLst>
          </p:cNvPr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E5033E34-A2D5-754E-A965-94435F5FE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9E606FAF-F7D8-DC4E-A1E2-463A9CBA9CDE}"/>
              </a:ext>
            </a:extLst>
          </p:cNvPr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29316988-7FFF-A64D-848C-3436A72D33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DBE09C9-6A68-9344-8586-3D80B7EBA9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C93E396-BE6F-214E-97CF-EA3AD8356D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2F2D15C-272F-8F40-98A8-81D093CBFC1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DED5E00-CCFC-3343-9A55-E5C8DD3C9F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BB0F293-D29F-4143-82F0-14742BBF95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2335079-648E-D04C-963A-4D16D3E1A0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580B812C-AC57-FF4C-BD12-A140A05A0D64}"/>
              </a:ext>
            </a:extLst>
          </p:cNvPr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DE5C978-AFE9-B04F-8937-C709A0778D68}"/>
              </a:ext>
            </a:extLst>
          </p:cNvPr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420A71A9-ED3E-AB4E-9FE4-79E3F93538AC}"/>
              </a:ext>
            </a:extLst>
          </p:cNvPr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D35FAD48-7D8D-3140-B553-8224A512AA1E}"/>
              </a:ext>
            </a:extLst>
          </p:cNvPr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70C27F7-54E6-BB4B-93A8-C4152F725C81}"/>
              </a:ext>
            </a:extLst>
          </p:cNvPr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A3A01193-8651-A546-B390-697C5FF05352}"/>
              </a:ext>
            </a:extLst>
          </p:cNvPr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BCE09EF-2E60-994B-AC90-07B4E42348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7F52EAD8-1C2B-4847-851A-2498F9887215}"/>
              </a:ext>
            </a:extLst>
          </p:cNvPr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358;g3d6e2211149_2_228">
            <a:extLst>
              <a:ext uri="{FF2B5EF4-FFF2-40B4-BE49-F238E27FC236}">
                <a16:creationId xmlns:a16="http://schemas.microsoft.com/office/drawing/2014/main" id="{31B65FE9-3F72-9441-9980-FB76D9318670}"/>
              </a:ext>
            </a:extLst>
          </p:cNvPr>
          <p:cNvCxnSpPr>
            <a:cxnSpLocks/>
            <a:stCxn id="64" idx="2"/>
            <a:endCxn id="50" idx="0"/>
          </p:cNvCxnSpPr>
          <p:nvPr/>
        </p:nvCxnSpPr>
        <p:spPr>
          <a:xfrm>
            <a:off x="4078425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0" name="Google Shape;294;g3d6e2211149_2_228" descr="AWS Lambda service icon.">
            <a:extLst>
              <a:ext uri="{FF2B5EF4-FFF2-40B4-BE49-F238E27FC236}">
                <a16:creationId xmlns:a16="http://schemas.microsoft.com/office/drawing/2014/main" id="{E890B654-D3C1-6347-B745-92C914FB60C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95;g3d6e2211149_2_228">
            <a:extLst>
              <a:ext uri="{FF2B5EF4-FFF2-40B4-BE49-F238E27FC236}">
                <a16:creationId xmlns:a16="http://schemas.microsoft.com/office/drawing/2014/main" id="{C64DB38C-68C4-B943-9BF6-88393087F543}"/>
              </a:ext>
            </a:extLst>
          </p:cNvPr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3" name="Google Shape;358;g3d6e2211149_2_228">
            <a:extLst>
              <a:ext uri="{FF2B5EF4-FFF2-40B4-BE49-F238E27FC236}">
                <a16:creationId xmlns:a16="http://schemas.microsoft.com/office/drawing/2014/main" id="{8B6C9EE8-6B36-794A-8D09-13BF401D9120}"/>
              </a:ext>
            </a:extLst>
          </p:cNvPr>
          <p:cNvCxnSpPr>
            <a:cxnSpLocks/>
            <a:stCxn id="51" idx="0"/>
            <a:endCxn id="44" idx="0"/>
          </p:cNvCxnSpPr>
          <p:nvPr/>
        </p:nvCxnSpPr>
        <p:spPr>
          <a:xfrm>
            <a:off x="4377016" y="3846316"/>
            <a:ext cx="123132" cy="78151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5" name="Google Shape;303;g3d6896b4338_0_0">
            <a:extLst>
              <a:ext uri="{FF2B5EF4-FFF2-40B4-BE49-F238E27FC236}">
                <a16:creationId xmlns:a16="http://schemas.microsoft.com/office/drawing/2014/main" id="{C445D4DE-6773-C34B-9AE2-FE776C4D3502}"/>
              </a:ext>
            </a:extLst>
          </p:cNvPr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03;g3d6896b4338_0_0">
            <a:extLst>
              <a:ext uri="{FF2B5EF4-FFF2-40B4-BE49-F238E27FC236}">
                <a16:creationId xmlns:a16="http://schemas.microsoft.com/office/drawing/2014/main" id="{FB07EB28-ED64-8043-A179-7B47C055EC9C}"/>
              </a:ext>
            </a:extLst>
          </p:cNvPr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02987-6A22-9C48-A5B2-D1616B1BE2E4}"/>
              </a:ext>
            </a:extLst>
          </p:cNvPr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E65E49-F983-D84F-84CB-2972BB3BE1ED}"/>
              </a:ext>
            </a:extLst>
          </p:cNvPr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 xml:space="preserve"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E2F5F49A-6DC7-6E47-BAC1-AECA07AC1661}"/>
              </a:ext>
            </a:extLst>
          </p:cNvPr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C7AB01C-9E59-EF41-B9BC-D6AB9AD70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3392" y="2534805"/>
            <a:ext cx="255735" cy="25573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033F992-1053-D447-A637-551D91BF1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557" y="2534805"/>
            <a:ext cx="255735" cy="2557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EB2A368-6B88-D942-9182-CA95039A5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411" y="2534805"/>
            <a:ext cx="255735" cy="2557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AD147D8-E533-4543-8DCF-1600AFE35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7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CA6A3B-BBF5-CC4B-9744-AC43A3385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150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0D17E9B-54BE-C548-9960-79C02C4697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3061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9129F70-138B-1E44-9403-FEAC2B3F4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961" y="2534805"/>
            <a:ext cx="255735" cy="255735"/>
          </a:xfrm>
          <a:prstGeom prst="rect">
            <a:avLst/>
          </a:prstGeom>
        </p:spPr>
      </p:pic>
      <p:pic>
        <p:nvPicPr>
          <p:cNvPr id="70" name="Google Shape;294;g3d6e2211149_2_228" descr="AWS Lambda service icon.">
            <a:extLst>
              <a:ext uri="{FF2B5EF4-FFF2-40B4-BE49-F238E27FC236}">
                <a16:creationId xmlns:a16="http://schemas.microsoft.com/office/drawing/2014/main" id="{5E78E3EB-F90F-0B4C-A361-AC62FF2386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5;g3d6e2211149_2_228">
            <a:extLst>
              <a:ext uri="{FF2B5EF4-FFF2-40B4-BE49-F238E27FC236}">
                <a16:creationId xmlns:a16="http://schemas.microsoft.com/office/drawing/2014/main" id="{ADADF232-6F86-9C42-800F-0AB133EE9861}"/>
              </a:ext>
            </a:extLst>
          </p:cNvPr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4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5B9C5F16-8CFB-3248-B6ED-0EB79A66ADF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71;g3d6e2211149_2_228">
            <a:extLst>
              <a:ext uri="{FF2B5EF4-FFF2-40B4-BE49-F238E27FC236}">
                <a16:creationId xmlns:a16="http://schemas.microsoft.com/office/drawing/2014/main" id="{6E471D02-9091-9D4C-8140-BCC7FFAE54D1}"/>
              </a:ext>
            </a:extLst>
          </p:cNvPr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EFECFC27-345C-254D-9E3F-4C1C67D6255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2132753" y="4878979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" name="Google Shape;356;g3d6e2211149_2_228">
            <a:extLst>
              <a:ext uri="{FF2B5EF4-FFF2-40B4-BE49-F238E27FC236}">
                <a16:creationId xmlns:a16="http://schemas.microsoft.com/office/drawing/2014/main" id="{F2042C1E-ABCF-EE41-BD57-C0C0993AA020}"/>
              </a:ext>
            </a:extLst>
          </p:cNvPr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78" name="Google Shape;319;g3d6e2211149_2_228">
            <a:extLst>
              <a:ext uri="{FF2B5EF4-FFF2-40B4-BE49-F238E27FC236}">
                <a16:creationId xmlns:a16="http://schemas.microsoft.com/office/drawing/2014/main" id="{F6DE196D-16A8-9C46-A55C-EA35C2839565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765842" y="5614330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95C75166-EB59-BC4A-8D83-4502AB14FFE9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4500148" y="5076841"/>
            <a:ext cx="260293" cy="54464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CD4630-DD6B-6444-BCFE-631A300017BD}"/>
              </a:ext>
            </a:extLst>
          </p:cNvPr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61E2B155-81C6-E94E-964D-C787DDEB9C7E}"/>
              </a:ext>
            </a:extLst>
          </p:cNvPr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303;g3d6896b4338_0_0">
            <a:extLst>
              <a:ext uri="{FF2B5EF4-FFF2-40B4-BE49-F238E27FC236}">
                <a16:creationId xmlns:a16="http://schemas.microsoft.com/office/drawing/2014/main" id="{256A1939-1943-2540-AA08-7DDDD7176369}"/>
              </a:ext>
            </a:extLst>
          </p:cNvPr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319;g3d6e2211149_2_228">
            <a:extLst>
              <a:ext uri="{FF2B5EF4-FFF2-40B4-BE49-F238E27FC236}">
                <a16:creationId xmlns:a16="http://schemas.microsoft.com/office/drawing/2014/main" id="{0FA2D4E0-F12C-9A4F-9EA4-BFD2ABD5306B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427202" y="5754080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B97D5AA8-6C90-2A4E-A6B1-33FF65275FCE}"/>
              </a:ext>
            </a:extLst>
          </p:cNvPr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B02B1A-74E4-CC47-A8A6-027CDBF603CF}"/>
              </a:ext>
            </a:extLst>
          </p:cNvPr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 xml:space="preserve"> </a:t>
            </a:r>
            <a:r>
              <a:rPr lang="en-US" sz="900"/>
              <a:t xml:space="preserve"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 xml:space="preserve"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8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0B89A230-15F0-E048-96F8-A191F91DA85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3966E475-77E9-0A4C-A3C7-AA354703DDB1}"/>
              </a:ext>
            </a:extLst>
          </p:cNvPr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ADA0F2E0-4ECF-924D-91AF-7F8B4F40146D}"/>
              </a:ext>
            </a:extLst>
          </p:cNvPr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532782FE-EDE3-7045-8CBF-F388387924CF}"/>
              </a:ext>
            </a:extLst>
          </p:cNvPr>
          <p:cNvSpPr/>
          <p:nvPr/>
        </p:nvSpPr>
        <p:spPr>
          <a:xfrm>
            <a:off x="4211660" y="587517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358;g3d6e2211149_2_228">
            <a:extLst>
              <a:ext uri="{FF2B5EF4-FFF2-40B4-BE49-F238E27FC236}">
                <a16:creationId xmlns:a16="http://schemas.microsoft.com/office/drawing/2014/main" id="{2A235FA3-2631-4A4C-8491-44D35909777A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654525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2" name="Google Shape;358;g3d6e2211149_2_228">
            <a:extLst>
              <a:ext uri="{FF2B5EF4-FFF2-40B4-BE49-F238E27FC236}">
                <a16:creationId xmlns:a16="http://schemas.microsoft.com/office/drawing/2014/main" id="{650D3890-5B47-BA45-83B0-BC1222F4B27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3" name="Google Shape;358;g3d6e2211149_2_228">
            <a:extLst>
              <a:ext uri="{FF2B5EF4-FFF2-40B4-BE49-F238E27FC236}">
                <a16:creationId xmlns:a16="http://schemas.microsoft.com/office/drawing/2014/main" id="{2C270E30-151F-534F-AD05-483C9021153D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4" name="Google Shape;358;g3d6e2211149_2_228">
            <a:extLst>
              <a:ext uri="{FF2B5EF4-FFF2-40B4-BE49-F238E27FC236}">
                <a16:creationId xmlns:a16="http://schemas.microsoft.com/office/drawing/2014/main" id="{B91030D0-1E32-3244-967D-28807C98A0C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5" name="Google Shape;358;g3d6e2211149_2_228">
            <a:extLst>
              <a:ext uri="{FF2B5EF4-FFF2-40B4-BE49-F238E27FC236}">
                <a16:creationId xmlns:a16="http://schemas.microsoft.com/office/drawing/2014/main" id="{BCF5EE62-A10D-2E49-A8BC-94D58F5075FC}"/>
              </a:ext>
            </a:extLst>
          </p:cNvPr>
          <p:cNvCxnSpPr>
            <a:cxnSpLocks/>
            <a:stCxn id="67" idx="1"/>
            <a:endCxn id="50" idx="0"/>
          </p:cNvCxnSpPr>
          <p:nvPr/>
        </p:nvCxnSpPr>
        <p:spPr>
          <a:xfrm flipH="1">
            <a:off x="4353362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6" name="Google Shape;358;g3d6e2211149_2_228">
            <a:extLst>
              <a:ext uri="{FF2B5EF4-FFF2-40B4-BE49-F238E27FC236}">
                <a16:creationId xmlns:a16="http://schemas.microsoft.com/office/drawing/2014/main" id="{226BF464-AD51-F549-AE22-930414E20097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76710C9A-E00E-0C4D-868A-E6ADD5FE7A0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2" name="Google Shape;318;g3d6e2211149_2_228">
            <a:extLst>
              <a:ext uri="{FF2B5EF4-FFF2-40B4-BE49-F238E27FC236}">
                <a16:creationId xmlns:a16="http://schemas.microsoft.com/office/drawing/2014/main" id="{EA30BD87-495E-B14F-AD61-A386C5D0BD81}"/>
              </a:ext>
            </a:extLst>
          </p:cNvPr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3" name="Google Shape;319;g3d6e2211149_2_228">
            <a:extLst>
              <a:ext uri="{FF2B5EF4-FFF2-40B4-BE49-F238E27FC236}">
                <a16:creationId xmlns:a16="http://schemas.microsoft.com/office/drawing/2014/main" id="{AC493477-E72F-B84A-84A7-1BADE742ADFB}"/>
              </a:ext>
            </a:extLst>
          </p:cNvPr>
          <p:cNvCxnSpPr>
            <a:cxnSpLocks/>
          </p:cNvCxnSpPr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CD271C1-CC76-EA49-8521-A05CF7FF893E}"/>
              </a:ext>
            </a:extLst>
          </p:cNvPr>
          <p:cNvSpPr txBox="1"/>
          <p:nvPr/>
        </p:nvSpPr>
        <p:spPr>
          <a:xfrm>
            <a:off x="7054110" y="1474578"/>
            <a:ext cx="46986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200" b="1"/>
              <a:t>2. lifesync-wearable-stream-lambda</a:t>
            </a:r>
          </a:p>
          <a:p>
            <a:r>
              <a:rPr lang="en-KR" sz="1000"/>
              <a:t>= 웨어러블 실시간 스트림 처리 Lambda</a:t>
            </a:r>
          </a:p>
        </p:txBody>
      </p:sp>
      <p:sp>
        <p:nvSpPr>
          <p:cNvPr id="98" name="Google Shape;274;g3d6e2211149_2_228">
            <a:extLst>
              <a:ext uri="{FF2B5EF4-FFF2-40B4-BE49-F238E27FC236}">
                <a16:creationId xmlns:a16="http://schemas.microsoft.com/office/drawing/2014/main" id="{CE7E3355-7B41-ED4F-900E-06471EFEA9F3}"/>
              </a:ext>
            </a:extLst>
          </p:cNvPr>
          <p:cNvSpPr txBox="1"/>
          <p:nvPr/>
        </p:nvSpPr>
        <p:spPr>
          <a:xfrm>
            <a:off x="7104515" y="2015002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입력 소스 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altLang="ko-KR" sz="1200" b="1">
                <a:solidFill>
                  <a:schemeClr val="dk1"/>
                </a:solidFill>
              </a:rPr>
              <a:t>Kinesis Data Stream)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E3BC1FF-5FDF-8645-A752-CDE3D49283F6}"/>
              </a:ext>
            </a:extLst>
          </p:cNvPr>
          <p:cNvSpPr txBox="1"/>
          <p:nvPr/>
        </p:nvSpPr>
        <p:spPr>
          <a:xfrm>
            <a:off x="7137724" y="2357985"/>
            <a:ext cx="3712804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"ls_user_id":"</a:t>
            </a:r>
            <a:r>
              <a:rPr lang="en-US" altLang="ko-KR" sz="1000" dirty="0"/>
              <a:t>LS000000001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"heart_rate":132,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"steps":500,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"stress_score":81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sp>
        <p:nvSpPr>
          <p:cNvPr id="100" name="Google Shape;274;g3d6e2211149_2_228">
            <a:extLst>
              <a:ext uri="{FF2B5EF4-FFF2-40B4-BE49-F238E27FC236}">
                <a16:creationId xmlns:a16="http://schemas.microsoft.com/office/drawing/2014/main" id="{DD4AD076-B490-F345-9015-F878AF91CEF1}"/>
              </a:ext>
            </a:extLst>
          </p:cNvPr>
          <p:cNvSpPr txBox="1"/>
          <p:nvPr/>
        </p:nvSpPr>
        <p:spPr>
          <a:xfrm>
            <a:off x="7104515" y="3514256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처리 프로세스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27FE9A9-9C18-A146-91A8-41986DF1926A}"/>
              </a:ext>
            </a:extLst>
          </p:cNvPr>
          <p:cNvSpPr txBox="1"/>
          <p:nvPr/>
        </p:nvSpPr>
        <p:spPr>
          <a:xfrm>
            <a:off x="7051349" y="3925951"/>
            <a:ext cx="379917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[1] Kinesis Trigger</a:t>
            </a:r>
          </a:p>
          <a:p>
            <a:r>
              <a:rPr lang="en-US" sz="1000"/>
              <a:t>[2] base64 decode</a:t>
            </a:r>
          </a:p>
          <a:p>
            <a:r>
              <a:rPr lang="en-US" sz="1000"/>
              <a:t>[3] JSON parse</a:t>
            </a:r>
          </a:p>
          <a:p>
            <a:r>
              <a:rPr lang="en-US" sz="1000"/>
              <a:t xml:space="preserve">[4] </a:t>
            </a:r>
            <a:r>
              <a:rPr lang="ko-KR" altLang="en-US" sz="1000"/>
              <a:t>이상치 판단</a:t>
            </a:r>
          </a:p>
          <a:p>
            <a:r>
              <a:rPr lang="en-US" altLang="ko-KR" sz="1000"/>
              <a:t xml:space="preserve">[5] </a:t>
            </a:r>
            <a:r>
              <a:rPr lang="en-US" sz="1000"/>
              <a:t xml:space="preserve">Raw </a:t>
            </a:r>
            <a:r>
              <a:rPr lang="ko-KR" altLang="en-US" sz="1000"/>
              <a:t>저장</a:t>
            </a:r>
          </a:p>
          <a:p>
            <a:r>
              <a:rPr lang="en-US" altLang="ko-KR" sz="1000"/>
              <a:t xml:space="preserve">[6] </a:t>
            </a:r>
            <a:r>
              <a:rPr lang="ko-KR" altLang="en-US" sz="1000"/>
              <a:t>위험 알림 여부 판단</a:t>
            </a:r>
          </a:p>
          <a:p>
            <a:r>
              <a:rPr lang="en-US" altLang="ko-KR" sz="1000"/>
              <a:t xml:space="preserve">[7] </a:t>
            </a:r>
            <a:r>
              <a:rPr lang="en-US" sz="1000"/>
              <a:t xml:space="preserve">Feature Store </a:t>
            </a:r>
            <a:r>
              <a:rPr lang="ko-KR" altLang="en-US" sz="1000"/>
              <a:t>반영</a:t>
            </a:r>
            <a:endParaRPr lang="en-KR" sz="1000"/>
          </a:p>
        </p:txBody>
      </p:sp>
      <p:sp>
        <p:nvSpPr>
          <p:cNvPr id="102" name="Google Shape;274;g3d6e2211149_2_228">
            <a:extLst>
              <a:ext uri="{FF2B5EF4-FFF2-40B4-BE49-F238E27FC236}">
                <a16:creationId xmlns:a16="http://schemas.microsoft.com/office/drawing/2014/main" id="{55B5112B-7270-7C48-9483-9C6B14FE7961}"/>
              </a:ext>
            </a:extLst>
          </p:cNvPr>
          <p:cNvSpPr txBox="1"/>
          <p:nvPr/>
        </p:nvSpPr>
        <p:spPr>
          <a:xfrm>
            <a:off x="7104515" y="553219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저장 구조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19D1E05-9ED4-A041-89C0-998285E7CB60}"/>
              </a:ext>
            </a:extLst>
          </p:cNvPr>
          <p:cNvSpPr txBox="1"/>
          <p:nvPr/>
        </p:nvSpPr>
        <p:spPr>
          <a:xfrm>
            <a:off x="7137724" y="5875178"/>
            <a:ext cx="3712804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s3://lifesync-raw/wearable/dt=2025-09-01/hr=10/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CC788CB-9991-8C41-AF02-2AE298485BE3}"/>
              </a:ext>
            </a:extLst>
          </p:cNvPr>
          <p:cNvSpPr txBox="1"/>
          <p:nvPr/>
        </p:nvSpPr>
        <p:spPr>
          <a:xfrm>
            <a:off x="145947" y="5802087"/>
            <a:ext cx="183175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Wearable EC2 Agent</a:t>
            </a:r>
            <a:br>
              <a:rPr lang="en-US" sz="1000"/>
            </a:br>
            <a:r>
              <a:rPr lang="en-US" sz="1000"/>
              <a:t>→ Kinesis Public Endpoint</a:t>
            </a:r>
            <a:br>
              <a:rPr lang="en-US" sz="1000"/>
            </a:br>
            <a:r>
              <a:rPr lang="en-US" sz="1000"/>
              <a:t>→ Kinesis Data Stream</a:t>
            </a:r>
            <a:br>
              <a:rPr lang="en-US" sz="1000"/>
            </a:br>
            <a:r>
              <a:rPr lang="en-US" sz="1000"/>
              <a:t>→ Lambda Trigger</a:t>
            </a:r>
            <a:br>
              <a:rPr lang="en-US" sz="1000"/>
            </a:br>
            <a:r>
              <a:rPr lang="en-US" sz="1000"/>
              <a:t>→ S3 Raw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889215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F0C8D0-71D7-E84B-BFF4-A1C0FEC7F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563033"/>
              </p:ext>
            </p:extLst>
          </p:nvPr>
        </p:nvGraphicFramePr>
        <p:xfrm>
          <a:off x="6271663" y="1512204"/>
          <a:ext cx="2902154" cy="975360"/>
        </p:xfrm>
        <a:graphic>
          <a:graphicData uri="http://schemas.openxmlformats.org/drawingml/2006/table">
            <a:tbl>
              <a:tblPr/>
              <a:tblGrid>
                <a:gridCol w="1451077">
                  <a:extLst>
                    <a:ext uri="{9D8B030D-6E8A-4147-A177-3AD203B41FA5}">
                      <a16:colId xmlns:a16="http://schemas.microsoft.com/office/drawing/2014/main" val="2231521845"/>
                    </a:ext>
                  </a:extLst>
                </a:gridCol>
                <a:gridCol w="1451077">
                  <a:extLst>
                    <a:ext uri="{9D8B030D-6E8A-4147-A177-3AD203B41FA5}">
                      <a16:colId xmlns:a16="http://schemas.microsoft.com/office/drawing/2014/main" val="1367164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366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Raw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원본 보관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974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Processed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정제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표준화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238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Curated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통합 분석</a:t>
                      </a:r>
                      <a:r>
                        <a:rPr lang="en-US" altLang="ko-KR" sz="1000"/>
                        <a:t>/</a:t>
                      </a:r>
                      <a:r>
                        <a:rPr lang="en-US" sz="1000"/>
                        <a:t>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632357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6737F165-B842-2943-9C72-0F73978E3707}"/>
              </a:ext>
            </a:extLst>
          </p:cNvPr>
          <p:cNvSpPr txBox="1"/>
          <p:nvPr/>
        </p:nvSpPr>
        <p:spPr>
          <a:xfrm>
            <a:off x="6148327" y="2619571"/>
            <a:ext cx="445026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Processed = 정제된 원천 데이터(서비스별 개별 테이블)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Curated = 고객 중심으로 통합된 분석/AI 최종 데이터셋(Customer360)</a:t>
            </a:r>
          </a:p>
        </p:txBody>
      </p:sp>
      <p:sp>
        <p:nvSpPr>
          <p:cNvPr id="42" name="Google Shape;274;g3d6e2211149_2_228">
            <a:extLst>
              <a:ext uri="{FF2B5EF4-FFF2-40B4-BE49-F238E27FC236}">
                <a16:creationId xmlns:a16="http://schemas.microsoft.com/office/drawing/2014/main" id="{E17E6A05-5F2E-1549-BADE-D9FBAA3190ED}"/>
              </a:ext>
            </a:extLst>
          </p:cNvPr>
          <p:cNvSpPr txBox="1"/>
          <p:nvPr/>
        </p:nvSpPr>
        <p:spPr>
          <a:xfrm>
            <a:off x="499483" y="4329580"/>
            <a:ext cx="3021945" cy="20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r>
              <a:rPr lang="en-US" altLang="ko-KR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r>
              <a:rPr lang="en-US" altLang="ko-KR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r>
              <a:rPr lang="en-US" altLang="ko-KR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r>
              <a:rPr lang="en-US" altLang="ko-KR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r>
              <a:rPr lang="en-US" altLang="ko-KR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헬스케어</a:t>
            </a:r>
            <a:r>
              <a:rPr lang="en-US" altLang="ko-KR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웨어러블</a:t>
            </a:r>
            <a:endParaRPr lang="en-US" altLang="ko-KR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ko-KR" altLang="en-US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S3 Raw</a:t>
            </a: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 ETL</a:t>
            </a: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S3 Processed</a:t>
            </a: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 / Glue SQL</a:t>
            </a: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Customer360 Curated</a:t>
            </a: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AI / </a:t>
            </a: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추천 </a:t>
            </a:r>
            <a:r>
              <a:rPr lang="en-US" altLang="ko-KR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/ </a:t>
            </a: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210760-DEE2-0E49-80C7-9FC3E488FA61}"/>
              </a:ext>
            </a:extLst>
          </p:cNvPr>
          <p:cNvSpPr txBox="1"/>
          <p:nvPr/>
        </p:nvSpPr>
        <p:spPr>
          <a:xfrm>
            <a:off x="6311652" y="3844880"/>
            <a:ext cx="3394385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 raw/</a:t>
            </a:r>
          </a:p>
          <a:p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s3://lifesync-processed/</a:t>
            </a:r>
          </a:p>
          <a:p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s3://lifesync-curated/</a:t>
            </a:r>
          </a:p>
        </p:txBody>
      </p:sp>
      <p:sp>
        <p:nvSpPr>
          <p:cNvPr id="49" name="Google Shape;274;g3d6e2211149_2_228">
            <a:extLst>
              <a:ext uri="{FF2B5EF4-FFF2-40B4-BE49-F238E27FC236}">
                <a16:creationId xmlns:a16="http://schemas.microsoft.com/office/drawing/2014/main" id="{80E0C408-4C17-3840-9029-14EE93779D9F}"/>
              </a:ext>
            </a:extLst>
          </p:cNvPr>
          <p:cNvSpPr txBox="1"/>
          <p:nvPr/>
        </p:nvSpPr>
        <p:spPr>
          <a:xfrm>
            <a:off x="6271663" y="3509799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S3</a:t>
            </a:r>
            <a:r>
              <a:rPr lang="ko-KR" altLang="en-US" sz="1200" b="1">
                <a:solidFill>
                  <a:schemeClr val="dk1"/>
                </a:solidFill>
              </a:rPr>
              <a:t xml:space="preserve"> 폴더 구조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614B5FC-D2AF-F945-85C3-48CB0E2175DC}"/>
              </a:ext>
            </a:extLst>
          </p:cNvPr>
          <p:cNvSpPr txBox="1"/>
          <p:nvPr/>
        </p:nvSpPr>
        <p:spPr>
          <a:xfrm>
            <a:off x="343762" y="684332"/>
            <a:ext cx="8698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b="1" dirty="0"/>
              <a:t>Raw 적재 이후 핵심 운영은.  Glue ETL → 정제 → 통합 → Customer360 생성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DCB4EEA-DF40-F949-8B80-E72D152BDAB5}"/>
              </a:ext>
            </a:extLst>
          </p:cNvPr>
          <p:cNvSpPr txBox="1"/>
          <p:nvPr/>
        </p:nvSpPr>
        <p:spPr>
          <a:xfrm>
            <a:off x="6271663" y="5150538"/>
            <a:ext cx="32248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Raw Layer</a:t>
            </a:r>
          </a:p>
          <a:p>
            <a:r>
              <a:rPr lang="en-KR" sz="1000"/>
              <a:t>→ 원본 JSON</a:t>
            </a:r>
          </a:p>
          <a:p>
            <a:endParaRPr lang="en-KR" sz="1000"/>
          </a:p>
          <a:p>
            <a:r>
              <a:rPr lang="en-KR" sz="1000"/>
              <a:t>Processed Layer</a:t>
            </a:r>
          </a:p>
          <a:p>
            <a:r>
              <a:rPr lang="en-KR" sz="1000"/>
              <a:t>→ 정제 / 동의반영 / 표준화</a:t>
            </a:r>
          </a:p>
          <a:p>
            <a:endParaRPr lang="en-KR" sz="1000"/>
          </a:p>
          <a:p>
            <a:r>
              <a:rPr lang="en-KR" sz="1000"/>
              <a:t>Curated Layer</a:t>
            </a:r>
          </a:p>
          <a:p>
            <a:r>
              <a:rPr lang="en-KR" sz="1000"/>
              <a:t>→ 서비스 즉시 사용 가능한 고객 통합 데이터셋</a:t>
            </a:r>
          </a:p>
        </p:txBody>
      </p:sp>
      <p:sp>
        <p:nvSpPr>
          <p:cNvPr id="108" name="Google Shape;274;g3d6e2211149_2_228">
            <a:extLst>
              <a:ext uri="{FF2B5EF4-FFF2-40B4-BE49-F238E27FC236}">
                <a16:creationId xmlns:a16="http://schemas.microsoft.com/office/drawing/2014/main" id="{6B1161DF-6CB3-5145-A55E-EFC711AC6F17}"/>
              </a:ext>
            </a:extLst>
          </p:cNvPr>
          <p:cNvSpPr txBox="1"/>
          <p:nvPr/>
        </p:nvSpPr>
        <p:spPr>
          <a:xfrm>
            <a:off x="499483" y="381359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 xml:space="preserve">데이터 정형화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35BF2D59-EDF2-7F4B-BCC9-738D2CC98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543647"/>
              </p:ext>
            </p:extLst>
          </p:nvPr>
        </p:nvGraphicFramePr>
        <p:xfrm>
          <a:off x="9556682" y="767671"/>
          <a:ext cx="2484884" cy="975360"/>
        </p:xfrm>
        <a:graphic>
          <a:graphicData uri="http://schemas.openxmlformats.org/drawingml/2006/table">
            <a:tbl>
              <a:tblPr/>
              <a:tblGrid>
                <a:gridCol w="656097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828787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Glue 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255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Consent Snapshot export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548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02:00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EMR Customer360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915248"/>
                  </a:ext>
                </a:extLst>
              </a:tr>
            </a:tbl>
          </a:graphicData>
        </a:graphic>
      </p:graphicFrame>
      <p:sp>
        <p:nvSpPr>
          <p:cNvPr id="50" name="Google Shape;262;g3d6e2211149_2_228">
            <a:extLst>
              <a:ext uri="{FF2B5EF4-FFF2-40B4-BE49-F238E27FC236}">
                <a16:creationId xmlns:a16="http://schemas.microsoft.com/office/drawing/2014/main" id="{2186051B-576E-CE4F-8FBE-069CBE6FEDB5}"/>
              </a:ext>
            </a:extLst>
          </p:cNvPr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51" name="Google Shape;263;g3d6e2211149_2_228" descr="VPC group icon. ">
            <a:extLst>
              <a:ext uri="{FF2B5EF4-FFF2-40B4-BE49-F238E27FC236}">
                <a16:creationId xmlns:a16="http://schemas.microsoft.com/office/drawing/2014/main" id="{8010B191-DD32-614B-A00A-CE9B87ACD8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64;g3d6e2211149_2_228">
            <a:extLst>
              <a:ext uri="{FF2B5EF4-FFF2-40B4-BE49-F238E27FC236}">
                <a16:creationId xmlns:a16="http://schemas.microsoft.com/office/drawing/2014/main" id="{3573CE21-283B-B549-BB4C-C930F766A032}"/>
              </a:ext>
            </a:extLst>
          </p:cNvPr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53" name="Google Shape;265;g3d6e2211149_2_228" descr="Private subnet group icon. ">
            <a:extLst>
              <a:ext uri="{FF2B5EF4-FFF2-40B4-BE49-F238E27FC236}">
                <a16:creationId xmlns:a16="http://schemas.microsoft.com/office/drawing/2014/main" id="{4E9869DD-BF2D-8742-A802-1FD075C2D78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5FEB2C89-1D0B-924A-90DF-8B7DB0185D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74;g3d6e2211149_2_228">
            <a:extLst>
              <a:ext uri="{FF2B5EF4-FFF2-40B4-BE49-F238E27FC236}">
                <a16:creationId xmlns:a16="http://schemas.microsoft.com/office/drawing/2014/main" id="{ADEFC9C0-DDC7-F148-B8C0-8F09BB6CF261}"/>
              </a:ext>
            </a:extLst>
          </p:cNvPr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288;g3d6e2211149_2_228">
            <a:extLst>
              <a:ext uri="{FF2B5EF4-FFF2-40B4-BE49-F238E27FC236}">
                <a16:creationId xmlns:a16="http://schemas.microsoft.com/office/drawing/2014/main" id="{4EF1E9DF-A2A5-6044-B643-5A3A4EB6171A}"/>
              </a:ext>
            </a:extLst>
          </p:cNvPr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57" name="Google Shape;289;g3d6e2211149_2_228" descr="Private subnet group icon. ">
            <a:extLst>
              <a:ext uri="{FF2B5EF4-FFF2-40B4-BE49-F238E27FC236}">
                <a16:creationId xmlns:a16="http://schemas.microsoft.com/office/drawing/2014/main" id="{FC9B03E0-1FF7-F44A-B520-D809948533A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290;g3d6e2211149_2_228" descr="AWS Glue service icon.">
            <a:extLst>
              <a:ext uri="{FF2B5EF4-FFF2-40B4-BE49-F238E27FC236}">
                <a16:creationId xmlns:a16="http://schemas.microsoft.com/office/drawing/2014/main" id="{541F5729-F7AD-1141-AD9D-C66C0733300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291;g3d6e2211149_2_228">
            <a:extLst>
              <a:ext uri="{FF2B5EF4-FFF2-40B4-BE49-F238E27FC236}">
                <a16:creationId xmlns:a16="http://schemas.microsoft.com/office/drawing/2014/main" id="{0FE85A6B-DAA0-A54F-9838-12D14802A8BD}"/>
              </a:ext>
            </a:extLst>
          </p:cNvPr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60" name="Google Shape;292;g3d6e2211149_2_228" descr="Amazon EMR service icon.">
            <a:extLst>
              <a:ext uri="{FF2B5EF4-FFF2-40B4-BE49-F238E27FC236}">
                <a16:creationId xmlns:a16="http://schemas.microsoft.com/office/drawing/2014/main" id="{81FB1994-0BEE-3043-9042-A0B71F5C9B4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294;g3d6e2211149_2_228" descr="AWS Lambda service icon.">
            <a:extLst>
              <a:ext uri="{FF2B5EF4-FFF2-40B4-BE49-F238E27FC236}">
                <a16:creationId xmlns:a16="http://schemas.microsoft.com/office/drawing/2014/main" id="{B51CC285-BFDD-204D-B1CF-30B9534F6A0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295;g3d6e2211149_2_228">
            <a:extLst>
              <a:ext uri="{FF2B5EF4-FFF2-40B4-BE49-F238E27FC236}">
                <a16:creationId xmlns:a16="http://schemas.microsoft.com/office/drawing/2014/main" id="{A59D785B-2FB1-7E46-8850-5D76DF0AC37E}"/>
              </a:ext>
            </a:extLst>
          </p:cNvPr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63" name="Google Shape;361;g3d6e2211149_2_228">
            <a:extLst>
              <a:ext uri="{FF2B5EF4-FFF2-40B4-BE49-F238E27FC236}">
                <a16:creationId xmlns:a16="http://schemas.microsoft.com/office/drawing/2014/main" id="{A3B8D79C-4CCC-F249-9146-E9CDB87743D0}"/>
              </a:ext>
            </a:extLst>
          </p:cNvPr>
          <p:cNvCxnSpPr>
            <a:cxnSpLocks/>
            <a:stCxn id="116" idx="2"/>
            <a:endCxn id="114" idx="1"/>
          </p:cNvCxnSpPr>
          <p:nvPr/>
        </p:nvCxnSpPr>
        <p:spPr>
          <a:xfrm>
            <a:off x="620556" y="1616494"/>
            <a:ext cx="716180" cy="13832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64" name="Google Shape;364;g3d6e2211149_2_228">
            <a:extLst>
              <a:ext uri="{FF2B5EF4-FFF2-40B4-BE49-F238E27FC236}">
                <a16:creationId xmlns:a16="http://schemas.microsoft.com/office/drawing/2014/main" id="{DE4A0A2A-1179-4F40-AAE4-CC538704F530}"/>
              </a:ext>
            </a:extLst>
          </p:cNvPr>
          <p:cNvCxnSpPr>
            <a:cxnSpLocks/>
            <a:stCxn id="61" idx="0"/>
            <a:endCxn id="54" idx="2"/>
          </p:cNvCxnSpPr>
          <p:nvPr/>
        </p:nvCxnSpPr>
        <p:spPr>
          <a:xfrm flipV="1">
            <a:off x="2423764" y="1799908"/>
            <a:ext cx="414562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65" name="Google Shape;365;g3d6e2211149_2_228">
            <a:extLst>
              <a:ext uri="{FF2B5EF4-FFF2-40B4-BE49-F238E27FC236}">
                <a16:creationId xmlns:a16="http://schemas.microsoft.com/office/drawing/2014/main" id="{D89625B9-FDE6-4946-A5EC-A8C6A1D9ADA1}"/>
              </a:ext>
            </a:extLst>
          </p:cNvPr>
          <p:cNvCxnSpPr>
            <a:endCxn id="58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66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0579AFE6-E850-8C41-B18D-E5655C905646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371;g3d6e2211149_2_228">
            <a:extLst>
              <a:ext uri="{FF2B5EF4-FFF2-40B4-BE49-F238E27FC236}">
                <a16:creationId xmlns:a16="http://schemas.microsoft.com/office/drawing/2014/main" id="{AEB981CF-E4A2-A246-8AE1-6FBCA8907F6B}"/>
              </a:ext>
            </a:extLst>
          </p:cNvPr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68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D19FB229-20D4-7A4F-BE91-84036241820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375;g3d6e2211149_2_228">
            <a:extLst>
              <a:ext uri="{FF2B5EF4-FFF2-40B4-BE49-F238E27FC236}">
                <a16:creationId xmlns:a16="http://schemas.microsoft.com/office/drawing/2014/main" id="{E6465FFC-75E7-0D48-82E8-FCFE4705333A}"/>
              </a:ext>
            </a:extLst>
          </p:cNvPr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" name="Google Shape;376;g3d6e2211149_2_228">
            <a:extLst>
              <a:ext uri="{FF2B5EF4-FFF2-40B4-BE49-F238E27FC236}">
                <a16:creationId xmlns:a16="http://schemas.microsoft.com/office/drawing/2014/main" id="{F2B8EE4C-D416-2F4F-BA66-1E5910B60982}"/>
              </a:ext>
            </a:extLst>
          </p:cNvPr>
          <p:cNvCxnSpPr>
            <a:stCxn id="68" idx="3"/>
            <a:endCxn id="60" idx="0"/>
          </p:cNvCxnSpPr>
          <p:nvPr/>
        </p:nvCxnSpPr>
        <p:spPr>
          <a:xfrm>
            <a:off x="3801357" y="1584740"/>
            <a:ext cx="1109400" cy="1176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83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5D7F46BC-01D5-EA44-96EE-1CB3C5ED20F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379;g3d6e2211149_2_228">
            <a:extLst>
              <a:ext uri="{FF2B5EF4-FFF2-40B4-BE49-F238E27FC236}">
                <a16:creationId xmlns:a16="http://schemas.microsoft.com/office/drawing/2014/main" id="{2B341F5C-7B75-9E4C-8292-C5A36E03CA42}"/>
              </a:ext>
            </a:extLst>
          </p:cNvPr>
          <p:cNvCxnSpPr>
            <a:cxnSpLocks/>
            <a:stCxn id="83" idx="2"/>
            <a:endCxn id="60" idx="0"/>
          </p:cNvCxnSpPr>
          <p:nvPr/>
        </p:nvCxnSpPr>
        <p:spPr>
          <a:xfrm>
            <a:off x="4642304" y="1776477"/>
            <a:ext cx="268453" cy="98468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09" name="Google Shape;380;g3d6e2211149_2_228">
            <a:extLst>
              <a:ext uri="{FF2B5EF4-FFF2-40B4-BE49-F238E27FC236}">
                <a16:creationId xmlns:a16="http://schemas.microsoft.com/office/drawing/2014/main" id="{A9F9EB9B-631D-534E-B033-9D09A5DB0786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3041333" y="1787747"/>
            <a:ext cx="1059668" cy="9736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110" name="Google Shape;303;g3d6896b4338_0_0">
            <a:extLst>
              <a:ext uri="{FF2B5EF4-FFF2-40B4-BE49-F238E27FC236}">
                <a16:creationId xmlns:a16="http://schemas.microsoft.com/office/drawing/2014/main" id="{9C874417-B9E8-3D44-B3AF-D0CB9A3C71CD}"/>
              </a:ext>
            </a:extLst>
          </p:cNvPr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303;g3d6896b4338_0_0">
            <a:extLst>
              <a:ext uri="{FF2B5EF4-FFF2-40B4-BE49-F238E27FC236}">
                <a16:creationId xmlns:a16="http://schemas.microsoft.com/office/drawing/2014/main" id="{C5BC3168-A6FC-5B41-8C00-A08AB864A07C}"/>
              </a:ext>
            </a:extLst>
          </p:cNvPr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303;g3d6896b4338_0_0">
            <a:extLst>
              <a:ext uri="{FF2B5EF4-FFF2-40B4-BE49-F238E27FC236}">
                <a16:creationId xmlns:a16="http://schemas.microsoft.com/office/drawing/2014/main" id="{75AA7C63-A477-4E40-B82A-0BC6C3B4365E}"/>
              </a:ext>
            </a:extLst>
          </p:cNvPr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9C6F780D-E6CE-1941-A937-4E23DAB056D0}"/>
              </a:ext>
            </a:extLst>
          </p:cNvPr>
          <p:cNvCxnSpPr>
            <a:cxnSpLocks/>
            <a:stCxn id="66" idx="2"/>
            <a:endCxn id="61" idx="2"/>
          </p:cNvCxnSpPr>
          <p:nvPr/>
        </p:nvCxnSpPr>
        <p:spPr>
          <a:xfrm rot="16200000" flipH="1">
            <a:off x="1403846" y="2183689"/>
            <a:ext cx="199409" cy="1840428"/>
          </a:xfrm>
          <a:prstGeom prst="bentConnector3">
            <a:avLst>
              <a:gd name="adj1" fmla="val 21463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14" name="Google Shape;294;g3d6e2211149_2_228" descr="AWS Lambda service icon.">
            <a:extLst>
              <a:ext uri="{FF2B5EF4-FFF2-40B4-BE49-F238E27FC236}">
                <a16:creationId xmlns:a16="http://schemas.microsoft.com/office/drawing/2014/main" id="{B2B6EEB2-447C-FA4C-A9AE-654E3BF17F9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295;g3d6e2211149_2_228">
            <a:extLst>
              <a:ext uri="{FF2B5EF4-FFF2-40B4-BE49-F238E27FC236}">
                <a16:creationId xmlns:a16="http://schemas.microsoft.com/office/drawing/2014/main" id="{C06ADDD3-56E3-FD4A-A6AA-79B87D6228E1}"/>
              </a:ext>
            </a:extLst>
          </p:cNvPr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16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E65AE95-8F98-C54F-8A48-DEF44FCCD02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329;g3d6e2211149_2_228">
            <a:extLst>
              <a:ext uri="{FF2B5EF4-FFF2-40B4-BE49-F238E27FC236}">
                <a16:creationId xmlns:a16="http://schemas.microsoft.com/office/drawing/2014/main" id="{488673DC-7DA1-DE4A-ABE1-6C4671E58778}"/>
              </a:ext>
            </a:extLst>
          </p:cNvPr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361;g3d6e2211149_2_228">
            <a:extLst>
              <a:ext uri="{FF2B5EF4-FFF2-40B4-BE49-F238E27FC236}">
                <a16:creationId xmlns:a16="http://schemas.microsoft.com/office/drawing/2014/main" id="{C0343B3B-361F-B145-8D37-D24D3DC85B73}"/>
              </a:ext>
            </a:extLst>
          </p:cNvPr>
          <p:cNvCxnSpPr>
            <a:cxnSpLocks/>
            <a:endCxn id="114" idx="0"/>
          </p:cNvCxnSpPr>
          <p:nvPr/>
        </p:nvCxnSpPr>
        <p:spPr>
          <a:xfrm flipH="1">
            <a:off x="1540576" y="1700140"/>
            <a:ext cx="1136058" cy="10957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19" name="Google Shape;293;g3d6e2211149_2_228">
            <a:extLst>
              <a:ext uri="{FF2B5EF4-FFF2-40B4-BE49-F238E27FC236}">
                <a16:creationId xmlns:a16="http://schemas.microsoft.com/office/drawing/2014/main" id="{FA7C38E7-880C-1F45-AC9D-F82CFB42E910}"/>
              </a:ext>
            </a:extLst>
          </p:cNvPr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120" name="Google Shape;294;g3d6e2211149_2_228" descr="AWS Lambda service icon.">
            <a:extLst>
              <a:ext uri="{FF2B5EF4-FFF2-40B4-BE49-F238E27FC236}">
                <a16:creationId xmlns:a16="http://schemas.microsoft.com/office/drawing/2014/main" id="{98484355-BE54-A746-B066-75507FDA9F4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295;g3d6e2211149_2_228">
            <a:extLst>
              <a:ext uri="{FF2B5EF4-FFF2-40B4-BE49-F238E27FC236}">
                <a16:creationId xmlns:a16="http://schemas.microsoft.com/office/drawing/2014/main" id="{6E0071DF-7881-7940-9AE5-A79BE58CD532}"/>
              </a:ext>
            </a:extLst>
          </p:cNvPr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22" name="Google Shape;364;g3d6e2211149_2_228">
            <a:extLst>
              <a:ext uri="{FF2B5EF4-FFF2-40B4-BE49-F238E27FC236}">
                <a16:creationId xmlns:a16="http://schemas.microsoft.com/office/drawing/2014/main" id="{B060DA67-D48C-3548-9A8A-7FD2278DA4F5}"/>
              </a:ext>
            </a:extLst>
          </p:cNvPr>
          <p:cNvCxnSpPr>
            <a:cxnSpLocks/>
            <a:stCxn id="120" idx="0"/>
            <a:endCxn id="54" idx="2"/>
          </p:cNvCxnSpPr>
          <p:nvPr/>
        </p:nvCxnSpPr>
        <p:spPr>
          <a:xfrm flipH="1" flipV="1">
            <a:off x="2838326" y="1799908"/>
            <a:ext cx="511876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23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36C91B9-46AA-8A42-9028-1506192ECDD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302;g3d6e2211149_2_228">
            <a:extLst>
              <a:ext uri="{FF2B5EF4-FFF2-40B4-BE49-F238E27FC236}">
                <a16:creationId xmlns:a16="http://schemas.microsoft.com/office/drawing/2014/main" id="{0C3EB88F-717C-5F45-A2C5-6ECB228775BE}"/>
              </a:ext>
            </a:extLst>
          </p:cNvPr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</a:t>
            </a:r>
            <a:r>
              <a:rPr lang="en-US" sz="900">
                <a:solidFill>
                  <a:schemeClr val="dk1"/>
                </a:solidFill>
              </a:rPr>
              <a:t>MySQL)</a:t>
            </a:r>
            <a:endParaRPr/>
          </a:p>
        </p:txBody>
      </p:sp>
      <p:cxnSp>
        <p:nvCxnSpPr>
          <p:cNvPr id="125" name="Google Shape;364;g3d6e2211149_2_228">
            <a:extLst>
              <a:ext uri="{FF2B5EF4-FFF2-40B4-BE49-F238E27FC236}">
                <a16:creationId xmlns:a16="http://schemas.microsoft.com/office/drawing/2014/main" id="{03DF87F3-C9F5-464A-B78A-E708BD74EA85}"/>
              </a:ext>
            </a:extLst>
          </p:cNvPr>
          <p:cNvCxnSpPr>
            <a:cxnSpLocks/>
            <a:stCxn id="123" idx="1"/>
            <a:endCxn id="120" idx="2"/>
          </p:cNvCxnSpPr>
          <p:nvPr/>
        </p:nvCxnSpPr>
        <p:spPr>
          <a:xfrm flipH="1" flipV="1">
            <a:off x="3350202" y="3203608"/>
            <a:ext cx="551911" cy="3773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47061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 - Raw)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274;g3d6e2211149_2_228">
            <a:extLst>
              <a:ext uri="{FF2B5EF4-FFF2-40B4-BE49-F238E27FC236}">
                <a16:creationId xmlns:a16="http://schemas.microsoft.com/office/drawing/2014/main" id="{B4E53AC0-AB2F-9847-B2E4-FAE46E04E9BF}"/>
              </a:ext>
            </a:extLst>
          </p:cNvPr>
          <p:cNvSpPr txBox="1"/>
          <p:nvPr/>
        </p:nvSpPr>
        <p:spPr>
          <a:xfrm>
            <a:off x="460697" y="3820622"/>
            <a:ext cx="3021945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Raw </a:t>
            </a:r>
            <a:r>
              <a:rPr lang="ko-KR" alt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구조 </a:t>
            </a:r>
            <a:r>
              <a:rPr lang="en-US" alt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ko-KR" alt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Genearator,</a:t>
            </a:r>
            <a:r>
              <a:rPr lang="ko-KR" alt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Render</a:t>
            </a:r>
            <a:r>
              <a:rPr lang="ko-KR" alt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결과물</a:t>
            </a:r>
            <a:endParaRPr lang="en-US" altLang="ko-KR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</a:rPr>
              <a:t xml:space="preserve">원본 </a:t>
            </a:r>
            <a:r>
              <a:rPr lang="en-US" altLang="ko-KR" sz="1000">
                <a:solidFill>
                  <a:schemeClr val="dk1"/>
                </a:solidFill>
              </a:rPr>
              <a:t>JSON</a:t>
            </a:r>
            <a:r>
              <a:rPr lang="ko-KR" altLang="en-US" sz="1000">
                <a:solidFill>
                  <a:schemeClr val="dk1"/>
                </a:solidFill>
              </a:rPr>
              <a:t xml:space="preserve"> 그대로 </a:t>
            </a:r>
            <a:r>
              <a:rPr lang="en-US" altLang="ko-KR" sz="1000">
                <a:solidFill>
                  <a:schemeClr val="dk1"/>
                </a:solidFill>
              </a:rPr>
              <a:t>recodrs</a:t>
            </a:r>
            <a:r>
              <a:rPr lang="ko-KR" altLang="en-US" sz="1000">
                <a:solidFill>
                  <a:schemeClr val="dk1"/>
                </a:solidFill>
              </a:rPr>
              <a:t xml:space="preserve"> 배열 포함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303;g3d6896b4338_0_0">
            <a:extLst>
              <a:ext uri="{FF2B5EF4-FFF2-40B4-BE49-F238E27FC236}">
                <a16:creationId xmlns:a16="http://schemas.microsoft.com/office/drawing/2014/main" id="{AEFB0C6C-6D7D-3F4E-BAEE-01F05BA6CCAD}"/>
              </a:ext>
            </a:extLst>
          </p:cNvPr>
          <p:cNvSpPr/>
          <p:nvPr/>
        </p:nvSpPr>
        <p:spPr>
          <a:xfrm>
            <a:off x="206663" y="385277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59ABCC-9E59-184B-B110-1D6C2EE0DBAC}"/>
              </a:ext>
            </a:extLst>
          </p:cNvPr>
          <p:cNvSpPr txBox="1"/>
          <p:nvPr/>
        </p:nvSpPr>
        <p:spPr>
          <a:xfrm>
            <a:off x="500684" y="4325099"/>
            <a:ext cx="4022315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s3://lifesync-raw/bank/dt=2026-04-24/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s3://lifesync-raw/card/dt=2026-04-24/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s3://lifesync-raw/wearable/dt=2026-04-24/hr=07/</a:t>
            </a:r>
          </a:p>
          <a:p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wearable/dt=2025-09-01/hour=10/part-001.json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wearable/dt=2025-09-01/hour=11/part-002.json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EA3EA3-A96D-E843-8228-1FA5D71AF91D}"/>
              </a:ext>
            </a:extLst>
          </p:cNvPr>
          <p:cNvSpPr txBox="1"/>
          <p:nvPr/>
        </p:nvSpPr>
        <p:spPr>
          <a:xfrm>
            <a:off x="6938590" y="2447898"/>
            <a:ext cx="4022315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s3://lifesync-raw/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├ bank/dt=2025-09-01/bank_20250901.json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├ card/dt=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├ consent</a:t>
            </a:r>
          </a:p>
        </p:txBody>
      </p:sp>
      <p:sp>
        <p:nvSpPr>
          <p:cNvPr id="51" name="Google Shape;274;g3d6e2211149_2_228">
            <a:extLst>
              <a:ext uri="{FF2B5EF4-FFF2-40B4-BE49-F238E27FC236}">
                <a16:creationId xmlns:a16="http://schemas.microsoft.com/office/drawing/2014/main" id="{FB214C94-ECCA-654C-AF62-0EA5C8B9EEC8}"/>
              </a:ext>
            </a:extLst>
          </p:cNvPr>
          <p:cNvSpPr txBox="1"/>
          <p:nvPr/>
        </p:nvSpPr>
        <p:spPr>
          <a:xfrm>
            <a:off x="6898603" y="2207290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</a:rPr>
              <a:t>S3</a:t>
            </a:r>
            <a:r>
              <a:rPr lang="ko-KR" altLang="en-US" sz="1000" b="1">
                <a:solidFill>
                  <a:schemeClr val="dk1"/>
                </a:solidFill>
              </a:rPr>
              <a:t xml:space="preserve"> 폴더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DE920BAC-B11C-A149-9AAC-1CCCBA357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543647"/>
              </p:ext>
            </p:extLst>
          </p:nvPr>
        </p:nvGraphicFramePr>
        <p:xfrm>
          <a:off x="9556682" y="767671"/>
          <a:ext cx="2484884" cy="975360"/>
        </p:xfrm>
        <a:graphic>
          <a:graphicData uri="http://schemas.openxmlformats.org/drawingml/2006/table">
            <a:tbl>
              <a:tblPr/>
              <a:tblGrid>
                <a:gridCol w="656097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828787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Glue 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255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Consent Snapshot export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548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02:00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EMR Customer360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915248"/>
                  </a:ext>
                </a:extLst>
              </a:tr>
            </a:tbl>
          </a:graphicData>
        </a:graphic>
      </p:graphicFrame>
      <p:sp>
        <p:nvSpPr>
          <p:cNvPr id="45" name="Google Shape;262;g3d6e2211149_2_228">
            <a:extLst>
              <a:ext uri="{FF2B5EF4-FFF2-40B4-BE49-F238E27FC236}">
                <a16:creationId xmlns:a16="http://schemas.microsoft.com/office/drawing/2014/main" id="{51462301-BED1-F740-A09A-2814BAA27958}"/>
              </a:ext>
            </a:extLst>
          </p:cNvPr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46" name="Google Shape;263;g3d6e2211149_2_228" descr="VPC group icon. ">
            <a:extLst>
              <a:ext uri="{FF2B5EF4-FFF2-40B4-BE49-F238E27FC236}">
                <a16:creationId xmlns:a16="http://schemas.microsoft.com/office/drawing/2014/main" id="{20C3CFCC-922B-5640-A5F6-B5D42FCEFC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264;g3d6e2211149_2_228">
            <a:extLst>
              <a:ext uri="{FF2B5EF4-FFF2-40B4-BE49-F238E27FC236}">
                <a16:creationId xmlns:a16="http://schemas.microsoft.com/office/drawing/2014/main" id="{1C656A29-3502-214D-9159-6D774D4E53DF}"/>
              </a:ext>
            </a:extLst>
          </p:cNvPr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48" name="Google Shape;265;g3d6e2211149_2_228" descr="Private subnet group icon. ">
            <a:extLst>
              <a:ext uri="{FF2B5EF4-FFF2-40B4-BE49-F238E27FC236}">
                <a16:creationId xmlns:a16="http://schemas.microsoft.com/office/drawing/2014/main" id="{E08B90DF-3C22-AE4D-A36A-77CCEEE6D26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3E74545D-4F30-4F41-A871-123B8E6C215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AB8F5DC7-F8B2-BC41-8689-9C552D090751}"/>
              </a:ext>
            </a:extLst>
          </p:cNvPr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88;g3d6e2211149_2_228">
            <a:extLst>
              <a:ext uri="{FF2B5EF4-FFF2-40B4-BE49-F238E27FC236}">
                <a16:creationId xmlns:a16="http://schemas.microsoft.com/office/drawing/2014/main" id="{D3AACA09-E7B9-384E-88CB-1CA61F001A89}"/>
              </a:ext>
            </a:extLst>
          </p:cNvPr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54" name="Google Shape;289;g3d6e2211149_2_228" descr="Private subnet group icon. ">
            <a:extLst>
              <a:ext uri="{FF2B5EF4-FFF2-40B4-BE49-F238E27FC236}">
                <a16:creationId xmlns:a16="http://schemas.microsoft.com/office/drawing/2014/main" id="{465168E3-0C81-E842-8B3A-51A81AA5D6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290;g3d6e2211149_2_228" descr="AWS Glue service icon.">
            <a:extLst>
              <a:ext uri="{FF2B5EF4-FFF2-40B4-BE49-F238E27FC236}">
                <a16:creationId xmlns:a16="http://schemas.microsoft.com/office/drawing/2014/main" id="{9695CCA9-E65C-B945-8DFA-0F61566DFB1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291;g3d6e2211149_2_228">
            <a:extLst>
              <a:ext uri="{FF2B5EF4-FFF2-40B4-BE49-F238E27FC236}">
                <a16:creationId xmlns:a16="http://schemas.microsoft.com/office/drawing/2014/main" id="{BE66558D-8114-9B4D-92B9-4BB1CD79EDD2}"/>
              </a:ext>
            </a:extLst>
          </p:cNvPr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57" name="Google Shape;292;g3d6e2211149_2_228" descr="Amazon EMR service icon.">
            <a:extLst>
              <a:ext uri="{FF2B5EF4-FFF2-40B4-BE49-F238E27FC236}">
                <a16:creationId xmlns:a16="http://schemas.microsoft.com/office/drawing/2014/main" id="{EA006A5F-22A4-4243-B40B-1478CDF643B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294;g3d6e2211149_2_228" descr="AWS Lambda service icon.">
            <a:extLst>
              <a:ext uri="{FF2B5EF4-FFF2-40B4-BE49-F238E27FC236}">
                <a16:creationId xmlns:a16="http://schemas.microsoft.com/office/drawing/2014/main" id="{7DE3E92F-4F27-7A41-9087-E08E71E9B42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295;g3d6e2211149_2_228">
            <a:extLst>
              <a:ext uri="{FF2B5EF4-FFF2-40B4-BE49-F238E27FC236}">
                <a16:creationId xmlns:a16="http://schemas.microsoft.com/office/drawing/2014/main" id="{DBBD7AF4-552E-C947-94BC-ED8D54B35CF1}"/>
              </a:ext>
            </a:extLst>
          </p:cNvPr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60" name="Google Shape;361;g3d6e2211149_2_228">
            <a:extLst>
              <a:ext uri="{FF2B5EF4-FFF2-40B4-BE49-F238E27FC236}">
                <a16:creationId xmlns:a16="http://schemas.microsoft.com/office/drawing/2014/main" id="{5EA7CD67-D2CD-2C47-87C5-B137C46DB708}"/>
              </a:ext>
            </a:extLst>
          </p:cNvPr>
          <p:cNvCxnSpPr>
            <a:cxnSpLocks/>
            <a:stCxn id="77" idx="2"/>
            <a:endCxn id="75" idx="1"/>
          </p:cNvCxnSpPr>
          <p:nvPr/>
        </p:nvCxnSpPr>
        <p:spPr>
          <a:xfrm>
            <a:off x="620556" y="1616494"/>
            <a:ext cx="716180" cy="13832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61" name="Google Shape;364;g3d6e2211149_2_228">
            <a:extLst>
              <a:ext uri="{FF2B5EF4-FFF2-40B4-BE49-F238E27FC236}">
                <a16:creationId xmlns:a16="http://schemas.microsoft.com/office/drawing/2014/main" id="{CE76BA63-A221-6045-ABF7-DF4826B03930}"/>
              </a:ext>
            </a:extLst>
          </p:cNvPr>
          <p:cNvCxnSpPr>
            <a:cxnSpLocks/>
            <a:stCxn id="58" idx="0"/>
            <a:endCxn id="49" idx="2"/>
          </p:cNvCxnSpPr>
          <p:nvPr/>
        </p:nvCxnSpPr>
        <p:spPr>
          <a:xfrm flipV="1">
            <a:off x="2423764" y="1799908"/>
            <a:ext cx="414562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62" name="Google Shape;365;g3d6e2211149_2_228">
            <a:extLst>
              <a:ext uri="{FF2B5EF4-FFF2-40B4-BE49-F238E27FC236}">
                <a16:creationId xmlns:a16="http://schemas.microsoft.com/office/drawing/2014/main" id="{A18476A0-8866-DA47-9D9D-B433DD18C177}"/>
              </a:ext>
            </a:extLst>
          </p:cNvPr>
          <p:cNvCxnSpPr>
            <a:endCxn id="55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63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648CAC9D-AF12-7541-B874-A0034D86BEB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371;g3d6e2211149_2_228">
            <a:extLst>
              <a:ext uri="{FF2B5EF4-FFF2-40B4-BE49-F238E27FC236}">
                <a16:creationId xmlns:a16="http://schemas.microsoft.com/office/drawing/2014/main" id="{90EC0F80-A261-534F-B4E8-60749BF34A76}"/>
              </a:ext>
            </a:extLst>
          </p:cNvPr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65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CBFB0D2C-BA0A-BF40-9FA4-A33CFD4CE93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375;g3d6e2211149_2_228">
            <a:extLst>
              <a:ext uri="{FF2B5EF4-FFF2-40B4-BE49-F238E27FC236}">
                <a16:creationId xmlns:a16="http://schemas.microsoft.com/office/drawing/2014/main" id="{977B1ADE-A8A3-E44F-9B90-68924A407254}"/>
              </a:ext>
            </a:extLst>
          </p:cNvPr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376;g3d6e2211149_2_228">
            <a:extLst>
              <a:ext uri="{FF2B5EF4-FFF2-40B4-BE49-F238E27FC236}">
                <a16:creationId xmlns:a16="http://schemas.microsoft.com/office/drawing/2014/main" id="{E6ACA3AB-3BCF-8B4C-9808-4A6FE6C1B62E}"/>
              </a:ext>
            </a:extLst>
          </p:cNvPr>
          <p:cNvCxnSpPr>
            <a:stCxn id="65" idx="3"/>
            <a:endCxn id="57" idx="0"/>
          </p:cNvCxnSpPr>
          <p:nvPr/>
        </p:nvCxnSpPr>
        <p:spPr>
          <a:xfrm>
            <a:off x="3801357" y="1584740"/>
            <a:ext cx="1109400" cy="1176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8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54DD2503-AD84-7C41-AB08-B31994CE5D4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379;g3d6e2211149_2_228">
            <a:extLst>
              <a:ext uri="{FF2B5EF4-FFF2-40B4-BE49-F238E27FC236}">
                <a16:creationId xmlns:a16="http://schemas.microsoft.com/office/drawing/2014/main" id="{0AA5364F-2DFA-594D-BA87-59F290FD3B39}"/>
              </a:ext>
            </a:extLst>
          </p:cNvPr>
          <p:cNvCxnSpPr>
            <a:cxnSpLocks/>
            <a:stCxn id="68" idx="2"/>
            <a:endCxn id="57" idx="0"/>
          </p:cNvCxnSpPr>
          <p:nvPr/>
        </p:nvCxnSpPr>
        <p:spPr>
          <a:xfrm>
            <a:off x="4642304" y="1776477"/>
            <a:ext cx="268453" cy="98468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70" name="Google Shape;380;g3d6e2211149_2_228">
            <a:extLst>
              <a:ext uri="{FF2B5EF4-FFF2-40B4-BE49-F238E27FC236}">
                <a16:creationId xmlns:a16="http://schemas.microsoft.com/office/drawing/2014/main" id="{1C927D64-3A48-AF4A-885F-C3055C36CC4F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3041333" y="1787747"/>
            <a:ext cx="1059668" cy="9736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71" name="Google Shape;303;g3d6896b4338_0_0">
            <a:extLst>
              <a:ext uri="{FF2B5EF4-FFF2-40B4-BE49-F238E27FC236}">
                <a16:creationId xmlns:a16="http://schemas.microsoft.com/office/drawing/2014/main" id="{3CB802DE-D5FF-0F4A-BC4B-D6BD5F6761C5}"/>
              </a:ext>
            </a:extLst>
          </p:cNvPr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303;g3d6896b4338_0_0">
            <a:extLst>
              <a:ext uri="{FF2B5EF4-FFF2-40B4-BE49-F238E27FC236}">
                <a16:creationId xmlns:a16="http://schemas.microsoft.com/office/drawing/2014/main" id="{6313C4B4-8894-C44C-A642-BAA834C43C86}"/>
              </a:ext>
            </a:extLst>
          </p:cNvPr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303;g3d6896b4338_0_0">
            <a:extLst>
              <a:ext uri="{FF2B5EF4-FFF2-40B4-BE49-F238E27FC236}">
                <a16:creationId xmlns:a16="http://schemas.microsoft.com/office/drawing/2014/main" id="{F5DA1E0F-C3D0-6940-A01F-80AB43FEED25}"/>
              </a:ext>
            </a:extLst>
          </p:cNvPr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BAFAB61E-BD0E-A640-93EA-5A4557417C5C}"/>
              </a:ext>
            </a:extLst>
          </p:cNvPr>
          <p:cNvCxnSpPr>
            <a:cxnSpLocks/>
            <a:stCxn id="63" idx="2"/>
            <a:endCxn id="58" idx="2"/>
          </p:cNvCxnSpPr>
          <p:nvPr/>
        </p:nvCxnSpPr>
        <p:spPr>
          <a:xfrm rot="16200000" flipH="1">
            <a:off x="1403846" y="2183689"/>
            <a:ext cx="199409" cy="1840428"/>
          </a:xfrm>
          <a:prstGeom prst="bentConnector3">
            <a:avLst>
              <a:gd name="adj1" fmla="val 21463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75" name="Google Shape;294;g3d6e2211149_2_228" descr="AWS Lambda service icon.">
            <a:extLst>
              <a:ext uri="{FF2B5EF4-FFF2-40B4-BE49-F238E27FC236}">
                <a16:creationId xmlns:a16="http://schemas.microsoft.com/office/drawing/2014/main" id="{E657894B-1902-6E46-8538-65922E7C6FE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295;g3d6e2211149_2_228">
            <a:extLst>
              <a:ext uri="{FF2B5EF4-FFF2-40B4-BE49-F238E27FC236}">
                <a16:creationId xmlns:a16="http://schemas.microsoft.com/office/drawing/2014/main" id="{1E89C429-5D49-C94B-A8B8-38D3FF6A4310}"/>
              </a:ext>
            </a:extLst>
          </p:cNvPr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7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11E22BA-F3A5-4441-9502-E3B9F54D4B62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329;g3d6e2211149_2_228">
            <a:extLst>
              <a:ext uri="{FF2B5EF4-FFF2-40B4-BE49-F238E27FC236}">
                <a16:creationId xmlns:a16="http://schemas.microsoft.com/office/drawing/2014/main" id="{999E74BB-6251-CF44-B6DE-A72EB2BC0126}"/>
              </a:ext>
            </a:extLst>
          </p:cNvPr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361;g3d6e2211149_2_228">
            <a:extLst>
              <a:ext uri="{FF2B5EF4-FFF2-40B4-BE49-F238E27FC236}">
                <a16:creationId xmlns:a16="http://schemas.microsoft.com/office/drawing/2014/main" id="{E2314748-B786-A446-B86D-87A0D3EF0F91}"/>
              </a:ext>
            </a:extLst>
          </p:cNvPr>
          <p:cNvCxnSpPr>
            <a:cxnSpLocks/>
            <a:endCxn id="75" idx="0"/>
          </p:cNvCxnSpPr>
          <p:nvPr/>
        </p:nvCxnSpPr>
        <p:spPr>
          <a:xfrm flipH="1">
            <a:off x="1540576" y="1700140"/>
            <a:ext cx="1136058" cy="10957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13" name="Google Shape;293;g3d6e2211149_2_228">
            <a:extLst>
              <a:ext uri="{FF2B5EF4-FFF2-40B4-BE49-F238E27FC236}">
                <a16:creationId xmlns:a16="http://schemas.microsoft.com/office/drawing/2014/main" id="{CB5749C7-9123-6246-9243-78F3286CE174}"/>
              </a:ext>
            </a:extLst>
          </p:cNvPr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114" name="Google Shape;294;g3d6e2211149_2_228" descr="AWS Lambda service icon.">
            <a:extLst>
              <a:ext uri="{FF2B5EF4-FFF2-40B4-BE49-F238E27FC236}">
                <a16:creationId xmlns:a16="http://schemas.microsoft.com/office/drawing/2014/main" id="{6CE84252-FDF5-734D-A182-879ED8C5529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295;g3d6e2211149_2_228">
            <a:extLst>
              <a:ext uri="{FF2B5EF4-FFF2-40B4-BE49-F238E27FC236}">
                <a16:creationId xmlns:a16="http://schemas.microsoft.com/office/drawing/2014/main" id="{6DF71D9E-013A-4B46-86E3-18AAE26E4E11}"/>
              </a:ext>
            </a:extLst>
          </p:cNvPr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16" name="Google Shape;364;g3d6e2211149_2_228">
            <a:extLst>
              <a:ext uri="{FF2B5EF4-FFF2-40B4-BE49-F238E27FC236}">
                <a16:creationId xmlns:a16="http://schemas.microsoft.com/office/drawing/2014/main" id="{6F87F2E8-42B3-F341-964D-63B58F494C6A}"/>
              </a:ext>
            </a:extLst>
          </p:cNvPr>
          <p:cNvCxnSpPr>
            <a:cxnSpLocks/>
            <a:stCxn id="114" idx="0"/>
            <a:endCxn id="49" idx="2"/>
          </p:cNvCxnSpPr>
          <p:nvPr/>
        </p:nvCxnSpPr>
        <p:spPr>
          <a:xfrm flipH="1" flipV="1">
            <a:off x="2838326" y="1799908"/>
            <a:ext cx="511876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17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BE71323-6C53-8147-8A1D-4E880F4388D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302;g3d6e2211149_2_228">
            <a:extLst>
              <a:ext uri="{FF2B5EF4-FFF2-40B4-BE49-F238E27FC236}">
                <a16:creationId xmlns:a16="http://schemas.microsoft.com/office/drawing/2014/main" id="{BEF36E79-8B27-F549-963C-C0E9B991A23E}"/>
              </a:ext>
            </a:extLst>
          </p:cNvPr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</a:t>
            </a:r>
            <a:r>
              <a:rPr lang="en-US" sz="900">
                <a:solidFill>
                  <a:schemeClr val="dk1"/>
                </a:solidFill>
              </a:rPr>
              <a:t>MySQL)</a:t>
            </a:r>
            <a:endParaRPr/>
          </a:p>
        </p:txBody>
      </p:sp>
      <p:cxnSp>
        <p:nvCxnSpPr>
          <p:cNvPr id="119" name="Google Shape;364;g3d6e2211149_2_228">
            <a:extLst>
              <a:ext uri="{FF2B5EF4-FFF2-40B4-BE49-F238E27FC236}">
                <a16:creationId xmlns:a16="http://schemas.microsoft.com/office/drawing/2014/main" id="{DDE92188-E62C-6A44-A207-3DB5C7404A77}"/>
              </a:ext>
            </a:extLst>
          </p:cNvPr>
          <p:cNvCxnSpPr>
            <a:cxnSpLocks/>
            <a:stCxn id="117" idx="1"/>
            <a:endCxn id="114" idx="2"/>
          </p:cNvCxnSpPr>
          <p:nvPr/>
        </p:nvCxnSpPr>
        <p:spPr>
          <a:xfrm flipH="1" flipV="1">
            <a:off x="3350202" y="3203608"/>
            <a:ext cx="551911" cy="3773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066307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정형화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Processed)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274;g3d6e2211149_2_228">
            <a:extLst>
              <a:ext uri="{FF2B5EF4-FFF2-40B4-BE49-F238E27FC236}">
                <a16:creationId xmlns:a16="http://schemas.microsoft.com/office/drawing/2014/main" id="{E17E6A05-5F2E-1549-BADE-D9FBAA3190ED}"/>
              </a:ext>
            </a:extLst>
          </p:cNvPr>
          <p:cNvSpPr txBox="1"/>
          <p:nvPr/>
        </p:nvSpPr>
        <p:spPr>
          <a:xfrm>
            <a:off x="637239" y="3575342"/>
            <a:ext cx="147657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Processed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처리 절차 </a:t>
            </a:r>
            <a:endParaRPr lang="en-US" altLang="ko-KR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B6D3A8F1-183D-E54F-A41D-FB40681C7AEE}"/>
              </a:ext>
            </a:extLst>
          </p:cNvPr>
          <p:cNvSpPr/>
          <p:nvPr/>
        </p:nvSpPr>
        <p:spPr>
          <a:xfrm>
            <a:off x="394524" y="354594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FD6687-6C18-5443-9C2A-7A1A8D68A21F}"/>
              </a:ext>
            </a:extLst>
          </p:cNvPr>
          <p:cNvSpPr txBox="1"/>
          <p:nvPr/>
        </p:nvSpPr>
        <p:spPr>
          <a:xfrm>
            <a:off x="668724" y="6104281"/>
            <a:ext cx="4022315" cy="553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s3://lifesync-processed/bank/dt=2025-09-01/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s3://lifesync-processed/card/dt=2025-09-01/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s3://lifesync-processed/hospital/dt=2025-09-01/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38A249-738D-AB46-8827-6629BC0EBE19}"/>
              </a:ext>
            </a:extLst>
          </p:cNvPr>
          <p:cNvSpPr txBox="1"/>
          <p:nvPr/>
        </p:nvSpPr>
        <p:spPr>
          <a:xfrm>
            <a:off x="6164182" y="1897608"/>
            <a:ext cx="4022315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s3://lifesync-processed/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├ bank/dt=2025-09-01/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├ card/dt=2025-09-01/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├ insurance/dt=2025-09-01/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├ online-insurance/dt=2025-09-01/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├ securities/dt=2025-09-01/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├ healthcare/dt=2025-09-01/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├ hospital/dt=2025-09-01/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└ wearable/dt=2025-09-01/</a:t>
            </a:r>
          </a:p>
        </p:txBody>
      </p:sp>
      <p:sp>
        <p:nvSpPr>
          <p:cNvPr id="51" name="Google Shape;274;g3d6e2211149_2_228">
            <a:extLst>
              <a:ext uri="{FF2B5EF4-FFF2-40B4-BE49-F238E27FC236}">
                <a16:creationId xmlns:a16="http://schemas.microsoft.com/office/drawing/2014/main" id="{67503C0F-38BB-BD45-B8A7-564EE13F0E4D}"/>
              </a:ext>
            </a:extLst>
          </p:cNvPr>
          <p:cNvSpPr txBox="1"/>
          <p:nvPr/>
        </p:nvSpPr>
        <p:spPr>
          <a:xfrm>
            <a:off x="6124195" y="1657000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</a:rPr>
              <a:t>S3</a:t>
            </a:r>
            <a:r>
              <a:rPr lang="ko-KR" altLang="en-US" sz="1000" b="1">
                <a:solidFill>
                  <a:schemeClr val="dk1"/>
                </a:solidFill>
              </a:rPr>
              <a:t xml:space="preserve"> 폴더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158477-2D44-E145-9716-B5C532BC5FE8}"/>
              </a:ext>
            </a:extLst>
          </p:cNvPr>
          <p:cNvSpPr txBox="1"/>
          <p:nvPr/>
        </p:nvSpPr>
        <p:spPr>
          <a:xfrm>
            <a:off x="602321" y="569468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 xml:space="preserve">Processed </a:t>
            </a:r>
            <a:r>
              <a:rPr lang="ko-KR" altLang="en-US" sz="1200" b="1"/>
              <a:t>데이터는 서비스별 정제된 거래 데이터</a:t>
            </a:r>
            <a:endParaRPr lang="en-KR" sz="1200" b="1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3AB7347-16A8-AB4E-92F8-962AEC638EBD}"/>
              </a:ext>
            </a:extLst>
          </p:cNvPr>
          <p:cNvSpPr txBox="1"/>
          <p:nvPr/>
        </p:nvSpPr>
        <p:spPr>
          <a:xfrm>
            <a:off x="617928" y="4304946"/>
            <a:ext cx="17712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JSON Read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Consent Snapshot read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동의 고객만 선별</a:t>
            </a: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Schema </a:t>
            </a:r>
            <a:r>
              <a:rPr lang="ko-KR" altLang="en-US" sz="1000"/>
              <a:t>정규화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PII </a:t>
            </a:r>
            <a:r>
              <a:rPr lang="ko-KR" altLang="en-US" sz="1000"/>
              <a:t>제거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Consent </a:t>
            </a:r>
            <a:r>
              <a:rPr lang="ko-KR" altLang="en-US" sz="1000"/>
              <a:t>고객 필터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중복 제거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Parquet </a:t>
            </a:r>
            <a:r>
              <a:rPr lang="ko-KR" altLang="en-US" sz="1000"/>
              <a:t>저장</a:t>
            </a:r>
            <a:endParaRPr lang="en-KR" sz="10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EB58CBD-77D0-DC41-9E59-8F59E6551D52}"/>
              </a:ext>
            </a:extLst>
          </p:cNvPr>
          <p:cNvSpPr txBox="1"/>
          <p:nvPr/>
        </p:nvSpPr>
        <p:spPr>
          <a:xfrm>
            <a:off x="637238" y="3822763"/>
            <a:ext cx="3242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 xml:space="preserve">S3 Raw </a:t>
            </a:r>
            <a:r>
              <a:rPr lang="ko-KR" altLang="en-US" sz="1000"/>
              <a:t xml:space="preserve">데이터를 </a:t>
            </a:r>
            <a:r>
              <a:rPr lang="en-US" sz="1000"/>
              <a:t>AWS Glue</a:t>
            </a:r>
            <a:r>
              <a:rPr lang="ko-KR" altLang="en-US" sz="1000"/>
              <a:t xml:space="preserve">가 읽어서 정제된 분석용 </a:t>
            </a:r>
            <a:r>
              <a:rPr lang="en-US" sz="1000"/>
              <a:t xml:space="preserve">Parquet </a:t>
            </a:r>
            <a:r>
              <a:rPr lang="ko-KR" altLang="en-US" sz="1000"/>
              <a:t xml:space="preserve">파일로 </a:t>
            </a:r>
            <a:r>
              <a:rPr lang="en-US" sz="1000"/>
              <a:t>S3 Processed Zone</a:t>
            </a:r>
            <a:r>
              <a:rPr lang="ko-KR" altLang="en-US" sz="1000"/>
              <a:t>에 저장</a:t>
            </a:r>
            <a:endParaRPr lang="en-KR" sz="1000"/>
          </a:p>
        </p:txBody>
      </p:sp>
      <p:sp>
        <p:nvSpPr>
          <p:cNvPr id="59" name="Google Shape;274;g3d6e2211149_2_228">
            <a:extLst>
              <a:ext uri="{FF2B5EF4-FFF2-40B4-BE49-F238E27FC236}">
                <a16:creationId xmlns:a16="http://schemas.microsoft.com/office/drawing/2014/main" id="{637B3105-338A-3745-8E5F-3724BD575451}"/>
              </a:ext>
            </a:extLst>
          </p:cNvPr>
          <p:cNvSpPr txBox="1"/>
          <p:nvPr/>
        </p:nvSpPr>
        <p:spPr>
          <a:xfrm>
            <a:off x="6164182" y="360074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Glue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ko-KR" altLang="en-US" sz="1000">
                <a:solidFill>
                  <a:schemeClr val="dk1"/>
                </a:solidFill>
              </a:rPr>
              <a:t>프로세스</a:t>
            </a:r>
            <a:endParaRPr lang="en-US" altLang="ko-KR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4798F8FE-91AD-A642-BE73-007EF1730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299347"/>
              </p:ext>
            </p:extLst>
          </p:nvPr>
        </p:nvGraphicFramePr>
        <p:xfrm>
          <a:off x="9556682" y="767671"/>
          <a:ext cx="2484884" cy="975360"/>
        </p:xfrm>
        <a:graphic>
          <a:graphicData uri="http://schemas.openxmlformats.org/drawingml/2006/table">
            <a:tbl>
              <a:tblPr/>
              <a:tblGrid>
                <a:gridCol w="656097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828787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Glue 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255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Consent Snapshot export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548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02:00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EMR Customer360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915248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510C9F22-42AF-B845-8B10-C4CC768ACA74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 xml:space="preserve">Raw JSON </a:t>
            </a:r>
            <a:r>
              <a:rPr lang="ko-KR" altLang="en-US" sz="1400" b="1"/>
              <a:t xml:space="preserve">데이터를 분석 가능한 </a:t>
            </a:r>
            <a:r>
              <a:rPr lang="en-US" sz="1400" b="1"/>
              <a:t xml:space="preserve">Processed Parquet </a:t>
            </a:r>
            <a:r>
              <a:rPr lang="ko-KR" altLang="en-US" sz="1400" b="1"/>
              <a:t>데이터셋으로 변환 담당</a:t>
            </a:r>
            <a:endParaRPr lang="en-KR" sz="1400" b="1"/>
          </a:p>
        </p:txBody>
      </p:sp>
      <p:sp>
        <p:nvSpPr>
          <p:cNvPr id="57" name="Google Shape;262;g3d6e2211149_2_228">
            <a:extLst>
              <a:ext uri="{FF2B5EF4-FFF2-40B4-BE49-F238E27FC236}">
                <a16:creationId xmlns:a16="http://schemas.microsoft.com/office/drawing/2014/main" id="{165BE652-E472-8D45-A085-8A1D76F77411}"/>
              </a:ext>
            </a:extLst>
          </p:cNvPr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60" name="Google Shape;263;g3d6e2211149_2_228" descr="VPC group icon. ">
            <a:extLst>
              <a:ext uri="{FF2B5EF4-FFF2-40B4-BE49-F238E27FC236}">
                <a16:creationId xmlns:a16="http://schemas.microsoft.com/office/drawing/2014/main" id="{7E7FE1C9-4340-4D4D-89AE-C914EEE4FE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264;g3d6e2211149_2_228">
            <a:extLst>
              <a:ext uri="{FF2B5EF4-FFF2-40B4-BE49-F238E27FC236}">
                <a16:creationId xmlns:a16="http://schemas.microsoft.com/office/drawing/2014/main" id="{9C376809-4EDA-464C-A5B6-5EFD4A4A1838}"/>
              </a:ext>
            </a:extLst>
          </p:cNvPr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66" name="Google Shape;265;g3d6e2211149_2_228" descr="Private subnet group icon. ">
            <a:extLst>
              <a:ext uri="{FF2B5EF4-FFF2-40B4-BE49-F238E27FC236}">
                <a16:creationId xmlns:a16="http://schemas.microsoft.com/office/drawing/2014/main" id="{B556FB55-1323-794B-828B-94431696B3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ECC6AF26-8E45-704B-A67D-7CD18A507BB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274;g3d6e2211149_2_228">
            <a:extLst>
              <a:ext uri="{FF2B5EF4-FFF2-40B4-BE49-F238E27FC236}">
                <a16:creationId xmlns:a16="http://schemas.microsoft.com/office/drawing/2014/main" id="{C3519EB5-9E78-B447-81BB-89DC2E1417E8}"/>
              </a:ext>
            </a:extLst>
          </p:cNvPr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288;g3d6e2211149_2_228">
            <a:extLst>
              <a:ext uri="{FF2B5EF4-FFF2-40B4-BE49-F238E27FC236}">
                <a16:creationId xmlns:a16="http://schemas.microsoft.com/office/drawing/2014/main" id="{936FEB5B-5294-8641-9510-399607CC79FF}"/>
              </a:ext>
            </a:extLst>
          </p:cNvPr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70" name="Google Shape;289;g3d6e2211149_2_228" descr="Private subnet group icon. ">
            <a:extLst>
              <a:ext uri="{FF2B5EF4-FFF2-40B4-BE49-F238E27FC236}">
                <a16:creationId xmlns:a16="http://schemas.microsoft.com/office/drawing/2014/main" id="{CAD7567E-2B1F-C049-92AD-AA05C4A34F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290;g3d6e2211149_2_228" descr="AWS Glue service icon.">
            <a:extLst>
              <a:ext uri="{FF2B5EF4-FFF2-40B4-BE49-F238E27FC236}">
                <a16:creationId xmlns:a16="http://schemas.microsoft.com/office/drawing/2014/main" id="{1D4AA62F-6FE2-9B44-BE1B-E6A32FCE417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291;g3d6e2211149_2_228">
            <a:extLst>
              <a:ext uri="{FF2B5EF4-FFF2-40B4-BE49-F238E27FC236}">
                <a16:creationId xmlns:a16="http://schemas.microsoft.com/office/drawing/2014/main" id="{009E75BD-3DAF-1D4D-8935-93E6B5E7CD18}"/>
              </a:ext>
            </a:extLst>
          </p:cNvPr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73" name="Google Shape;292;g3d6e2211149_2_228" descr="Amazon EMR service icon.">
            <a:extLst>
              <a:ext uri="{FF2B5EF4-FFF2-40B4-BE49-F238E27FC236}">
                <a16:creationId xmlns:a16="http://schemas.microsoft.com/office/drawing/2014/main" id="{61B6E269-7C87-D245-AC51-3F86288F2D6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294;g3d6e2211149_2_228" descr="AWS Lambda service icon.">
            <a:extLst>
              <a:ext uri="{FF2B5EF4-FFF2-40B4-BE49-F238E27FC236}">
                <a16:creationId xmlns:a16="http://schemas.microsoft.com/office/drawing/2014/main" id="{BEF2116C-7817-6845-A162-9AF6DD9792B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295;g3d6e2211149_2_228">
            <a:extLst>
              <a:ext uri="{FF2B5EF4-FFF2-40B4-BE49-F238E27FC236}">
                <a16:creationId xmlns:a16="http://schemas.microsoft.com/office/drawing/2014/main" id="{A06CD439-8843-484F-B101-4FBE00BD6537}"/>
              </a:ext>
            </a:extLst>
          </p:cNvPr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77" name="Google Shape;361;g3d6e2211149_2_228">
            <a:extLst>
              <a:ext uri="{FF2B5EF4-FFF2-40B4-BE49-F238E27FC236}">
                <a16:creationId xmlns:a16="http://schemas.microsoft.com/office/drawing/2014/main" id="{E6DDAC5F-B690-444D-AD46-DD704B29A584}"/>
              </a:ext>
            </a:extLst>
          </p:cNvPr>
          <p:cNvCxnSpPr>
            <a:cxnSpLocks/>
            <a:stCxn id="94" idx="2"/>
            <a:endCxn id="92" idx="1"/>
          </p:cNvCxnSpPr>
          <p:nvPr/>
        </p:nvCxnSpPr>
        <p:spPr>
          <a:xfrm>
            <a:off x="620556" y="1616494"/>
            <a:ext cx="716180" cy="13832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78" name="Google Shape;364;g3d6e2211149_2_228">
            <a:extLst>
              <a:ext uri="{FF2B5EF4-FFF2-40B4-BE49-F238E27FC236}">
                <a16:creationId xmlns:a16="http://schemas.microsoft.com/office/drawing/2014/main" id="{AB043F0F-B67B-3D49-B1D1-5AE49E4E0623}"/>
              </a:ext>
            </a:extLst>
          </p:cNvPr>
          <p:cNvCxnSpPr>
            <a:cxnSpLocks/>
            <a:stCxn id="75" idx="0"/>
            <a:endCxn id="67" idx="2"/>
          </p:cNvCxnSpPr>
          <p:nvPr/>
        </p:nvCxnSpPr>
        <p:spPr>
          <a:xfrm flipV="1">
            <a:off x="2423764" y="1799908"/>
            <a:ext cx="414562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79" name="Google Shape;365;g3d6e2211149_2_228">
            <a:extLst>
              <a:ext uri="{FF2B5EF4-FFF2-40B4-BE49-F238E27FC236}">
                <a16:creationId xmlns:a16="http://schemas.microsoft.com/office/drawing/2014/main" id="{D02D9664-E850-334A-980C-A31E52CF45BE}"/>
              </a:ext>
            </a:extLst>
          </p:cNvPr>
          <p:cNvCxnSpPr>
            <a:endCxn id="71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80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130CAF22-5599-FA4A-91AF-0399427EBA99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371;g3d6e2211149_2_228">
            <a:extLst>
              <a:ext uri="{FF2B5EF4-FFF2-40B4-BE49-F238E27FC236}">
                <a16:creationId xmlns:a16="http://schemas.microsoft.com/office/drawing/2014/main" id="{EDF6027A-86AF-B540-BCB5-814763304F09}"/>
              </a:ext>
            </a:extLst>
          </p:cNvPr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82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E97AD223-2939-F147-B01E-5A97C6302E2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375;g3d6e2211149_2_228">
            <a:extLst>
              <a:ext uri="{FF2B5EF4-FFF2-40B4-BE49-F238E27FC236}">
                <a16:creationId xmlns:a16="http://schemas.microsoft.com/office/drawing/2014/main" id="{8F71F1C5-77EC-AC44-8519-188C459B180B}"/>
              </a:ext>
            </a:extLst>
          </p:cNvPr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376;g3d6e2211149_2_228">
            <a:extLst>
              <a:ext uri="{FF2B5EF4-FFF2-40B4-BE49-F238E27FC236}">
                <a16:creationId xmlns:a16="http://schemas.microsoft.com/office/drawing/2014/main" id="{2E06598D-B74A-FB4A-A01A-B065CCA06648}"/>
              </a:ext>
            </a:extLst>
          </p:cNvPr>
          <p:cNvCxnSpPr>
            <a:stCxn id="82" idx="3"/>
            <a:endCxn id="73" idx="0"/>
          </p:cNvCxnSpPr>
          <p:nvPr/>
        </p:nvCxnSpPr>
        <p:spPr>
          <a:xfrm>
            <a:off x="3801357" y="1584740"/>
            <a:ext cx="1109400" cy="1176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85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19FA011B-A7B2-6647-A805-D0DEC8F5CA3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" name="Google Shape;379;g3d6e2211149_2_228">
            <a:extLst>
              <a:ext uri="{FF2B5EF4-FFF2-40B4-BE49-F238E27FC236}">
                <a16:creationId xmlns:a16="http://schemas.microsoft.com/office/drawing/2014/main" id="{EFAE1F3A-3041-484D-9E2B-29BED737A271}"/>
              </a:ext>
            </a:extLst>
          </p:cNvPr>
          <p:cNvCxnSpPr>
            <a:cxnSpLocks/>
            <a:stCxn id="85" idx="2"/>
            <a:endCxn id="73" idx="0"/>
          </p:cNvCxnSpPr>
          <p:nvPr/>
        </p:nvCxnSpPr>
        <p:spPr>
          <a:xfrm>
            <a:off x="4642304" y="1776477"/>
            <a:ext cx="268453" cy="98468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87" name="Google Shape;380;g3d6e2211149_2_228">
            <a:extLst>
              <a:ext uri="{FF2B5EF4-FFF2-40B4-BE49-F238E27FC236}">
                <a16:creationId xmlns:a16="http://schemas.microsoft.com/office/drawing/2014/main" id="{6E215AB7-A5D0-2749-8452-E5974E61AD03}"/>
              </a:ext>
            </a:extLst>
          </p:cNvPr>
          <p:cNvCxnSpPr>
            <a:cxnSpLocks/>
            <a:endCxn id="71" idx="0"/>
          </p:cNvCxnSpPr>
          <p:nvPr/>
        </p:nvCxnSpPr>
        <p:spPr>
          <a:xfrm>
            <a:off x="3041333" y="1787747"/>
            <a:ext cx="1059668" cy="9736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64C72443-8246-DF41-8999-7A15ECE3094B}"/>
              </a:ext>
            </a:extLst>
          </p:cNvPr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FCFB5C46-E32E-E54E-A2C1-8FE448149915}"/>
              </a:ext>
            </a:extLst>
          </p:cNvPr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BA769579-5A39-A24C-8173-0FDD3D0624C7}"/>
              </a:ext>
            </a:extLst>
          </p:cNvPr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E35C5974-3D7F-A24C-8660-3EAABEAC94A9}"/>
              </a:ext>
            </a:extLst>
          </p:cNvPr>
          <p:cNvCxnSpPr>
            <a:cxnSpLocks/>
            <a:stCxn id="80" idx="2"/>
            <a:endCxn id="75" idx="2"/>
          </p:cNvCxnSpPr>
          <p:nvPr/>
        </p:nvCxnSpPr>
        <p:spPr>
          <a:xfrm rot="16200000" flipH="1">
            <a:off x="1403846" y="2183689"/>
            <a:ext cx="199409" cy="1840428"/>
          </a:xfrm>
          <a:prstGeom prst="bentConnector3">
            <a:avLst>
              <a:gd name="adj1" fmla="val 21463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92" name="Google Shape;294;g3d6e2211149_2_228" descr="AWS Lambda service icon.">
            <a:extLst>
              <a:ext uri="{FF2B5EF4-FFF2-40B4-BE49-F238E27FC236}">
                <a16:creationId xmlns:a16="http://schemas.microsoft.com/office/drawing/2014/main" id="{7596A6A2-9F15-C945-A5B2-08BB4241666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295;g3d6e2211149_2_228">
            <a:extLst>
              <a:ext uri="{FF2B5EF4-FFF2-40B4-BE49-F238E27FC236}">
                <a16:creationId xmlns:a16="http://schemas.microsoft.com/office/drawing/2014/main" id="{F9941DB5-A353-D24F-AFD8-20105ED26C79}"/>
              </a:ext>
            </a:extLst>
          </p:cNvPr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94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F331000-667E-FA4F-9021-C701DE44AB7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329;g3d6e2211149_2_228">
            <a:extLst>
              <a:ext uri="{FF2B5EF4-FFF2-40B4-BE49-F238E27FC236}">
                <a16:creationId xmlns:a16="http://schemas.microsoft.com/office/drawing/2014/main" id="{59AB537A-CA7F-CF4F-B84C-653AB0498222}"/>
              </a:ext>
            </a:extLst>
          </p:cNvPr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361;g3d6e2211149_2_228">
            <a:extLst>
              <a:ext uri="{FF2B5EF4-FFF2-40B4-BE49-F238E27FC236}">
                <a16:creationId xmlns:a16="http://schemas.microsoft.com/office/drawing/2014/main" id="{FD248079-C474-7945-A354-F633CB67A47A}"/>
              </a:ext>
            </a:extLst>
          </p:cNvPr>
          <p:cNvCxnSpPr>
            <a:cxnSpLocks/>
            <a:endCxn id="92" idx="0"/>
          </p:cNvCxnSpPr>
          <p:nvPr/>
        </p:nvCxnSpPr>
        <p:spPr>
          <a:xfrm flipH="1">
            <a:off x="1540576" y="1700140"/>
            <a:ext cx="1136058" cy="10957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4" name="Google Shape;293;g3d6e2211149_2_228">
            <a:extLst>
              <a:ext uri="{FF2B5EF4-FFF2-40B4-BE49-F238E27FC236}">
                <a16:creationId xmlns:a16="http://schemas.microsoft.com/office/drawing/2014/main" id="{743888A5-23F0-D04A-BB66-8CA30B2DF5F6}"/>
              </a:ext>
            </a:extLst>
          </p:cNvPr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5C2CB2-1AC2-6042-BDCE-AED9374A2A4D}"/>
              </a:ext>
            </a:extLst>
          </p:cNvPr>
          <p:cNvSpPr txBox="1"/>
          <p:nvPr/>
        </p:nvSpPr>
        <p:spPr>
          <a:xfrm>
            <a:off x="3958199" y="3866226"/>
            <a:ext cx="205705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새벽 1회 Lambda</a:t>
            </a:r>
          </a:p>
          <a:p>
            <a:r>
              <a:rPr lang="en-KR" sz="1000"/>
              <a:t>SELECT consent table</a:t>
            </a:r>
          </a:p>
          <a:p>
            <a:r>
              <a:rPr lang="en-US" sz="1000"/>
              <a:t xml:space="preserve">s3 raw  -&gt; </a:t>
            </a:r>
            <a:r>
              <a:rPr lang="en-KR" sz="1000"/>
              <a:t>Parquet 저장</a:t>
            </a:r>
          </a:p>
        </p:txBody>
      </p:sp>
      <p:pic>
        <p:nvPicPr>
          <p:cNvPr id="74" name="Google Shape;294;g3d6e2211149_2_228" descr="AWS Lambda service icon.">
            <a:extLst>
              <a:ext uri="{FF2B5EF4-FFF2-40B4-BE49-F238E27FC236}">
                <a16:creationId xmlns:a16="http://schemas.microsoft.com/office/drawing/2014/main" id="{CDDABF79-A7F1-6C40-AE0A-D79C116114A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295;g3d6e2211149_2_228">
            <a:extLst>
              <a:ext uri="{FF2B5EF4-FFF2-40B4-BE49-F238E27FC236}">
                <a16:creationId xmlns:a16="http://schemas.microsoft.com/office/drawing/2014/main" id="{8C0A03DD-35FC-684C-BF02-730B75D18063}"/>
              </a:ext>
            </a:extLst>
          </p:cNvPr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98" name="Google Shape;364;g3d6e2211149_2_228">
            <a:extLst>
              <a:ext uri="{FF2B5EF4-FFF2-40B4-BE49-F238E27FC236}">
                <a16:creationId xmlns:a16="http://schemas.microsoft.com/office/drawing/2014/main" id="{CA076593-18E2-8E42-A9A0-91AE911BDA65}"/>
              </a:ext>
            </a:extLst>
          </p:cNvPr>
          <p:cNvCxnSpPr>
            <a:cxnSpLocks/>
            <a:stCxn id="74" idx="0"/>
            <a:endCxn id="67" idx="2"/>
          </p:cNvCxnSpPr>
          <p:nvPr/>
        </p:nvCxnSpPr>
        <p:spPr>
          <a:xfrm flipH="1" flipV="1">
            <a:off x="2838326" y="1799908"/>
            <a:ext cx="511876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99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CCFF736-564A-1E41-872D-3A15B2EBDEC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302;g3d6e2211149_2_228">
            <a:extLst>
              <a:ext uri="{FF2B5EF4-FFF2-40B4-BE49-F238E27FC236}">
                <a16:creationId xmlns:a16="http://schemas.microsoft.com/office/drawing/2014/main" id="{5611EECD-80C5-4C4E-9401-376DDC0AA9EE}"/>
              </a:ext>
            </a:extLst>
          </p:cNvPr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</a:t>
            </a:r>
            <a:r>
              <a:rPr lang="en-US" sz="900">
                <a:solidFill>
                  <a:schemeClr val="dk1"/>
                </a:solidFill>
              </a:rPr>
              <a:t>MySQL)</a:t>
            </a:r>
            <a:endParaRPr/>
          </a:p>
        </p:txBody>
      </p:sp>
      <p:cxnSp>
        <p:nvCxnSpPr>
          <p:cNvPr id="101" name="Google Shape;364;g3d6e2211149_2_228">
            <a:extLst>
              <a:ext uri="{FF2B5EF4-FFF2-40B4-BE49-F238E27FC236}">
                <a16:creationId xmlns:a16="http://schemas.microsoft.com/office/drawing/2014/main" id="{2EA6AE9E-6AF1-EA48-A9D6-5022C5506851}"/>
              </a:ext>
            </a:extLst>
          </p:cNvPr>
          <p:cNvCxnSpPr>
            <a:cxnSpLocks/>
            <a:stCxn id="99" idx="1"/>
            <a:endCxn id="74" idx="2"/>
          </p:cNvCxnSpPr>
          <p:nvPr/>
        </p:nvCxnSpPr>
        <p:spPr>
          <a:xfrm flipH="1" flipV="1">
            <a:off x="3350202" y="3203608"/>
            <a:ext cx="551911" cy="3773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9392169F-92E5-1C48-B852-F7CF15A585B1}"/>
              </a:ext>
            </a:extLst>
          </p:cNvPr>
          <p:cNvSpPr txBox="1"/>
          <p:nvPr/>
        </p:nvSpPr>
        <p:spPr>
          <a:xfrm>
            <a:off x="6138936" y="3937026"/>
            <a:ext cx="25181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1. Raw JSON Read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2. Consent Snapshot Read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3. Join by global_id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4. consent_yn='Y'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5. Schema 정규화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6. PII 제거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7. 중복 제거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8. Parquet 저장</a:t>
            </a:r>
          </a:p>
        </p:txBody>
      </p:sp>
    </p:spTree>
    <p:extLst>
      <p:ext uri="{BB962C8B-B14F-4D97-AF65-F5344CB8AC3E}">
        <p14:creationId xmlns:p14="http://schemas.microsoft.com/office/powerpoint/2010/main" val="163845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 - Curated)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56BBC2EA-7694-4743-84BB-B8A3053550BE}"/>
              </a:ext>
            </a:extLst>
          </p:cNvPr>
          <p:cNvSpPr txBox="1"/>
          <p:nvPr/>
        </p:nvSpPr>
        <p:spPr>
          <a:xfrm>
            <a:off x="666826" y="3850964"/>
            <a:ext cx="469988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EMR</a:t>
            </a:r>
            <a:r>
              <a:rPr lang="ko-KR" altLang="en-US" sz="1200" dirty="0"/>
              <a:t xml:space="preserve">은 </a:t>
            </a:r>
            <a:r>
              <a:rPr lang="en-US" sz="1200" dirty="0"/>
              <a:t xml:space="preserve">Processed </a:t>
            </a:r>
            <a:r>
              <a:rPr lang="ko-KR" altLang="en-US" sz="1200" dirty="0"/>
              <a:t>데이터를 비즈니스 가치가 있는</a:t>
            </a:r>
            <a:br>
              <a:rPr lang="ko-KR" altLang="en-US" sz="1200" dirty="0"/>
            </a:br>
            <a:r>
              <a:rPr lang="ko-KR" altLang="en-US" sz="1200" dirty="0"/>
              <a:t>최종 고객 데이터셋</a:t>
            </a:r>
            <a:r>
              <a:rPr lang="en-US" altLang="ko-KR" sz="1200" dirty="0"/>
              <a:t>(</a:t>
            </a:r>
            <a:r>
              <a:rPr lang="en-US" sz="1200" dirty="0"/>
              <a:t xml:space="preserve">Customer360, </a:t>
            </a:r>
            <a:r>
              <a:rPr lang="ko-KR" altLang="en-US" sz="1200" dirty="0"/>
              <a:t>추천</a:t>
            </a:r>
            <a:r>
              <a:rPr lang="en-US" altLang="ko-KR" sz="1200" dirty="0"/>
              <a:t xml:space="preserve">, </a:t>
            </a:r>
            <a:r>
              <a:rPr lang="en-US" sz="1200" dirty="0"/>
              <a:t xml:space="preserve">VIP </a:t>
            </a:r>
            <a:r>
              <a:rPr lang="ko-KR" altLang="en-US" sz="1200" dirty="0"/>
              <a:t>등</a:t>
            </a:r>
            <a:r>
              <a:rPr lang="en-US" altLang="ko-KR" sz="1200" dirty="0"/>
              <a:t>)</a:t>
            </a:r>
            <a:r>
              <a:rPr lang="ko-KR" altLang="en-US" sz="1200" dirty="0"/>
              <a:t>으로 만드는 엔진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A8B24304-50DA-C149-B468-BD1C1D7642FB}"/>
              </a:ext>
            </a:extLst>
          </p:cNvPr>
          <p:cNvSpPr/>
          <p:nvPr/>
        </p:nvSpPr>
        <p:spPr>
          <a:xfrm>
            <a:off x="329720" y="389792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210760-DEE2-0E49-80C7-9FC3E488FA61}"/>
              </a:ext>
            </a:extLst>
          </p:cNvPr>
          <p:cNvSpPr txBox="1"/>
          <p:nvPr/>
        </p:nvSpPr>
        <p:spPr>
          <a:xfrm>
            <a:off x="5689135" y="5484975"/>
            <a:ext cx="2995890" cy="1169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s3://lifesync-curated/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customer_360_profile/dt=2026-04-24/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score_mart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ai_feature_table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vip_candidate_mart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recommendation_mart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health_mart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</p:txBody>
      </p:sp>
      <p:sp>
        <p:nvSpPr>
          <p:cNvPr id="49" name="Google Shape;274;g3d6e2211149_2_228">
            <a:extLst>
              <a:ext uri="{FF2B5EF4-FFF2-40B4-BE49-F238E27FC236}">
                <a16:creationId xmlns:a16="http://schemas.microsoft.com/office/drawing/2014/main" id="{80E0C408-4C17-3840-9029-14EE93779D9F}"/>
              </a:ext>
            </a:extLst>
          </p:cNvPr>
          <p:cNvSpPr txBox="1"/>
          <p:nvPr/>
        </p:nvSpPr>
        <p:spPr>
          <a:xfrm>
            <a:off x="5663079" y="5160763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S3</a:t>
            </a:r>
            <a:r>
              <a:rPr lang="ko-KR" altLang="en-US" sz="1200" b="1">
                <a:solidFill>
                  <a:schemeClr val="dk1"/>
                </a:solidFill>
              </a:rPr>
              <a:t xml:space="preserve"> 폴더 구조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 xml:space="preserve">Curated </a:t>
            </a:r>
            <a:r>
              <a:rPr lang="ko-KR" altLang="en-US" b="1" dirty="0"/>
              <a:t xml:space="preserve">데이터는 고객 중심으로 통합된 </a:t>
            </a:r>
            <a:r>
              <a:rPr lang="en-US" b="1" dirty="0"/>
              <a:t xml:space="preserve">Customer360 </a:t>
            </a:r>
            <a:r>
              <a:rPr lang="ko-KR" altLang="en-US" b="1" dirty="0"/>
              <a:t>최종 데이터셋</a:t>
            </a:r>
            <a:endParaRPr lang="en-KR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7DF077-BBFF-CA46-B49D-2B9B1CB341A9}"/>
              </a:ext>
            </a:extLst>
          </p:cNvPr>
          <p:cNvSpPr txBox="1"/>
          <p:nvPr/>
        </p:nvSpPr>
        <p:spPr>
          <a:xfrm>
            <a:off x="6037810" y="125603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생성 데이터 셋</a:t>
            </a:r>
            <a:endParaRPr lang="en-US" altLang="ko-KR" sz="12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152D7B2-9AEB-8246-8A30-A29E3F16B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819160"/>
              </p:ext>
            </p:extLst>
          </p:nvPr>
        </p:nvGraphicFramePr>
        <p:xfrm>
          <a:off x="6100716" y="1581524"/>
          <a:ext cx="4909458" cy="1706880"/>
        </p:xfrm>
        <a:graphic>
          <a:graphicData uri="http://schemas.openxmlformats.org/drawingml/2006/table">
            <a:tbl>
              <a:tblPr/>
              <a:tblGrid>
                <a:gridCol w="2454729">
                  <a:extLst>
                    <a:ext uri="{9D8B030D-6E8A-4147-A177-3AD203B41FA5}">
                      <a16:colId xmlns:a16="http://schemas.microsoft.com/office/drawing/2014/main" val="251459900"/>
                    </a:ext>
                  </a:extLst>
                </a:gridCol>
                <a:gridCol w="2454729">
                  <a:extLst>
                    <a:ext uri="{9D8B030D-6E8A-4147-A177-3AD203B41FA5}">
                      <a16:colId xmlns:a16="http://schemas.microsoft.com/office/drawing/2014/main" val="13747742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데이터셋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용도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467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Customer360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통합 고객 프로필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67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Score 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점수 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6885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AI Feature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/>
                        <a:t xml:space="preserve">ML </a:t>
                      </a:r>
                      <a:r>
                        <a:rPr lang="ko-KR" altLang="en-US" sz="1000"/>
                        <a:t>학습</a:t>
                      </a:r>
                      <a:r>
                        <a:rPr lang="en-US" altLang="ko-KR" sz="1000"/>
                        <a:t xml:space="preserve"> / </a:t>
                      </a:r>
                      <a:r>
                        <a:rPr lang="ko-KR" altLang="en-US" sz="1000"/>
                        <a:t>추론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907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 xml:space="preserve">추천 </a:t>
                      </a:r>
                      <a:r>
                        <a:rPr lang="en-US" sz="1000"/>
                        <a:t>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8214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PB 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 xml:space="preserve"> 우수고객 영업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8045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 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 xml:space="preserve">건강 서비스 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 xml:space="preserve"> 보험 연계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187573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308ED15A-610C-A844-B083-174FD351DC2D}"/>
              </a:ext>
            </a:extLst>
          </p:cNvPr>
          <p:cNvSpPr txBox="1"/>
          <p:nvPr/>
        </p:nvSpPr>
        <p:spPr>
          <a:xfrm>
            <a:off x="5626228" y="366374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데이터셋별 운영 방식 </a:t>
            </a:r>
            <a:endParaRPr lang="en-US" altLang="ko-KR" sz="1200" b="1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DA8070A-2EF1-9B48-833B-467C6E8D99E8}"/>
              </a:ext>
            </a:extLst>
          </p:cNvPr>
          <p:cNvSpPr txBox="1"/>
          <p:nvPr/>
        </p:nvSpPr>
        <p:spPr>
          <a:xfrm>
            <a:off x="666826" y="4890338"/>
            <a:ext cx="302194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 dirty="0"/>
              <a:t>S3 Processed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 dirty="0"/>
              <a:t xml:space="preserve">EMR </a:t>
            </a:r>
            <a:r>
              <a:rPr lang="en-KR" sz="1000" dirty="0"/>
              <a:t>Serverless Application (Auto Start)</a:t>
            </a:r>
            <a:endParaRPr lang="en-US" altLang="ko-KR" sz="1000" dirty="0"/>
          </a:p>
          <a:p>
            <a:pPr marL="228600" indent="-228600">
              <a:buFont typeface="+mj-lt"/>
              <a:buAutoNum type="arabicParenR"/>
            </a:pPr>
            <a:r>
              <a:rPr lang="en-US" sz="1000" dirty="0"/>
              <a:t>EMR Job Run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 xml:space="preserve">Job1 Customer360 </a:t>
            </a:r>
            <a:r>
              <a:rPr lang="ko-KR" altLang="en-US" sz="1000" dirty="0"/>
              <a:t>생성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Job2 Score Mart</a:t>
            </a:r>
            <a:r>
              <a:rPr lang="ko-KR" altLang="en-US" sz="1000" dirty="0"/>
              <a:t xml:space="preserve"> 생성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Job</a:t>
            </a:r>
            <a:r>
              <a:rPr lang="en-US" altLang="ko-KR" sz="1000" dirty="0"/>
              <a:t>3</a:t>
            </a:r>
            <a:r>
              <a:rPr lang="en-US" sz="1000" dirty="0"/>
              <a:t xml:space="preserve"> AI Feature </a:t>
            </a:r>
            <a:r>
              <a:rPr lang="ko-KR" altLang="en-US" sz="1000" dirty="0"/>
              <a:t>생성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Job</a:t>
            </a:r>
            <a:r>
              <a:rPr lang="en-US" altLang="ko-KR" sz="1000" dirty="0"/>
              <a:t>4</a:t>
            </a:r>
            <a:r>
              <a:rPr lang="en-US" sz="1000" dirty="0"/>
              <a:t xml:space="preserve"> VIP Mart </a:t>
            </a:r>
            <a:r>
              <a:rPr lang="ko-KR" altLang="en-US" sz="1000" dirty="0"/>
              <a:t>생성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Job</a:t>
            </a:r>
            <a:r>
              <a:rPr lang="en-US" altLang="ko-KR" sz="1000" dirty="0"/>
              <a:t>5</a:t>
            </a:r>
            <a:r>
              <a:rPr lang="en-US" sz="1000" dirty="0"/>
              <a:t xml:space="preserve"> Recommendation Mart </a:t>
            </a:r>
            <a:r>
              <a:rPr lang="ko-KR" altLang="en-US" sz="1000" dirty="0"/>
              <a:t>생성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Job</a:t>
            </a:r>
            <a:r>
              <a:rPr lang="en-US" altLang="ko-KR" sz="1000" dirty="0"/>
              <a:t>6</a:t>
            </a:r>
            <a:r>
              <a:rPr lang="en-US" sz="1000" dirty="0"/>
              <a:t xml:space="preserve"> Health Mart </a:t>
            </a:r>
            <a:r>
              <a:rPr lang="ko-KR" altLang="en-US" sz="1000" dirty="0"/>
              <a:t>생성</a:t>
            </a:r>
            <a:br>
              <a:rPr lang="ko-KR" altLang="en-US" sz="1000" dirty="0"/>
            </a:br>
            <a:endParaRPr lang="en-US" altLang="ko-KR" sz="1000" dirty="0"/>
          </a:p>
          <a:p>
            <a:pPr marL="228600" indent="-228600">
              <a:buFont typeface="+mj-lt"/>
              <a:buAutoNum type="arabicParenR" startAt="4"/>
            </a:pPr>
            <a:r>
              <a:rPr lang="en-US" sz="1000" dirty="0"/>
              <a:t xml:space="preserve">S3 Curated </a:t>
            </a:r>
            <a:r>
              <a:rPr lang="ko-KR" altLang="en-US" sz="1000" dirty="0"/>
              <a:t>각 영역 저장</a:t>
            </a:r>
            <a:r>
              <a:rPr lang="en-US" altLang="ko-KR" sz="1000" dirty="0"/>
              <a:t xml:space="preserve"> / Auto Stop</a:t>
            </a:r>
            <a:endParaRPr lang="ko-KR" altLang="en-US" sz="1000" dirty="0"/>
          </a:p>
        </p:txBody>
      </p:sp>
      <p:sp>
        <p:nvSpPr>
          <p:cNvPr id="86" name="Google Shape;274;g3d6e2211149_2_228">
            <a:extLst>
              <a:ext uri="{FF2B5EF4-FFF2-40B4-BE49-F238E27FC236}">
                <a16:creationId xmlns:a16="http://schemas.microsoft.com/office/drawing/2014/main" id="{AD3B20F3-5BE6-D543-AA5F-D02E2B5A49C5}"/>
              </a:ext>
            </a:extLst>
          </p:cNvPr>
          <p:cNvSpPr txBox="1"/>
          <p:nvPr/>
        </p:nvSpPr>
        <p:spPr>
          <a:xfrm>
            <a:off x="647155" y="456867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 xml:space="preserve">데이터 정형화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2E7A717-0D64-3444-91C1-0D545C514DC3}"/>
              </a:ext>
            </a:extLst>
          </p:cNvPr>
          <p:cNvSpPr txBox="1"/>
          <p:nvPr/>
        </p:nvSpPr>
        <p:spPr>
          <a:xfrm>
            <a:off x="5663079" y="4044120"/>
            <a:ext cx="38936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000" dirty="0"/>
              <a:t>Customer360</a:t>
            </a:r>
            <a:r>
              <a:rPr lang="ko-KR" altLang="en-US" sz="1000" dirty="0"/>
              <a:t xml:space="preserve"> </a:t>
            </a:r>
            <a:r>
              <a:rPr lang="en-US" altLang="ko-KR" sz="1000" dirty="0"/>
              <a:t>:</a:t>
            </a:r>
            <a:r>
              <a:rPr lang="ko-KR" altLang="en-US" sz="1000" dirty="0"/>
              <a:t xml:space="preserve"> </a:t>
            </a:r>
            <a:r>
              <a:rPr lang="en-US" altLang="ko-KR" sz="1000" dirty="0"/>
              <a:t>Base Maser Dataset</a:t>
            </a:r>
          </a:p>
          <a:p>
            <a:pPr marL="228600" indent="-228600">
              <a:buAutoNum type="arabicPeriod"/>
            </a:pPr>
            <a:r>
              <a:rPr lang="en-US" altLang="ko-KR" sz="1000" dirty="0"/>
              <a:t>Score Mart : Customer 360</a:t>
            </a:r>
            <a:r>
              <a:rPr lang="ko-KR" altLang="en-US" sz="1000" dirty="0"/>
              <a:t xml:space="preserve"> 완료 후 생성</a:t>
            </a:r>
            <a:endParaRPr lang="en-US" altLang="ko-KR" sz="1000" dirty="0"/>
          </a:p>
          <a:p>
            <a:pPr marL="228600" indent="-228600">
              <a:buAutoNum type="arabicPeriod"/>
            </a:pPr>
            <a:r>
              <a:rPr lang="en-US" sz="1000" dirty="0"/>
              <a:t>AI Feature Table : Customer360</a:t>
            </a:r>
            <a:r>
              <a:rPr lang="en-US" altLang="ko-KR" sz="1000" dirty="0"/>
              <a:t>,</a:t>
            </a:r>
            <a:r>
              <a:rPr lang="ko-KR" altLang="en-US" sz="1000" dirty="0"/>
              <a:t xml:space="preserve"> </a:t>
            </a:r>
            <a:r>
              <a:rPr lang="en-US" altLang="ko-KR" sz="1000" dirty="0"/>
              <a:t>Score Mart</a:t>
            </a:r>
            <a:r>
              <a:rPr lang="en-US" sz="1000" dirty="0"/>
              <a:t xml:space="preserve"> </a:t>
            </a:r>
            <a:r>
              <a:rPr lang="ko-KR" altLang="en-US" sz="1000" dirty="0"/>
              <a:t>완료 후 생성</a:t>
            </a:r>
            <a:endParaRPr lang="en-US" altLang="ko-KR" sz="1000" dirty="0"/>
          </a:p>
          <a:p>
            <a:pPr marL="228600" indent="-228600">
              <a:buAutoNum type="arabicPeriod"/>
            </a:pPr>
            <a:r>
              <a:rPr lang="en-KR" sz="1000" dirty="0"/>
              <a:t xml:space="preserve">VIP Mart : </a:t>
            </a:r>
            <a:r>
              <a:rPr lang="en-US" sz="1000" dirty="0"/>
              <a:t>Customer360 + Score</a:t>
            </a:r>
            <a:r>
              <a:rPr lang="ko-KR" altLang="en-US" sz="1000" dirty="0"/>
              <a:t xml:space="preserve"> 기반 생성</a:t>
            </a:r>
            <a:endParaRPr lang="en-US" altLang="ko-KR" sz="1000" dirty="0"/>
          </a:p>
          <a:p>
            <a:pPr marL="228600" indent="-228600">
              <a:buAutoNum type="arabicPeriod"/>
            </a:pPr>
            <a:r>
              <a:rPr lang="en-KR" sz="1000" dirty="0"/>
              <a:t xml:space="preserve">Recommendation Mart : Customer360 + </a:t>
            </a:r>
            <a:r>
              <a:rPr lang="ko-KR" altLang="en-US" sz="1000"/>
              <a:t xml:space="preserve">행동로그 </a:t>
            </a:r>
            <a:r>
              <a:rPr lang="en-US" altLang="ko-KR" sz="1000" dirty="0"/>
              <a:t>+</a:t>
            </a:r>
            <a:r>
              <a:rPr lang="ko-KR" altLang="en-US" sz="1000" dirty="0"/>
              <a:t xml:space="preserve"> </a:t>
            </a:r>
            <a:r>
              <a:rPr lang="en-US" altLang="ko-KR" sz="1000" dirty="0"/>
              <a:t>Rule/AI</a:t>
            </a:r>
          </a:p>
          <a:p>
            <a:pPr marL="228600" indent="-228600">
              <a:buAutoNum type="arabicPeriod"/>
            </a:pPr>
            <a:r>
              <a:rPr lang="en-US" sz="1000" dirty="0"/>
              <a:t xml:space="preserve">Health Mart : </a:t>
            </a:r>
            <a:r>
              <a:rPr lang="ko-KR" altLang="en-US" sz="1000" dirty="0"/>
              <a:t xml:space="preserve">헬스케어 </a:t>
            </a:r>
            <a:r>
              <a:rPr lang="en-US" altLang="ko-KR" sz="1000" dirty="0"/>
              <a:t>+</a:t>
            </a:r>
            <a:r>
              <a:rPr lang="ko-KR" altLang="en-US" sz="1000" dirty="0"/>
              <a:t xml:space="preserve"> 병원 </a:t>
            </a:r>
            <a:r>
              <a:rPr lang="en-US" altLang="ko-KR" sz="1000" dirty="0"/>
              <a:t>+</a:t>
            </a:r>
            <a:r>
              <a:rPr lang="ko-KR" altLang="en-US" sz="1000" dirty="0"/>
              <a:t xml:space="preserve"> 웨어러블</a:t>
            </a:r>
            <a:endParaRPr lang="en-KR" sz="1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64C9A48-4C2B-6C4A-877B-1D75497CDDF9}"/>
              </a:ext>
            </a:extLst>
          </p:cNvPr>
          <p:cNvSpPr txBox="1"/>
          <p:nvPr/>
        </p:nvSpPr>
        <p:spPr>
          <a:xfrm>
            <a:off x="9853048" y="4035022"/>
            <a:ext cx="22901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 xml:space="preserve">Step1 Customer360 Base </a:t>
            </a:r>
            <a:r>
              <a:rPr lang="ko-KR" altLang="en-US" sz="1000" dirty="0"/>
              <a:t>생성</a:t>
            </a:r>
          </a:p>
          <a:p>
            <a:r>
              <a:rPr lang="en-US" sz="1000" dirty="0"/>
              <a:t xml:space="preserve">Step2 Score Mart </a:t>
            </a:r>
            <a:r>
              <a:rPr lang="ko-KR" altLang="en-US" sz="1000" dirty="0"/>
              <a:t>생성</a:t>
            </a:r>
          </a:p>
          <a:p>
            <a:r>
              <a:rPr lang="en-US" sz="1000" dirty="0"/>
              <a:t xml:space="preserve">Step3 AI Feature </a:t>
            </a:r>
            <a:r>
              <a:rPr lang="ko-KR" altLang="en-US" sz="1000" dirty="0"/>
              <a:t>생성</a:t>
            </a:r>
          </a:p>
          <a:p>
            <a:r>
              <a:rPr lang="en-US" sz="1000" dirty="0"/>
              <a:t xml:space="preserve">Step4 VIP Mart </a:t>
            </a:r>
            <a:r>
              <a:rPr lang="ko-KR" altLang="en-US" sz="1000" dirty="0"/>
              <a:t>생성</a:t>
            </a:r>
          </a:p>
          <a:p>
            <a:r>
              <a:rPr lang="en-US" sz="1000" dirty="0"/>
              <a:t xml:space="preserve">Step5 Recommendation Mart </a:t>
            </a:r>
            <a:r>
              <a:rPr lang="ko-KR" altLang="en-US" sz="1000" dirty="0"/>
              <a:t>생성</a:t>
            </a:r>
          </a:p>
          <a:p>
            <a:r>
              <a:rPr lang="en-US" sz="1000" dirty="0"/>
              <a:t xml:space="preserve">Step6 Health Mart </a:t>
            </a:r>
            <a:r>
              <a:rPr lang="ko-KR" altLang="en-US" sz="1000" dirty="0"/>
              <a:t>생성</a:t>
            </a:r>
            <a:endParaRPr lang="en-KR" sz="10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94779D7-CCF6-5049-85F7-E4BB6131E9E9}"/>
              </a:ext>
            </a:extLst>
          </p:cNvPr>
          <p:cNvSpPr txBox="1"/>
          <p:nvPr/>
        </p:nvSpPr>
        <p:spPr>
          <a:xfrm>
            <a:off x="9853048" y="3663745"/>
            <a:ext cx="21885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Workflow </a:t>
            </a:r>
            <a:r>
              <a:rPr lang="ko-KR" altLang="en-US" sz="1200" b="1"/>
              <a:t>순서</a:t>
            </a:r>
            <a:endParaRPr lang="en-US" altLang="ko-KR" sz="1200" b="1"/>
          </a:p>
        </p:txBody>
      </p:sp>
      <p:sp>
        <p:nvSpPr>
          <p:cNvPr id="91" name="Google Shape;274;g3d6e2211149_2_228">
            <a:extLst>
              <a:ext uri="{FF2B5EF4-FFF2-40B4-BE49-F238E27FC236}">
                <a16:creationId xmlns:a16="http://schemas.microsoft.com/office/drawing/2014/main" id="{E8332127-59D0-C540-A1D7-281B690A43C3}"/>
              </a:ext>
            </a:extLst>
          </p:cNvPr>
          <p:cNvSpPr txBox="1"/>
          <p:nvPr/>
        </p:nvSpPr>
        <p:spPr>
          <a:xfrm>
            <a:off x="9019621" y="5160763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저장 형태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79B9472-870B-3447-B41E-17C550BBA086}"/>
              </a:ext>
            </a:extLst>
          </p:cNvPr>
          <p:cNvSpPr txBox="1"/>
          <p:nvPr/>
        </p:nvSpPr>
        <p:spPr>
          <a:xfrm>
            <a:off x="9022330" y="5538702"/>
            <a:ext cx="29958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Parquet + Partition</a:t>
            </a:r>
            <a:endParaRPr lang="en-KR" sz="1000"/>
          </a:p>
        </p:txBody>
      </p:sp>
      <p:sp>
        <p:nvSpPr>
          <p:cNvPr id="60" name="Google Shape;262;g3d6e2211149_2_228">
            <a:extLst>
              <a:ext uri="{FF2B5EF4-FFF2-40B4-BE49-F238E27FC236}">
                <a16:creationId xmlns:a16="http://schemas.microsoft.com/office/drawing/2014/main" id="{09A989DF-343E-4C4A-B6E2-D26E7C5661CC}"/>
              </a:ext>
            </a:extLst>
          </p:cNvPr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87" name="Google Shape;263;g3d6e2211149_2_228" descr="VPC group icon. ">
            <a:extLst>
              <a:ext uri="{FF2B5EF4-FFF2-40B4-BE49-F238E27FC236}">
                <a16:creationId xmlns:a16="http://schemas.microsoft.com/office/drawing/2014/main" id="{8734412F-0ED6-214A-A889-9DD3B3015D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264;g3d6e2211149_2_228">
            <a:extLst>
              <a:ext uri="{FF2B5EF4-FFF2-40B4-BE49-F238E27FC236}">
                <a16:creationId xmlns:a16="http://schemas.microsoft.com/office/drawing/2014/main" id="{77BA33FA-427E-4B46-846A-2FDA9DBAD971}"/>
              </a:ext>
            </a:extLst>
          </p:cNvPr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94" name="Google Shape;265;g3d6e2211149_2_228" descr="Private subnet group icon. ">
            <a:extLst>
              <a:ext uri="{FF2B5EF4-FFF2-40B4-BE49-F238E27FC236}">
                <a16:creationId xmlns:a16="http://schemas.microsoft.com/office/drawing/2014/main" id="{96F6D17D-2D54-9A4D-910D-654C30E111B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2F0D8F76-8382-8A43-BCF1-1593A87B876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274;g3d6e2211149_2_228">
            <a:extLst>
              <a:ext uri="{FF2B5EF4-FFF2-40B4-BE49-F238E27FC236}">
                <a16:creationId xmlns:a16="http://schemas.microsoft.com/office/drawing/2014/main" id="{C14B2765-0EE3-1049-821B-35FB57240A3A}"/>
              </a:ext>
            </a:extLst>
          </p:cNvPr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288;g3d6e2211149_2_228">
            <a:extLst>
              <a:ext uri="{FF2B5EF4-FFF2-40B4-BE49-F238E27FC236}">
                <a16:creationId xmlns:a16="http://schemas.microsoft.com/office/drawing/2014/main" id="{9042FDE8-F9D9-8446-B4DD-B072A3D1272D}"/>
              </a:ext>
            </a:extLst>
          </p:cNvPr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98" name="Google Shape;289;g3d6e2211149_2_228" descr="Private subnet group icon. ">
            <a:extLst>
              <a:ext uri="{FF2B5EF4-FFF2-40B4-BE49-F238E27FC236}">
                <a16:creationId xmlns:a16="http://schemas.microsoft.com/office/drawing/2014/main" id="{65C37AF5-8268-0B49-A985-CE0B432FA91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290;g3d6e2211149_2_228" descr="AWS Glue service icon.">
            <a:extLst>
              <a:ext uri="{FF2B5EF4-FFF2-40B4-BE49-F238E27FC236}">
                <a16:creationId xmlns:a16="http://schemas.microsoft.com/office/drawing/2014/main" id="{78582752-ADF8-934E-8940-C9B43AC4C16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291;g3d6e2211149_2_228">
            <a:extLst>
              <a:ext uri="{FF2B5EF4-FFF2-40B4-BE49-F238E27FC236}">
                <a16:creationId xmlns:a16="http://schemas.microsoft.com/office/drawing/2014/main" id="{99F728BC-D7BB-A54C-8894-ED1CA49895DB}"/>
              </a:ext>
            </a:extLst>
          </p:cNvPr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101" name="Google Shape;292;g3d6e2211149_2_228" descr="Amazon EMR service icon.">
            <a:extLst>
              <a:ext uri="{FF2B5EF4-FFF2-40B4-BE49-F238E27FC236}">
                <a16:creationId xmlns:a16="http://schemas.microsoft.com/office/drawing/2014/main" id="{209D0FCB-AF8D-454A-BCC4-0B692C02351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294;g3d6e2211149_2_228" descr="AWS Lambda service icon.">
            <a:extLst>
              <a:ext uri="{FF2B5EF4-FFF2-40B4-BE49-F238E27FC236}">
                <a16:creationId xmlns:a16="http://schemas.microsoft.com/office/drawing/2014/main" id="{EEEE9CDA-C004-724C-A8CD-EB6E3BE3223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295;g3d6e2211149_2_228">
            <a:extLst>
              <a:ext uri="{FF2B5EF4-FFF2-40B4-BE49-F238E27FC236}">
                <a16:creationId xmlns:a16="http://schemas.microsoft.com/office/drawing/2014/main" id="{2493078B-034E-2549-98B8-6B5DC2725985}"/>
              </a:ext>
            </a:extLst>
          </p:cNvPr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04" name="Google Shape;361;g3d6e2211149_2_228">
            <a:extLst>
              <a:ext uri="{FF2B5EF4-FFF2-40B4-BE49-F238E27FC236}">
                <a16:creationId xmlns:a16="http://schemas.microsoft.com/office/drawing/2014/main" id="{AD54AAE0-265C-0140-87B5-760DAD83585B}"/>
              </a:ext>
            </a:extLst>
          </p:cNvPr>
          <p:cNvCxnSpPr>
            <a:cxnSpLocks/>
            <a:stCxn id="121" idx="2"/>
            <a:endCxn id="119" idx="1"/>
          </p:cNvCxnSpPr>
          <p:nvPr/>
        </p:nvCxnSpPr>
        <p:spPr>
          <a:xfrm>
            <a:off x="620556" y="1616494"/>
            <a:ext cx="716180" cy="13832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05" name="Google Shape;364;g3d6e2211149_2_228">
            <a:extLst>
              <a:ext uri="{FF2B5EF4-FFF2-40B4-BE49-F238E27FC236}">
                <a16:creationId xmlns:a16="http://schemas.microsoft.com/office/drawing/2014/main" id="{619C9C3A-8C54-2B41-9EF9-8FCE5722AF38}"/>
              </a:ext>
            </a:extLst>
          </p:cNvPr>
          <p:cNvCxnSpPr>
            <a:cxnSpLocks/>
            <a:stCxn id="102" idx="0"/>
            <a:endCxn id="95" idx="2"/>
          </p:cNvCxnSpPr>
          <p:nvPr/>
        </p:nvCxnSpPr>
        <p:spPr>
          <a:xfrm flipV="1">
            <a:off x="2423764" y="1799908"/>
            <a:ext cx="414562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06" name="Google Shape;365;g3d6e2211149_2_228">
            <a:extLst>
              <a:ext uri="{FF2B5EF4-FFF2-40B4-BE49-F238E27FC236}">
                <a16:creationId xmlns:a16="http://schemas.microsoft.com/office/drawing/2014/main" id="{187644D0-A3BD-F249-9B39-7240155474FA}"/>
              </a:ext>
            </a:extLst>
          </p:cNvPr>
          <p:cNvCxnSpPr>
            <a:endCxn id="99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107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EEDFCE5A-8C12-4B4C-9FBE-73F8C77249F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371;g3d6e2211149_2_228">
            <a:extLst>
              <a:ext uri="{FF2B5EF4-FFF2-40B4-BE49-F238E27FC236}">
                <a16:creationId xmlns:a16="http://schemas.microsoft.com/office/drawing/2014/main" id="{B0A84961-BC54-814D-8E11-EEC37440F225}"/>
              </a:ext>
            </a:extLst>
          </p:cNvPr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109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D66401EB-B4D3-0746-B26C-0256DC7919B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375;g3d6e2211149_2_228">
            <a:extLst>
              <a:ext uri="{FF2B5EF4-FFF2-40B4-BE49-F238E27FC236}">
                <a16:creationId xmlns:a16="http://schemas.microsoft.com/office/drawing/2014/main" id="{D3779FF2-FB8F-C04B-BB31-C679D0C88F47}"/>
              </a:ext>
            </a:extLst>
          </p:cNvPr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376;g3d6e2211149_2_228">
            <a:extLst>
              <a:ext uri="{FF2B5EF4-FFF2-40B4-BE49-F238E27FC236}">
                <a16:creationId xmlns:a16="http://schemas.microsoft.com/office/drawing/2014/main" id="{3C3A539A-F576-B64D-B76B-8FAA663CEE46}"/>
              </a:ext>
            </a:extLst>
          </p:cNvPr>
          <p:cNvCxnSpPr>
            <a:stCxn id="109" idx="3"/>
            <a:endCxn id="101" idx="0"/>
          </p:cNvCxnSpPr>
          <p:nvPr/>
        </p:nvCxnSpPr>
        <p:spPr>
          <a:xfrm>
            <a:off x="3801357" y="1584740"/>
            <a:ext cx="1109400" cy="1176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12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4929F641-BBC7-9245-A3FF-80C7028CF95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379;g3d6e2211149_2_228">
            <a:extLst>
              <a:ext uri="{FF2B5EF4-FFF2-40B4-BE49-F238E27FC236}">
                <a16:creationId xmlns:a16="http://schemas.microsoft.com/office/drawing/2014/main" id="{01A36BF1-9E72-CF46-B021-8F1408D42E9A}"/>
              </a:ext>
            </a:extLst>
          </p:cNvPr>
          <p:cNvCxnSpPr>
            <a:cxnSpLocks/>
            <a:stCxn id="112" idx="2"/>
            <a:endCxn id="101" idx="0"/>
          </p:cNvCxnSpPr>
          <p:nvPr/>
        </p:nvCxnSpPr>
        <p:spPr>
          <a:xfrm>
            <a:off x="4642304" y="1776477"/>
            <a:ext cx="268453" cy="98468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14" name="Google Shape;380;g3d6e2211149_2_228">
            <a:extLst>
              <a:ext uri="{FF2B5EF4-FFF2-40B4-BE49-F238E27FC236}">
                <a16:creationId xmlns:a16="http://schemas.microsoft.com/office/drawing/2014/main" id="{01177474-B940-794D-A8E3-1B0932DD91FA}"/>
              </a:ext>
            </a:extLst>
          </p:cNvPr>
          <p:cNvCxnSpPr>
            <a:cxnSpLocks/>
            <a:endCxn id="99" idx="0"/>
          </p:cNvCxnSpPr>
          <p:nvPr/>
        </p:nvCxnSpPr>
        <p:spPr>
          <a:xfrm>
            <a:off x="3041333" y="1787747"/>
            <a:ext cx="1059668" cy="9736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115" name="Google Shape;303;g3d6896b4338_0_0">
            <a:extLst>
              <a:ext uri="{FF2B5EF4-FFF2-40B4-BE49-F238E27FC236}">
                <a16:creationId xmlns:a16="http://schemas.microsoft.com/office/drawing/2014/main" id="{7336D78F-5377-D74D-98EE-6106A3F05868}"/>
              </a:ext>
            </a:extLst>
          </p:cNvPr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303;g3d6896b4338_0_0">
            <a:extLst>
              <a:ext uri="{FF2B5EF4-FFF2-40B4-BE49-F238E27FC236}">
                <a16:creationId xmlns:a16="http://schemas.microsoft.com/office/drawing/2014/main" id="{B3E1EF1C-CDE3-5547-A12A-F69012A896FC}"/>
              </a:ext>
            </a:extLst>
          </p:cNvPr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303;g3d6896b4338_0_0">
            <a:extLst>
              <a:ext uri="{FF2B5EF4-FFF2-40B4-BE49-F238E27FC236}">
                <a16:creationId xmlns:a16="http://schemas.microsoft.com/office/drawing/2014/main" id="{34938F12-0436-744B-8328-C1F39F560FF5}"/>
              </a:ext>
            </a:extLst>
          </p:cNvPr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2FA635BA-6B7C-C84D-B3FD-7A082B921AB9}"/>
              </a:ext>
            </a:extLst>
          </p:cNvPr>
          <p:cNvCxnSpPr>
            <a:cxnSpLocks/>
            <a:stCxn id="107" idx="2"/>
            <a:endCxn id="102" idx="2"/>
          </p:cNvCxnSpPr>
          <p:nvPr/>
        </p:nvCxnSpPr>
        <p:spPr>
          <a:xfrm rot="16200000" flipH="1">
            <a:off x="1403846" y="2183689"/>
            <a:ext cx="199409" cy="1840428"/>
          </a:xfrm>
          <a:prstGeom prst="bentConnector3">
            <a:avLst>
              <a:gd name="adj1" fmla="val 21463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19" name="Google Shape;294;g3d6e2211149_2_228" descr="AWS Lambda service icon.">
            <a:extLst>
              <a:ext uri="{FF2B5EF4-FFF2-40B4-BE49-F238E27FC236}">
                <a16:creationId xmlns:a16="http://schemas.microsoft.com/office/drawing/2014/main" id="{A36633C6-BF2F-D746-A321-E82909323E6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295;g3d6e2211149_2_228">
            <a:extLst>
              <a:ext uri="{FF2B5EF4-FFF2-40B4-BE49-F238E27FC236}">
                <a16:creationId xmlns:a16="http://schemas.microsoft.com/office/drawing/2014/main" id="{78FAD41B-4D5C-AB43-9F27-570704B01415}"/>
              </a:ext>
            </a:extLst>
          </p:cNvPr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21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9E1A797-51E1-C748-87B8-5D3FC2F9DAD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329;g3d6e2211149_2_228">
            <a:extLst>
              <a:ext uri="{FF2B5EF4-FFF2-40B4-BE49-F238E27FC236}">
                <a16:creationId xmlns:a16="http://schemas.microsoft.com/office/drawing/2014/main" id="{C662C529-4CB7-EE40-8984-49D7BD479C99}"/>
              </a:ext>
            </a:extLst>
          </p:cNvPr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361;g3d6e2211149_2_228">
            <a:extLst>
              <a:ext uri="{FF2B5EF4-FFF2-40B4-BE49-F238E27FC236}">
                <a16:creationId xmlns:a16="http://schemas.microsoft.com/office/drawing/2014/main" id="{F563A068-1A08-A540-920B-E45F9B04F051}"/>
              </a:ext>
            </a:extLst>
          </p:cNvPr>
          <p:cNvCxnSpPr>
            <a:cxnSpLocks/>
            <a:endCxn id="119" idx="0"/>
          </p:cNvCxnSpPr>
          <p:nvPr/>
        </p:nvCxnSpPr>
        <p:spPr>
          <a:xfrm flipH="1">
            <a:off x="1540576" y="1700140"/>
            <a:ext cx="1136058" cy="10957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24" name="Google Shape;293;g3d6e2211149_2_228">
            <a:extLst>
              <a:ext uri="{FF2B5EF4-FFF2-40B4-BE49-F238E27FC236}">
                <a16:creationId xmlns:a16="http://schemas.microsoft.com/office/drawing/2014/main" id="{71DF07DD-ECA8-B547-8AA8-8ACDC8C98C8F}"/>
              </a:ext>
            </a:extLst>
          </p:cNvPr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125" name="Google Shape;294;g3d6e2211149_2_228" descr="AWS Lambda service icon.">
            <a:extLst>
              <a:ext uri="{FF2B5EF4-FFF2-40B4-BE49-F238E27FC236}">
                <a16:creationId xmlns:a16="http://schemas.microsoft.com/office/drawing/2014/main" id="{68B9FC07-08ED-5347-B826-4447AD61F7E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295;g3d6e2211149_2_228">
            <a:extLst>
              <a:ext uri="{FF2B5EF4-FFF2-40B4-BE49-F238E27FC236}">
                <a16:creationId xmlns:a16="http://schemas.microsoft.com/office/drawing/2014/main" id="{A6077ED9-D63D-2E4C-8208-0F7522A7AB1A}"/>
              </a:ext>
            </a:extLst>
          </p:cNvPr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27" name="Google Shape;364;g3d6e2211149_2_228">
            <a:extLst>
              <a:ext uri="{FF2B5EF4-FFF2-40B4-BE49-F238E27FC236}">
                <a16:creationId xmlns:a16="http://schemas.microsoft.com/office/drawing/2014/main" id="{81C7F6E8-9713-0042-B657-573CCF41AB1F}"/>
              </a:ext>
            </a:extLst>
          </p:cNvPr>
          <p:cNvCxnSpPr>
            <a:cxnSpLocks/>
            <a:stCxn id="125" idx="0"/>
            <a:endCxn id="95" idx="2"/>
          </p:cNvCxnSpPr>
          <p:nvPr/>
        </p:nvCxnSpPr>
        <p:spPr>
          <a:xfrm flipH="1" flipV="1">
            <a:off x="2838326" y="1799908"/>
            <a:ext cx="511876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28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66E7D9E-4CB1-6B4C-B1C6-1B287DB10D4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302;g3d6e2211149_2_228">
            <a:extLst>
              <a:ext uri="{FF2B5EF4-FFF2-40B4-BE49-F238E27FC236}">
                <a16:creationId xmlns:a16="http://schemas.microsoft.com/office/drawing/2014/main" id="{5CDC89D0-CE22-C04F-9399-B0E824324A63}"/>
              </a:ext>
            </a:extLst>
          </p:cNvPr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</a:t>
            </a:r>
            <a:r>
              <a:rPr lang="en-US" sz="900">
                <a:solidFill>
                  <a:schemeClr val="dk1"/>
                </a:solidFill>
              </a:rPr>
              <a:t>MySQL)</a:t>
            </a:r>
            <a:endParaRPr/>
          </a:p>
        </p:txBody>
      </p:sp>
      <p:cxnSp>
        <p:nvCxnSpPr>
          <p:cNvPr id="130" name="Google Shape;364;g3d6e2211149_2_228">
            <a:extLst>
              <a:ext uri="{FF2B5EF4-FFF2-40B4-BE49-F238E27FC236}">
                <a16:creationId xmlns:a16="http://schemas.microsoft.com/office/drawing/2014/main" id="{33659C02-78F6-3B49-B334-7F0719FDEBD4}"/>
              </a:ext>
            </a:extLst>
          </p:cNvPr>
          <p:cNvCxnSpPr>
            <a:cxnSpLocks/>
            <a:stCxn id="128" idx="1"/>
            <a:endCxn id="125" idx="2"/>
          </p:cNvCxnSpPr>
          <p:nvPr/>
        </p:nvCxnSpPr>
        <p:spPr>
          <a:xfrm flipH="1" flipV="1">
            <a:off x="3350202" y="3203608"/>
            <a:ext cx="551911" cy="3773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882014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 – Curated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데이터셋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 xml:space="preserve">Curated </a:t>
            </a:r>
            <a:r>
              <a:rPr lang="ko-KR" altLang="en-US" b="1" dirty="0"/>
              <a:t xml:space="preserve">데이터는 고객 중심으로 통합된 </a:t>
            </a:r>
            <a:r>
              <a:rPr lang="en-US" b="1" dirty="0"/>
              <a:t xml:space="preserve">Customer360 </a:t>
            </a:r>
            <a:r>
              <a:rPr lang="ko-KR" altLang="en-US" b="1" dirty="0"/>
              <a:t>최종 데이터셋</a:t>
            </a:r>
            <a:endParaRPr lang="en-KR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C20CC17-EC78-B14F-A99A-377853927A5D}"/>
              </a:ext>
            </a:extLst>
          </p:cNvPr>
          <p:cNvSpPr txBox="1"/>
          <p:nvPr/>
        </p:nvSpPr>
        <p:spPr>
          <a:xfrm>
            <a:off x="360449" y="1651591"/>
            <a:ext cx="3326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1)</a:t>
            </a:r>
            <a:r>
              <a:rPr lang="ko-KR" altLang="en-US" sz="1200" dirty="0"/>
              <a:t xml:space="preserve"> </a:t>
            </a:r>
            <a:r>
              <a:rPr lang="en-KR" sz="1200" dirty="0"/>
              <a:t>Customer 360 (</a:t>
            </a:r>
            <a:r>
              <a:rPr lang="ko-KR" altLang="en-US" sz="1200"/>
              <a:t>고객의 전체 통합 데이터셋</a:t>
            </a:r>
            <a:r>
              <a:rPr lang="en-US" altLang="ko-KR" sz="1200" dirty="0"/>
              <a:t>)</a:t>
            </a:r>
            <a:endParaRPr lang="en-KR" sz="12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08ED15A-610C-A844-B083-174FD351DC2D}"/>
              </a:ext>
            </a:extLst>
          </p:cNvPr>
          <p:cNvSpPr txBox="1"/>
          <p:nvPr/>
        </p:nvSpPr>
        <p:spPr>
          <a:xfrm>
            <a:off x="297543" y="138401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데이터셋</a:t>
            </a:r>
            <a:endParaRPr lang="en-US" altLang="ko-KR" sz="1200" b="1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7B06C2E-1CA1-F24B-B39D-35A52DBECCD5}"/>
              </a:ext>
            </a:extLst>
          </p:cNvPr>
          <p:cNvSpPr txBox="1"/>
          <p:nvPr/>
        </p:nvSpPr>
        <p:spPr>
          <a:xfrm>
            <a:off x="500684" y="2014273"/>
            <a:ext cx="3185945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자산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카드소비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보험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투자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건강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등급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추천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행동로그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동의정보</a:t>
            </a:r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7F73045-B943-DC41-8FCD-485E37517370}"/>
              </a:ext>
            </a:extLst>
          </p:cNvPr>
          <p:cNvSpPr txBox="1"/>
          <p:nvPr/>
        </p:nvSpPr>
        <p:spPr>
          <a:xfrm>
            <a:off x="360449" y="3915819"/>
            <a:ext cx="49094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2)</a:t>
            </a:r>
            <a:r>
              <a:rPr lang="ko-KR" altLang="en-US" sz="1200"/>
              <a:t xml:space="preserve"> </a:t>
            </a:r>
            <a:r>
              <a:rPr lang="en-US" sz="1200"/>
              <a:t>Score Mart (</a:t>
            </a:r>
            <a:r>
              <a:rPr lang="ko-KR" altLang="en-US" sz="1200"/>
              <a:t>점수 전용 데이터셋</a:t>
            </a:r>
            <a:r>
              <a:rPr lang="en-US" altLang="ko-KR" sz="1200"/>
              <a:t>)</a:t>
            </a:r>
            <a:endParaRPr lang="en-KR" sz="12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B32181-4128-5C4E-BB22-4113BDDB9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997602"/>
              </p:ext>
            </p:extLst>
          </p:nvPr>
        </p:nvGraphicFramePr>
        <p:xfrm>
          <a:off x="500683" y="4261171"/>
          <a:ext cx="3185945" cy="2225040"/>
        </p:xfrm>
        <a:graphic>
          <a:graphicData uri="http://schemas.openxmlformats.org/drawingml/2006/table">
            <a:tbl>
              <a:tblPr/>
              <a:tblGrid>
                <a:gridCol w="3185945">
                  <a:extLst>
                    <a:ext uri="{9D8B030D-6E8A-4147-A177-3AD203B41FA5}">
                      <a16:colId xmlns:a16="http://schemas.microsoft.com/office/drawing/2014/main" val="1039414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2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106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lifesync_score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576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vip_score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3468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pb_score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6160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11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churn_score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5816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/>
                        <a:t>customer_grade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157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score_dt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455405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4E16F26F-7AB3-F346-8538-D0F396E9F60A}"/>
              </a:ext>
            </a:extLst>
          </p:cNvPr>
          <p:cNvSpPr txBox="1"/>
          <p:nvPr/>
        </p:nvSpPr>
        <p:spPr>
          <a:xfrm>
            <a:off x="4418571" y="1651591"/>
            <a:ext cx="3326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3)</a:t>
            </a:r>
            <a:r>
              <a:rPr lang="ko-KR" altLang="en-US" sz="1200"/>
              <a:t xml:space="preserve"> </a:t>
            </a:r>
            <a:r>
              <a:rPr lang="en-US" altLang="ko-KR" sz="1200"/>
              <a:t>VIP Mart</a:t>
            </a:r>
            <a:endParaRPr lang="en-KR" sz="120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09AA2B7-2C73-5B4C-AB98-ABC9FBEA1010}"/>
              </a:ext>
            </a:extLst>
          </p:cNvPr>
          <p:cNvSpPr txBox="1"/>
          <p:nvPr/>
        </p:nvSpPr>
        <p:spPr>
          <a:xfrm>
            <a:off x="8393777" y="1652519"/>
            <a:ext cx="3326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4)</a:t>
            </a:r>
            <a:r>
              <a:rPr lang="ko-KR" altLang="en-US" sz="1200"/>
              <a:t xml:space="preserve"> </a:t>
            </a:r>
            <a:r>
              <a:rPr lang="en-US" altLang="ko-KR" sz="1200"/>
              <a:t>Recommendation Mart</a:t>
            </a:r>
            <a:endParaRPr lang="en-KR" sz="12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327BF6-EE93-3549-BFE5-EAFCDB754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143170"/>
              </p:ext>
            </p:extLst>
          </p:nvPr>
        </p:nvGraphicFramePr>
        <p:xfrm>
          <a:off x="8569153" y="2015201"/>
          <a:ext cx="3150804" cy="2468880"/>
        </p:xfrm>
        <a:graphic>
          <a:graphicData uri="http://schemas.openxmlformats.org/drawingml/2006/table">
            <a:tbl>
              <a:tblPr/>
              <a:tblGrid>
                <a:gridCol w="3150804">
                  <a:extLst>
                    <a:ext uri="{9D8B030D-6E8A-4147-A177-3AD203B41FA5}">
                      <a16:colId xmlns:a16="http://schemas.microsoft.com/office/drawing/2014/main" val="7183796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173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168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rec_rank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241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recommendation_code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8999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recommendation_name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77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recommendation_score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379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reason_1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81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reason_2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9491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valid_until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948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process_dt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243317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87668BC-4ADD-5342-A68A-0BC8B86CF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591251"/>
              </p:ext>
            </p:extLst>
          </p:nvPr>
        </p:nvGraphicFramePr>
        <p:xfrm>
          <a:off x="4520598" y="2014273"/>
          <a:ext cx="3150804" cy="2956560"/>
        </p:xfrm>
        <a:graphic>
          <a:graphicData uri="http://schemas.openxmlformats.org/drawingml/2006/table">
            <a:tbl>
              <a:tblPr/>
              <a:tblGrid>
                <a:gridCol w="3150804">
                  <a:extLst>
                    <a:ext uri="{9D8B030D-6E8A-4147-A177-3AD203B41FA5}">
                      <a16:colId xmlns:a16="http://schemas.microsoft.com/office/drawing/2014/main" val="2092366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311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3963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total_asset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5104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lifesync_score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075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vip_score_final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493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vip_level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9419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priority_rank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066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recommended_action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006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customer_grade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772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0574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pb_score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2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churn_score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5244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1604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 – Curated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데이터셋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 xml:space="preserve">Curated </a:t>
            </a:r>
            <a:r>
              <a:rPr lang="ko-KR" altLang="en-US" b="1" dirty="0"/>
              <a:t xml:space="preserve">데이터는 고객 중심으로 통합된 </a:t>
            </a:r>
            <a:r>
              <a:rPr lang="en-US" b="1" dirty="0"/>
              <a:t xml:space="preserve">Customer360 </a:t>
            </a:r>
            <a:r>
              <a:rPr lang="ko-KR" altLang="en-US" b="1" dirty="0"/>
              <a:t>최종 데이터셋</a:t>
            </a:r>
            <a:endParaRPr lang="en-KR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08ED15A-610C-A844-B083-174FD351DC2D}"/>
              </a:ext>
            </a:extLst>
          </p:cNvPr>
          <p:cNvSpPr txBox="1"/>
          <p:nvPr/>
        </p:nvSpPr>
        <p:spPr>
          <a:xfrm>
            <a:off x="297543" y="138401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데이터셋</a:t>
            </a:r>
            <a:endParaRPr lang="en-US" altLang="ko-KR" sz="1200" b="1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E16F26F-7AB3-F346-8538-D0F396E9F60A}"/>
              </a:ext>
            </a:extLst>
          </p:cNvPr>
          <p:cNvSpPr txBox="1"/>
          <p:nvPr/>
        </p:nvSpPr>
        <p:spPr>
          <a:xfrm>
            <a:off x="4812379" y="1853919"/>
            <a:ext cx="68144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6)</a:t>
            </a:r>
            <a:r>
              <a:rPr lang="ko-KR" altLang="en-US" sz="1200"/>
              <a:t xml:space="preserve"> </a:t>
            </a:r>
            <a:r>
              <a:rPr lang="en-US" altLang="ko-KR" sz="1200"/>
              <a:t>AI Feature Table</a:t>
            </a:r>
            <a:r>
              <a:rPr lang="ko-KR" altLang="en-US" sz="1200"/>
              <a:t xml:space="preserve"> </a:t>
            </a:r>
            <a:r>
              <a:rPr lang="en-US" altLang="ko-KR" sz="1200"/>
              <a:t>(</a:t>
            </a:r>
            <a:r>
              <a:rPr lang="en-US" sz="1200"/>
              <a:t xml:space="preserve">AI </a:t>
            </a:r>
            <a:r>
              <a:rPr lang="ko-KR" altLang="en-US" sz="1200"/>
              <a:t xml:space="preserve">모델이 학습하고 예측하기 위한 </a:t>
            </a:r>
            <a:r>
              <a:rPr lang="en-US" sz="1200"/>
              <a:t>Feature Dataset</a:t>
            </a:r>
            <a:r>
              <a:rPr lang="en-US" altLang="ko-KR" sz="1200"/>
              <a:t>)</a:t>
            </a:r>
            <a:endParaRPr lang="en-KR" sz="12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B32F039-52EA-0842-A56C-75C4DEB4F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303679"/>
              </p:ext>
            </p:extLst>
          </p:nvPr>
        </p:nvGraphicFramePr>
        <p:xfrm>
          <a:off x="4928493" y="2236743"/>
          <a:ext cx="3214914" cy="4351335"/>
        </p:xfrm>
        <a:graphic>
          <a:graphicData uri="http://schemas.openxmlformats.org/drawingml/2006/table">
            <a:tbl>
              <a:tblPr/>
              <a:tblGrid>
                <a:gridCol w="3214914">
                  <a:extLst>
                    <a:ext uri="{9D8B030D-6E8A-4147-A177-3AD203B41FA5}">
                      <a16:colId xmlns:a16="http://schemas.microsoft.com/office/drawing/2014/main" val="1883604265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38610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global_id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93941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balance_30d_avg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55969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asset_growth_90d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761720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card_spend_30d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857274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invest_ratio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233473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avg_steps_30d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136221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stress_avg_30d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106405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login_cnt_30d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073836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affiliate_cnt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56258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consent_ratio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16780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membership_days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65444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spend_growth_90d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8835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inactive_days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86588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vip_label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783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957706E-88BC-6548-9F55-2E5065D9948D}"/>
              </a:ext>
            </a:extLst>
          </p:cNvPr>
          <p:cNvSpPr txBox="1"/>
          <p:nvPr/>
        </p:nvSpPr>
        <p:spPr>
          <a:xfrm>
            <a:off x="297543" y="1959744"/>
            <a:ext cx="3326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5)</a:t>
            </a:r>
            <a:r>
              <a:rPr lang="ko-KR" altLang="en-US" sz="1200"/>
              <a:t xml:space="preserve"> </a:t>
            </a:r>
            <a:r>
              <a:rPr lang="en-US" altLang="ko-KR" sz="1200"/>
              <a:t>Health Mart</a:t>
            </a:r>
            <a:endParaRPr lang="en-KR" sz="120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AAD46CF-96CE-D744-BA61-7C57E6A23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194821"/>
              </p:ext>
            </p:extLst>
          </p:nvPr>
        </p:nvGraphicFramePr>
        <p:xfrm>
          <a:off x="472919" y="2452821"/>
          <a:ext cx="3185945" cy="3200400"/>
        </p:xfrm>
        <a:graphic>
          <a:graphicData uri="http://schemas.openxmlformats.org/drawingml/2006/table">
            <a:tbl>
              <a:tblPr/>
              <a:tblGrid>
                <a:gridCol w="3185945">
                  <a:extLst>
                    <a:ext uri="{9D8B030D-6E8A-4147-A177-3AD203B41FA5}">
                      <a16:colId xmlns:a16="http://schemas.microsoft.com/office/drawing/2014/main" val="4809578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75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623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avg_steps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884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avg_hr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850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spo2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9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bmi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532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568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sleep_avg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692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hospital_visit_cnt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0803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450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785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613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next_health_action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481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880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 dirty="0">
                <a:latin typeface="Arial"/>
                <a:ea typeface="Arial"/>
                <a:cs typeface="Arial"/>
                <a:sym typeface="Arial"/>
              </a:rPr>
              <a:t>(Customer 360 Score</a:t>
            </a: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 xml:space="preserve"> 규칙</a:t>
            </a:r>
            <a:r>
              <a:rPr lang="en-US" altLang="ko-KR" sz="3000" dirty="0">
                <a:latin typeface="Arial"/>
                <a:ea typeface="Arial"/>
                <a:cs typeface="Arial"/>
                <a:sym typeface="Arial"/>
              </a:rPr>
              <a:t xml:space="preserve"> – 1/3)</a:t>
            </a: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5758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LifeSync360 Customer360 Score</a:t>
            </a:r>
            <a:r>
              <a:rPr lang="ko-KR" altLang="en-US" b="1" dirty="0"/>
              <a:t xml:space="preserve">는 고객의 금융 </a:t>
            </a:r>
            <a:r>
              <a:rPr lang="en-US" altLang="ko-KR" b="1" dirty="0"/>
              <a:t xml:space="preserve">+ </a:t>
            </a:r>
            <a:r>
              <a:rPr lang="ko-KR" altLang="en-US" b="1" dirty="0"/>
              <a:t xml:space="preserve">건강 </a:t>
            </a:r>
            <a:r>
              <a:rPr lang="en-US" altLang="ko-KR" b="1" dirty="0"/>
              <a:t xml:space="preserve">+ </a:t>
            </a:r>
            <a:r>
              <a:rPr lang="ko-KR" altLang="en-US" b="1" dirty="0"/>
              <a:t xml:space="preserve">충성도 </a:t>
            </a:r>
            <a:r>
              <a:rPr lang="en-US" altLang="ko-KR" b="1" dirty="0"/>
              <a:t xml:space="preserve">+ </a:t>
            </a:r>
            <a:r>
              <a:rPr lang="ko-KR" altLang="en-US" b="1" dirty="0"/>
              <a:t xml:space="preserve">성장성 </a:t>
            </a:r>
            <a:r>
              <a:rPr lang="en-US" altLang="ko-KR" b="1" dirty="0"/>
              <a:t xml:space="preserve">+ </a:t>
            </a:r>
            <a:r>
              <a:rPr lang="ko-KR" altLang="en-US" b="1" dirty="0"/>
              <a:t>리스크를 종합 평가하여</a:t>
            </a:r>
            <a:r>
              <a:rPr lang="en-US" altLang="ko-KR" b="1" dirty="0"/>
              <a:t xml:space="preserve"> 0 ~ 100 </a:t>
            </a:r>
            <a:r>
              <a:rPr lang="ko-KR" altLang="en-US" b="1" dirty="0"/>
              <a:t>점수화</a:t>
            </a:r>
            <a:endParaRPr lang="en-KR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02420A-EC28-0C46-AB59-46B0812D0DC9}"/>
              </a:ext>
            </a:extLst>
          </p:cNvPr>
          <p:cNvSpPr txBox="1"/>
          <p:nvPr/>
        </p:nvSpPr>
        <p:spPr>
          <a:xfrm>
            <a:off x="297543" y="1384011"/>
            <a:ext cx="292179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목적 </a:t>
            </a:r>
            <a:endParaRPr lang="en-US" altLang="ko-KR" sz="1200" b="1"/>
          </a:p>
          <a:p>
            <a:endParaRPr lang="en-US" altLang="ko-K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금융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충성도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성장성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리스크</a:t>
            </a:r>
            <a:endParaRPr lang="en-US" altLang="ko-KR" sz="1000"/>
          </a:p>
          <a:p>
            <a:r>
              <a:rPr lang="ko-KR" altLang="en-US" sz="1000"/>
              <a:t xml:space="preserve">를 종합 평가 점수 도출 </a:t>
            </a:r>
            <a:endParaRPr lang="en-US" altLang="ko-KR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E8D80C-98EE-104C-A6B2-305E1F97F861}"/>
              </a:ext>
            </a:extLst>
          </p:cNvPr>
          <p:cNvSpPr txBox="1"/>
          <p:nvPr/>
        </p:nvSpPr>
        <p:spPr>
          <a:xfrm>
            <a:off x="2911904" y="138401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 xml:space="preserve">Customer 360 </a:t>
            </a:r>
            <a:r>
              <a:rPr lang="ko-KR" altLang="en-US" sz="1200" b="1" dirty="0"/>
              <a:t xml:space="preserve">규칙 </a:t>
            </a:r>
            <a:endParaRPr lang="en-US" altLang="ko-KR" sz="1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419EE-347A-A549-A6AF-71950617C757}"/>
              </a:ext>
            </a:extLst>
          </p:cNvPr>
          <p:cNvSpPr txBox="1"/>
          <p:nvPr/>
        </p:nvSpPr>
        <p:spPr>
          <a:xfrm>
            <a:off x="3027959" y="1746304"/>
            <a:ext cx="4952259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/>
              <a:t xml:space="preserve">최종 </a:t>
            </a:r>
            <a:r>
              <a:rPr lang="en-US" sz="1000"/>
              <a:t xml:space="preserve">Score = </a:t>
            </a:r>
            <a:r>
              <a:rPr lang="ko-KR" altLang="en-US" sz="1000"/>
              <a:t xml:space="preserve">금융점수 </a:t>
            </a:r>
            <a:r>
              <a:rPr lang="en-US" altLang="ko-KR" sz="1000"/>
              <a:t xml:space="preserve">+ </a:t>
            </a:r>
            <a:r>
              <a:rPr lang="ko-KR" altLang="en-US" sz="1000"/>
              <a:t xml:space="preserve">건강점수 </a:t>
            </a:r>
            <a:r>
              <a:rPr lang="en-US" altLang="ko-KR" sz="1000"/>
              <a:t xml:space="preserve">+ </a:t>
            </a:r>
            <a:r>
              <a:rPr lang="ko-KR" altLang="en-US" sz="1000"/>
              <a:t xml:space="preserve">관계점수 </a:t>
            </a:r>
            <a:r>
              <a:rPr lang="en-US" altLang="ko-KR" sz="1000"/>
              <a:t xml:space="preserve">+ </a:t>
            </a:r>
            <a:r>
              <a:rPr lang="ko-KR" altLang="en-US" sz="1000"/>
              <a:t xml:space="preserve">성장점수 </a:t>
            </a:r>
            <a:r>
              <a:rPr lang="en-US" altLang="ko-KR" sz="1000"/>
              <a:t xml:space="preserve">- </a:t>
            </a:r>
            <a:r>
              <a:rPr lang="ko-KR" altLang="en-US" sz="1000"/>
              <a:t>리스크점수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최대 </a:t>
            </a:r>
            <a:r>
              <a:rPr lang="en-US" altLang="ko-KR" sz="1000"/>
              <a:t>100</a:t>
            </a:r>
            <a:r>
              <a:rPr lang="ko-KR" altLang="en-US" sz="1000"/>
              <a:t xml:space="preserve">점 </a:t>
            </a:r>
            <a:r>
              <a:rPr lang="en-US" altLang="ko-KR" sz="1000"/>
              <a:t>~</a:t>
            </a:r>
            <a:r>
              <a:rPr lang="ko-KR" altLang="en-US" sz="1000"/>
              <a:t xml:space="preserve"> 최소 </a:t>
            </a:r>
            <a:r>
              <a:rPr lang="en-US" altLang="ko-KR" sz="1000"/>
              <a:t>0</a:t>
            </a:r>
            <a:r>
              <a:rPr lang="ko-KR" altLang="en-US" sz="1000"/>
              <a:t>점</a:t>
            </a:r>
            <a:endParaRPr lang="en-KR" sz="1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AD7242-51AF-CF46-8E6B-9E174FDDCAA7}"/>
              </a:ext>
            </a:extLst>
          </p:cNvPr>
          <p:cNvSpPr txBox="1"/>
          <p:nvPr/>
        </p:nvSpPr>
        <p:spPr>
          <a:xfrm>
            <a:off x="297543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점수 전체 비중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A298E0-6F7C-214B-B96D-04AB1A82A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122822"/>
              </p:ext>
            </p:extLst>
          </p:nvPr>
        </p:nvGraphicFramePr>
        <p:xfrm>
          <a:off x="297543" y="3644787"/>
          <a:ext cx="2614362" cy="1737360"/>
        </p:xfrm>
        <a:graphic>
          <a:graphicData uri="http://schemas.openxmlformats.org/drawingml/2006/table">
            <a:tbl>
              <a:tblPr/>
              <a:tblGrid>
                <a:gridCol w="1307181">
                  <a:extLst>
                    <a:ext uri="{9D8B030D-6E8A-4147-A177-3AD203B41FA5}">
                      <a16:colId xmlns:a16="http://schemas.microsoft.com/office/drawing/2014/main" val="3237777448"/>
                    </a:ext>
                  </a:extLst>
                </a:gridCol>
                <a:gridCol w="1307181">
                  <a:extLst>
                    <a:ext uri="{9D8B030D-6E8A-4147-A177-3AD203B41FA5}">
                      <a16:colId xmlns:a16="http://schemas.microsoft.com/office/drawing/2014/main" val="2800361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최대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998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808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25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980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515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652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총합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43603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FEC0939-95E9-DC48-A297-030D0ED99630}"/>
              </a:ext>
            </a:extLst>
          </p:cNvPr>
          <p:cNvSpPr txBox="1"/>
          <p:nvPr/>
        </p:nvSpPr>
        <p:spPr>
          <a:xfrm>
            <a:off x="3448706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금융점수 </a:t>
            </a:r>
            <a:r>
              <a:rPr lang="en-US" altLang="ko-KR" sz="1200" b="1"/>
              <a:t>(40)</a:t>
            </a:r>
            <a:endParaRPr lang="en-US" altLang="ko-KR" sz="10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E683C5-5D84-7246-8048-6D759E919AE0}"/>
              </a:ext>
            </a:extLst>
          </p:cNvPr>
          <p:cNvSpPr txBox="1"/>
          <p:nvPr/>
        </p:nvSpPr>
        <p:spPr>
          <a:xfrm>
            <a:off x="3448706" y="3490898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 xml:space="preserve"> 예금 </a:t>
            </a:r>
            <a:r>
              <a:rPr lang="en-US" altLang="ko-KR" sz="1000" b="1"/>
              <a:t xml:space="preserve">/ </a:t>
            </a:r>
            <a:r>
              <a:rPr lang="ko-KR" altLang="en-US" sz="1000" b="1"/>
              <a:t xml:space="preserve">잔액 점수 </a:t>
            </a:r>
            <a:r>
              <a:rPr lang="en-US" altLang="ko-KR" sz="1000" b="1"/>
              <a:t>(</a:t>
            </a:r>
            <a:r>
              <a:rPr lang="ko-KR" altLang="en-US" sz="1000" b="1"/>
              <a:t xml:space="preserve">최대 </a:t>
            </a:r>
            <a:r>
              <a:rPr lang="en-US" altLang="ko-KR" sz="1000" b="1"/>
              <a:t>15)</a:t>
            </a:r>
            <a:endParaRPr lang="en-KR" sz="10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0993F9-86B3-734F-9BEC-1190F5D25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889355"/>
              </p:ext>
            </p:extLst>
          </p:nvPr>
        </p:nvGraphicFramePr>
        <p:xfrm>
          <a:off x="3448706" y="3870193"/>
          <a:ext cx="2614362" cy="1493520"/>
        </p:xfrm>
        <a:graphic>
          <a:graphicData uri="http://schemas.openxmlformats.org/drawingml/2006/table">
            <a:tbl>
              <a:tblPr/>
              <a:tblGrid>
                <a:gridCol w="1307181">
                  <a:extLst>
                    <a:ext uri="{9D8B030D-6E8A-4147-A177-3AD203B41FA5}">
                      <a16:colId xmlns:a16="http://schemas.microsoft.com/office/drawing/2014/main" val="2042136049"/>
                    </a:ext>
                  </a:extLst>
                </a:gridCol>
                <a:gridCol w="1307181">
                  <a:extLst>
                    <a:ext uri="{9D8B030D-6E8A-4147-A177-3AD203B41FA5}">
                      <a16:colId xmlns:a16="http://schemas.microsoft.com/office/drawing/2014/main" val="990306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latest_balance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519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453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150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786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300</a:t>
                      </a:r>
                      <a:r>
                        <a:rPr lang="ko-KR" altLang="en-US" sz="1000"/>
                        <a:t>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725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540381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386A28C-9579-EE44-ABD3-2F4A5D8DE374}"/>
              </a:ext>
            </a:extLst>
          </p:cNvPr>
          <p:cNvSpPr txBox="1"/>
          <p:nvPr/>
        </p:nvSpPr>
        <p:spPr>
          <a:xfrm>
            <a:off x="6388854" y="3490898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2)</a:t>
            </a:r>
            <a:r>
              <a:rPr lang="ko-KR" altLang="en-US" sz="1000" b="1"/>
              <a:t xml:space="preserve"> 카드 소비 점수 </a:t>
            </a:r>
            <a:r>
              <a:rPr lang="en-US" altLang="ko-KR" sz="1000" b="1"/>
              <a:t>(</a:t>
            </a:r>
            <a:r>
              <a:rPr lang="ko-KR" altLang="en-US" sz="1000" b="1"/>
              <a:t xml:space="preserve">최대 </a:t>
            </a:r>
            <a:r>
              <a:rPr lang="en-US" altLang="ko-KR" sz="1000" b="1"/>
              <a:t>10)</a:t>
            </a:r>
            <a:endParaRPr lang="en-KR" sz="1000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3A88CC-0F39-7443-BB3C-5BCA6CCEF67A}"/>
              </a:ext>
            </a:extLst>
          </p:cNvPr>
          <p:cNvSpPr txBox="1"/>
          <p:nvPr/>
        </p:nvSpPr>
        <p:spPr>
          <a:xfrm>
            <a:off x="9329001" y="3490898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3)</a:t>
            </a:r>
            <a:r>
              <a:rPr lang="ko-KR" altLang="en-US" sz="1000" b="1"/>
              <a:t xml:space="preserve"> 투자 자산 점수 </a:t>
            </a:r>
            <a:r>
              <a:rPr lang="en-US" altLang="ko-KR" sz="1000" b="1"/>
              <a:t>(</a:t>
            </a:r>
            <a:r>
              <a:rPr lang="ko-KR" altLang="en-US" sz="1000" b="1"/>
              <a:t xml:space="preserve">최대 </a:t>
            </a:r>
            <a:r>
              <a:rPr lang="en-US" altLang="ko-KR" sz="1000" b="1"/>
              <a:t>15)</a:t>
            </a:r>
            <a:endParaRPr lang="en-KR" sz="10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F203B8-65F7-F344-8C5D-CD92DACE3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149097"/>
              </p:ext>
            </p:extLst>
          </p:nvPr>
        </p:nvGraphicFramePr>
        <p:xfrm>
          <a:off x="6388854" y="3858901"/>
          <a:ext cx="2614362" cy="1493520"/>
        </p:xfrm>
        <a:graphic>
          <a:graphicData uri="http://schemas.openxmlformats.org/drawingml/2006/table">
            <a:tbl>
              <a:tblPr/>
              <a:tblGrid>
                <a:gridCol w="1953288">
                  <a:extLst>
                    <a:ext uri="{9D8B030D-6E8A-4147-A177-3AD203B41FA5}">
                      <a16:colId xmlns:a16="http://schemas.microsoft.com/office/drawing/2014/main" val="3500896627"/>
                    </a:ext>
                  </a:extLst>
                </a:gridCol>
                <a:gridCol w="661074">
                  <a:extLst>
                    <a:ext uri="{9D8B030D-6E8A-4147-A177-3AD203B41FA5}">
                      <a16:colId xmlns:a16="http://schemas.microsoft.com/office/drawing/2014/main" val="13564172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monthly card spend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281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500</a:t>
                      </a:r>
                      <a:r>
                        <a:rPr lang="ko-KR" altLang="en-US" sz="1000"/>
                        <a:t>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5923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300</a:t>
                      </a:r>
                      <a:r>
                        <a:rPr lang="ko-KR" altLang="en-US" sz="1000"/>
                        <a:t>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336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150</a:t>
                      </a:r>
                      <a:r>
                        <a:rPr lang="ko-KR" altLang="en-US" sz="1000"/>
                        <a:t>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8647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50</a:t>
                      </a:r>
                      <a:r>
                        <a:rPr lang="ko-KR" altLang="en-US" sz="1000"/>
                        <a:t>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672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4189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7D347D-3A4F-8C41-A99C-687D37EBD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660199"/>
              </p:ext>
            </p:extLst>
          </p:nvPr>
        </p:nvGraphicFramePr>
        <p:xfrm>
          <a:off x="9329001" y="3847609"/>
          <a:ext cx="2565456" cy="1493520"/>
        </p:xfrm>
        <a:graphic>
          <a:graphicData uri="http://schemas.openxmlformats.org/drawingml/2006/table">
            <a:tbl>
              <a:tblPr/>
              <a:tblGrid>
                <a:gridCol w="1282728">
                  <a:extLst>
                    <a:ext uri="{9D8B030D-6E8A-4147-A177-3AD203B41FA5}">
                      <a16:colId xmlns:a16="http://schemas.microsoft.com/office/drawing/2014/main" val="3119256384"/>
                    </a:ext>
                  </a:extLst>
                </a:gridCol>
                <a:gridCol w="1282728">
                  <a:extLst>
                    <a:ext uri="{9D8B030D-6E8A-4147-A177-3AD203B41FA5}">
                      <a16:colId xmlns:a16="http://schemas.microsoft.com/office/drawing/2014/main" val="3427607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invest_total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894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억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427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2484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986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121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7063180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EF2990B0-C3F0-434B-973F-0EC41D7FB34F}"/>
              </a:ext>
            </a:extLst>
          </p:cNvPr>
          <p:cNvSpPr txBox="1"/>
          <p:nvPr/>
        </p:nvSpPr>
        <p:spPr>
          <a:xfrm>
            <a:off x="3448706" y="565411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금융 계산 규칙 </a:t>
            </a:r>
            <a:endParaRPr lang="en-US" altLang="ko-KR" sz="1000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042CF5-5431-2441-9C3A-8D847543141C}"/>
              </a:ext>
            </a:extLst>
          </p:cNvPr>
          <p:cNvSpPr txBox="1"/>
          <p:nvPr/>
        </p:nvSpPr>
        <p:spPr>
          <a:xfrm>
            <a:off x="3564761" y="6016407"/>
            <a:ext cx="495225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/>
              <a:t>financial_score =</a:t>
            </a:r>
            <a:r>
              <a:rPr lang="ko-KR" altLang="en-US" sz="1000" b="1"/>
              <a:t xml:space="preserve"> </a:t>
            </a:r>
            <a:r>
              <a:rPr lang="en-US" altLang="ko-KR" sz="1000" b="1"/>
              <a:t>balance_score</a:t>
            </a:r>
            <a:r>
              <a:rPr lang="ko-KR" altLang="en-US" sz="1000" b="1"/>
              <a:t xml:space="preserve"> </a:t>
            </a:r>
            <a:r>
              <a:rPr lang="en-US" altLang="ko-KR" sz="1000" b="1"/>
              <a:t>+ card_score</a:t>
            </a:r>
            <a:r>
              <a:rPr lang="ko-KR" altLang="en-US" sz="1000" b="1"/>
              <a:t xml:space="preserve"> </a:t>
            </a:r>
            <a:r>
              <a:rPr lang="en-US" altLang="ko-KR" sz="1000" b="1"/>
              <a:t>+ invest_score</a:t>
            </a:r>
            <a:endParaRPr lang="en-KR" sz="1000" b="1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E9E5B7-A847-F34F-A238-DD6132194A6C}"/>
              </a:ext>
            </a:extLst>
          </p:cNvPr>
          <p:cNvSpPr txBox="1"/>
          <p:nvPr/>
        </p:nvSpPr>
        <p:spPr>
          <a:xfrm>
            <a:off x="3027958" y="2309455"/>
            <a:ext cx="8845387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1"/>
              <a:t>lifesync_score = financial_score + health_score + relationship_score + growth_score - risk_score</a:t>
            </a:r>
            <a:endParaRPr lang="en-KR" sz="1000" b="1"/>
          </a:p>
        </p:txBody>
      </p:sp>
    </p:spTree>
    <p:extLst>
      <p:ext uri="{BB962C8B-B14F-4D97-AF65-F5344CB8AC3E}">
        <p14:creationId xmlns:p14="http://schemas.microsoft.com/office/powerpoint/2010/main" val="2112169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 dirty="0">
                <a:latin typeface="Arial"/>
                <a:ea typeface="Arial"/>
                <a:cs typeface="Arial"/>
                <a:sym typeface="Arial"/>
              </a:rPr>
              <a:t>(Customer 360 Score</a:t>
            </a: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 xml:space="preserve"> 규칙</a:t>
            </a:r>
            <a:r>
              <a:rPr lang="en-US" altLang="ko-KR" sz="3000" dirty="0">
                <a:latin typeface="Arial"/>
                <a:ea typeface="Arial"/>
                <a:cs typeface="Arial"/>
                <a:sym typeface="Arial"/>
              </a:rPr>
              <a:t xml:space="preserve"> – 2/3)</a:t>
            </a: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5758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LifeSync360 Customer360 Score</a:t>
            </a:r>
            <a:r>
              <a:rPr lang="ko-KR" altLang="en-US" b="1" dirty="0"/>
              <a:t xml:space="preserve">는 고객의 금융 </a:t>
            </a:r>
            <a:r>
              <a:rPr lang="en-US" altLang="ko-KR" b="1" dirty="0"/>
              <a:t xml:space="preserve">+ </a:t>
            </a:r>
            <a:r>
              <a:rPr lang="ko-KR" altLang="en-US" b="1" dirty="0"/>
              <a:t xml:space="preserve">건강 </a:t>
            </a:r>
            <a:r>
              <a:rPr lang="en-US" altLang="ko-KR" b="1" dirty="0"/>
              <a:t xml:space="preserve">+ </a:t>
            </a:r>
            <a:r>
              <a:rPr lang="ko-KR" altLang="en-US" b="1" dirty="0"/>
              <a:t xml:space="preserve">충성도 </a:t>
            </a:r>
            <a:r>
              <a:rPr lang="en-US" altLang="ko-KR" b="1" dirty="0"/>
              <a:t xml:space="preserve">+ </a:t>
            </a:r>
            <a:r>
              <a:rPr lang="ko-KR" altLang="en-US" b="1" dirty="0"/>
              <a:t xml:space="preserve">성장성 </a:t>
            </a:r>
            <a:r>
              <a:rPr lang="en-US" altLang="ko-KR" b="1" dirty="0"/>
              <a:t xml:space="preserve">+ </a:t>
            </a:r>
            <a:r>
              <a:rPr lang="ko-KR" altLang="en-US" b="1" dirty="0"/>
              <a:t>리스크를 종합 평가하여</a:t>
            </a:r>
            <a:r>
              <a:rPr lang="en-US" altLang="ko-KR" b="1" dirty="0"/>
              <a:t xml:space="preserve"> 0 ~ 100 </a:t>
            </a:r>
            <a:r>
              <a:rPr lang="ko-KR" altLang="en-US" b="1" dirty="0"/>
              <a:t>점수화</a:t>
            </a:r>
            <a:endParaRPr lang="en-KR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AD7242-51AF-CF46-8E6B-9E174FDDCAA7}"/>
              </a:ext>
            </a:extLst>
          </p:cNvPr>
          <p:cNvSpPr txBox="1"/>
          <p:nvPr/>
        </p:nvSpPr>
        <p:spPr>
          <a:xfrm>
            <a:off x="297543" y="143767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점수 전체 비중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A298E0-6F7C-214B-B96D-04AB1A82A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934544"/>
              </p:ext>
            </p:extLst>
          </p:nvPr>
        </p:nvGraphicFramePr>
        <p:xfrm>
          <a:off x="297543" y="2027000"/>
          <a:ext cx="2614362" cy="1737360"/>
        </p:xfrm>
        <a:graphic>
          <a:graphicData uri="http://schemas.openxmlformats.org/drawingml/2006/table">
            <a:tbl>
              <a:tblPr/>
              <a:tblGrid>
                <a:gridCol w="1307181">
                  <a:extLst>
                    <a:ext uri="{9D8B030D-6E8A-4147-A177-3AD203B41FA5}">
                      <a16:colId xmlns:a16="http://schemas.microsoft.com/office/drawing/2014/main" val="3237777448"/>
                    </a:ext>
                  </a:extLst>
                </a:gridCol>
                <a:gridCol w="1307181">
                  <a:extLst>
                    <a:ext uri="{9D8B030D-6E8A-4147-A177-3AD203B41FA5}">
                      <a16:colId xmlns:a16="http://schemas.microsoft.com/office/drawing/2014/main" val="2800361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최대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998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808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 b="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25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980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515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652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총합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43603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FEC0939-95E9-DC48-A297-030D0ED99630}"/>
              </a:ext>
            </a:extLst>
          </p:cNvPr>
          <p:cNvSpPr txBox="1"/>
          <p:nvPr/>
        </p:nvSpPr>
        <p:spPr>
          <a:xfrm>
            <a:off x="3448706" y="143767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건강 점수 </a:t>
            </a:r>
            <a:r>
              <a:rPr lang="en-US" altLang="ko-KR" sz="1200" b="1"/>
              <a:t>(25)</a:t>
            </a:r>
            <a:endParaRPr lang="en-US" altLang="ko-KR" sz="10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E683C5-5D84-7246-8048-6D759E919AE0}"/>
              </a:ext>
            </a:extLst>
          </p:cNvPr>
          <p:cNvSpPr txBox="1"/>
          <p:nvPr/>
        </p:nvSpPr>
        <p:spPr>
          <a:xfrm>
            <a:off x="3448706" y="1873111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 xml:space="preserve"> 평균 걸음수 </a:t>
            </a:r>
            <a:r>
              <a:rPr lang="en-US" altLang="ko-KR" sz="1000" b="1"/>
              <a:t>(</a:t>
            </a:r>
            <a:r>
              <a:rPr lang="ko-KR" altLang="en-US" sz="1000" b="1"/>
              <a:t xml:space="preserve">최대 </a:t>
            </a:r>
            <a:r>
              <a:rPr lang="en-US" altLang="ko-KR" sz="1000" b="1"/>
              <a:t>10)</a:t>
            </a:r>
            <a:endParaRPr lang="en-KR" sz="1000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86A28C-9579-EE44-ABD3-2F4A5D8DE374}"/>
              </a:ext>
            </a:extLst>
          </p:cNvPr>
          <p:cNvSpPr txBox="1"/>
          <p:nvPr/>
        </p:nvSpPr>
        <p:spPr>
          <a:xfrm>
            <a:off x="6388854" y="1873111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2)</a:t>
            </a:r>
            <a:r>
              <a:rPr lang="ko-KR" altLang="en-US" sz="1000" b="1"/>
              <a:t xml:space="preserve"> </a:t>
            </a:r>
            <a:r>
              <a:rPr lang="en-US" altLang="ko-KR" sz="1000" b="1"/>
              <a:t>Wllness</a:t>
            </a:r>
            <a:r>
              <a:rPr lang="ko-KR" altLang="en-US" sz="1000" b="1"/>
              <a:t xml:space="preserve"> 점수 </a:t>
            </a:r>
            <a:r>
              <a:rPr lang="en-US" altLang="ko-KR" sz="1000" b="1"/>
              <a:t>(</a:t>
            </a:r>
            <a:r>
              <a:rPr lang="ko-KR" altLang="en-US" sz="1000" b="1"/>
              <a:t xml:space="preserve">최대 </a:t>
            </a:r>
            <a:r>
              <a:rPr lang="en-US" altLang="ko-KR" sz="1000" b="1"/>
              <a:t>10)</a:t>
            </a:r>
            <a:endParaRPr lang="en-KR" sz="1000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3A88CC-0F39-7443-BB3C-5BCA6CCEF67A}"/>
              </a:ext>
            </a:extLst>
          </p:cNvPr>
          <p:cNvSpPr txBox="1"/>
          <p:nvPr/>
        </p:nvSpPr>
        <p:spPr>
          <a:xfrm>
            <a:off x="9329001" y="1873111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3)</a:t>
            </a:r>
            <a:r>
              <a:rPr lang="ko-KR" altLang="en-US" sz="1000" b="1"/>
              <a:t xml:space="preserve"> 수면 </a:t>
            </a:r>
            <a:r>
              <a:rPr lang="en-US" altLang="ko-KR" sz="1000" b="1"/>
              <a:t>/</a:t>
            </a:r>
            <a:r>
              <a:rPr lang="ko-KR" altLang="en-US" sz="1000" b="1"/>
              <a:t xml:space="preserve"> 스트레스 점수 </a:t>
            </a:r>
            <a:r>
              <a:rPr lang="en-US" altLang="ko-KR" sz="1000" b="1"/>
              <a:t>(</a:t>
            </a:r>
            <a:r>
              <a:rPr lang="ko-KR" altLang="en-US" sz="1000" b="1"/>
              <a:t xml:space="preserve">최대 </a:t>
            </a:r>
            <a:r>
              <a:rPr lang="en-US" altLang="ko-KR" sz="1000" b="1"/>
              <a:t>5)</a:t>
            </a:r>
            <a:endParaRPr lang="en-KR" sz="1000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042CF5-5431-2441-9C3A-8D847543141C}"/>
              </a:ext>
            </a:extLst>
          </p:cNvPr>
          <p:cNvSpPr txBox="1"/>
          <p:nvPr/>
        </p:nvSpPr>
        <p:spPr>
          <a:xfrm>
            <a:off x="4755887" y="1474155"/>
            <a:ext cx="495225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/>
              <a:t>health_score =</a:t>
            </a:r>
            <a:r>
              <a:rPr lang="ko-KR" altLang="en-US" sz="1000" b="1"/>
              <a:t xml:space="preserve"> </a:t>
            </a:r>
            <a:r>
              <a:rPr lang="en-US" altLang="ko-KR" sz="1000" b="1"/>
              <a:t>steps_score</a:t>
            </a:r>
            <a:r>
              <a:rPr lang="ko-KR" altLang="en-US" sz="1000" b="1"/>
              <a:t xml:space="preserve"> </a:t>
            </a:r>
            <a:r>
              <a:rPr lang="en-US" altLang="ko-KR" sz="1000" b="1"/>
              <a:t>+ wellness_score</a:t>
            </a:r>
            <a:r>
              <a:rPr lang="ko-KR" altLang="en-US" sz="1000" b="1"/>
              <a:t xml:space="preserve"> </a:t>
            </a:r>
            <a:r>
              <a:rPr lang="en-US" altLang="ko-KR" sz="1000" b="1"/>
              <a:t>+ stress_sleep_score</a:t>
            </a:r>
            <a:endParaRPr lang="en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C5915F-6E1D-8B42-AABD-928B9607F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983935"/>
              </p:ext>
            </p:extLst>
          </p:nvPr>
        </p:nvGraphicFramePr>
        <p:xfrm>
          <a:off x="3545057" y="2272067"/>
          <a:ext cx="2419646" cy="1493520"/>
        </p:xfrm>
        <a:graphic>
          <a:graphicData uri="http://schemas.openxmlformats.org/drawingml/2006/table">
            <a:tbl>
              <a:tblPr/>
              <a:tblGrid>
                <a:gridCol w="1463041">
                  <a:extLst>
                    <a:ext uri="{9D8B030D-6E8A-4147-A177-3AD203B41FA5}">
                      <a16:colId xmlns:a16="http://schemas.microsoft.com/office/drawing/2014/main" val="2486161419"/>
                    </a:ext>
                  </a:extLst>
                </a:gridCol>
                <a:gridCol w="956605">
                  <a:extLst>
                    <a:ext uri="{9D8B030D-6E8A-4147-A177-3AD203B41FA5}">
                      <a16:colId xmlns:a16="http://schemas.microsoft.com/office/drawing/2014/main" val="963617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avg_steps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863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12,000+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554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518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176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033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04973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70377D-EEA5-774B-8C85-E8489E10A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720027"/>
              </p:ext>
            </p:extLst>
          </p:nvPr>
        </p:nvGraphicFramePr>
        <p:xfrm>
          <a:off x="6388854" y="2270840"/>
          <a:ext cx="2234642" cy="1493520"/>
        </p:xfrm>
        <a:graphic>
          <a:graphicData uri="http://schemas.openxmlformats.org/drawingml/2006/table">
            <a:tbl>
              <a:tblPr/>
              <a:tblGrid>
                <a:gridCol w="1334309">
                  <a:extLst>
                    <a:ext uri="{9D8B030D-6E8A-4147-A177-3AD203B41FA5}">
                      <a16:colId xmlns:a16="http://schemas.microsoft.com/office/drawing/2014/main" val="170295470"/>
                    </a:ext>
                  </a:extLst>
                </a:gridCol>
                <a:gridCol w="900333">
                  <a:extLst>
                    <a:ext uri="{9D8B030D-6E8A-4147-A177-3AD203B41FA5}">
                      <a16:colId xmlns:a16="http://schemas.microsoft.com/office/drawing/2014/main" val="14944918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avg_wellness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322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4681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025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9801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015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73460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F1E279C-66DD-F64E-A2A3-74CA71BA0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607845"/>
              </p:ext>
            </p:extLst>
          </p:nvPr>
        </p:nvGraphicFramePr>
        <p:xfrm>
          <a:off x="9358468" y="2270760"/>
          <a:ext cx="2419646" cy="1158240"/>
        </p:xfrm>
        <a:graphic>
          <a:graphicData uri="http://schemas.openxmlformats.org/drawingml/2006/table">
            <a:tbl>
              <a:tblPr/>
              <a:tblGrid>
                <a:gridCol w="1501790">
                  <a:extLst>
                    <a:ext uri="{9D8B030D-6E8A-4147-A177-3AD203B41FA5}">
                      <a16:colId xmlns:a16="http://schemas.microsoft.com/office/drawing/2014/main" val="767129772"/>
                    </a:ext>
                  </a:extLst>
                </a:gridCol>
                <a:gridCol w="917856">
                  <a:extLst>
                    <a:ext uri="{9D8B030D-6E8A-4147-A177-3AD203B41FA5}">
                      <a16:colId xmlns:a16="http://schemas.microsoft.com/office/drawing/2014/main" val="12248864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576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스트레스 낮음 </a:t>
                      </a:r>
                      <a:r>
                        <a:rPr lang="en-US" altLang="ko-KR" sz="1000"/>
                        <a:t xml:space="preserve">+ </a:t>
                      </a:r>
                      <a:r>
                        <a:rPr lang="ko-KR" altLang="en-US" sz="1000"/>
                        <a:t>수면양호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7877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329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6498262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A3C6AFCC-3896-3F4D-AF2C-5EECF643D2F6}"/>
              </a:ext>
            </a:extLst>
          </p:cNvPr>
          <p:cNvSpPr txBox="1"/>
          <p:nvPr/>
        </p:nvSpPr>
        <p:spPr>
          <a:xfrm>
            <a:off x="3448706" y="426528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관계 점수 </a:t>
            </a:r>
            <a:r>
              <a:rPr lang="en-US" altLang="ko-KR" sz="1200" b="1"/>
              <a:t>(15)</a:t>
            </a:r>
            <a:endParaRPr lang="en-US" altLang="ko-KR" sz="10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D914C8-6ABA-634D-BB30-D295A4333BA5}"/>
              </a:ext>
            </a:extLst>
          </p:cNvPr>
          <p:cNvSpPr txBox="1"/>
          <p:nvPr/>
        </p:nvSpPr>
        <p:spPr>
          <a:xfrm>
            <a:off x="3448706" y="4700717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 xml:space="preserve"> 가입 </a:t>
            </a:r>
            <a:r>
              <a:rPr lang="en-US" altLang="ko-KR" sz="1000" b="1"/>
              <a:t>/</a:t>
            </a:r>
            <a:r>
              <a:rPr lang="ko-KR" altLang="en-US" sz="1000" b="1"/>
              <a:t xml:space="preserve"> 동의 </a:t>
            </a:r>
            <a:r>
              <a:rPr lang="en-US" altLang="ko-KR" sz="1000" b="1"/>
              <a:t>/</a:t>
            </a:r>
            <a:r>
              <a:rPr lang="ko-KR" altLang="en-US" sz="1000" b="1"/>
              <a:t xml:space="preserve"> 이용 서비스 수 </a:t>
            </a:r>
            <a:r>
              <a:rPr lang="en-US" altLang="ko-KR" sz="1000" b="1"/>
              <a:t>(</a:t>
            </a:r>
            <a:r>
              <a:rPr lang="ko-KR" altLang="en-US" sz="1000" b="1"/>
              <a:t xml:space="preserve">최대 </a:t>
            </a:r>
            <a:r>
              <a:rPr lang="en-US" altLang="ko-KR" sz="1000" b="1"/>
              <a:t>10)</a:t>
            </a:r>
            <a:endParaRPr lang="en-KR" sz="1000" b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2E951F-CF54-5C46-8322-6E5F8085C1D7}"/>
              </a:ext>
            </a:extLst>
          </p:cNvPr>
          <p:cNvSpPr txBox="1"/>
          <p:nvPr/>
        </p:nvSpPr>
        <p:spPr>
          <a:xfrm>
            <a:off x="4755887" y="4301761"/>
            <a:ext cx="495225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/>
              <a:t>relationship_score =</a:t>
            </a:r>
            <a:r>
              <a:rPr lang="ko-KR" altLang="en-US" sz="1000" b="1"/>
              <a:t xml:space="preserve"> </a:t>
            </a:r>
            <a:r>
              <a:rPr lang="en-US" altLang="ko-KR" sz="1000" b="1"/>
              <a:t>affiliate_score</a:t>
            </a:r>
            <a:r>
              <a:rPr lang="ko-KR" altLang="en-US" sz="1000" b="1"/>
              <a:t xml:space="preserve"> </a:t>
            </a:r>
            <a:r>
              <a:rPr lang="en-US" altLang="ko-KR" sz="1000" b="1"/>
              <a:t>+ consent_score</a:t>
            </a:r>
            <a:endParaRPr lang="en-KR" sz="1000" b="1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78E809-89E5-BA4E-B050-C29FCE353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453890"/>
              </p:ext>
            </p:extLst>
          </p:nvPr>
        </p:nvGraphicFramePr>
        <p:xfrm>
          <a:off x="3448706" y="5164235"/>
          <a:ext cx="2515998" cy="1249680"/>
        </p:xfrm>
        <a:graphic>
          <a:graphicData uri="http://schemas.openxmlformats.org/drawingml/2006/table">
            <a:tbl>
              <a:tblPr/>
              <a:tblGrid>
                <a:gridCol w="1671934">
                  <a:extLst>
                    <a:ext uri="{9D8B030D-6E8A-4147-A177-3AD203B41FA5}">
                      <a16:colId xmlns:a16="http://schemas.microsoft.com/office/drawing/2014/main" val="1508283085"/>
                    </a:ext>
                  </a:extLst>
                </a:gridCol>
                <a:gridCol w="844064">
                  <a:extLst>
                    <a:ext uri="{9D8B030D-6E8A-4147-A177-3AD203B41FA5}">
                      <a16:colId xmlns:a16="http://schemas.microsoft.com/office/drawing/2014/main" val="362011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412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계열사 </a:t>
                      </a:r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개 이상 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201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개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9166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개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35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단일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8987383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2A6D4459-9F46-AD4D-BA23-1875D542F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094896"/>
              </p:ext>
            </p:extLst>
          </p:nvPr>
        </p:nvGraphicFramePr>
        <p:xfrm>
          <a:off x="6520150" y="5164235"/>
          <a:ext cx="2515998" cy="762000"/>
        </p:xfrm>
        <a:graphic>
          <a:graphicData uri="http://schemas.openxmlformats.org/drawingml/2006/table">
            <a:tbl>
              <a:tblPr/>
              <a:tblGrid>
                <a:gridCol w="1671934">
                  <a:extLst>
                    <a:ext uri="{9D8B030D-6E8A-4147-A177-3AD203B41FA5}">
                      <a16:colId xmlns:a16="http://schemas.microsoft.com/office/drawing/2014/main" val="1508283085"/>
                    </a:ext>
                  </a:extLst>
                </a:gridCol>
                <a:gridCol w="844064">
                  <a:extLst>
                    <a:ext uri="{9D8B030D-6E8A-4147-A177-3AD203B41FA5}">
                      <a16:colId xmlns:a16="http://schemas.microsoft.com/office/drawing/2014/main" val="362011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412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동의율 </a:t>
                      </a:r>
                      <a:r>
                        <a:rPr lang="en-US" altLang="ko-KR" sz="1000"/>
                        <a:t xml:space="preserve">80% </a:t>
                      </a:r>
                      <a:r>
                        <a:rPr lang="ko-KR" altLang="en-US" sz="1000"/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+5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201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동의율 </a:t>
                      </a:r>
                      <a:r>
                        <a:rPr lang="en-US" altLang="ko-KR" sz="1000"/>
                        <a:t xml:space="preserve">50% </a:t>
                      </a:r>
                      <a:r>
                        <a:rPr lang="ko-KR" altLang="en-US" sz="1000"/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+3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9166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8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 dirty="0">
                <a:latin typeface="Arial"/>
                <a:ea typeface="Arial"/>
                <a:cs typeface="Arial"/>
                <a:sym typeface="Arial"/>
              </a:rPr>
              <a:t>(Customer 360 Score</a:t>
            </a: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 xml:space="preserve"> 규칙</a:t>
            </a:r>
            <a:r>
              <a:rPr lang="en-US" altLang="ko-KR" sz="3000" dirty="0">
                <a:latin typeface="Arial"/>
                <a:ea typeface="Arial"/>
                <a:cs typeface="Arial"/>
                <a:sym typeface="Arial"/>
              </a:rPr>
              <a:t xml:space="preserve"> – 3/3)</a:t>
            </a: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5758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LifeSync360 Customer360 Score</a:t>
            </a:r>
            <a:r>
              <a:rPr lang="ko-KR" altLang="en-US" b="1" dirty="0"/>
              <a:t xml:space="preserve">는 고객의 금융 </a:t>
            </a:r>
            <a:r>
              <a:rPr lang="en-US" altLang="ko-KR" b="1" dirty="0"/>
              <a:t xml:space="preserve">+ </a:t>
            </a:r>
            <a:r>
              <a:rPr lang="ko-KR" altLang="en-US" b="1" dirty="0"/>
              <a:t xml:space="preserve">건강 </a:t>
            </a:r>
            <a:r>
              <a:rPr lang="en-US" altLang="ko-KR" b="1" dirty="0"/>
              <a:t xml:space="preserve">+ </a:t>
            </a:r>
            <a:r>
              <a:rPr lang="ko-KR" altLang="en-US" b="1" dirty="0"/>
              <a:t xml:space="preserve">충성도 </a:t>
            </a:r>
            <a:r>
              <a:rPr lang="en-US" altLang="ko-KR" b="1" dirty="0"/>
              <a:t xml:space="preserve">+ </a:t>
            </a:r>
            <a:r>
              <a:rPr lang="ko-KR" altLang="en-US" b="1" dirty="0"/>
              <a:t xml:space="preserve">성장성 </a:t>
            </a:r>
            <a:r>
              <a:rPr lang="en-US" altLang="ko-KR" b="1" dirty="0"/>
              <a:t xml:space="preserve">+ </a:t>
            </a:r>
            <a:r>
              <a:rPr lang="ko-KR" altLang="en-US" b="1" dirty="0"/>
              <a:t>리스크를 종합 평가하여</a:t>
            </a:r>
            <a:r>
              <a:rPr lang="en-US" altLang="ko-KR" b="1" dirty="0"/>
              <a:t xml:space="preserve"> 0 ~ 100 </a:t>
            </a:r>
            <a:r>
              <a:rPr lang="ko-KR" altLang="en-US" b="1" dirty="0"/>
              <a:t>점수화</a:t>
            </a:r>
            <a:endParaRPr lang="en-KR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AD7242-51AF-CF46-8E6B-9E174FDDCAA7}"/>
              </a:ext>
            </a:extLst>
          </p:cNvPr>
          <p:cNvSpPr txBox="1"/>
          <p:nvPr/>
        </p:nvSpPr>
        <p:spPr>
          <a:xfrm>
            <a:off x="297543" y="143767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점수 전체 비중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A298E0-6F7C-214B-B96D-04AB1A82A780}"/>
              </a:ext>
            </a:extLst>
          </p:cNvPr>
          <p:cNvGraphicFramePr>
            <a:graphicFrameLocks noGrp="1"/>
          </p:cNvGraphicFramePr>
          <p:nvPr/>
        </p:nvGraphicFramePr>
        <p:xfrm>
          <a:off x="297543" y="2027000"/>
          <a:ext cx="2614362" cy="1737360"/>
        </p:xfrm>
        <a:graphic>
          <a:graphicData uri="http://schemas.openxmlformats.org/drawingml/2006/table">
            <a:tbl>
              <a:tblPr/>
              <a:tblGrid>
                <a:gridCol w="1307181">
                  <a:extLst>
                    <a:ext uri="{9D8B030D-6E8A-4147-A177-3AD203B41FA5}">
                      <a16:colId xmlns:a16="http://schemas.microsoft.com/office/drawing/2014/main" val="3237777448"/>
                    </a:ext>
                  </a:extLst>
                </a:gridCol>
                <a:gridCol w="1307181">
                  <a:extLst>
                    <a:ext uri="{9D8B030D-6E8A-4147-A177-3AD203B41FA5}">
                      <a16:colId xmlns:a16="http://schemas.microsoft.com/office/drawing/2014/main" val="2800361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최대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998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808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 b="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25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980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515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652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총합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43603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FEC0939-95E9-DC48-A297-030D0ED99630}"/>
              </a:ext>
            </a:extLst>
          </p:cNvPr>
          <p:cNvSpPr txBox="1"/>
          <p:nvPr/>
        </p:nvSpPr>
        <p:spPr>
          <a:xfrm>
            <a:off x="3448706" y="143767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성장 점수 </a:t>
            </a:r>
            <a:r>
              <a:rPr lang="en-US" altLang="ko-KR" sz="1200" b="1"/>
              <a:t>(10)</a:t>
            </a:r>
            <a:endParaRPr lang="en-US" altLang="ko-KR" sz="10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E683C5-5D84-7246-8048-6D759E919AE0}"/>
              </a:ext>
            </a:extLst>
          </p:cNvPr>
          <p:cNvSpPr txBox="1"/>
          <p:nvPr/>
        </p:nvSpPr>
        <p:spPr>
          <a:xfrm>
            <a:off x="3448706" y="1873111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 xml:space="preserve"> 최근 </a:t>
            </a:r>
            <a:r>
              <a:rPr lang="en-US" altLang="ko-KR" sz="1000" b="1"/>
              <a:t>3</a:t>
            </a:r>
            <a:r>
              <a:rPr lang="ko-KR" altLang="en-US" sz="1000" b="1"/>
              <a:t>개월 증가 추세</a:t>
            </a:r>
            <a:endParaRPr lang="en-KR" sz="10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C6AFCC-3896-3F4D-AF2C-5EECF643D2F6}"/>
              </a:ext>
            </a:extLst>
          </p:cNvPr>
          <p:cNvSpPr txBox="1"/>
          <p:nvPr/>
        </p:nvSpPr>
        <p:spPr>
          <a:xfrm>
            <a:off x="3448706" y="426528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리스크 점수 </a:t>
            </a:r>
            <a:r>
              <a:rPr lang="en-US" altLang="ko-KR" sz="1200" b="1"/>
              <a:t>(- 20)</a:t>
            </a:r>
            <a:endParaRPr lang="en-US" altLang="ko-KR" sz="10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D914C8-6ABA-634D-BB30-D295A4333BA5}"/>
              </a:ext>
            </a:extLst>
          </p:cNvPr>
          <p:cNvSpPr txBox="1"/>
          <p:nvPr/>
        </p:nvSpPr>
        <p:spPr>
          <a:xfrm>
            <a:off x="3448706" y="4700717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 xml:space="preserve"> 건강 리스크 </a:t>
            </a:r>
            <a:endParaRPr lang="en-KR" sz="10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814AD5-E46D-124F-955E-D8B8B8B96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146533"/>
              </p:ext>
            </p:extLst>
          </p:nvPr>
        </p:nvGraphicFramePr>
        <p:xfrm>
          <a:off x="3448706" y="2217849"/>
          <a:ext cx="2516000" cy="1249680"/>
        </p:xfrm>
        <a:graphic>
          <a:graphicData uri="http://schemas.openxmlformats.org/drawingml/2006/table">
            <a:tbl>
              <a:tblPr/>
              <a:tblGrid>
                <a:gridCol w="1686002">
                  <a:extLst>
                    <a:ext uri="{9D8B030D-6E8A-4147-A177-3AD203B41FA5}">
                      <a16:colId xmlns:a16="http://schemas.microsoft.com/office/drawing/2014/main" val="4081705477"/>
                    </a:ext>
                  </a:extLst>
                </a:gridCol>
                <a:gridCol w="829998">
                  <a:extLst>
                    <a:ext uri="{9D8B030D-6E8A-4147-A177-3AD203B41FA5}">
                      <a16:colId xmlns:a16="http://schemas.microsoft.com/office/drawing/2014/main" val="22211786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060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자산 증가 </a:t>
                      </a:r>
                      <a:r>
                        <a:rPr lang="en-US" altLang="ko-KR" sz="1000"/>
                        <a:t xml:space="preserve">+ </a:t>
                      </a:r>
                      <a:r>
                        <a:rPr lang="ko-KR" altLang="en-US" sz="1000"/>
                        <a:t>건강 개선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300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소비 증가 </a:t>
                      </a:r>
                      <a:r>
                        <a:rPr lang="en-US" altLang="ko-KR" sz="1000"/>
                        <a:t xml:space="preserve">+ </a:t>
                      </a:r>
                      <a:r>
                        <a:rPr lang="ko-KR" altLang="en-US" sz="1000"/>
                        <a:t>투자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4344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단일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329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변화 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711549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828621CE-EE01-9543-B840-6CE08814AF88}"/>
              </a:ext>
            </a:extLst>
          </p:cNvPr>
          <p:cNvSpPr txBox="1"/>
          <p:nvPr/>
        </p:nvSpPr>
        <p:spPr>
          <a:xfrm>
            <a:off x="6454502" y="4700717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2)</a:t>
            </a:r>
            <a:r>
              <a:rPr lang="ko-KR" altLang="en-US" sz="1000" b="1"/>
              <a:t xml:space="preserve"> 금융 리스크 </a:t>
            </a:r>
            <a:endParaRPr lang="en-KR" sz="10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3F73DE-C80F-2E49-8331-C804AE99C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427201"/>
              </p:ext>
            </p:extLst>
          </p:nvPr>
        </p:nvGraphicFramePr>
        <p:xfrm>
          <a:off x="3448706" y="5113920"/>
          <a:ext cx="2516000" cy="762000"/>
        </p:xfrm>
        <a:graphic>
          <a:graphicData uri="http://schemas.openxmlformats.org/drawingml/2006/table">
            <a:tbl>
              <a:tblPr/>
              <a:tblGrid>
                <a:gridCol w="1258000">
                  <a:extLst>
                    <a:ext uri="{9D8B030D-6E8A-4147-A177-3AD203B41FA5}">
                      <a16:colId xmlns:a16="http://schemas.microsoft.com/office/drawing/2014/main" val="3801171813"/>
                    </a:ext>
                  </a:extLst>
                </a:gridCol>
                <a:gridCol w="1258000">
                  <a:extLst>
                    <a:ext uri="{9D8B030D-6E8A-4147-A177-3AD203B41FA5}">
                      <a16:colId xmlns:a16="http://schemas.microsoft.com/office/drawing/2014/main" val="2519115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55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병원 방문 과다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9969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건강위험도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247622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5942588-E769-EE4B-8456-F5A78E7E2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710930"/>
              </p:ext>
            </p:extLst>
          </p:nvPr>
        </p:nvGraphicFramePr>
        <p:xfrm>
          <a:off x="6454502" y="5113920"/>
          <a:ext cx="2408144" cy="762000"/>
        </p:xfrm>
        <a:graphic>
          <a:graphicData uri="http://schemas.openxmlformats.org/drawingml/2006/table">
            <a:tbl>
              <a:tblPr/>
              <a:tblGrid>
                <a:gridCol w="1204072">
                  <a:extLst>
                    <a:ext uri="{9D8B030D-6E8A-4147-A177-3AD203B41FA5}">
                      <a16:colId xmlns:a16="http://schemas.microsoft.com/office/drawing/2014/main" val="1011077486"/>
                    </a:ext>
                  </a:extLst>
                </a:gridCol>
                <a:gridCol w="1204072">
                  <a:extLst>
                    <a:ext uri="{9D8B030D-6E8A-4147-A177-3AD203B41FA5}">
                      <a16:colId xmlns:a16="http://schemas.microsoft.com/office/drawing/2014/main" val="36302246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740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잔액 급감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9637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 연체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52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26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(AI Feature Table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AI Feature Table</a:t>
            </a:r>
            <a:r>
              <a:rPr lang="ko-KR" altLang="en-US" b="1"/>
              <a:t>은 고객의 금융</a:t>
            </a:r>
            <a:r>
              <a:rPr lang="en-US" altLang="ko-KR" b="1"/>
              <a:t>·</a:t>
            </a:r>
            <a:r>
              <a:rPr lang="ko-KR" altLang="en-US" b="1"/>
              <a:t>건강</a:t>
            </a:r>
            <a:r>
              <a:rPr lang="en-US" altLang="ko-KR" b="1"/>
              <a:t>·</a:t>
            </a:r>
            <a:r>
              <a:rPr lang="ko-KR" altLang="en-US" b="1"/>
              <a:t>행동</a:t>
            </a:r>
            <a:r>
              <a:rPr lang="en-US" altLang="ko-KR" b="1"/>
              <a:t>·</a:t>
            </a:r>
            <a:r>
              <a:rPr lang="ko-KR" altLang="en-US" b="1"/>
              <a:t>관계 데이터를</a:t>
            </a:r>
            <a:r>
              <a:rPr lang="en-US" altLang="ko-KR" b="1"/>
              <a:t xml:space="preserve"> </a:t>
            </a:r>
            <a:r>
              <a:rPr lang="ko-KR" altLang="en-US" b="1"/>
              <a:t>머신러닝 입력값</a:t>
            </a:r>
            <a:r>
              <a:rPr lang="en-US" altLang="ko-KR" b="1"/>
              <a:t>(</a:t>
            </a:r>
            <a:r>
              <a:rPr lang="en-US" b="1"/>
              <a:t>Feature)</a:t>
            </a:r>
            <a:r>
              <a:rPr lang="ko-KR" altLang="en-US" b="1"/>
              <a:t>으로 변환한 테이블</a:t>
            </a:r>
            <a:endParaRPr lang="en-KR" b="1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08ED15A-610C-A844-B083-174FD351DC2D}"/>
              </a:ext>
            </a:extLst>
          </p:cNvPr>
          <p:cNvSpPr txBox="1"/>
          <p:nvPr/>
        </p:nvSpPr>
        <p:spPr>
          <a:xfrm>
            <a:off x="297543" y="1384011"/>
            <a:ext cx="292179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목적 </a:t>
            </a:r>
            <a:endParaRPr lang="en-US" altLang="ko-KR" sz="1200" b="1"/>
          </a:p>
          <a:p>
            <a:endParaRPr lang="en-US" altLang="ko-K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 xml:space="preserve">VIP </a:t>
            </a:r>
            <a:r>
              <a:rPr lang="ko-KR" altLang="en-US" sz="1000"/>
              <a:t>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 xml:space="preserve">PB </a:t>
            </a:r>
            <a:r>
              <a:rPr lang="ko-KR" altLang="en-US" sz="1000"/>
              <a:t>계약 확률 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이탈 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상품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건강 위험 예측</a:t>
            </a:r>
            <a:endParaRPr lang="en-US" altLang="ko-KR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7917F6-0A65-5442-BB89-3E31A6FA17FE}"/>
              </a:ext>
            </a:extLst>
          </p:cNvPr>
          <p:cNvSpPr txBox="1"/>
          <p:nvPr/>
        </p:nvSpPr>
        <p:spPr>
          <a:xfrm>
            <a:off x="2911904" y="138401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AI Feature Table </a:t>
            </a:r>
            <a:r>
              <a:rPr lang="ko-KR" altLang="en-US" sz="1200" b="1"/>
              <a:t xml:space="preserve">규칙 </a:t>
            </a:r>
            <a:endParaRPr lang="en-US" altLang="ko-KR" sz="1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F8456F-897B-5749-9AA2-D0BB00345B7E}"/>
              </a:ext>
            </a:extLst>
          </p:cNvPr>
          <p:cNvSpPr txBox="1"/>
          <p:nvPr/>
        </p:nvSpPr>
        <p:spPr>
          <a:xfrm>
            <a:off x="3027959" y="1746304"/>
            <a:ext cx="4419659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KR" sz="1000"/>
              <a:t>Feature =</a:t>
            </a:r>
            <a:r>
              <a:rPr lang="ko-KR" altLang="en-US" sz="1000"/>
              <a:t xml:space="preserve"> </a:t>
            </a:r>
            <a:r>
              <a:rPr lang="en-KR" sz="1000"/>
              <a:t>최근값</a:t>
            </a:r>
            <a:r>
              <a:rPr lang="ko-KR" altLang="en-US" sz="1000"/>
              <a:t xml:space="preserve"> </a:t>
            </a:r>
            <a:r>
              <a:rPr lang="en-KR" sz="1000"/>
              <a:t>+ 평균값</a:t>
            </a:r>
            <a:r>
              <a:rPr lang="ko-KR" altLang="en-US" sz="1000"/>
              <a:t xml:space="preserve"> </a:t>
            </a:r>
            <a:r>
              <a:rPr lang="en-KR" sz="1000"/>
              <a:t>+ 증감률</a:t>
            </a:r>
            <a:r>
              <a:rPr lang="ko-KR" altLang="en-US" sz="1000"/>
              <a:t xml:space="preserve"> </a:t>
            </a:r>
            <a:r>
              <a:rPr lang="en-KR" sz="1000"/>
              <a:t>+ 비율값</a:t>
            </a:r>
            <a:r>
              <a:rPr lang="ko-KR" altLang="en-US" sz="1000"/>
              <a:t xml:space="preserve"> </a:t>
            </a:r>
            <a:r>
              <a:rPr lang="en-KR" sz="1000"/>
              <a:t>+ 카운트값</a:t>
            </a:r>
            <a:r>
              <a:rPr lang="ko-KR" altLang="en-US" sz="1000"/>
              <a:t xml:space="preserve"> </a:t>
            </a:r>
            <a:r>
              <a:rPr lang="en-KR" sz="1000"/>
              <a:t>+ Flag</a:t>
            </a:r>
            <a:r>
              <a:rPr lang="ko-KR" altLang="en-US" sz="1000"/>
              <a:t xml:space="preserve"> </a:t>
            </a:r>
            <a:r>
              <a:rPr lang="en-KR" sz="1000"/>
              <a:t>+ Label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1DD634-B38D-C845-AF6F-54A993F28424}"/>
              </a:ext>
            </a:extLst>
          </p:cNvPr>
          <p:cNvSpPr txBox="1"/>
          <p:nvPr/>
        </p:nvSpPr>
        <p:spPr>
          <a:xfrm>
            <a:off x="297543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Feature Category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57B4EB-CE7C-1C46-9D09-FF21B37AD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376032"/>
              </p:ext>
            </p:extLst>
          </p:nvPr>
        </p:nvGraphicFramePr>
        <p:xfrm>
          <a:off x="297543" y="3580735"/>
          <a:ext cx="3360306" cy="1737360"/>
        </p:xfrm>
        <a:graphic>
          <a:graphicData uri="http://schemas.openxmlformats.org/drawingml/2006/table">
            <a:tbl>
              <a:tblPr/>
              <a:tblGrid>
                <a:gridCol w="1680153">
                  <a:extLst>
                    <a:ext uri="{9D8B030D-6E8A-4147-A177-3AD203B41FA5}">
                      <a16:colId xmlns:a16="http://schemas.microsoft.com/office/drawing/2014/main" val="1992842318"/>
                    </a:ext>
                  </a:extLst>
                </a:gridCol>
                <a:gridCol w="1680153">
                  <a:extLst>
                    <a:ext uri="{9D8B030D-6E8A-4147-A177-3AD203B41FA5}">
                      <a16:colId xmlns:a16="http://schemas.microsoft.com/office/drawing/2014/main" val="30019757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664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금융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411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건강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280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행동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앱 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293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관계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관계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461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성장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변화율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853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미래 결과값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69044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ADA075A-8CA6-F842-8548-FD7562E584E3}"/>
              </a:ext>
            </a:extLst>
          </p:cNvPr>
          <p:cNvSpPr txBox="1"/>
          <p:nvPr/>
        </p:nvSpPr>
        <p:spPr>
          <a:xfrm>
            <a:off x="4218190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금융 </a:t>
            </a:r>
            <a:r>
              <a:rPr lang="en-US" altLang="ko-KR" sz="1200" b="1"/>
              <a:t>Feature</a:t>
            </a:r>
            <a:r>
              <a:rPr lang="ko-KR" altLang="en-US" sz="1200" b="1"/>
              <a:t xml:space="preserve"> 규칙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4C9811-A7D5-4345-9B39-0F9CFE2C5156}"/>
              </a:ext>
            </a:extLst>
          </p:cNvPr>
          <p:cNvSpPr txBox="1"/>
          <p:nvPr/>
        </p:nvSpPr>
        <p:spPr>
          <a:xfrm>
            <a:off x="4218191" y="3453486"/>
            <a:ext cx="5239656" cy="1954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 xml:space="preserve">잔액 평균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balance_30d_avg =</a:t>
            </a:r>
            <a:r>
              <a:rPr lang="ko-KR" altLang="en-US" sz="1100"/>
              <a:t xml:space="preserve"> 최근 </a:t>
            </a:r>
            <a:r>
              <a:rPr lang="en-US" altLang="ko-KR" sz="1100"/>
              <a:t>30</a:t>
            </a:r>
            <a:r>
              <a:rPr lang="ko-KR" altLang="en-US" sz="1100"/>
              <a:t>일 일평균 잔액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 xml:space="preserve">자산 증가율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asset_growth_90d =</a:t>
            </a:r>
            <a:r>
              <a:rPr lang="ko-KR" altLang="en-US" sz="1100"/>
              <a:t xml:space="preserve"> </a:t>
            </a:r>
            <a:r>
              <a:rPr lang="en-US" altLang="ko-KR" sz="1100"/>
              <a:t>(</a:t>
            </a:r>
            <a:r>
              <a:rPr lang="ko-KR" altLang="en-US" sz="1100"/>
              <a:t xml:space="preserve">현재 총자산 </a:t>
            </a:r>
            <a:r>
              <a:rPr lang="en-US" altLang="ko-KR" sz="1100"/>
              <a:t>- 90</a:t>
            </a:r>
            <a:r>
              <a:rPr lang="ko-KR" altLang="en-US" sz="1100"/>
              <a:t>일전 총자산</a:t>
            </a:r>
            <a:r>
              <a:rPr lang="en-US" altLang="ko-KR" sz="1100"/>
              <a:t>) / 90</a:t>
            </a:r>
            <a:r>
              <a:rPr lang="ko-KR" altLang="en-US" sz="1100"/>
              <a:t>일전 총자산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 xml:space="preserve">카드 소비액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card_spend_30d =</a:t>
            </a:r>
            <a:r>
              <a:rPr lang="ko-KR" altLang="en-US" sz="1100"/>
              <a:t xml:space="preserve"> 최근 </a:t>
            </a:r>
            <a:r>
              <a:rPr lang="en-US" altLang="ko-KR" sz="1100"/>
              <a:t>30</a:t>
            </a:r>
            <a:r>
              <a:rPr lang="ko-KR" altLang="en-US" sz="1100"/>
              <a:t>일 카드 총 사용액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 xml:space="preserve">투자 비율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invest_ratio =</a:t>
            </a:r>
            <a:r>
              <a:rPr lang="ko-KR" altLang="en-US" sz="1100"/>
              <a:t xml:space="preserve"> 투자자산 </a:t>
            </a:r>
            <a:r>
              <a:rPr lang="en-US" altLang="ko-KR" sz="1100"/>
              <a:t xml:space="preserve">/ </a:t>
            </a:r>
            <a:r>
              <a:rPr lang="ko-KR" altLang="en-US" sz="1100"/>
              <a:t>총자산</a:t>
            </a:r>
            <a:endParaRPr lang="en-US" altLang="ko-KR" sz="1100"/>
          </a:p>
          <a:p>
            <a:endParaRPr lang="en-US" sz="1100"/>
          </a:p>
          <a:p>
            <a:r>
              <a:rPr lang="en-US" sz="1100"/>
              <a:t>ETF</a:t>
            </a:r>
            <a:r>
              <a:rPr lang="ko-KR" altLang="en-US" sz="1100"/>
              <a:t xml:space="preserve"> 비율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etf_ratio =</a:t>
            </a:r>
            <a:r>
              <a:rPr lang="ko-KR" altLang="en-US" sz="1100"/>
              <a:t xml:space="preserve"> </a:t>
            </a:r>
            <a:r>
              <a:rPr lang="en-US" altLang="ko-KR" sz="1100"/>
              <a:t xml:space="preserve">ETF </a:t>
            </a:r>
            <a:r>
              <a:rPr lang="ko-KR" altLang="en-US" sz="1100"/>
              <a:t xml:space="preserve">자산 </a:t>
            </a:r>
            <a:r>
              <a:rPr lang="en-US" altLang="ko-KR" sz="1100"/>
              <a:t xml:space="preserve">/ </a:t>
            </a:r>
            <a:r>
              <a:rPr lang="ko-KR" altLang="en-US" sz="1100"/>
              <a:t>총 투자자산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 xml:space="preserve">보험 보유 수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policy_cnt</a:t>
            </a:r>
            <a:endParaRPr lang="en-KR" sz="11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B54B29-83C8-E346-B705-7D752D573D3C}"/>
              </a:ext>
            </a:extLst>
          </p:cNvPr>
          <p:cNvSpPr txBox="1"/>
          <p:nvPr/>
        </p:nvSpPr>
        <p:spPr>
          <a:xfrm>
            <a:off x="9878761" y="3055465"/>
            <a:ext cx="25890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금융 </a:t>
            </a:r>
            <a:r>
              <a:rPr lang="en-US" altLang="ko-KR" sz="1200" b="1"/>
              <a:t>Feature</a:t>
            </a:r>
            <a:r>
              <a:rPr lang="ko-KR" altLang="en-US" sz="1200" b="1"/>
              <a:t xml:space="preserve"> 컬럼</a:t>
            </a:r>
            <a:endParaRPr lang="en-US" altLang="ko-KR" sz="10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BC73A3-8F52-A243-98ED-AE845ADB0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660235"/>
              </p:ext>
            </p:extLst>
          </p:nvPr>
        </p:nvGraphicFramePr>
        <p:xfrm>
          <a:off x="9881492" y="3453486"/>
          <a:ext cx="2166258" cy="1981200"/>
        </p:xfrm>
        <a:graphic>
          <a:graphicData uri="http://schemas.openxmlformats.org/drawingml/2006/table">
            <a:tbl>
              <a:tblPr/>
              <a:tblGrid>
                <a:gridCol w="2166258">
                  <a:extLst>
                    <a:ext uri="{9D8B030D-6E8A-4147-A177-3AD203B41FA5}">
                      <a16:colId xmlns:a16="http://schemas.microsoft.com/office/drawing/2014/main" val="2808610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787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balance_30d_avg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541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asset_growth_90d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26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card_spend_30d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306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invest_total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075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invest_ratio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325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etf_ratio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8419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policy_cnt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3043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211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(AI Feature Table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2/3)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AI Feature Table</a:t>
            </a:r>
            <a:r>
              <a:rPr lang="ko-KR" altLang="en-US" b="1"/>
              <a:t>은 고객의 금융</a:t>
            </a:r>
            <a:r>
              <a:rPr lang="en-US" altLang="ko-KR" b="1"/>
              <a:t>·</a:t>
            </a:r>
            <a:r>
              <a:rPr lang="ko-KR" altLang="en-US" b="1"/>
              <a:t>건강</a:t>
            </a:r>
            <a:r>
              <a:rPr lang="en-US" altLang="ko-KR" b="1"/>
              <a:t>·</a:t>
            </a:r>
            <a:r>
              <a:rPr lang="ko-KR" altLang="en-US" b="1"/>
              <a:t>행동</a:t>
            </a:r>
            <a:r>
              <a:rPr lang="en-US" altLang="ko-KR" b="1"/>
              <a:t>·</a:t>
            </a:r>
            <a:r>
              <a:rPr lang="ko-KR" altLang="en-US" b="1"/>
              <a:t>관계 데이터를</a:t>
            </a:r>
            <a:r>
              <a:rPr lang="en-US" altLang="ko-KR" b="1"/>
              <a:t xml:space="preserve"> </a:t>
            </a:r>
            <a:r>
              <a:rPr lang="ko-KR" altLang="en-US" b="1"/>
              <a:t>머신러닝 입력값</a:t>
            </a:r>
            <a:r>
              <a:rPr lang="en-US" altLang="ko-KR" b="1"/>
              <a:t>(</a:t>
            </a:r>
            <a:r>
              <a:rPr lang="en-US" b="1"/>
              <a:t>Feature)</a:t>
            </a:r>
            <a:r>
              <a:rPr lang="ko-KR" altLang="en-US" b="1"/>
              <a:t>으로 변환한 테이블</a:t>
            </a:r>
            <a:endParaRPr lang="en-KR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1DD634-B38D-C845-AF6F-54A993F28424}"/>
              </a:ext>
            </a:extLst>
          </p:cNvPr>
          <p:cNvSpPr txBox="1"/>
          <p:nvPr/>
        </p:nvSpPr>
        <p:spPr>
          <a:xfrm>
            <a:off x="297543" y="140083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Feature Category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57B4EB-CE7C-1C46-9D09-FF21B37AD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126070"/>
              </p:ext>
            </p:extLst>
          </p:nvPr>
        </p:nvGraphicFramePr>
        <p:xfrm>
          <a:off x="297543" y="1926107"/>
          <a:ext cx="3360306" cy="1737360"/>
        </p:xfrm>
        <a:graphic>
          <a:graphicData uri="http://schemas.openxmlformats.org/drawingml/2006/table">
            <a:tbl>
              <a:tblPr/>
              <a:tblGrid>
                <a:gridCol w="1680153">
                  <a:extLst>
                    <a:ext uri="{9D8B030D-6E8A-4147-A177-3AD203B41FA5}">
                      <a16:colId xmlns:a16="http://schemas.microsoft.com/office/drawing/2014/main" val="1992842318"/>
                    </a:ext>
                  </a:extLst>
                </a:gridCol>
                <a:gridCol w="1680153">
                  <a:extLst>
                    <a:ext uri="{9D8B030D-6E8A-4147-A177-3AD203B41FA5}">
                      <a16:colId xmlns:a16="http://schemas.microsoft.com/office/drawing/2014/main" val="30019757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664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금융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411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건강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280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행동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앱 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293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관계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관계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461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성장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변화율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853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미래 결과값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69044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ADA075A-8CA6-F842-8548-FD7562E584E3}"/>
              </a:ext>
            </a:extLst>
          </p:cNvPr>
          <p:cNvSpPr txBox="1"/>
          <p:nvPr/>
        </p:nvSpPr>
        <p:spPr>
          <a:xfrm>
            <a:off x="4162968" y="137089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건강 </a:t>
            </a:r>
            <a:r>
              <a:rPr lang="en-US" altLang="ko-KR" sz="1200" b="1"/>
              <a:t>Feature</a:t>
            </a:r>
            <a:r>
              <a:rPr lang="ko-KR" altLang="en-US" sz="1200" b="1"/>
              <a:t xml:space="preserve"> 규칙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4C9811-A7D5-4345-9B39-0F9CFE2C5156}"/>
              </a:ext>
            </a:extLst>
          </p:cNvPr>
          <p:cNvSpPr txBox="1"/>
          <p:nvPr/>
        </p:nvSpPr>
        <p:spPr>
          <a:xfrm>
            <a:off x="4162968" y="1768915"/>
            <a:ext cx="5285831" cy="1954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 xml:space="preserve">평균 걸음수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avg_steps_30d =</a:t>
            </a:r>
            <a:r>
              <a:rPr lang="ko-KR" altLang="en-US" sz="1100"/>
              <a:t xml:space="preserve"> 최근 </a:t>
            </a:r>
            <a:r>
              <a:rPr lang="en-US" altLang="ko-KR" sz="1100"/>
              <a:t>30</a:t>
            </a:r>
            <a:r>
              <a:rPr lang="ko-KR" altLang="en-US" sz="1100"/>
              <a:t>일 평균 걸음수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 xml:space="preserve">평균 심박수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avg_hr_30d</a:t>
            </a:r>
          </a:p>
          <a:p>
            <a:endParaRPr lang="en-US" sz="1100"/>
          </a:p>
          <a:p>
            <a:r>
              <a:rPr lang="ko-KR" altLang="en-US" sz="1100"/>
              <a:t xml:space="preserve">스트레스 평균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stress_avg_30d</a:t>
            </a:r>
          </a:p>
          <a:p>
            <a:endParaRPr lang="en-US" sz="1100"/>
          </a:p>
          <a:p>
            <a:r>
              <a:rPr lang="ko-KR" altLang="en-US" sz="1100"/>
              <a:t xml:space="preserve">병원 방문 횟수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hospital_visit_90d</a:t>
            </a:r>
          </a:p>
          <a:p>
            <a:endParaRPr lang="en-US" sz="1100"/>
          </a:p>
          <a:p>
            <a:r>
              <a:rPr lang="ko-KR" altLang="en-US" sz="1100"/>
              <a:t xml:space="preserve">건강 위험도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health_risk_score</a:t>
            </a:r>
          </a:p>
          <a:p>
            <a:endParaRPr lang="en-US" sz="1100"/>
          </a:p>
          <a:p>
            <a:r>
              <a:rPr lang="ko-KR" altLang="en-US" sz="1100"/>
              <a:t xml:space="preserve">건강 개선율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step_growth_30d =</a:t>
            </a:r>
            <a:r>
              <a:rPr lang="ko-KR" altLang="en-US" sz="1100"/>
              <a:t xml:space="preserve"> </a:t>
            </a:r>
            <a:r>
              <a:rPr lang="en-US" altLang="ko-KR" sz="1100"/>
              <a:t>(</a:t>
            </a:r>
            <a:r>
              <a:rPr lang="ko-KR" altLang="en-US" sz="1100"/>
              <a:t>최근</a:t>
            </a:r>
            <a:r>
              <a:rPr lang="en-US" altLang="ko-KR" sz="1100"/>
              <a:t>30</a:t>
            </a:r>
            <a:r>
              <a:rPr lang="ko-KR" altLang="en-US" sz="1100"/>
              <a:t xml:space="preserve">일 </a:t>
            </a:r>
            <a:r>
              <a:rPr lang="en-US" altLang="ko-KR" sz="1100"/>
              <a:t xml:space="preserve">steps - </a:t>
            </a:r>
            <a:r>
              <a:rPr lang="ko-KR" altLang="en-US" sz="1100"/>
              <a:t>이전</a:t>
            </a:r>
            <a:r>
              <a:rPr lang="en-US" altLang="ko-KR" sz="1100"/>
              <a:t>30</a:t>
            </a:r>
            <a:r>
              <a:rPr lang="ko-KR" altLang="en-US" sz="1100"/>
              <a:t xml:space="preserve">일 </a:t>
            </a:r>
            <a:r>
              <a:rPr lang="en-US" altLang="ko-KR" sz="1100"/>
              <a:t xml:space="preserve">steps) / </a:t>
            </a:r>
            <a:r>
              <a:rPr lang="ko-KR" altLang="en-US" sz="1100"/>
              <a:t>이전</a:t>
            </a:r>
            <a:r>
              <a:rPr lang="en-US" altLang="ko-KR" sz="1100"/>
              <a:t>30</a:t>
            </a:r>
            <a:r>
              <a:rPr lang="ko-KR" altLang="en-US" sz="1100"/>
              <a:t>일</a:t>
            </a:r>
            <a:endParaRPr lang="en-KR" sz="11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4C175F-1834-0D47-8974-26C1E2DC6C0E}"/>
              </a:ext>
            </a:extLst>
          </p:cNvPr>
          <p:cNvSpPr txBox="1"/>
          <p:nvPr/>
        </p:nvSpPr>
        <p:spPr>
          <a:xfrm>
            <a:off x="297543" y="418446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행동 </a:t>
            </a:r>
            <a:r>
              <a:rPr lang="en-US" altLang="ko-KR" sz="1200" b="1"/>
              <a:t>Feature</a:t>
            </a:r>
            <a:r>
              <a:rPr lang="ko-KR" altLang="en-US" sz="1200" b="1"/>
              <a:t xml:space="preserve"> 규칙 </a:t>
            </a:r>
            <a:endParaRPr lang="en-US" altLang="ko-KR" sz="1000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B166E5-0ED6-0346-8ADC-EE1AB7E940F9}"/>
              </a:ext>
            </a:extLst>
          </p:cNvPr>
          <p:cNvSpPr txBox="1"/>
          <p:nvPr/>
        </p:nvSpPr>
        <p:spPr>
          <a:xfrm>
            <a:off x="297543" y="4582485"/>
            <a:ext cx="5285831" cy="16158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 xml:space="preserve">로그인 수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login_cnt_30d</a:t>
            </a:r>
          </a:p>
          <a:p>
            <a:endParaRPr lang="en-US" sz="1100"/>
          </a:p>
          <a:p>
            <a:r>
              <a:rPr lang="ko-KR" altLang="en-US" sz="1100"/>
              <a:t xml:space="preserve">세션 시간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avg_session_min</a:t>
            </a:r>
          </a:p>
          <a:p>
            <a:endParaRPr lang="en-US" sz="1100"/>
          </a:p>
          <a:p>
            <a:r>
              <a:rPr lang="ko-KR" altLang="en-US" sz="1100"/>
              <a:t xml:space="preserve">클릭률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push_click_rate =</a:t>
            </a:r>
            <a:r>
              <a:rPr lang="ko-KR" altLang="en-US" sz="1100"/>
              <a:t xml:space="preserve"> </a:t>
            </a:r>
            <a:r>
              <a:rPr lang="en-US" altLang="ko-KR" sz="1100"/>
              <a:t>push_click / push_send</a:t>
            </a:r>
          </a:p>
          <a:p>
            <a:endParaRPr lang="en-US" sz="1100"/>
          </a:p>
          <a:p>
            <a:r>
              <a:rPr lang="ko-KR" altLang="en-US" sz="1100"/>
              <a:t xml:space="preserve">추천 클릭률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recommend_click_rate</a:t>
            </a:r>
          </a:p>
          <a:p>
            <a:endParaRPr lang="en-US" sz="1100"/>
          </a:p>
          <a:p>
            <a:r>
              <a:rPr lang="ko-KR" altLang="en-US" sz="1100"/>
              <a:t xml:space="preserve">최근 활동일수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last_active_days</a:t>
            </a:r>
            <a:endParaRPr lang="en-KR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80CDA7-FB48-6545-B155-6BF64C082D0D}"/>
              </a:ext>
            </a:extLst>
          </p:cNvPr>
          <p:cNvSpPr txBox="1"/>
          <p:nvPr/>
        </p:nvSpPr>
        <p:spPr>
          <a:xfrm>
            <a:off x="6608626" y="418446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관계 </a:t>
            </a:r>
            <a:r>
              <a:rPr lang="en-US" altLang="ko-KR" sz="1200" b="1"/>
              <a:t>Feature</a:t>
            </a:r>
            <a:r>
              <a:rPr lang="ko-KR" altLang="en-US" sz="1200" b="1"/>
              <a:t xml:space="preserve"> 규칙 </a:t>
            </a:r>
            <a:endParaRPr lang="en-US" altLang="ko-KR" sz="10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684F3B-5455-3F4C-BFB2-DB69758CD295}"/>
              </a:ext>
            </a:extLst>
          </p:cNvPr>
          <p:cNvSpPr txBox="1"/>
          <p:nvPr/>
        </p:nvSpPr>
        <p:spPr>
          <a:xfrm>
            <a:off x="6608626" y="4582485"/>
            <a:ext cx="5285831" cy="12772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 xml:space="preserve">계열사 이용 수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affiliate_cnt</a:t>
            </a:r>
          </a:p>
          <a:p>
            <a:endParaRPr lang="en-US" sz="1100"/>
          </a:p>
          <a:p>
            <a:r>
              <a:rPr lang="ko-KR" altLang="en-US" sz="1100"/>
              <a:t xml:space="preserve">동의율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consent_ratio =</a:t>
            </a:r>
            <a:r>
              <a:rPr lang="ko-KR" altLang="en-US" sz="1100"/>
              <a:t xml:space="preserve"> 동의 도메인 수 </a:t>
            </a:r>
            <a:r>
              <a:rPr lang="en-US" altLang="ko-KR" sz="1100"/>
              <a:t xml:space="preserve">/ </a:t>
            </a:r>
            <a:r>
              <a:rPr lang="ko-KR" altLang="en-US" sz="1100"/>
              <a:t>전체 도메인 수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 xml:space="preserve">가입기간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membership_days</a:t>
            </a:r>
          </a:p>
          <a:p>
            <a:endParaRPr lang="en-US" sz="1100"/>
          </a:p>
          <a:p>
            <a:r>
              <a:rPr lang="ko-KR" altLang="en-US" sz="1100"/>
              <a:t xml:space="preserve">교차상품 지수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cross_product_score =</a:t>
            </a:r>
            <a:r>
              <a:rPr lang="ko-KR" altLang="en-US" sz="1100"/>
              <a:t xml:space="preserve"> 이용상품수 * 계열사수</a:t>
            </a:r>
            <a:endParaRPr lang="en-KR" sz="1100"/>
          </a:p>
        </p:txBody>
      </p:sp>
    </p:spTree>
    <p:extLst>
      <p:ext uri="{BB962C8B-B14F-4D97-AF65-F5344CB8AC3E}">
        <p14:creationId xmlns:p14="http://schemas.microsoft.com/office/powerpoint/2010/main" val="2936317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(AI Feature Table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3/3)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AI Feature Table</a:t>
            </a:r>
            <a:r>
              <a:rPr lang="ko-KR" altLang="en-US" b="1"/>
              <a:t>은 고객의 금융</a:t>
            </a:r>
            <a:r>
              <a:rPr lang="en-US" altLang="ko-KR" b="1"/>
              <a:t>·</a:t>
            </a:r>
            <a:r>
              <a:rPr lang="ko-KR" altLang="en-US" b="1"/>
              <a:t>건강</a:t>
            </a:r>
            <a:r>
              <a:rPr lang="en-US" altLang="ko-KR" b="1"/>
              <a:t>·</a:t>
            </a:r>
            <a:r>
              <a:rPr lang="ko-KR" altLang="en-US" b="1"/>
              <a:t>행동</a:t>
            </a:r>
            <a:r>
              <a:rPr lang="en-US" altLang="ko-KR" b="1"/>
              <a:t>·</a:t>
            </a:r>
            <a:r>
              <a:rPr lang="ko-KR" altLang="en-US" b="1"/>
              <a:t>관계 데이터를</a:t>
            </a:r>
            <a:r>
              <a:rPr lang="en-US" altLang="ko-KR" b="1"/>
              <a:t xml:space="preserve"> </a:t>
            </a:r>
            <a:r>
              <a:rPr lang="ko-KR" altLang="en-US" b="1"/>
              <a:t>머신러닝 입력값</a:t>
            </a:r>
            <a:r>
              <a:rPr lang="en-US" altLang="ko-KR" b="1"/>
              <a:t>(</a:t>
            </a:r>
            <a:r>
              <a:rPr lang="en-US" b="1"/>
              <a:t>Feature)</a:t>
            </a:r>
            <a:r>
              <a:rPr lang="ko-KR" altLang="en-US" b="1"/>
              <a:t>으로 변환한 테이블</a:t>
            </a:r>
            <a:endParaRPr lang="en-KR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1DD634-B38D-C845-AF6F-54A993F28424}"/>
              </a:ext>
            </a:extLst>
          </p:cNvPr>
          <p:cNvSpPr txBox="1"/>
          <p:nvPr/>
        </p:nvSpPr>
        <p:spPr>
          <a:xfrm>
            <a:off x="297543" y="140083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Feature Category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57B4EB-CE7C-1C46-9D09-FF21B37AD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166961"/>
              </p:ext>
            </p:extLst>
          </p:nvPr>
        </p:nvGraphicFramePr>
        <p:xfrm>
          <a:off x="297543" y="1926107"/>
          <a:ext cx="3360306" cy="1737360"/>
        </p:xfrm>
        <a:graphic>
          <a:graphicData uri="http://schemas.openxmlformats.org/drawingml/2006/table">
            <a:tbl>
              <a:tblPr/>
              <a:tblGrid>
                <a:gridCol w="1680153">
                  <a:extLst>
                    <a:ext uri="{9D8B030D-6E8A-4147-A177-3AD203B41FA5}">
                      <a16:colId xmlns:a16="http://schemas.microsoft.com/office/drawing/2014/main" val="1992842318"/>
                    </a:ext>
                  </a:extLst>
                </a:gridCol>
                <a:gridCol w="1680153">
                  <a:extLst>
                    <a:ext uri="{9D8B030D-6E8A-4147-A177-3AD203B41FA5}">
                      <a16:colId xmlns:a16="http://schemas.microsoft.com/office/drawing/2014/main" val="30019757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664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금융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411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건강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280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행동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앱 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293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관계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관계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461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성장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변화율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853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미래 결과값</a:t>
                      </a:r>
                      <a:r>
                        <a:rPr lang="en-US" altLang="ko-KR" sz="1000"/>
                        <a:t xml:space="preserve"> (</a:t>
                      </a:r>
                      <a:r>
                        <a:rPr lang="ko-KR" altLang="en-US" sz="1000"/>
                        <a:t>학습용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69044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ADA075A-8CA6-F842-8548-FD7562E584E3}"/>
              </a:ext>
            </a:extLst>
          </p:cNvPr>
          <p:cNvSpPr txBox="1"/>
          <p:nvPr/>
        </p:nvSpPr>
        <p:spPr>
          <a:xfrm>
            <a:off x="4162968" y="137089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성장 </a:t>
            </a:r>
            <a:r>
              <a:rPr lang="en-US" altLang="ko-KR" sz="1200" b="1"/>
              <a:t>Feature</a:t>
            </a:r>
            <a:r>
              <a:rPr lang="ko-KR" altLang="en-US" sz="1200" b="1"/>
              <a:t xml:space="preserve"> 규칙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4C9811-A7D5-4345-9B39-0F9CFE2C5156}"/>
              </a:ext>
            </a:extLst>
          </p:cNvPr>
          <p:cNvSpPr txBox="1"/>
          <p:nvPr/>
        </p:nvSpPr>
        <p:spPr>
          <a:xfrm>
            <a:off x="4162968" y="1768915"/>
            <a:ext cx="3360307" cy="938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 xml:space="preserve">소비 증가율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spend_growth_90d</a:t>
            </a:r>
          </a:p>
          <a:p>
            <a:endParaRPr lang="en-US" sz="1100"/>
          </a:p>
          <a:p>
            <a:r>
              <a:rPr lang="ko-KR" altLang="en-US" sz="1100"/>
              <a:t xml:space="preserve">투자 증가율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invest_growth_90d</a:t>
            </a:r>
          </a:p>
          <a:p>
            <a:endParaRPr lang="en-US" sz="1100"/>
          </a:p>
          <a:p>
            <a:r>
              <a:rPr lang="ko-KR" altLang="en-US" sz="1100"/>
              <a:t xml:space="preserve">건강 개선율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wellness_growth_30d</a:t>
            </a:r>
            <a:endParaRPr lang="en-KR" sz="11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8ED7EE-00A0-3C44-9635-52CD1848E96A}"/>
              </a:ext>
            </a:extLst>
          </p:cNvPr>
          <p:cNvSpPr txBox="1"/>
          <p:nvPr/>
        </p:nvSpPr>
        <p:spPr>
          <a:xfrm>
            <a:off x="8266529" y="137089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Risk</a:t>
            </a:r>
            <a:r>
              <a:rPr lang="ko-KR" altLang="en-US" sz="1200" b="1"/>
              <a:t xml:space="preserve"> </a:t>
            </a:r>
            <a:r>
              <a:rPr lang="en-US" altLang="ko-KR" sz="1200" b="1"/>
              <a:t>Feature</a:t>
            </a:r>
            <a:r>
              <a:rPr lang="ko-KR" altLang="en-US" sz="1200" b="1"/>
              <a:t xml:space="preserve"> 규칙 </a:t>
            </a:r>
            <a:endParaRPr lang="en-US" altLang="ko-KR" sz="1000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78E156-2CBE-4B46-965D-B4C8585588F3}"/>
              </a:ext>
            </a:extLst>
          </p:cNvPr>
          <p:cNvSpPr txBox="1"/>
          <p:nvPr/>
        </p:nvSpPr>
        <p:spPr>
          <a:xfrm>
            <a:off x="8266529" y="1768915"/>
            <a:ext cx="3360307" cy="12772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 xml:space="preserve">이탈 위험 기초값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inactive_days</a:t>
            </a:r>
          </a:p>
          <a:p>
            <a:endParaRPr lang="en-US" sz="1100"/>
          </a:p>
          <a:p>
            <a:r>
              <a:rPr lang="ko-KR" altLang="en-US" sz="1100"/>
              <a:t xml:space="preserve">카드소비 급감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card_drop_ratio</a:t>
            </a:r>
          </a:p>
          <a:p>
            <a:endParaRPr lang="en-US" sz="1100"/>
          </a:p>
          <a:p>
            <a:r>
              <a:rPr lang="ko-KR" altLang="en-US" sz="1100"/>
              <a:t xml:space="preserve">자산 급감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asset_drop_ratio</a:t>
            </a:r>
          </a:p>
          <a:p>
            <a:endParaRPr lang="en-US" sz="1100"/>
          </a:p>
          <a:p>
            <a:r>
              <a:rPr lang="ko-KR" altLang="en-US" sz="1100"/>
              <a:t xml:space="preserve">민원 여부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complaint_flag</a:t>
            </a:r>
            <a:endParaRPr lang="en-KR" sz="11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83ACEC-F6B2-C74D-8EB5-24036E8FF61D}"/>
              </a:ext>
            </a:extLst>
          </p:cNvPr>
          <p:cNvSpPr txBox="1"/>
          <p:nvPr/>
        </p:nvSpPr>
        <p:spPr>
          <a:xfrm>
            <a:off x="4162968" y="3512833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Label Feature</a:t>
            </a:r>
            <a:r>
              <a:rPr lang="ko-KR" altLang="en-US" sz="1200" b="1"/>
              <a:t xml:space="preserve"> 규칙 </a:t>
            </a:r>
            <a:endParaRPr lang="en-US" altLang="ko-KR" sz="10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06E4F8-3B5F-F249-9BEA-FBB89107039C}"/>
              </a:ext>
            </a:extLst>
          </p:cNvPr>
          <p:cNvSpPr txBox="1"/>
          <p:nvPr/>
        </p:nvSpPr>
        <p:spPr>
          <a:xfrm>
            <a:off x="4162968" y="3910854"/>
            <a:ext cx="3707036" cy="12772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VIP</a:t>
            </a:r>
            <a:r>
              <a:rPr lang="ko-KR" altLang="en-US" sz="1100"/>
              <a:t xml:space="preserve"> 모델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vip_label =</a:t>
            </a:r>
            <a:r>
              <a:rPr lang="ko-KR" altLang="en-US" sz="1100"/>
              <a:t xml:space="preserve"> </a:t>
            </a:r>
            <a:r>
              <a:rPr lang="en-US" altLang="ko-KR" sz="1100"/>
              <a:t>6</a:t>
            </a:r>
            <a:r>
              <a:rPr lang="ko-KR" altLang="en-US" sz="1100"/>
              <a:t xml:space="preserve">개월 후 </a:t>
            </a:r>
            <a:r>
              <a:rPr lang="en-US" altLang="ko-KR" sz="1100"/>
              <a:t xml:space="preserve">VIP </a:t>
            </a:r>
            <a:r>
              <a:rPr lang="ko-KR" altLang="en-US" sz="1100"/>
              <a:t>여부</a:t>
            </a:r>
            <a:endParaRPr lang="en-US" altLang="ko-KR" sz="1100"/>
          </a:p>
          <a:p>
            <a:endParaRPr lang="en-US" sz="1100"/>
          </a:p>
          <a:p>
            <a:r>
              <a:rPr lang="en-US" sz="1100"/>
              <a:t>PB</a:t>
            </a:r>
            <a:r>
              <a:rPr lang="ko-KR" altLang="en-US" sz="1100"/>
              <a:t xml:space="preserve"> 모델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pb_contract_label =</a:t>
            </a:r>
            <a:r>
              <a:rPr lang="ko-KR" altLang="en-US" sz="1100"/>
              <a:t xml:space="preserve"> </a:t>
            </a:r>
            <a:r>
              <a:rPr lang="en-US" altLang="ko-KR" sz="1100"/>
              <a:t xml:space="preserve">PB </a:t>
            </a:r>
            <a:r>
              <a:rPr lang="ko-KR" altLang="en-US" sz="1100"/>
              <a:t>상담 후 계약 여부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 xml:space="preserve">이탈 모델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churn_label =</a:t>
            </a:r>
            <a:r>
              <a:rPr lang="ko-KR" altLang="en-US" sz="1100"/>
              <a:t xml:space="preserve"> </a:t>
            </a:r>
            <a:r>
              <a:rPr lang="en-US" altLang="ko-KR" sz="1100"/>
              <a:t>90</a:t>
            </a:r>
            <a:r>
              <a:rPr lang="ko-KR" altLang="en-US" sz="1100"/>
              <a:t xml:space="preserve">일 미접속 </a:t>
            </a:r>
            <a:r>
              <a:rPr lang="en-US" altLang="ko-KR" sz="1100"/>
              <a:t xml:space="preserve">/ </a:t>
            </a:r>
            <a:r>
              <a:rPr lang="ko-KR" altLang="en-US" sz="1100"/>
              <a:t>탈퇴 여부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 xml:space="preserve">추천 모델 </a:t>
            </a:r>
            <a:r>
              <a:rPr lang="en-US" altLang="ko-KR" sz="1100"/>
              <a:t>:</a:t>
            </a:r>
            <a:r>
              <a:rPr lang="ko-KR" altLang="en-US" sz="1100"/>
              <a:t xml:space="preserve"> </a:t>
            </a:r>
            <a:r>
              <a:rPr lang="en-US" altLang="ko-KR" sz="1100"/>
              <a:t>product_purchase_label</a:t>
            </a:r>
            <a:endParaRPr lang="en-KR" sz="1100"/>
          </a:p>
        </p:txBody>
      </p:sp>
    </p:spTree>
    <p:extLst>
      <p:ext uri="{BB962C8B-B14F-4D97-AF65-F5344CB8AC3E}">
        <p14:creationId xmlns:p14="http://schemas.microsoft.com/office/powerpoint/2010/main" val="9644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(VIP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 – 1/3)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VIP Mart</a:t>
            </a:r>
            <a:r>
              <a:rPr lang="ko-KR" altLang="en-US" b="1"/>
              <a:t>는 돈 많은 고객 선별이 아니라</a:t>
            </a:r>
            <a:r>
              <a:rPr lang="en-US" altLang="ko-KR" b="1"/>
              <a:t xml:space="preserve">, </a:t>
            </a:r>
            <a:r>
              <a:rPr lang="en-US" b="1"/>
              <a:t xml:space="preserve">VIP </a:t>
            </a:r>
            <a:r>
              <a:rPr lang="ko-KR" altLang="en-US" b="1"/>
              <a:t xml:space="preserve">전환 가능성과 </a:t>
            </a:r>
            <a:r>
              <a:rPr lang="en-US" b="1"/>
              <a:t xml:space="preserve">PB </a:t>
            </a:r>
            <a:r>
              <a:rPr lang="ko-KR" altLang="en-US" b="1"/>
              <a:t xml:space="preserve">영업가치를 점수화한 </a:t>
            </a:r>
            <a:r>
              <a:rPr lang="en-US" b="1"/>
              <a:t>Mart</a:t>
            </a:r>
            <a:endParaRPr lang="en-KR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A00CD-9D5F-4E48-9005-6049BC906E5E}"/>
              </a:ext>
            </a:extLst>
          </p:cNvPr>
          <p:cNvSpPr txBox="1"/>
          <p:nvPr/>
        </p:nvSpPr>
        <p:spPr>
          <a:xfrm>
            <a:off x="297543" y="1384011"/>
            <a:ext cx="292179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목적 </a:t>
            </a:r>
            <a:endParaRPr lang="en-US" altLang="ko-KR" sz="1200" b="1"/>
          </a:p>
          <a:p>
            <a:endParaRPr lang="en-US" altLang="ko-K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 xml:space="preserve">VIP </a:t>
            </a:r>
            <a:r>
              <a:rPr lang="ko-KR" altLang="en-US" sz="1000"/>
              <a:t>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 xml:space="preserve">PB </a:t>
            </a:r>
            <a:r>
              <a:rPr lang="ko-KR" altLang="en-US" sz="1000"/>
              <a:t>계약 확률 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이탈 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상품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건강 위험 예측</a:t>
            </a:r>
            <a:endParaRPr lang="en-US" altLang="ko-KR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984848-C5EE-8D4B-A6B0-CD19DDF9BFBC}"/>
              </a:ext>
            </a:extLst>
          </p:cNvPr>
          <p:cNvSpPr txBox="1"/>
          <p:nvPr/>
        </p:nvSpPr>
        <p:spPr>
          <a:xfrm>
            <a:off x="2911904" y="138401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VIP Mart </a:t>
            </a:r>
            <a:r>
              <a:rPr lang="ko-KR" altLang="en-US" sz="1200" b="1"/>
              <a:t xml:space="preserve">규칙 </a:t>
            </a:r>
            <a:endParaRPr lang="en-US" altLang="ko-KR" sz="10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E5CC6D-CCB3-0546-AC50-ED9C30D873C0}"/>
              </a:ext>
            </a:extLst>
          </p:cNvPr>
          <p:cNvSpPr txBox="1"/>
          <p:nvPr/>
        </p:nvSpPr>
        <p:spPr>
          <a:xfrm>
            <a:off x="3027959" y="1746304"/>
            <a:ext cx="8598877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/>
              <a:t xml:space="preserve">고객의 자산 </a:t>
            </a:r>
            <a:r>
              <a:rPr lang="en-US" altLang="ko-KR" sz="1000"/>
              <a:t xml:space="preserve">+ </a:t>
            </a:r>
            <a:r>
              <a:rPr lang="ko-KR" altLang="en-US" sz="1000"/>
              <a:t xml:space="preserve">수익기여 </a:t>
            </a:r>
            <a:r>
              <a:rPr lang="en-US" altLang="ko-KR" sz="1000"/>
              <a:t xml:space="preserve">+ </a:t>
            </a:r>
            <a:r>
              <a:rPr lang="ko-KR" altLang="en-US" sz="1000"/>
              <a:t xml:space="preserve">관계도 </a:t>
            </a:r>
            <a:r>
              <a:rPr lang="en-US" altLang="ko-KR" sz="1000"/>
              <a:t xml:space="preserve">+ </a:t>
            </a:r>
            <a:r>
              <a:rPr lang="ko-KR" altLang="en-US" sz="1000"/>
              <a:t xml:space="preserve">성장성 </a:t>
            </a:r>
            <a:r>
              <a:rPr lang="en-US" altLang="ko-KR" sz="1000"/>
              <a:t xml:space="preserve">+ </a:t>
            </a:r>
            <a:r>
              <a:rPr lang="ko-KR" altLang="en-US" sz="1000"/>
              <a:t>투자성향</a:t>
            </a:r>
            <a:r>
              <a:rPr lang="en-US" altLang="ko-KR" sz="1000"/>
              <a:t xml:space="preserve"> + </a:t>
            </a:r>
            <a:r>
              <a:rPr lang="ko-KR" altLang="en-US" sz="1000"/>
              <a:t xml:space="preserve">라이프스타일 </a:t>
            </a:r>
            <a:r>
              <a:rPr lang="en-US" altLang="ko-KR" sz="1000"/>
              <a:t xml:space="preserve">+ </a:t>
            </a:r>
            <a:r>
              <a:rPr lang="ko-KR" altLang="en-US" sz="1000"/>
              <a:t xml:space="preserve">디지털활동 </a:t>
            </a:r>
            <a:r>
              <a:rPr lang="en-US" altLang="ko-KR" sz="1000"/>
              <a:t xml:space="preserve">– </a:t>
            </a:r>
            <a:r>
              <a:rPr lang="ko-KR" altLang="en-US" sz="1000"/>
              <a:t>리스크</a:t>
            </a:r>
            <a:r>
              <a:rPr lang="en-US" altLang="ko-KR" sz="1000"/>
              <a:t xml:space="preserve"> = </a:t>
            </a:r>
            <a:r>
              <a:rPr lang="en-US" sz="1000"/>
              <a:t xml:space="preserve">VIP </a:t>
            </a:r>
            <a:r>
              <a:rPr lang="ko-KR" altLang="en-US" sz="1000"/>
              <a:t>후보 점수</a:t>
            </a:r>
            <a:endParaRPr lang="en-KR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85E7B8-9E56-B242-B750-9417861546E7}"/>
              </a:ext>
            </a:extLst>
          </p:cNvPr>
          <p:cNvSpPr txBox="1"/>
          <p:nvPr/>
        </p:nvSpPr>
        <p:spPr>
          <a:xfrm>
            <a:off x="3027958" y="2168777"/>
            <a:ext cx="8845387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1"/>
              <a:t xml:space="preserve">vip_score_final = asset_score + revenue_score + relationship_score + growth_score + investment_score + lifestyle_score + digital_bonus </a:t>
            </a:r>
          </a:p>
          <a:p>
            <a:r>
              <a:rPr lang="en-US" sz="1000" b="1"/>
              <a:t xml:space="preserve">                               - risk_penalty</a:t>
            </a:r>
            <a:endParaRPr lang="en-KR" sz="10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15C13B-F0EF-144C-B8D6-62104E56CBCF}"/>
              </a:ext>
            </a:extLst>
          </p:cNvPr>
          <p:cNvSpPr txBox="1"/>
          <p:nvPr/>
        </p:nvSpPr>
        <p:spPr>
          <a:xfrm>
            <a:off x="297543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점수 전체 비중 </a:t>
            </a:r>
            <a:endParaRPr lang="en-US" altLang="ko-KR" sz="1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E8A4C-B3F9-D748-932A-C0F23DC6F367}"/>
              </a:ext>
            </a:extLst>
          </p:cNvPr>
          <p:cNvSpPr txBox="1"/>
          <p:nvPr/>
        </p:nvSpPr>
        <p:spPr>
          <a:xfrm>
            <a:off x="3448706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자산점수 </a:t>
            </a:r>
            <a:r>
              <a:rPr lang="en-US" altLang="ko-KR" sz="1200" b="1"/>
              <a:t>(30)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F93D83-5B7C-2F44-A9AF-05FA7AF1C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000300"/>
              </p:ext>
            </p:extLst>
          </p:nvPr>
        </p:nvGraphicFramePr>
        <p:xfrm>
          <a:off x="297543" y="3538131"/>
          <a:ext cx="2459726" cy="2225040"/>
        </p:xfrm>
        <a:graphic>
          <a:graphicData uri="http://schemas.openxmlformats.org/drawingml/2006/table">
            <a:tbl>
              <a:tblPr/>
              <a:tblGrid>
                <a:gridCol w="1474986">
                  <a:extLst>
                    <a:ext uri="{9D8B030D-6E8A-4147-A177-3AD203B41FA5}">
                      <a16:colId xmlns:a16="http://schemas.microsoft.com/office/drawing/2014/main" val="1924040341"/>
                    </a:ext>
                  </a:extLst>
                </a:gridCol>
                <a:gridCol w="984740">
                  <a:extLst>
                    <a:ext uri="{9D8B030D-6E8A-4147-A177-3AD203B41FA5}">
                      <a16:colId xmlns:a16="http://schemas.microsoft.com/office/drawing/2014/main" val="536107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73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482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수익 기여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81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342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307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투자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29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라이프스타일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874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디지털 보너스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220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09877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3BEFFB1-5B64-F240-9C87-6A6195C5D385}"/>
              </a:ext>
            </a:extLst>
          </p:cNvPr>
          <p:cNvSpPr txBox="1"/>
          <p:nvPr/>
        </p:nvSpPr>
        <p:spPr>
          <a:xfrm>
            <a:off x="3448706" y="5640060"/>
            <a:ext cx="3937948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/>
              <a:t>total_asset = latest_balance + invest_total + premium_total</a:t>
            </a:r>
            <a:endParaRPr lang="en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6475C1-0D10-D84A-B962-ED12B534F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552180"/>
              </p:ext>
            </p:extLst>
          </p:nvPr>
        </p:nvGraphicFramePr>
        <p:xfrm>
          <a:off x="3448706" y="3583851"/>
          <a:ext cx="2459726" cy="1737360"/>
        </p:xfrm>
        <a:graphic>
          <a:graphicData uri="http://schemas.openxmlformats.org/drawingml/2006/table">
            <a:tbl>
              <a:tblPr/>
              <a:tblGrid>
                <a:gridCol w="1229863">
                  <a:extLst>
                    <a:ext uri="{9D8B030D-6E8A-4147-A177-3AD203B41FA5}">
                      <a16:colId xmlns:a16="http://schemas.microsoft.com/office/drawing/2014/main" val="3557738360"/>
                    </a:ext>
                  </a:extLst>
                </a:gridCol>
                <a:gridCol w="1229863">
                  <a:extLst>
                    <a:ext uri="{9D8B030D-6E8A-4147-A177-3AD203B41FA5}">
                      <a16:colId xmlns:a16="http://schemas.microsoft.com/office/drawing/2014/main" val="3713285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총자산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54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억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445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억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766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억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389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7</a:t>
                      </a:r>
                      <a:r>
                        <a:rPr lang="ko-KR" altLang="en-US" sz="1000"/>
                        <a:t>천만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1252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천만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3634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978633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6F0DD202-3EC5-3849-9DAA-B1C79B61C56A}"/>
              </a:ext>
            </a:extLst>
          </p:cNvPr>
          <p:cNvSpPr txBox="1"/>
          <p:nvPr/>
        </p:nvSpPr>
        <p:spPr>
          <a:xfrm>
            <a:off x="8062909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수익 기여 점수 </a:t>
            </a:r>
            <a:r>
              <a:rPr lang="en-US" altLang="ko-KR" sz="1200" b="1"/>
              <a:t>(20)</a:t>
            </a:r>
            <a:endParaRPr lang="en-US" altLang="ko-KR" sz="10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B15D0D-23E5-2E42-B736-50223E714829}"/>
              </a:ext>
            </a:extLst>
          </p:cNvPr>
          <p:cNvSpPr txBox="1"/>
          <p:nvPr/>
        </p:nvSpPr>
        <p:spPr>
          <a:xfrm>
            <a:off x="9583371" y="3080275"/>
            <a:ext cx="2136110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b="1"/>
              <a:t xml:space="preserve">카드 </a:t>
            </a:r>
            <a:r>
              <a:rPr lang="en-US" altLang="ko-KR" sz="1000" b="1"/>
              <a:t xml:space="preserve">+ </a:t>
            </a:r>
            <a:r>
              <a:rPr lang="ko-KR" altLang="en-US" sz="1000" b="1"/>
              <a:t xml:space="preserve">보험 </a:t>
            </a:r>
            <a:r>
              <a:rPr lang="en-US" altLang="ko-KR" sz="1000" b="1"/>
              <a:t xml:space="preserve">+ </a:t>
            </a:r>
            <a:r>
              <a:rPr lang="ko-KR" altLang="en-US" sz="1000" b="1"/>
              <a:t>투자 거래 활동성</a:t>
            </a:r>
            <a:endParaRPr lang="en-KR" sz="1000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7F2147-2B24-294E-8B0C-5FB56AC81403}"/>
              </a:ext>
            </a:extLst>
          </p:cNvPr>
          <p:cNvSpPr txBox="1"/>
          <p:nvPr/>
        </p:nvSpPr>
        <p:spPr>
          <a:xfrm>
            <a:off x="8062909" y="3554313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 xml:space="preserve"> 카드 소비</a:t>
            </a:r>
            <a:endParaRPr lang="en-KR" sz="1000"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1888CE-6EDF-8845-A968-8B49FF5BB6C9}"/>
              </a:ext>
            </a:extLst>
          </p:cNvPr>
          <p:cNvSpPr txBox="1"/>
          <p:nvPr/>
        </p:nvSpPr>
        <p:spPr>
          <a:xfrm>
            <a:off x="10199019" y="3538131"/>
            <a:ext cx="1801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2)</a:t>
            </a:r>
            <a:r>
              <a:rPr lang="ko-KR" altLang="en-US" sz="1000" b="1"/>
              <a:t xml:space="preserve"> 보험료</a:t>
            </a:r>
            <a:endParaRPr lang="en-KR" sz="10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42B859-1311-6842-9BC3-14999D564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341713"/>
              </p:ext>
            </p:extLst>
          </p:nvPr>
        </p:nvGraphicFramePr>
        <p:xfrm>
          <a:off x="8166074" y="3870643"/>
          <a:ext cx="1675228" cy="1005840"/>
        </p:xfrm>
        <a:graphic>
          <a:graphicData uri="http://schemas.openxmlformats.org/drawingml/2006/table">
            <a:tbl>
              <a:tblPr/>
              <a:tblGrid>
                <a:gridCol w="837614">
                  <a:extLst>
                    <a:ext uri="{9D8B030D-6E8A-4147-A177-3AD203B41FA5}">
                      <a16:colId xmlns:a16="http://schemas.microsoft.com/office/drawing/2014/main" val="2178362777"/>
                    </a:ext>
                  </a:extLst>
                </a:gridCol>
                <a:gridCol w="837614">
                  <a:extLst>
                    <a:ext uri="{9D8B030D-6E8A-4147-A177-3AD203B41FA5}">
                      <a16:colId xmlns:a16="http://schemas.microsoft.com/office/drawing/2014/main" val="30153839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021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549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5943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89846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517950-0774-A648-AECF-B3658EADB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589426"/>
              </p:ext>
            </p:extLst>
          </p:nvPr>
        </p:nvGraphicFramePr>
        <p:xfrm>
          <a:off x="10199019" y="3860690"/>
          <a:ext cx="1801838" cy="914400"/>
        </p:xfrm>
        <a:graphic>
          <a:graphicData uri="http://schemas.openxmlformats.org/drawingml/2006/table">
            <a:tbl>
              <a:tblPr/>
              <a:tblGrid>
                <a:gridCol w="900919">
                  <a:extLst>
                    <a:ext uri="{9D8B030D-6E8A-4147-A177-3AD203B41FA5}">
                      <a16:colId xmlns:a16="http://schemas.microsoft.com/office/drawing/2014/main" val="3641314345"/>
                    </a:ext>
                  </a:extLst>
                </a:gridCol>
                <a:gridCol w="900919">
                  <a:extLst>
                    <a:ext uri="{9D8B030D-6E8A-4147-A177-3AD203B41FA5}">
                      <a16:colId xmlns:a16="http://schemas.microsoft.com/office/drawing/2014/main" val="3128096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799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premium_total 300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573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688042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616B7C94-0D44-4C4A-9024-7ECC64D61969}"/>
              </a:ext>
            </a:extLst>
          </p:cNvPr>
          <p:cNvSpPr txBox="1"/>
          <p:nvPr/>
        </p:nvSpPr>
        <p:spPr>
          <a:xfrm>
            <a:off x="8062909" y="5214301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3)</a:t>
            </a:r>
            <a:r>
              <a:rPr lang="ko-KR" altLang="en-US" sz="1000" b="1"/>
              <a:t xml:space="preserve"> 투자 거래</a:t>
            </a:r>
            <a:endParaRPr lang="en-KR" sz="1000" b="1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0395CF7-093C-C046-9AEC-B8B1AC0B5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955294"/>
              </p:ext>
            </p:extLst>
          </p:nvPr>
        </p:nvGraphicFramePr>
        <p:xfrm>
          <a:off x="8166074" y="5525429"/>
          <a:ext cx="1675228" cy="1005840"/>
        </p:xfrm>
        <a:graphic>
          <a:graphicData uri="http://schemas.openxmlformats.org/drawingml/2006/table">
            <a:tbl>
              <a:tblPr/>
              <a:tblGrid>
                <a:gridCol w="963858">
                  <a:extLst>
                    <a:ext uri="{9D8B030D-6E8A-4147-A177-3AD203B41FA5}">
                      <a16:colId xmlns:a16="http://schemas.microsoft.com/office/drawing/2014/main" val="3385909032"/>
                    </a:ext>
                  </a:extLst>
                </a:gridCol>
                <a:gridCol w="711370">
                  <a:extLst>
                    <a:ext uri="{9D8B030D-6E8A-4147-A177-3AD203B41FA5}">
                      <a16:colId xmlns:a16="http://schemas.microsoft.com/office/drawing/2014/main" val="491275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trade_cnt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216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2198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3423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834882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153A99CB-1FE4-324F-9351-0D0EFDEFC66C}"/>
              </a:ext>
            </a:extLst>
          </p:cNvPr>
          <p:cNvSpPr txBox="1"/>
          <p:nvPr/>
        </p:nvSpPr>
        <p:spPr>
          <a:xfrm>
            <a:off x="2911904" y="2693901"/>
            <a:ext cx="54525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 xml:space="preserve">자산 20 </a:t>
            </a:r>
            <a:r>
              <a:rPr lang="en-US" altLang="ko-KR" sz="1000"/>
              <a:t xml:space="preserve">/ </a:t>
            </a:r>
            <a:r>
              <a:rPr lang="en-KR" sz="1000"/>
              <a:t xml:space="preserve">수익 14 </a:t>
            </a:r>
            <a:r>
              <a:rPr lang="en-US" altLang="ko-KR" sz="1000"/>
              <a:t xml:space="preserve">/ </a:t>
            </a:r>
            <a:r>
              <a:rPr lang="en-KR" sz="1000"/>
              <a:t xml:space="preserve">관계 12 </a:t>
            </a:r>
            <a:r>
              <a:rPr lang="en-US" altLang="ko-KR" sz="1000"/>
              <a:t xml:space="preserve">/ </a:t>
            </a:r>
            <a:r>
              <a:rPr lang="en-KR" sz="1000"/>
              <a:t xml:space="preserve">성장 10 </a:t>
            </a:r>
            <a:r>
              <a:rPr lang="en-US" altLang="ko-KR" sz="1000"/>
              <a:t xml:space="preserve">/ </a:t>
            </a:r>
            <a:r>
              <a:rPr lang="en-KR" sz="1000"/>
              <a:t xml:space="preserve">투자 7 </a:t>
            </a:r>
            <a:r>
              <a:rPr lang="en-US" altLang="ko-KR" sz="1000"/>
              <a:t xml:space="preserve">/ </a:t>
            </a:r>
            <a:r>
              <a:rPr lang="en-KR" sz="1000"/>
              <a:t xml:space="preserve">라이프 3 </a:t>
            </a:r>
            <a:r>
              <a:rPr lang="en-US" altLang="ko-KR" sz="1000"/>
              <a:t xml:space="preserve">/ </a:t>
            </a:r>
            <a:r>
              <a:rPr lang="en-KR" sz="1000"/>
              <a:t xml:space="preserve">디지털 5 </a:t>
            </a:r>
            <a:r>
              <a:rPr lang="en-US" altLang="ko-KR" sz="1000"/>
              <a:t xml:space="preserve">/ </a:t>
            </a:r>
            <a:r>
              <a:rPr lang="en-KR" sz="1000"/>
              <a:t xml:space="preserve">리스크 -5 </a:t>
            </a:r>
            <a:r>
              <a:rPr lang="en-US" altLang="ko-KR" sz="1000"/>
              <a:t xml:space="preserve">= </a:t>
            </a:r>
            <a:r>
              <a:rPr lang="en-KR" sz="1000"/>
              <a:t>총점 = 66</a:t>
            </a:r>
          </a:p>
        </p:txBody>
      </p:sp>
    </p:spTree>
    <p:extLst>
      <p:ext uri="{BB962C8B-B14F-4D97-AF65-F5344CB8AC3E}">
        <p14:creationId xmlns:p14="http://schemas.microsoft.com/office/powerpoint/2010/main" val="279565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(VIP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 – 2/3)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VIP Mart</a:t>
            </a:r>
            <a:r>
              <a:rPr lang="ko-KR" altLang="en-US" b="1"/>
              <a:t>는 돈 많은 고객 선별이 아니라</a:t>
            </a:r>
            <a:r>
              <a:rPr lang="en-US" altLang="ko-KR" b="1"/>
              <a:t xml:space="preserve">, </a:t>
            </a:r>
            <a:r>
              <a:rPr lang="en-US" b="1"/>
              <a:t xml:space="preserve">VIP </a:t>
            </a:r>
            <a:r>
              <a:rPr lang="ko-KR" altLang="en-US" b="1"/>
              <a:t xml:space="preserve">전환 가능성과 </a:t>
            </a:r>
            <a:r>
              <a:rPr lang="en-US" b="1"/>
              <a:t xml:space="preserve">PB </a:t>
            </a:r>
            <a:r>
              <a:rPr lang="ko-KR" altLang="en-US" b="1"/>
              <a:t xml:space="preserve">영업가치를 점수화한 </a:t>
            </a:r>
            <a:r>
              <a:rPr lang="en-US" b="1"/>
              <a:t>Mart</a:t>
            </a:r>
            <a:endParaRPr lang="en-KR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15C13B-F0EF-144C-B8D6-62104E56CBCF}"/>
              </a:ext>
            </a:extLst>
          </p:cNvPr>
          <p:cNvSpPr txBox="1"/>
          <p:nvPr/>
        </p:nvSpPr>
        <p:spPr>
          <a:xfrm>
            <a:off x="297543" y="126886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점수 전체 비중 </a:t>
            </a:r>
            <a:endParaRPr lang="en-US" altLang="ko-KR" sz="1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E8A4C-B3F9-D748-932A-C0F23DC6F367}"/>
              </a:ext>
            </a:extLst>
          </p:cNvPr>
          <p:cNvSpPr txBox="1"/>
          <p:nvPr/>
        </p:nvSpPr>
        <p:spPr>
          <a:xfrm>
            <a:off x="3448706" y="126886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관계 점수 </a:t>
            </a:r>
            <a:r>
              <a:rPr lang="en-US" altLang="ko-KR" sz="1200" b="1"/>
              <a:t xml:space="preserve">(15) – </a:t>
            </a:r>
            <a:r>
              <a:rPr lang="ko-KR" altLang="en-US" sz="1200" b="1"/>
              <a:t>계열사 락인 고객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F93D83-5B7C-2F44-A9AF-05FA7AF1C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925778"/>
              </p:ext>
            </p:extLst>
          </p:nvPr>
        </p:nvGraphicFramePr>
        <p:xfrm>
          <a:off x="297543" y="1751534"/>
          <a:ext cx="2459726" cy="2225040"/>
        </p:xfrm>
        <a:graphic>
          <a:graphicData uri="http://schemas.openxmlformats.org/drawingml/2006/table">
            <a:tbl>
              <a:tblPr/>
              <a:tblGrid>
                <a:gridCol w="1474986">
                  <a:extLst>
                    <a:ext uri="{9D8B030D-6E8A-4147-A177-3AD203B41FA5}">
                      <a16:colId xmlns:a16="http://schemas.microsoft.com/office/drawing/2014/main" val="1924040341"/>
                    </a:ext>
                  </a:extLst>
                </a:gridCol>
                <a:gridCol w="984740">
                  <a:extLst>
                    <a:ext uri="{9D8B030D-6E8A-4147-A177-3AD203B41FA5}">
                      <a16:colId xmlns:a16="http://schemas.microsoft.com/office/drawing/2014/main" val="536107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73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482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수익 기여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81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342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307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투자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29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라이프스타일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874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디지털 보너스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220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09877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6F0DD202-3EC5-3849-9DAA-B1C79B61C56A}"/>
              </a:ext>
            </a:extLst>
          </p:cNvPr>
          <p:cNvSpPr txBox="1"/>
          <p:nvPr/>
        </p:nvSpPr>
        <p:spPr>
          <a:xfrm>
            <a:off x="7688888" y="126886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성장 점수 </a:t>
            </a:r>
            <a:r>
              <a:rPr lang="en-US" altLang="ko-KR" sz="1200" b="1"/>
              <a:t xml:space="preserve">(15) – </a:t>
            </a:r>
            <a:r>
              <a:rPr lang="ko-KR" altLang="en-US" sz="1200" b="1"/>
              <a:t xml:space="preserve">곧 </a:t>
            </a:r>
            <a:r>
              <a:rPr lang="en-US" altLang="ko-KR" sz="1200" b="1"/>
              <a:t xml:space="preserve">VIP </a:t>
            </a:r>
            <a:r>
              <a:rPr lang="ko-KR" altLang="en-US" sz="1200" b="1"/>
              <a:t>될 고객 탐지</a:t>
            </a:r>
            <a:endParaRPr lang="en-US" altLang="ko-KR" sz="10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B15D0D-23E5-2E42-B736-50223E714829}"/>
              </a:ext>
            </a:extLst>
          </p:cNvPr>
          <p:cNvSpPr txBox="1"/>
          <p:nvPr/>
        </p:nvSpPr>
        <p:spPr>
          <a:xfrm>
            <a:off x="7736840" y="3152001"/>
            <a:ext cx="3269844" cy="5539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1"/>
              <a:t>asset_growth_90d</a:t>
            </a:r>
          </a:p>
          <a:p>
            <a:r>
              <a:rPr lang="en-US" sz="1000" b="1"/>
              <a:t>invest_growth_90d</a:t>
            </a:r>
          </a:p>
          <a:p>
            <a:r>
              <a:rPr lang="en-US" sz="1000" b="1"/>
              <a:t>spend_growth_90d</a:t>
            </a:r>
            <a:endParaRPr lang="en-KR" sz="1000" b="1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DA26BC9-4219-B447-8846-7AF5082CD4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111334"/>
              </p:ext>
            </p:extLst>
          </p:nvPr>
        </p:nvGraphicFramePr>
        <p:xfrm>
          <a:off x="3517613" y="1746528"/>
          <a:ext cx="2647294" cy="1493520"/>
        </p:xfrm>
        <a:graphic>
          <a:graphicData uri="http://schemas.openxmlformats.org/drawingml/2006/table">
            <a:tbl>
              <a:tblPr/>
              <a:tblGrid>
                <a:gridCol w="1323647">
                  <a:extLst>
                    <a:ext uri="{9D8B030D-6E8A-4147-A177-3AD203B41FA5}">
                      <a16:colId xmlns:a16="http://schemas.microsoft.com/office/drawing/2014/main" val="3630015018"/>
                    </a:ext>
                  </a:extLst>
                </a:gridCol>
                <a:gridCol w="1323647">
                  <a:extLst>
                    <a:ext uri="{9D8B030D-6E8A-4147-A177-3AD203B41FA5}">
                      <a16:colId xmlns:a16="http://schemas.microsoft.com/office/drawing/2014/main" val="3119571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affiliate_cnt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95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개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7903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4</a:t>
                      </a:r>
                      <a:r>
                        <a:rPr lang="ko-KR" altLang="en-US" sz="100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4492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4641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019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개 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55657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8204362-BFF1-DA45-B119-57FBC11E9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419430"/>
              </p:ext>
            </p:extLst>
          </p:nvPr>
        </p:nvGraphicFramePr>
        <p:xfrm>
          <a:off x="7736840" y="1746528"/>
          <a:ext cx="3269844" cy="1249680"/>
        </p:xfrm>
        <a:graphic>
          <a:graphicData uri="http://schemas.openxmlformats.org/drawingml/2006/table">
            <a:tbl>
              <a:tblPr/>
              <a:tblGrid>
                <a:gridCol w="2228835">
                  <a:extLst>
                    <a:ext uri="{9D8B030D-6E8A-4147-A177-3AD203B41FA5}">
                      <a16:colId xmlns:a16="http://schemas.microsoft.com/office/drawing/2014/main" val="2614515029"/>
                    </a:ext>
                  </a:extLst>
                </a:gridCol>
                <a:gridCol w="1041009">
                  <a:extLst>
                    <a:ext uri="{9D8B030D-6E8A-4147-A177-3AD203B41FA5}">
                      <a16:colId xmlns:a16="http://schemas.microsoft.com/office/drawing/2014/main" val="3678097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028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</a:t>
                      </a:r>
                      <a:r>
                        <a:rPr lang="en-US" altLang="ko-KR" sz="1000"/>
                        <a:t xml:space="preserve">20%+ &amp; </a:t>
                      </a:r>
                      <a:r>
                        <a:rPr lang="ko-KR" altLang="en-US" sz="1000"/>
                        <a:t>투자</a:t>
                      </a:r>
                      <a:r>
                        <a:rPr lang="en-US" altLang="ko-KR" sz="1000"/>
                        <a:t xml:space="preserve">15%+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494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</a:t>
                      </a:r>
                      <a:r>
                        <a:rPr lang="en-US" altLang="ko-KR" sz="1000"/>
                        <a:t xml:space="preserve">10%+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2654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소비</a:t>
                      </a:r>
                      <a:r>
                        <a:rPr lang="en-US" altLang="ko-KR" sz="1000"/>
                        <a:t xml:space="preserve">8%+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1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05650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363437D8-506D-B140-9889-8DCEBF7F7153}"/>
              </a:ext>
            </a:extLst>
          </p:cNvPr>
          <p:cNvSpPr txBox="1"/>
          <p:nvPr/>
        </p:nvSpPr>
        <p:spPr>
          <a:xfrm>
            <a:off x="3448706" y="4110542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투자 점수 </a:t>
            </a:r>
            <a:r>
              <a:rPr lang="en-US" altLang="ko-KR" sz="1200" b="1"/>
              <a:t xml:space="preserve">(10) – PB </a:t>
            </a:r>
            <a:r>
              <a:rPr lang="ko-KR" altLang="en-US" sz="1200" b="1"/>
              <a:t>자산관리 니즈</a:t>
            </a:r>
            <a:endParaRPr lang="en-US" altLang="ko-KR" sz="1000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E1FEBC-B0CB-7546-9198-17C403C1F72A}"/>
              </a:ext>
            </a:extLst>
          </p:cNvPr>
          <p:cNvSpPr txBox="1"/>
          <p:nvPr/>
        </p:nvSpPr>
        <p:spPr>
          <a:xfrm>
            <a:off x="7688888" y="4110541"/>
            <a:ext cx="3937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라이프스타일 점수 </a:t>
            </a:r>
            <a:r>
              <a:rPr lang="en-US" altLang="ko-KR" sz="1200" b="1"/>
              <a:t xml:space="preserve">(5) – </a:t>
            </a:r>
            <a:r>
              <a:rPr lang="ko-KR" altLang="en-US" sz="1200" b="1"/>
              <a:t>고가치 장기 고객 가능성</a:t>
            </a:r>
            <a:endParaRPr lang="en-US" altLang="ko-KR" sz="1000" b="1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45C4085-23EE-8341-91D1-4838451EB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416618"/>
              </p:ext>
            </p:extLst>
          </p:nvPr>
        </p:nvGraphicFramePr>
        <p:xfrm>
          <a:off x="7736840" y="4551441"/>
          <a:ext cx="3269844" cy="1158240"/>
        </p:xfrm>
        <a:graphic>
          <a:graphicData uri="http://schemas.openxmlformats.org/drawingml/2006/table">
            <a:tbl>
              <a:tblPr/>
              <a:tblGrid>
                <a:gridCol w="1634922">
                  <a:extLst>
                    <a:ext uri="{9D8B030D-6E8A-4147-A177-3AD203B41FA5}">
                      <a16:colId xmlns:a16="http://schemas.microsoft.com/office/drawing/2014/main" val="1737868653"/>
                    </a:ext>
                  </a:extLst>
                </a:gridCol>
                <a:gridCol w="1634922">
                  <a:extLst>
                    <a:ext uri="{9D8B030D-6E8A-4147-A177-3AD203B41FA5}">
                      <a16:colId xmlns:a16="http://schemas.microsoft.com/office/drawing/2014/main" val="2834365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3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steps 10000+ &amp; health_score 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876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health_score 70+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639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98830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FD315BC-9239-D547-AEE2-6F1EF11D1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693916"/>
              </p:ext>
            </p:extLst>
          </p:nvPr>
        </p:nvGraphicFramePr>
        <p:xfrm>
          <a:off x="3462056" y="4609107"/>
          <a:ext cx="2702852" cy="1249680"/>
        </p:xfrm>
        <a:graphic>
          <a:graphicData uri="http://schemas.openxmlformats.org/drawingml/2006/table">
            <a:tbl>
              <a:tblPr/>
              <a:tblGrid>
                <a:gridCol w="1757058">
                  <a:extLst>
                    <a:ext uri="{9D8B030D-6E8A-4147-A177-3AD203B41FA5}">
                      <a16:colId xmlns:a16="http://schemas.microsoft.com/office/drawing/2014/main" val="1753887105"/>
                    </a:ext>
                  </a:extLst>
                </a:gridCol>
                <a:gridCol w="945794">
                  <a:extLst>
                    <a:ext uri="{9D8B030D-6E8A-4147-A177-3AD203B41FA5}">
                      <a16:colId xmlns:a16="http://schemas.microsoft.com/office/drawing/2014/main" val="3620334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155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invest_ratio 50%+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902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30%+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715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거래 이력 있음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592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28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91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(VIP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 – 3/3)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VIP Mart</a:t>
            </a:r>
            <a:r>
              <a:rPr lang="ko-KR" altLang="en-US" b="1"/>
              <a:t>는 돈 많은 고객 선별이 아니라</a:t>
            </a:r>
            <a:r>
              <a:rPr lang="en-US" altLang="ko-KR" b="1"/>
              <a:t xml:space="preserve">, </a:t>
            </a:r>
            <a:r>
              <a:rPr lang="en-US" b="1"/>
              <a:t xml:space="preserve">VIP </a:t>
            </a:r>
            <a:r>
              <a:rPr lang="ko-KR" altLang="en-US" b="1"/>
              <a:t xml:space="preserve">전환 가능성과 </a:t>
            </a:r>
            <a:r>
              <a:rPr lang="en-US" b="1"/>
              <a:t xml:space="preserve">PB </a:t>
            </a:r>
            <a:r>
              <a:rPr lang="ko-KR" altLang="en-US" b="1"/>
              <a:t xml:space="preserve">영업가치를 점수화한 </a:t>
            </a:r>
            <a:r>
              <a:rPr lang="en-US" b="1"/>
              <a:t>Mart</a:t>
            </a:r>
            <a:endParaRPr lang="en-KR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15C13B-F0EF-144C-B8D6-62104E56CBCF}"/>
              </a:ext>
            </a:extLst>
          </p:cNvPr>
          <p:cNvSpPr txBox="1"/>
          <p:nvPr/>
        </p:nvSpPr>
        <p:spPr>
          <a:xfrm>
            <a:off x="297543" y="126886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점수 전체 비중 </a:t>
            </a:r>
            <a:endParaRPr lang="en-US" altLang="ko-KR" sz="1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E8A4C-B3F9-D748-932A-C0F23DC6F367}"/>
              </a:ext>
            </a:extLst>
          </p:cNvPr>
          <p:cNvSpPr txBox="1"/>
          <p:nvPr/>
        </p:nvSpPr>
        <p:spPr>
          <a:xfrm>
            <a:off x="3448705" y="1268868"/>
            <a:ext cx="33600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디지털 보너스 </a:t>
            </a:r>
            <a:r>
              <a:rPr lang="en-US" altLang="ko-KR" sz="1200" b="1"/>
              <a:t xml:space="preserve">(5) – </a:t>
            </a:r>
            <a:r>
              <a:rPr lang="ko-KR" altLang="en-US" sz="1200" b="1"/>
              <a:t>디지털 채널 전환 가능성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F93D83-5B7C-2F44-A9AF-05FA7AF1C097}"/>
              </a:ext>
            </a:extLst>
          </p:cNvPr>
          <p:cNvGraphicFramePr>
            <a:graphicFrameLocks noGrp="1"/>
          </p:cNvGraphicFramePr>
          <p:nvPr/>
        </p:nvGraphicFramePr>
        <p:xfrm>
          <a:off x="297543" y="1751534"/>
          <a:ext cx="2459726" cy="2225040"/>
        </p:xfrm>
        <a:graphic>
          <a:graphicData uri="http://schemas.openxmlformats.org/drawingml/2006/table">
            <a:tbl>
              <a:tblPr/>
              <a:tblGrid>
                <a:gridCol w="1474986">
                  <a:extLst>
                    <a:ext uri="{9D8B030D-6E8A-4147-A177-3AD203B41FA5}">
                      <a16:colId xmlns:a16="http://schemas.microsoft.com/office/drawing/2014/main" val="1924040341"/>
                    </a:ext>
                  </a:extLst>
                </a:gridCol>
                <a:gridCol w="984740">
                  <a:extLst>
                    <a:ext uri="{9D8B030D-6E8A-4147-A177-3AD203B41FA5}">
                      <a16:colId xmlns:a16="http://schemas.microsoft.com/office/drawing/2014/main" val="536107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73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482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수익 기여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81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342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307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투자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29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라이프스타일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874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디지털 보너스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220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09877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6F0DD202-3EC5-3849-9DAA-B1C79B61C56A}"/>
              </a:ext>
            </a:extLst>
          </p:cNvPr>
          <p:cNvSpPr txBox="1"/>
          <p:nvPr/>
        </p:nvSpPr>
        <p:spPr>
          <a:xfrm>
            <a:off x="7688887" y="1268867"/>
            <a:ext cx="42055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리스크 차감 </a:t>
            </a:r>
            <a:r>
              <a:rPr lang="en-US" altLang="ko-KR" sz="1200" b="1"/>
              <a:t xml:space="preserve">(- 20) – </a:t>
            </a:r>
            <a:r>
              <a:rPr lang="ko-KR" altLang="en-US" sz="1200" b="1"/>
              <a:t xml:space="preserve">떠날 고객 </a:t>
            </a:r>
            <a:r>
              <a:rPr lang="en-US" altLang="ko-KR" sz="1200" b="1"/>
              <a:t xml:space="preserve">/ </a:t>
            </a:r>
            <a:r>
              <a:rPr lang="ko-KR" altLang="en-US" sz="1200" b="1"/>
              <a:t xml:space="preserve">건강 고위험 고객 제외 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B1FDAF-9528-6A4A-A200-C99FCFEF4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915905"/>
              </p:ext>
            </p:extLst>
          </p:nvPr>
        </p:nvGraphicFramePr>
        <p:xfrm>
          <a:off x="3448705" y="1751534"/>
          <a:ext cx="3177178" cy="1158240"/>
        </p:xfrm>
        <a:graphic>
          <a:graphicData uri="http://schemas.openxmlformats.org/drawingml/2006/table">
            <a:tbl>
              <a:tblPr/>
              <a:tblGrid>
                <a:gridCol w="1588589">
                  <a:extLst>
                    <a:ext uri="{9D8B030D-6E8A-4147-A177-3AD203B41FA5}">
                      <a16:colId xmlns:a16="http://schemas.microsoft.com/office/drawing/2014/main" val="3686568263"/>
                    </a:ext>
                  </a:extLst>
                </a:gridCol>
                <a:gridCol w="1588589">
                  <a:extLst>
                    <a:ext uri="{9D8B030D-6E8A-4147-A177-3AD203B41FA5}">
                      <a16:colId xmlns:a16="http://schemas.microsoft.com/office/drawing/2014/main" val="4149068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796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로그인</a:t>
                      </a:r>
                      <a:r>
                        <a:rPr lang="en-US" altLang="ko-KR" sz="1000"/>
                        <a:t xml:space="preserve">15+ &amp; </a:t>
                      </a:r>
                      <a:r>
                        <a:rPr lang="ko-KR" altLang="en-US" sz="1000"/>
                        <a:t>추천클릭</a:t>
                      </a:r>
                      <a:r>
                        <a:rPr lang="en-US" altLang="ko-KR" sz="1000"/>
                        <a:t>20%+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909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로그인</a:t>
                      </a:r>
                      <a:r>
                        <a:rPr lang="en-US" altLang="ko-KR" sz="1000"/>
                        <a:t>8+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360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51067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C5EA010-119C-A84A-9D8E-6A556F163487}"/>
              </a:ext>
            </a:extLst>
          </p:cNvPr>
          <p:cNvSpPr txBox="1"/>
          <p:nvPr/>
        </p:nvSpPr>
        <p:spPr>
          <a:xfrm>
            <a:off x="7688888" y="1673195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 xml:space="preserve"> 카드 소비</a:t>
            </a:r>
            <a:endParaRPr lang="en-KR" sz="10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538226-5C24-8F4F-BCE3-1250860266A1}"/>
              </a:ext>
            </a:extLst>
          </p:cNvPr>
          <p:cNvSpPr txBox="1"/>
          <p:nvPr/>
        </p:nvSpPr>
        <p:spPr>
          <a:xfrm>
            <a:off x="7688887" y="3174921"/>
            <a:ext cx="1801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2)</a:t>
            </a:r>
            <a:r>
              <a:rPr lang="ko-KR" altLang="en-US" sz="1000" b="1"/>
              <a:t xml:space="preserve"> 보험료</a:t>
            </a:r>
            <a:endParaRPr lang="en-KR" sz="10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222CF7-75BF-2440-B175-76DF28C20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766459"/>
              </p:ext>
            </p:extLst>
          </p:nvPr>
        </p:nvGraphicFramePr>
        <p:xfrm>
          <a:off x="7782672" y="2044248"/>
          <a:ext cx="2459726" cy="1005840"/>
        </p:xfrm>
        <a:graphic>
          <a:graphicData uri="http://schemas.openxmlformats.org/drawingml/2006/table">
            <a:tbl>
              <a:tblPr/>
              <a:tblGrid>
                <a:gridCol w="1229863">
                  <a:extLst>
                    <a:ext uri="{9D8B030D-6E8A-4147-A177-3AD203B41FA5}">
                      <a16:colId xmlns:a16="http://schemas.microsoft.com/office/drawing/2014/main" val="1458637078"/>
                    </a:ext>
                  </a:extLst>
                </a:gridCol>
                <a:gridCol w="1229863">
                  <a:extLst>
                    <a:ext uri="{9D8B030D-6E8A-4147-A177-3AD203B41FA5}">
                      <a16:colId xmlns:a16="http://schemas.microsoft.com/office/drawing/2014/main" val="3485787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653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705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152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46361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0E4978-0C94-704C-AC49-E21F55A9D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254293"/>
              </p:ext>
            </p:extLst>
          </p:nvPr>
        </p:nvGraphicFramePr>
        <p:xfrm>
          <a:off x="7782672" y="3717494"/>
          <a:ext cx="2459726" cy="518160"/>
        </p:xfrm>
        <a:graphic>
          <a:graphicData uri="http://schemas.openxmlformats.org/drawingml/2006/table">
            <a:tbl>
              <a:tblPr/>
              <a:tblGrid>
                <a:gridCol w="1229863">
                  <a:extLst>
                    <a:ext uri="{9D8B030D-6E8A-4147-A177-3AD203B41FA5}">
                      <a16:colId xmlns:a16="http://schemas.microsoft.com/office/drawing/2014/main" val="3505083225"/>
                    </a:ext>
                  </a:extLst>
                </a:gridCol>
                <a:gridCol w="1229863">
                  <a:extLst>
                    <a:ext uri="{9D8B030D-6E8A-4147-A177-3AD203B41FA5}">
                      <a16:colId xmlns:a16="http://schemas.microsoft.com/office/drawing/2014/main" val="1281751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750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추가 </a:t>
                      </a:r>
                      <a:r>
                        <a:rPr lang="en-US" altLang="ko-KR" sz="1000"/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678061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0DE57DD-10E1-EC44-B7F4-13BBEB6C9DE4}"/>
              </a:ext>
            </a:extLst>
          </p:cNvPr>
          <p:cNvSpPr txBox="1"/>
          <p:nvPr/>
        </p:nvSpPr>
        <p:spPr>
          <a:xfrm>
            <a:off x="297543" y="463232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VIP </a:t>
            </a:r>
            <a:r>
              <a:rPr lang="ko-KR" altLang="en-US" sz="1200" b="1"/>
              <a:t>등급</a:t>
            </a:r>
            <a:endParaRPr lang="en-US" altLang="ko-KR" sz="10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438FB1-419B-9446-9D65-DC02037CB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319084"/>
              </p:ext>
            </p:extLst>
          </p:nvPr>
        </p:nvGraphicFramePr>
        <p:xfrm>
          <a:off x="297543" y="5020871"/>
          <a:ext cx="3571130" cy="1493520"/>
        </p:xfrm>
        <a:graphic>
          <a:graphicData uri="http://schemas.openxmlformats.org/drawingml/2006/table">
            <a:tbl>
              <a:tblPr/>
              <a:tblGrid>
                <a:gridCol w="1785565">
                  <a:extLst>
                    <a:ext uri="{9D8B030D-6E8A-4147-A177-3AD203B41FA5}">
                      <a16:colId xmlns:a16="http://schemas.microsoft.com/office/drawing/2014/main" val="2194260601"/>
                    </a:ext>
                  </a:extLst>
                </a:gridCol>
                <a:gridCol w="1785565">
                  <a:extLst>
                    <a:ext uri="{9D8B030D-6E8A-4147-A177-3AD203B41FA5}">
                      <a16:colId xmlns:a16="http://schemas.microsoft.com/office/drawing/2014/main" val="48967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082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VIP_CONFIRMED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085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80~89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PB_TARGET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8962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70~79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POTENTIAL_VIP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2227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60~69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GROWTH_CUSTOMER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370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GENERAL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3756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392CCB6C-8F4D-654A-BF45-CD82DCB5D43A}"/>
              </a:ext>
            </a:extLst>
          </p:cNvPr>
          <p:cNvSpPr txBox="1"/>
          <p:nvPr/>
        </p:nvSpPr>
        <p:spPr>
          <a:xfrm>
            <a:off x="4405310" y="463232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추천 액션 </a:t>
            </a:r>
            <a:endParaRPr lang="en-US" altLang="ko-KR" sz="1000" b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E10C08-58B1-8E45-B3C8-5212EAE73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214440"/>
              </p:ext>
            </p:extLst>
          </p:nvPr>
        </p:nvGraphicFramePr>
        <p:xfrm>
          <a:off x="4405310" y="5017684"/>
          <a:ext cx="4826392" cy="1249680"/>
        </p:xfrm>
        <a:graphic>
          <a:graphicData uri="http://schemas.openxmlformats.org/drawingml/2006/table">
            <a:tbl>
              <a:tblPr/>
              <a:tblGrid>
                <a:gridCol w="2413196">
                  <a:extLst>
                    <a:ext uri="{9D8B030D-6E8A-4147-A177-3AD203B41FA5}">
                      <a16:colId xmlns:a16="http://schemas.microsoft.com/office/drawing/2014/main" val="719068028"/>
                    </a:ext>
                  </a:extLst>
                </a:gridCol>
                <a:gridCol w="2413196">
                  <a:extLst>
                    <a:ext uri="{9D8B030D-6E8A-4147-A177-3AD203B41FA5}">
                      <a16:colId xmlns:a16="http://schemas.microsoft.com/office/drawing/2014/main" val="11892461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액션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042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VIP_CONFIRMED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PB_CALL_NOW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621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PB_TARGET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PB_MEETING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37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POTENTIAL_VIP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PREMIUM_CAMPAIGN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192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GROWTH_CUSTOMER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WEALTH_NURTURING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5950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465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(Recommendation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7848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Recommendation Mart</a:t>
            </a:r>
            <a:r>
              <a:rPr lang="ko-KR" altLang="en-US"/>
              <a:t xml:space="preserve">는 고객별 지금 가장 적절한 </a:t>
            </a:r>
            <a:r>
              <a:rPr lang="en-US"/>
              <a:t>Next Best Action(NBA)</a:t>
            </a:r>
            <a:r>
              <a:rPr lang="ko-KR" altLang="en-US"/>
              <a:t xml:space="preserve">을 계산해 금융상품 </a:t>
            </a:r>
            <a:r>
              <a:rPr lang="en-US" altLang="ko-KR"/>
              <a:t xml:space="preserve">+ </a:t>
            </a:r>
            <a:r>
              <a:rPr lang="ko-KR" altLang="en-US"/>
              <a:t xml:space="preserve">건강서비스 </a:t>
            </a:r>
            <a:r>
              <a:rPr lang="en-US" altLang="ko-KR"/>
              <a:t xml:space="preserve">+ </a:t>
            </a:r>
            <a:r>
              <a:rPr lang="en-US"/>
              <a:t>PB</a:t>
            </a:r>
            <a:r>
              <a:rPr lang="ko-KR" altLang="en-US"/>
              <a:t xml:space="preserve">상담 </a:t>
            </a:r>
            <a:r>
              <a:rPr lang="en-US" altLang="ko-KR"/>
              <a:t xml:space="preserve">+ </a:t>
            </a:r>
            <a:r>
              <a:rPr lang="ko-KR" altLang="en-US"/>
              <a:t xml:space="preserve">리텐션 액션까지 추천하는 </a:t>
            </a:r>
            <a:r>
              <a:rPr lang="en-US"/>
              <a:t>Mart</a:t>
            </a:r>
            <a:r>
              <a:rPr lang="en-US" b="1"/>
              <a:t xml:space="preserve"> </a:t>
            </a:r>
            <a:endParaRPr lang="en-KR" b="1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08ED15A-610C-A844-B083-174FD351DC2D}"/>
              </a:ext>
            </a:extLst>
          </p:cNvPr>
          <p:cNvSpPr txBox="1"/>
          <p:nvPr/>
        </p:nvSpPr>
        <p:spPr>
          <a:xfrm>
            <a:off x="297542" y="1538123"/>
            <a:ext cx="3894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역할 </a:t>
            </a:r>
            <a:endParaRPr lang="en-US" altLang="ko-KR" sz="1200" b="1"/>
          </a:p>
          <a:p>
            <a:endParaRPr lang="en-US" altLang="ko-KR" sz="1200" b="1"/>
          </a:p>
          <a:p>
            <a:r>
              <a:rPr lang="en-US" altLang="ko-KR" sz="1000"/>
              <a:t>Recommendation Mart</a:t>
            </a:r>
            <a:r>
              <a:rPr lang="ko-KR" altLang="en-US" sz="1000"/>
              <a:t>는 고객의</a:t>
            </a:r>
            <a:r>
              <a:rPr lang="en-US" altLang="ko-KR" sz="1000"/>
              <a:t xml:space="preserve">. </a:t>
            </a:r>
            <a:r>
              <a:rPr lang="ko-KR" altLang="en-US" sz="1000"/>
              <a:t>자산</a:t>
            </a:r>
            <a:r>
              <a:rPr lang="en-US" altLang="ko-KR" sz="1000"/>
              <a:t>·</a:t>
            </a:r>
            <a:r>
              <a:rPr lang="ko-KR" altLang="en-US" sz="1000"/>
              <a:t>행동</a:t>
            </a:r>
            <a:r>
              <a:rPr lang="en-US" altLang="ko-KR" sz="1000"/>
              <a:t>·</a:t>
            </a:r>
            <a:r>
              <a:rPr lang="ko-KR" altLang="en-US" sz="1000"/>
              <a:t>건강</a:t>
            </a:r>
            <a:r>
              <a:rPr lang="en-US" altLang="ko-KR" sz="1000"/>
              <a:t>·</a:t>
            </a:r>
            <a:r>
              <a:rPr lang="ko-KR" altLang="en-US" sz="1000"/>
              <a:t>이탈위험을 분석해</a:t>
            </a:r>
            <a:r>
              <a:rPr lang="en-US" altLang="ko-KR" sz="1000"/>
              <a:t>,</a:t>
            </a:r>
            <a:r>
              <a:rPr lang="ko-KR" altLang="en-US" sz="1000"/>
              <a:t xml:space="preserve"> 가장 전환 가능성이 높은 추천 </a:t>
            </a:r>
            <a:r>
              <a:rPr lang="en-US" altLang="ko-KR" sz="1000"/>
              <a:t>1</a:t>
            </a:r>
            <a:r>
              <a:rPr lang="ko-KR" altLang="en-US" sz="1000"/>
              <a:t>순위를 계산하는 데이터셋</a:t>
            </a:r>
            <a:endParaRPr lang="en-US" altLang="ko-KR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E928E5-CF05-BE45-BF4D-7FF887A3820B}"/>
              </a:ext>
            </a:extLst>
          </p:cNvPr>
          <p:cNvSpPr txBox="1"/>
          <p:nvPr/>
        </p:nvSpPr>
        <p:spPr>
          <a:xfrm>
            <a:off x="297542" y="2853215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목적</a:t>
            </a:r>
            <a:endParaRPr lang="en-US" altLang="ko-KR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EF62D-4ADD-2E43-A740-24B9CC8158C5}"/>
              </a:ext>
            </a:extLst>
          </p:cNvPr>
          <p:cNvSpPr txBox="1"/>
          <p:nvPr/>
        </p:nvSpPr>
        <p:spPr>
          <a:xfrm>
            <a:off x="297542" y="3165442"/>
            <a:ext cx="24251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금융상품 추천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PB 상담 추천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건강검진 추천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보험 리모델링 추천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리텐션 캠페인 추천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앱 개인화 추천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2B606-2E59-0046-ABBF-04B0572F02D5}"/>
              </a:ext>
            </a:extLst>
          </p:cNvPr>
          <p:cNvSpPr txBox="1"/>
          <p:nvPr/>
        </p:nvSpPr>
        <p:spPr>
          <a:xfrm>
            <a:off x="297542" y="4712838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사전 필요 데이터 </a:t>
            </a:r>
            <a:endParaRPr lang="en-US" altLang="ko-KR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CC5930-BB52-F94E-A6FA-9B80CC40F27A}"/>
              </a:ext>
            </a:extLst>
          </p:cNvPr>
          <p:cNvSpPr txBox="1"/>
          <p:nvPr/>
        </p:nvSpPr>
        <p:spPr>
          <a:xfrm>
            <a:off x="297542" y="5025065"/>
            <a:ext cx="242511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customer_360_profile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 err="1"/>
              <a:t>lifesync_score_mart</a:t>
            </a: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 err="1"/>
              <a:t>vip_candidate_mart</a:t>
            </a: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 err="1"/>
              <a:t>health_mart</a:t>
            </a: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 err="1"/>
              <a:t>digital_activity_log</a:t>
            </a:r>
            <a:endParaRPr 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51FFF0-6E7F-E046-83DD-2CE283BFCC92}"/>
              </a:ext>
            </a:extLst>
          </p:cNvPr>
          <p:cNvSpPr txBox="1"/>
          <p:nvPr/>
        </p:nvSpPr>
        <p:spPr>
          <a:xfrm>
            <a:off x="4977010" y="1538123"/>
            <a:ext cx="6797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Recommendation Mart </a:t>
            </a:r>
            <a:r>
              <a:rPr lang="ko-KR" altLang="en-US" sz="1200" b="1"/>
              <a:t>규칙</a:t>
            </a:r>
            <a:r>
              <a:rPr lang="en-US" altLang="ko-KR" sz="1200" b="1"/>
              <a:t xml:space="preserve"> (</a:t>
            </a:r>
            <a:r>
              <a:rPr lang="ko-KR" altLang="en-US" sz="1000" b="1"/>
              <a:t>상품별로 계산 후</a:t>
            </a:r>
            <a:r>
              <a:rPr lang="en-US" altLang="ko-KR" sz="1000" b="1"/>
              <a:t>,</a:t>
            </a:r>
            <a:r>
              <a:rPr lang="ko-KR" altLang="en-US" sz="1000" b="1"/>
              <a:t xml:space="preserve"> 최고 점수 추천</a:t>
            </a:r>
            <a:r>
              <a:rPr lang="en-US" altLang="ko-KR" sz="1000" b="1"/>
              <a:t>)</a:t>
            </a:r>
            <a:r>
              <a:rPr lang="ko-KR" altLang="en-US" sz="1000" b="1"/>
              <a:t xml:space="preserve"> </a:t>
            </a:r>
            <a:endParaRPr lang="en-US" altLang="ko-KR" sz="1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F3CA51-C30E-E04A-9FF9-E4ED759737AC}"/>
              </a:ext>
            </a:extLst>
          </p:cNvPr>
          <p:cNvSpPr txBox="1"/>
          <p:nvPr/>
        </p:nvSpPr>
        <p:spPr>
          <a:xfrm>
            <a:off x="5093065" y="1900416"/>
            <a:ext cx="6681119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/>
              <a:t xml:space="preserve">recommendation_score = </a:t>
            </a:r>
            <a:r>
              <a:rPr lang="ko-KR" altLang="en-US" sz="1000"/>
              <a:t>상품적합도</a:t>
            </a:r>
            <a:r>
              <a:rPr lang="en-US" altLang="ko-KR" sz="1000"/>
              <a:t xml:space="preserve"> + </a:t>
            </a:r>
            <a:r>
              <a:rPr lang="ko-KR" altLang="en-US" sz="1000"/>
              <a:t>구매가능성</a:t>
            </a:r>
            <a:r>
              <a:rPr lang="en-US" altLang="ko-KR" sz="1000"/>
              <a:t xml:space="preserve"> + </a:t>
            </a:r>
            <a:r>
              <a:rPr lang="ko-KR" altLang="en-US" sz="1000"/>
              <a:t>현재니즈</a:t>
            </a:r>
            <a:r>
              <a:rPr lang="en-US" altLang="ko-KR" sz="1000"/>
              <a:t xml:space="preserve"> + </a:t>
            </a:r>
            <a:r>
              <a:rPr lang="ko-KR" altLang="en-US" sz="1000"/>
              <a:t>고객등급가중치</a:t>
            </a:r>
            <a:r>
              <a:rPr lang="en-US" altLang="ko-KR" sz="1000"/>
              <a:t xml:space="preserve"> + </a:t>
            </a:r>
            <a:r>
              <a:rPr lang="ko-KR" altLang="en-US" sz="1000"/>
              <a:t>디지털반응도</a:t>
            </a:r>
            <a:r>
              <a:rPr lang="en-US" altLang="ko-KR" sz="1000"/>
              <a:t xml:space="preserve"> - </a:t>
            </a:r>
            <a:r>
              <a:rPr lang="ko-KR" altLang="en-US" sz="1000"/>
              <a:t>리스크</a:t>
            </a:r>
            <a:endParaRPr lang="en-KR" sz="1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8E2A2E-B9B2-2E4A-9E50-AE2F7789F67B}"/>
              </a:ext>
            </a:extLst>
          </p:cNvPr>
          <p:cNvSpPr txBox="1"/>
          <p:nvPr/>
        </p:nvSpPr>
        <p:spPr>
          <a:xfrm>
            <a:off x="3270468" y="2853215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카테고리</a:t>
            </a:r>
            <a:endParaRPr lang="en-US" altLang="ko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AFAD1D-4EF2-8F45-9CF7-420EB9211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495123"/>
              </p:ext>
            </p:extLst>
          </p:nvPr>
        </p:nvGraphicFramePr>
        <p:xfrm>
          <a:off x="3342387" y="3196265"/>
          <a:ext cx="3078134" cy="1645920"/>
        </p:xfrm>
        <a:graphic>
          <a:graphicData uri="http://schemas.openxmlformats.org/drawingml/2006/table">
            <a:tbl>
              <a:tblPr/>
              <a:tblGrid>
                <a:gridCol w="1539067">
                  <a:extLst>
                    <a:ext uri="{9D8B030D-6E8A-4147-A177-3AD203B41FA5}">
                      <a16:colId xmlns:a16="http://schemas.microsoft.com/office/drawing/2014/main" val="2160921989"/>
                    </a:ext>
                  </a:extLst>
                </a:gridCol>
                <a:gridCol w="1539067">
                  <a:extLst>
                    <a:ext uri="{9D8B030D-6E8A-4147-A177-3AD203B41FA5}">
                      <a16:colId xmlns:a16="http://schemas.microsoft.com/office/drawing/2014/main" val="23799347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71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 xml:space="preserve">예금 </a:t>
                      </a:r>
                      <a:r>
                        <a:rPr lang="en-US" altLang="ko-KR" sz="1000"/>
                        <a:t xml:space="preserve">/ </a:t>
                      </a:r>
                      <a:r>
                        <a:rPr lang="en-US" sz="1000"/>
                        <a:t xml:space="preserve">ETF / </a:t>
                      </a:r>
                      <a:r>
                        <a:rPr lang="ko-KR" altLang="en-US" sz="1000"/>
                        <a:t xml:space="preserve">카드 </a:t>
                      </a:r>
                      <a:r>
                        <a:rPr lang="en-US" altLang="ko-KR" sz="1000"/>
                        <a:t xml:space="preserve">/ </a:t>
                      </a:r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95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PB </a:t>
                      </a:r>
                      <a:r>
                        <a:rPr lang="ko-KR" altLang="en-US" sz="1000"/>
                        <a:t>상담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2316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 xml:space="preserve">건강검진 </a:t>
                      </a:r>
                      <a:r>
                        <a:rPr lang="en-US" altLang="ko-KR" sz="1000"/>
                        <a:t xml:space="preserve">/ </a:t>
                      </a:r>
                      <a:r>
                        <a:rPr lang="ko-KR" altLang="en-US" sz="1000"/>
                        <a:t>운동프로그램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2687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리텐션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 xml:space="preserve">쿠폰 </a:t>
                      </a:r>
                      <a:r>
                        <a:rPr lang="en-US" altLang="ko-KR" sz="1000"/>
                        <a:t xml:space="preserve">/ </a:t>
                      </a:r>
                      <a:r>
                        <a:rPr lang="ko-KR" altLang="en-US" sz="1000"/>
                        <a:t xml:space="preserve">혜택 </a:t>
                      </a:r>
                      <a:r>
                        <a:rPr lang="en-US" altLang="ko-KR" sz="1000"/>
                        <a:t xml:space="preserve">/ </a:t>
                      </a:r>
                      <a:r>
                        <a:rPr lang="ko-KR" altLang="en-US" sz="1000"/>
                        <a:t>재방문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27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라이프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 xml:space="preserve">여행 </a:t>
                      </a:r>
                      <a:r>
                        <a:rPr lang="en-US" altLang="ko-KR" sz="1000"/>
                        <a:t xml:space="preserve">/ </a:t>
                      </a:r>
                      <a:r>
                        <a:rPr lang="ko-KR" altLang="en-US" sz="1000"/>
                        <a:t>프리미엄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0417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09CB0F3-D02D-854A-9B20-320A9DC60182}"/>
              </a:ext>
            </a:extLst>
          </p:cNvPr>
          <p:cNvSpPr txBox="1"/>
          <p:nvPr/>
        </p:nvSpPr>
        <p:spPr>
          <a:xfrm>
            <a:off x="3270468" y="509298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방식</a:t>
            </a:r>
            <a:endParaRPr lang="en-US" altLang="ko-KR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A687B1-7C28-0C4E-AD0B-F481221E8E49}"/>
              </a:ext>
            </a:extLst>
          </p:cNvPr>
          <p:cNvSpPr txBox="1"/>
          <p:nvPr/>
        </p:nvSpPr>
        <p:spPr>
          <a:xfrm>
            <a:off x="3270468" y="5451591"/>
            <a:ext cx="315005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고객 1명당 후보 추천 여러 개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각 후보 점수 계산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TOP1 / TOP3 추천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D9E092-3879-6447-8166-A72C1E53601A}"/>
              </a:ext>
            </a:extLst>
          </p:cNvPr>
          <p:cNvSpPr txBox="1"/>
          <p:nvPr/>
        </p:nvSpPr>
        <p:spPr>
          <a:xfrm>
            <a:off x="7040257" y="2853215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</a:t>
            </a:r>
            <a:r>
              <a:rPr lang="ko-KR" altLang="en-US" sz="1200" b="1"/>
              <a:t xml:space="preserve"> </a:t>
            </a:r>
            <a:r>
              <a:rPr lang="en-US" altLang="ko-KR" sz="1200" b="1"/>
              <a:t>ETF</a:t>
            </a:r>
            <a:r>
              <a:rPr lang="ko-KR" altLang="en-US" sz="1200" b="1"/>
              <a:t xml:space="preserve"> 추천 규칙 </a:t>
            </a:r>
            <a:endParaRPr lang="en-US" altLang="ko-KR" sz="10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00AC3A-DE57-6243-A619-A39D299AA6DC}"/>
              </a:ext>
            </a:extLst>
          </p:cNvPr>
          <p:cNvSpPr txBox="1"/>
          <p:nvPr/>
        </p:nvSpPr>
        <p:spPr>
          <a:xfrm>
            <a:off x="7040256" y="3236850"/>
            <a:ext cx="46438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ETF_SCORE =</a:t>
            </a:r>
            <a:r>
              <a:rPr lang="ko-KR" altLang="en-US" sz="1000"/>
              <a:t xml:space="preserve"> </a:t>
            </a:r>
            <a:r>
              <a:rPr lang="en-KR" sz="1000"/>
              <a:t>투자성향</a:t>
            </a:r>
            <a:r>
              <a:rPr lang="ko-KR" altLang="en-US" sz="1000"/>
              <a:t xml:space="preserve"> </a:t>
            </a:r>
            <a:r>
              <a:rPr lang="en-KR" sz="1000"/>
              <a:t>+ 예수금 규모</a:t>
            </a:r>
            <a:r>
              <a:rPr lang="ko-KR" altLang="en-US" sz="1000"/>
              <a:t xml:space="preserve"> </a:t>
            </a:r>
            <a:r>
              <a:rPr lang="en-KR" sz="1000"/>
              <a:t>+ 최근 투자활동</a:t>
            </a:r>
            <a:r>
              <a:rPr lang="ko-KR" altLang="en-US" sz="1000"/>
              <a:t xml:space="preserve"> </a:t>
            </a:r>
            <a:r>
              <a:rPr lang="en-KR" sz="1000"/>
              <a:t>+ VIP 가중치</a:t>
            </a:r>
            <a:r>
              <a:rPr lang="ko-KR" altLang="en-US" sz="1000"/>
              <a:t xml:space="preserve"> </a:t>
            </a:r>
            <a:r>
              <a:rPr lang="en-KR" sz="1000"/>
              <a:t>– 리스크</a:t>
            </a:r>
          </a:p>
          <a:p>
            <a:endParaRPr lang="en-KR" sz="1000"/>
          </a:p>
          <a:p>
            <a:r>
              <a:rPr lang="en-US" sz="1000"/>
              <a:t xml:space="preserve">if ETF_SCORE &gt;= 70 → ETF </a:t>
            </a:r>
            <a:r>
              <a:rPr lang="ko-KR" altLang="en-US" sz="1000"/>
              <a:t>추천</a:t>
            </a:r>
            <a:endParaRPr lang="en-KR" sz="10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AFFD5B-917E-AD4B-B3CB-231F9DC20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714002"/>
              </p:ext>
            </p:extLst>
          </p:nvPr>
        </p:nvGraphicFramePr>
        <p:xfrm>
          <a:off x="7134849" y="4019225"/>
          <a:ext cx="3888088" cy="1493520"/>
        </p:xfrm>
        <a:graphic>
          <a:graphicData uri="http://schemas.openxmlformats.org/drawingml/2006/table">
            <a:tbl>
              <a:tblPr/>
              <a:tblGrid>
                <a:gridCol w="1944044">
                  <a:extLst>
                    <a:ext uri="{9D8B030D-6E8A-4147-A177-3AD203B41FA5}">
                      <a16:colId xmlns:a16="http://schemas.microsoft.com/office/drawing/2014/main" val="3312990880"/>
                    </a:ext>
                  </a:extLst>
                </a:gridCol>
                <a:gridCol w="1944044">
                  <a:extLst>
                    <a:ext uri="{9D8B030D-6E8A-4147-A177-3AD203B41FA5}">
                      <a16:colId xmlns:a16="http://schemas.microsoft.com/office/drawing/2014/main" val="21525754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472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invest_total 5</a:t>
                      </a:r>
                      <a:r>
                        <a:rPr lang="ko-KR" altLang="en-US" sz="1000"/>
                        <a:t>천만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293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ETF </a:t>
                      </a:r>
                      <a:r>
                        <a:rPr lang="ko-KR" altLang="en-US" sz="1000"/>
                        <a:t>거래 경험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301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latest_balance 3</a:t>
                      </a:r>
                      <a:r>
                        <a:rPr lang="ko-KR" altLang="en-US" sz="1000"/>
                        <a:t>천만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058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GOLD/VIP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2214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위험고객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7063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113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(Recommendation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2/3)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7848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Recommendation Mart</a:t>
            </a:r>
            <a:r>
              <a:rPr lang="ko-KR" altLang="en-US"/>
              <a:t xml:space="preserve">는 고객별 지금 가장 적절한 </a:t>
            </a:r>
            <a:r>
              <a:rPr lang="en-US"/>
              <a:t>Next Best Action(NBA)</a:t>
            </a:r>
            <a:r>
              <a:rPr lang="ko-KR" altLang="en-US"/>
              <a:t xml:space="preserve">을 계산해 금융상품 </a:t>
            </a:r>
            <a:r>
              <a:rPr lang="en-US" altLang="ko-KR"/>
              <a:t xml:space="preserve">+ </a:t>
            </a:r>
            <a:r>
              <a:rPr lang="ko-KR" altLang="en-US"/>
              <a:t xml:space="preserve">건강서비스 </a:t>
            </a:r>
            <a:r>
              <a:rPr lang="en-US" altLang="ko-KR"/>
              <a:t xml:space="preserve">+ </a:t>
            </a:r>
            <a:r>
              <a:rPr lang="en-US"/>
              <a:t>PB</a:t>
            </a:r>
            <a:r>
              <a:rPr lang="ko-KR" altLang="en-US"/>
              <a:t xml:space="preserve">상담 </a:t>
            </a:r>
            <a:r>
              <a:rPr lang="en-US" altLang="ko-KR"/>
              <a:t xml:space="preserve">+ </a:t>
            </a:r>
            <a:r>
              <a:rPr lang="ko-KR" altLang="en-US"/>
              <a:t xml:space="preserve">리텐션 액션까지 추천하는 </a:t>
            </a:r>
            <a:r>
              <a:rPr lang="en-US"/>
              <a:t>Mart</a:t>
            </a:r>
            <a:r>
              <a:rPr lang="en-US" b="1"/>
              <a:t xml:space="preserve"> 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28543F-1150-354A-8825-D2A66BC0B066}"/>
              </a:ext>
            </a:extLst>
          </p:cNvPr>
          <p:cNvSpPr txBox="1"/>
          <p:nvPr/>
        </p:nvSpPr>
        <p:spPr>
          <a:xfrm>
            <a:off x="297544" y="168196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</a:t>
            </a:r>
            <a:r>
              <a:rPr lang="ko-KR" altLang="en-US" sz="1200" b="1"/>
              <a:t xml:space="preserve"> </a:t>
            </a:r>
            <a:r>
              <a:rPr lang="en-US" altLang="ko-KR" sz="1200" b="1"/>
              <a:t xml:space="preserve">Premium Card </a:t>
            </a:r>
            <a:r>
              <a:rPr lang="ko-KR" altLang="en-US" sz="1200" b="1"/>
              <a:t xml:space="preserve">추천 규칙 </a:t>
            </a:r>
            <a:endParaRPr lang="en-US" altLang="ko-KR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7C176B-BB9D-4D46-8348-E2A4F88A3FBF}"/>
              </a:ext>
            </a:extLst>
          </p:cNvPr>
          <p:cNvSpPr txBox="1"/>
          <p:nvPr/>
        </p:nvSpPr>
        <p:spPr>
          <a:xfrm>
            <a:off x="297543" y="2065596"/>
            <a:ext cx="46438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 xml:space="preserve">CARD_SCORE = </a:t>
            </a:r>
            <a:r>
              <a:rPr lang="ko-KR" altLang="en-US" sz="1000"/>
              <a:t>월 카드 소비</a:t>
            </a:r>
            <a:r>
              <a:rPr lang="en-US" altLang="ko-KR" sz="1000"/>
              <a:t xml:space="preserve"> + </a:t>
            </a:r>
            <a:r>
              <a:rPr lang="ko-KR" altLang="en-US" sz="1000"/>
              <a:t>여행</a:t>
            </a:r>
            <a:r>
              <a:rPr lang="en-US" altLang="ko-KR" sz="1000"/>
              <a:t>/</a:t>
            </a:r>
            <a:r>
              <a:rPr lang="ko-KR" altLang="en-US" sz="1000"/>
              <a:t>해외결제</a:t>
            </a:r>
            <a:r>
              <a:rPr lang="en-US" altLang="ko-KR" sz="1000"/>
              <a:t xml:space="preserve"> + </a:t>
            </a:r>
            <a:r>
              <a:rPr lang="en-US" sz="1000"/>
              <a:t xml:space="preserve">VIP </a:t>
            </a:r>
            <a:r>
              <a:rPr lang="ko-KR" altLang="en-US" sz="1000"/>
              <a:t>등급</a:t>
            </a:r>
            <a:r>
              <a:rPr lang="en-US" altLang="ko-KR" sz="1000"/>
              <a:t xml:space="preserve"> + </a:t>
            </a:r>
            <a:r>
              <a:rPr lang="ko-KR" altLang="en-US" sz="1000"/>
              <a:t>소득 추정</a:t>
            </a:r>
            <a:endParaRPr lang="en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FF7860-92C8-F64B-A8F5-7C1137BF3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791787"/>
              </p:ext>
            </p:extLst>
          </p:nvPr>
        </p:nvGraphicFramePr>
        <p:xfrm>
          <a:off x="402647" y="2437423"/>
          <a:ext cx="3249372" cy="1005840"/>
        </p:xfrm>
        <a:graphic>
          <a:graphicData uri="http://schemas.openxmlformats.org/drawingml/2006/table">
            <a:tbl>
              <a:tblPr/>
              <a:tblGrid>
                <a:gridCol w="1624686">
                  <a:extLst>
                    <a:ext uri="{9D8B030D-6E8A-4147-A177-3AD203B41FA5}">
                      <a16:colId xmlns:a16="http://schemas.microsoft.com/office/drawing/2014/main" val="1222046484"/>
                    </a:ext>
                  </a:extLst>
                </a:gridCol>
                <a:gridCol w="1624686">
                  <a:extLst>
                    <a:ext uri="{9D8B030D-6E8A-4147-A177-3AD203B41FA5}">
                      <a16:colId xmlns:a16="http://schemas.microsoft.com/office/drawing/2014/main" val="315178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527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 xml:space="preserve">월 소비 </a:t>
                      </a:r>
                      <a:r>
                        <a:rPr lang="en-US" altLang="ko-KR" sz="1000"/>
                        <a:t>300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26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해외결제 있음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200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GOLD/VIP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39351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7426F60-A02F-C244-AB33-76D0ADCED9C2}"/>
              </a:ext>
            </a:extLst>
          </p:cNvPr>
          <p:cNvSpPr txBox="1"/>
          <p:nvPr/>
        </p:nvSpPr>
        <p:spPr>
          <a:xfrm>
            <a:off x="297544" y="3912352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</a:t>
            </a:r>
            <a:r>
              <a:rPr lang="ko-KR" altLang="en-US" sz="1200" b="1"/>
              <a:t xml:space="preserve"> </a:t>
            </a:r>
            <a:r>
              <a:rPr lang="en-US" altLang="ko-KR" sz="1200" b="1"/>
              <a:t xml:space="preserve">PB </a:t>
            </a:r>
            <a:r>
              <a:rPr lang="ko-KR" altLang="en-US" sz="1200" b="1"/>
              <a:t xml:space="preserve">상담 추천 규칙 </a:t>
            </a:r>
            <a:endParaRPr lang="en-US" altLang="ko-KR" sz="10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9F6FCD-A039-744A-B1A9-61B5198E3A24}"/>
              </a:ext>
            </a:extLst>
          </p:cNvPr>
          <p:cNvSpPr txBox="1"/>
          <p:nvPr/>
        </p:nvSpPr>
        <p:spPr>
          <a:xfrm>
            <a:off x="297543" y="4295987"/>
            <a:ext cx="46438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PB_SCORE =</a:t>
            </a:r>
            <a:r>
              <a:rPr lang="ko-KR" altLang="en-US" sz="1000"/>
              <a:t xml:space="preserve"> 자산규모 </a:t>
            </a:r>
            <a:r>
              <a:rPr lang="en-US" altLang="ko-KR" sz="1000"/>
              <a:t xml:space="preserve">+ </a:t>
            </a:r>
            <a:r>
              <a:rPr lang="ko-KR" altLang="en-US" sz="1000"/>
              <a:t xml:space="preserve">투자성향 </a:t>
            </a:r>
            <a:r>
              <a:rPr lang="en-US" altLang="ko-KR" sz="1000"/>
              <a:t xml:space="preserve">+ </a:t>
            </a:r>
            <a:r>
              <a:rPr lang="ko-KR" altLang="en-US" sz="1000"/>
              <a:t xml:space="preserve">큰 입금 이벤트 </a:t>
            </a:r>
            <a:r>
              <a:rPr lang="en-US" altLang="ko-KR" sz="1000"/>
              <a:t xml:space="preserve">+ </a:t>
            </a:r>
            <a:r>
              <a:rPr lang="en-US" sz="1000"/>
              <a:t xml:space="preserve">VIP </a:t>
            </a:r>
            <a:r>
              <a:rPr lang="ko-KR" altLang="en-US" sz="1000"/>
              <a:t>후보</a:t>
            </a:r>
            <a:endParaRPr lang="en-US" altLang="ko-KR" sz="1000"/>
          </a:p>
          <a:p>
            <a:endParaRPr lang="en-KR" sz="1000"/>
          </a:p>
          <a:p>
            <a:r>
              <a:rPr lang="en-US" altLang="ko-KR" sz="1000"/>
              <a:t>90</a:t>
            </a:r>
            <a:r>
              <a:rPr lang="ko-KR" altLang="en-US" sz="1000"/>
              <a:t xml:space="preserve">점 이상 </a:t>
            </a:r>
            <a:r>
              <a:rPr lang="en-US" altLang="ko-KR" sz="1000"/>
              <a:t>-&gt;</a:t>
            </a:r>
            <a:r>
              <a:rPr lang="ko-KR" altLang="en-US" sz="1000"/>
              <a:t xml:space="preserve"> </a:t>
            </a:r>
            <a:r>
              <a:rPr lang="en-US" altLang="ko-KR" sz="1000"/>
              <a:t>PB_CENTER</a:t>
            </a:r>
            <a:endParaRPr lang="en-US" sz="1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609AA6-A51D-564E-BA08-5F4EA3A4747D}"/>
              </a:ext>
            </a:extLst>
          </p:cNvPr>
          <p:cNvSpPr txBox="1"/>
          <p:nvPr/>
        </p:nvSpPr>
        <p:spPr>
          <a:xfrm>
            <a:off x="5416496" y="168196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5)</a:t>
            </a:r>
            <a:r>
              <a:rPr lang="ko-KR" altLang="en-US" sz="1200" b="1"/>
              <a:t xml:space="preserve"> 건강검진 추천 규칙 </a:t>
            </a:r>
            <a:endParaRPr lang="en-US" altLang="ko-KR" sz="10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A01BE5-3FA3-404C-933B-5622C18C86A6}"/>
              </a:ext>
            </a:extLst>
          </p:cNvPr>
          <p:cNvSpPr txBox="1"/>
          <p:nvPr/>
        </p:nvSpPr>
        <p:spPr>
          <a:xfrm>
            <a:off x="5416495" y="2065596"/>
            <a:ext cx="46438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HEALTH_SCORE =</a:t>
            </a:r>
            <a:r>
              <a:rPr lang="ko-KR" altLang="en-US" sz="1000"/>
              <a:t xml:space="preserve"> </a:t>
            </a:r>
            <a:r>
              <a:rPr lang="en-US" sz="1000"/>
              <a:t>health_risk</a:t>
            </a:r>
            <a:r>
              <a:rPr lang="ko-KR" altLang="en-US" sz="1000"/>
              <a:t xml:space="preserve"> </a:t>
            </a:r>
            <a:r>
              <a:rPr lang="en-US" sz="1000"/>
              <a:t xml:space="preserve">+ </a:t>
            </a:r>
            <a:r>
              <a:rPr lang="ko-KR" altLang="en-US" sz="1000"/>
              <a:t xml:space="preserve">병원방문 증가 </a:t>
            </a:r>
            <a:r>
              <a:rPr lang="en-US" altLang="ko-KR" sz="1000"/>
              <a:t xml:space="preserve">+ </a:t>
            </a:r>
            <a:r>
              <a:rPr lang="ko-KR" altLang="en-US" sz="1000"/>
              <a:t xml:space="preserve">스트레스 높음 </a:t>
            </a:r>
            <a:r>
              <a:rPr lang="en-US" altLang="ko-KR" sz="1000"/>
              <a:t xml:space="preserve">+ </a:t>
            </a:r>
            <a:r>
              <a:rPr lang="ko-KR" altLang="en-US" sz="1000"/>
              <a:t>수면 부족</a:t>
            </a:r>
            <a:endParaRPr lang="en-US" altLang="ko-KR" sz="1000"/>
          </a:p>
          <a:p>
            <a:endParaRPr lang="en-KR" sz="1000"/>
          </a:p>
          <a:p>
            <a:r>
              <a:rPr lang="en-KR" sz="1000"/>
              <a:t>HEALTH_SCORE</a:t>
            </a:r>
            <a:r>
              <a:rPr lang="ko-KR" altLang="en-US" sz="1000"/>
              <a:t xml:space="preserve">가 높을수록 추천 </a:t>
            </a:r>
            <a:endParaRPr lang="en-US" sz="10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469171-13D5-C94F-840D-05A7BF9BE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312433"/>
              </p:ext>
            </p:extLst>
          </p:nvPr>
        </p:nvGraphicFramePr>
        <p:xfrm>
          <a:off x="5409652" y="2829399"/>
          <a:ext cx="4459562" cy="1005840"/>
        </p:xfrm>
        <a:graphic>
          <a:graphicData uri="http://schemas.openxmlformats.org/drawingml/2006/table">
            <a:tbl>
              <a:tblPr/>
              <a:tblGrid>
                <a:gridCol w="2229781">
                  <a:extLst>
                    <a:ext uri="{9D8B030D-6E8A-4147-A177-3AD203B41FA5}">
                      <a16:colId xmlns:a16="http://schemas.microsoft.com/office/drawing/2014/main" val="170800801"/>
                    </a:ext>
                  </a:extLst>
                </a:gridCol>
                <a:gridCol w="2229781">
                  <a:extLst>
                    <a:ext uri="{9D8B030D-6E8A-4147-A177-3AD203B41FA5}">
                      <a16:colId xmlns:a16="http://schemas.microsoft.com/office/drawing/2014/main" val="3753586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271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health_risk 70+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2880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 xml:space="preserve">병원방문 </a:t>
                      </a:r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030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stress 60+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43519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2F6E32A2-0C7B-B34A-A4AA-E91992E8DC0F}"/>
              </a:ext>
            </a:extLst>
          </p:cNvPr>
          <p:cNvSpPr txBox="1"/>
          <p:nvPr/>
        </p:nvSpPr>
        <p:spPr>
          <a:xfrm>
            <a:off x="297544" y="5278697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4)</a:t>
            </a:r>
            <a:r>
              <a:rPr lang="ko-KR" altLang="en-US" sz="1200" b="1"/>
              <a:t xml:space="preserve"> 보험 리모델링 추천 규칙 </a:t>
            </a:r>
            <a:endParaRPr lang="en-US" altLang="ko-KR" sz="10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7B4E5C-9B7A-5A41-837B-5C21664C985B}"/>
              </a:ext>
            </a:extLst>
          </p:cNvPr>
          <p:cNvSpPr txBox="1"/>
          <p:nvPr/>
        </p:nvSpPr>
        <p:spPr>
          <a:xfrm>
            <a:off x="297543" y="5662332"/>
            <a:ext cx="51121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INSURANCE_SCORE =</a:t>
            </a:r>
            <a:r>
              <a:rPr lang="ko-KR" altLang="en-US" sz="1000"/>
              <a:t xml:space="preserve"> 기존 보험 적음 </a:t>
            </a:r>
            <a:r>
              <a:rPr lang="en-US" altLang="ko-KR" sz="1000"/>
              <a:t xml:space="preserve">+ </a:t>
            </a:r>
            <a:r>
              <a:rPr lang="ko-KR" altLang="en-US" sz="1000"/>
              <a:t>가족</a:t>
            </a:r>
            <a:r>
              <a:rPr lang="en-US" altLang="ko-KR" sz="1000"/>
              <a:t>/</a:t>
            </a:r>
            <a:r>
              <a:rPr lang="ko-KR" altLang="en-US" sz="1000"/>
              <a:t xml:space="preserve">자녀 추정 </a:t>
            </a:r>
            <a:r>
              <a:rPr lang="en-US" altLang="ko-KR" sz="1000"/>
              <a:t xml:space="preserve">+ </a:t>
            </a:r>
            <a:r>
              <a:rPr lang="ko-KR" altLang="en-US" sz="1000"/>
              <a:t xml:space="preserve">병원 이용 증가 </a:t>
            </a:r>
            <a:r>
              <a:rPr lang="en-US" altLang="ko-KR" sz="1000"/>
              <a:t xml:space="preserve">+ </a:t>
            </a:r>
            <a:r>
              <a:rPr lang="en-US" sz="1000"/>
              <a:t xml:space="preserve">VIP </a:t>
            </a:r>
            <a:r>
              <a:rPr lang="ko-KR" altLang="en-US" sz="1000"/>
              <a:t>고객</a:t>
            </a:r>
            <a:endParaRPr lang="en-US" sz="1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7B1598-E5CA-AB41-8538-F93763CDC964}"/>
              </a:ext>
            </a:extLst>
          </p:cNvPr>
          <p:cNvSpPr txBox="1"/>
          <p:nvPr/>
        </p:nvSpPr>
        <p:spPr>
          <a:xfrm>
            <a:off x="5416496" y="4258195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6)</a:t>
            </a:r>
            <a:r>
              <a:rPr lang="ko-KR" altLang="en-US" sz="1200" b="1"/>
              <a:t xml:space="preserve"> 리텐션 추천 규칙 </a:t>
            </a:r>
            <a:endParaRPr lang="en-US" altLang="ko-KR" sz="10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D93A0C-A467-FC49-8858-B84C5C5926D8}"/>
              </a:ext>
            </a:extLst>
          </p:cNvPr>
          <p:cNvSpPr txBox="1"/>
          <p:nvPr/>
        </p:nvSpPr>
        <p:spPr>
          <a:xfrm>
            <a:off x="5416495" y="4641830"/>
            <a:ext cx="46438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RETENTION_SCORE =</a:t>
            </a:r>
            <a:r>
              <a:rPr lang="ko-KR" altLang="en-US" sz="1000"/>
              <a:t xml:space="preserve"> 이탈확률 </a:t>
            </a:r>
            <a:r>
              <a:rPr lang="en-US" altLang="ko-KR" sz="1000"/>
              <a:t xml:space="preserve">+ </a:t>
            </a:r>
            <a:r>
              <a:rPr lang="ko-KR" altLang="en-US" sz="1000"/>
              <a:t xml:space="preserve">최근 미접속 </a:t>
            </a:r>
            <a:r>
              <a:rPr lang="en-US" altLang="ko-KR" sz="1000"/>
              <a:t xml:space="preserve">+ </a:t>
            </a:r>
            <a:r>
              <a:rPr lang="ko-KR" altLang="en-US" sz="1000"/>
              <a:t xml:space="preserve">소비 감소 </a:t>
            </a:r>
            <a:r>
              <a:rPr lang="en-US" altLang="ko-KR" sz="1000"/>
              <a:t xml:space="preserve">+ </a:t>
            </a:r>
            <a:r>
              <a:rPr lang="ko-KR" altLang="en-US" sz="1000"/>
              <a:t>앱활동 감소</a:t>
            </a:r>
            <a:endParaRPr lang="en-US" altLang="ko-KR" sz="1000"/>
          </a:p>
          <a:p>
            <a:endParaRPr lang="en-US" sz="1000"/>
          </a:p>
          <a:p>
            <a:r>
              <a:rPr lang="en-US" sz="1000"/>
              <a:t>RETENTION_SCORE</a:t>
            </a:r>
            <a:r>
              <a:rPr lang="ko-KR" altLang="en-US" sz="1000"/>
              <a:t xml:space="preserve"> 가 높으면 쿠폰 </a:t>
            </a:r>
            <a:r>
              <a:rPr lang="en-US" altLang="ko-KR" sz="1000"/>
              <a:t>/</a:t>
            </a:r>
            <a:r>
              <a:rPr lang="ko-KR" altLang="en-US" sz="1000"/>
              <a:t xml:space="preserve"> 혜택 추천 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86350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(Recommendation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3/3)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7848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Recommendation Mart</a:t>
            </a:r>
            <a:r>
              <a:rPr lang="ko-KR" altLang="en-US"/>
              <a:t xml:space="preserve">는 고객별 지금 가장 적절한 </a:t>
            </a:r>
            <a:r>
              <a:rPr lang="en-US"/>
              <a:t>Next Best Action(NBA)</a:t>
            </a:r>
            <a:r>
              <a:rPr lang="ko-KR" altLang="en-US"/>
              <a:t xml:space="preserve">을 계산해 금융상품 </a:t>
            </a:r>
            <a:r>
              <a:rPr lang="en-US" altLang="ko-KR"/>
              <a:t xml:space="preserve">+ </a:t>
            </a:r>
            <a:r>
              <a:rPr lang="ko-KR" altLang="en-US"/>
              <a:t xml:space="preserve">건강서비스 </a:t>
            </a:r>
            <a:r>
              <a:rPr lang="en-US" altLang="ko-KR"/>
              <a:t xml:space="preserve">+ </a:t>
            </a:r>
            <a:r>
              <a:rPr lang="en-US"/>
              <a:t>PB</a:t>
            </a:r>
            <a:r>
              <a:rPr lang="ko-KR" altLang="en-US"/>
              <a:t xml:space="preserve">상담 </a:t>
            </a:r>
            <a:r>
              <a:rPr lang="en-US" altLang="ko-KR"/>
              <a:t xml:space="preserve">+ </a:t>
            </a:r>
            <a:r>
              <a:rPr lang="ko-KR" altLang="en-US"/>
              <a:t xml:space="preserve">리텐션 액션까지 추천하는 </a:t>
            </a:r>
            <a:r>
              <a:rPr lang="en-US"/>
              <a:t>Mart</a:t>
            </a:r>
            <a:r>
              <a:rPr lang="en-US" b="1"/>
              <a:t xml:space="preserve"> 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28543F-1150-354A-8825-D2A66BC0B066}"/>
              </a:ext>
            </a:extLst>
          </p:cNvPr>
          <p:cNvSpPr txBox="1"/>
          <p:nvPr/>
        </p:nvSpPr>
        <p:spPr>
          <a:xfrm>
            <a:off x="297544" y="168196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추가 규칙 </a:t>
            </a:r>
            <a:endParaRPr lang="en-US" altLang="ko-KR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C4DCDF-7642-D348-A31C-E0F78B8D638C}"/>
              </a:ext>
            </a:extLst>
          </p:cNvPr>
          <p:cNvSpPr txBox="1"/>
          <p:nvPr/>
        </p:nvSpPr>
        <p:spPr>
          <a:xfrm>
            <a:off x="297544" y="211773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</a:t>
            </a:r>
            <a:r>
              <a:rPr lang="ko-KR" altLang="en-US" sz="1200" b="1"/>
              <a:t xml:space="preserve"> 고객 등급 가중치</a:t>
            </a:r>
            <a:endParaRPr lang="en-US" altLang="ko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B3DD6A-F69A-7844-BFD2-D00D457AF3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16697"/>
              </p:ext>
            </p:extLst>
          </p:nvPr>
        </p:nvGraphicFramePr>
        <p:xfrm>
          <a:off x="402647" y="2553501"/>
          <a:ext cx="3170872" cy="1249680"/>
        </p:xfrm>
        <a:graphic>
          <a:graphicData uri="http://schemas.openxmlformats.org/drawingml/2006/table">
            <a:tbl>
              <a:tblPr/>
              <a:tblGrid>
                <a:gridCol w="1585436">
                  <a:extLst>
                    <a:ext uri="{9D8B030D-6E8A-4147-A177-3AD203B41FA5}">
                      <a16:colId xmlns:a16="http://schemas.microsoft.com/office/drawing/2014/main" val="1973614575"/>
                    </a:ext>
                  </a:extLst>
                </a:gridCol>
                <a:gridCol w="1585436">
                  <a:extLst>
                    <a:ext uri="{9D8B030D-6E8A-4147-A177-3AD203B41FA5}">
                      <a16:colId xmlns:a16="http://schemas.microsoft.com/office/drawing/2014/main" val="41385646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가중치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967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184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4724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775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491768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C028C4A-1801-0E49-9032-23A761460912}"/>
              </a:ext>
            </a:extLst>
          </p:cNvPr>
          <p:cNvSpPr txBox="1"/>
          <p:nvPr/>
        </p:nvSpPr>
        <p:spPr>
          <a:xfrm>
            <a:off x="297544" y="446327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</a:t>
            </a:r>
            <a:r>
              <a:rPr lang="ko-KR" altLang="en-US" sz="1200" b="1"/>
              <a:t xml:space="preserve"> 디지털 반응도</a:t>
            </a:r>
            <a:endParaRPr lang="en-US" altLang="ko-KR" sz="10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D1E121-0028-5F43-8AF1-9877E4DA1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940586"/>
              </p:ext>
            </p:extLst>
          </p:nvPr>
        </p:nvGraphicFramePr>
        <p:xfrm>
          <a:off x="402647" y="4912680"/>
          <a:ext cx="3170872" cy="975360"/>
        </p:xfrm>
        <a:graphic>
          <a:graphicData uri="http://schemas.openxmlformats.org/drawingml/2006/table">
            <a:tbl>
              <a:tblPr/>
              <a:tblGrid>
                <a:gridCol w="1585436">
                  <a:extLst>
                    <a:ext uri="{9D8B030D-6E8A-4147-A177-3AD203B41FA5}">
                      <a16:colId xmlns:a16="http://schemas.microsoft.com/office/drawing/2014/main" val="3837410431"/>
                    </a:ext>
                  </a:extLst>
                </a:gridCol>
                <a:gridCol w="1585436">
                  <a:extLst>
                    <a:ext uri="{9D8B030D-6E8A-4147-A177-3AD203B41FA5}">
                      <a16:colId xmlns:a16="http://schemas.microsoft.com/office/drawing/2014/main" val="27413889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253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최근 로그인 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7400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푸시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499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14037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33136E8-4FAB-DB49-ABBC-CB44CA4FBEB0}"/>
              </a:ext>
            </a:extLst>
          </p:cNvPr>
          <p:cNvSpPr txBox="1"/>
          <p:nvPr/>
        </p:nvSpPr>
        <p:spPr>
          <a:xfrm>
            <a:off x="4123310" y="211773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</a:t>
            </a:r>
            <a:r>
              <a:rPr lang="ko-KR" altLang="en-US" sz="1200" b="1"/>
              <a:t xml:space="preserve"> 리스크 차감 </a:t>
            </a:r>
            <a:endParaRPr lang="en-US" altLang="ko-KR" sz="10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812AEB-0B28-A94A-B2F9-62E4C9846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150933"/>
              </p:ext>
            </p:extLst>
          </p:nvPr>
        </p:nvGraphicFramePr>
        <p:xfrm>
          <a:off x="4212718" y="2553501"/>
          <a:ext cx="2818704" cy="1005840"/>
        </p:xfrm>
        <a:graphic>
          <a:graphicData uri="http://schemas.openxmlformats.org/drawingml/2006/table">
            <a:tbl>
              <a:tblPr/>
              <a:tblGrid>
                <a:gridCol w="1409352">
                  <a:extLst>
                    <a:ext uri="{9D8B030D-6E8A-4147-A177-3AD203B41FA5}">
                      <a16:colId xmlns:a16="http://schemas.microsoft.com/office/drawing/2014/main" val="3791146066"/>
                    </a:ext>
                  </a:extLst>
                </a:gridCol>
                <a:gridCol w="1409352">
                  <a:extLst>
                    <a:ext uri="{9D8B030D-6E8A-4147-A177-3AD203B41FA5}">
                      <a16:colId xmlns:a16="http://schemas.microsoft.com/office/drawing/2014/main" val="356652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561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연체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169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민원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690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휴면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5063276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3A13589D-3C48-3545-B8AA-C1AE6F62FA95}"/>
              </a:ext>
            </a:extLst>
          </p:cNvPr>
          <p:cNvSpPr txBox="1"/>
          <p:nvPr/>
        </p:nvSpPr>
        <p:spPr>
          <a:xfrm>
            <a:off x="4212718" y="389075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추천 규칙 </a:t>
            </a:r>
            <a:endParaRPr lang="en-US" altLang="ko-KR" sz="1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63CFE4-C8DB-A449-A979-8B214C7E9496}"/>
              </a:ext>
            </a:extLst>
          </p:cNvPr>
          <p:cNvSpPr txBox="1"/>
          <p:nvPr/>
        </p:nvSpPr>
        <p:spPr>
          <a:xfrm>
            <a:off x="4302126" y="4229322"/>
            <a:ext cx="6938758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KR" sz="1000"/>
              <a:t>candidate_score =</a:t>
            </a:r>
            <a:r>
              <a:rPr lang="ko-KR" altLang="en-US" sz="1000"/>
              <a:t xml:space="preserve"> </a:t>
            </a:r>
            <a:r>
              <a:rPr lang="en-KR" sz="1000"/>
              <a:t>fit_score</a:t>
            </a:r>
            <a:r>
              <a:rPr lang="ko-KR" altLang="en-US" sz="1000"/>
              <a:t xml:space="preserve"> </a:t>
            </a:r>
            <a:r>
              <a:rPr lang="en-KR" sz="1000"/>
              <a:t>+ conversion_score</a:t>
            </a:r>
            <a:r>
              <a:rPr lang="ko-KR" altLang="en-US" sz="1000"/>
              <a:t xml:space="preserve"> </a:t>
            </a:r>
            <a:r>
              <a:rPr lang="en-KR" sz="1000"/>
              <a:t>+ need_score</a:t>
            </a:r>
            <a:r>
              <a:rPr lang="ko-KR" altLang="en-US" sz="1000"/>
              <a:t xml:space="preserve"> </a:t>
            </a:r>
            <a:r>
              <a:rPr lang="en-KR" sz="1000"/>
              <a:t>+ grade_weight</a:t>
            </a:r>
            <a:r>
              <a:rPr lang="ko-KR" altLang="en-US" sz="1000"/>
              <a:t xml:space="preserve"> </a:t>
            </a:r>
            <a:r>
              <a:rPr lang="en-KR" sz="1000"/>
              <a:t>+ digital_score</a:t>
            </a:r>
            <a:r>
              <a:rPr lang="ko-KR" altLang="en-US" sz="1000"/>
              <a:t xml:space="preserve"> </a:t>
            </a:r>
            <a:r>
              <a:rPr lang="en-KR" sz="1000"/>
              <a:t>- risk_penalty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1DAF0D-1869-1745-AD55-8C99551D5848}"/>
              </a:ext>
            </a:extLst>
          </p:cNvPr>
          <p:cNvSpPr txBox="1"/>
          <p:nvPr/>
        </p:nvSpPr>
        <p:spPr>
          <a:xfrm>
            <a:off x="4212718" y="4718714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방식</a:t>
            </a:r>
            <a:endParaRPr lang="en-US" altLang="ko-KR" sz="1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44C7EE-C3B7-5042-9191-3956A85D22BD}"/>
              </a:ext>
            </a:extLst>
          </p:cNvPr>
          <p:cNvSpPr txBox="1"/>
          <p:nvPr/>
        </p:nvSpPr>
        <p:spPr>
          <a:xfrm>
            <a:off x="4239066" y="5074349"/>
            <a:ext cx="73877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고객별 후보 10개 생성</a:t>
            </a:r>
            <a:r>
              <a:rPr lang="ko-KR" altLang="en-US" sz="1000"/>
              <a:t xml:space="preserve"> </a:t>
            </a:r>
            <a:r>
              <a:rPr lang="en-US" altLang="ko-KR" sz="1000"/>
              <a:t>-&gt;</a:t>
            </a:r>
            <a:r>
              <a:rPr lang="ko-KR" altLang="en-US" sz="1000"/>
              <a:t xml:space="preserve"> </a:t>
            </a:r>
            <a:r>
              <a:rPr lang="en-KR" sz="1000"/>
              <a:t>점수 내림차순</a:t>
            </a:r>
            <a:r>
              <a:rPr lang="ko-KR" altLang="en-US" sz="1000"/>
              <a:t xml:space="preserve"> </a:t>
            </a:r>
            <a:r>
              <a:rPr lang="en-US" altLang="ko-KR" sz="1000"/>
              <a:t>-&gt;</a:t>
            </a:r>
            <a:r>
              <a:rPr lang="ko-KR" altLang="en-US" sz="1000"/>
              <a:t xml:space="preserve"> </a:t>
            </a:r>
            <a:r>
              <a:rPr lang="en-KR" sz="1000"/>
              <a:t>Top1 = 메인 추천</a:t>
            </a:r>
            <a:r>
              <a:rPr lang="en-US" altLang="ko-KR" sz="1000"/>
              <a:t>,</a:t>
            </a:r>
            <a:r>
              <a:rPr lang="ko-KR" altLang="en-US" sz="1000"/>
              <a:t xml:space="preserve"> </a:t>
            </a:r>
            <a:r>
              <a:rPr lang="en-KR" sz="1000"/>
              <a:t>Top3 = 추가 추천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DB2C76-C0F7-0E45-8DF8-FD09D4A6417E}"/>
              </a:ext>
            </a:extLst>
          </p:cNvPr>
          <p:cNvSpPr txBox="1"/>
          <p:nvPr/>
        </p:nvSpPr>
        <p:spPr>
          <a:xfrm>
            <a:off x="4254284" y="5541719"/>
            <a:ext cx="188328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예시</a:t>
            </a:r>
            <a:r>
              <a:rPr lang="en-US" altLang="ko-KR" sz="1000" dirty="0"/>
              <a:t>)</a:t>
            </a:r>
            <a:r>
              <a:rPr lang="ko-KR" altLang="en-US" sz="1000" dirty="0"/>
              <a:t xml:space="preserve"> 고객 </a:t>
            </a:r>
            <a:r>
              <a:rPr lang="en-US" altLang="ko-KR" sz="1000" dirty="0"/>
              <a:t>G000000001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 xml:space="preserve">자산 </a:t>
            </a:r>
            <a:r>
              <a:rPr lang="en-US" altLang="ko-KR" sz="1000" dirty="0"/>
              <a:t>1.5</a:t>
            </a:r>
            <a:r>
              <a:rPr lang="ko-KR" altLang="en-US" sz="1000" dirty="0"/>
              <a:t>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 xml:space="preserve">ETF </a:t>
            </a:r>
            <a:r>
              <a:rPr lang="ko-KR" altLang="en-US" sz="1000" dirty="0"/>
              <a:t>경험 있음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 xml:space="preserve">카드 월 </a:t>
            </a:r>
            <a:r>
              <a:rPr lang="en-US" altLang="ko-KR" sz="1000" dirty="0"/>
              <a:t>420</a:t>
            </a:r>
            <a:r>
              <a:rPr lang="ko-KR" altLang="en-US" sz="1000" dirty="0"/>
              <a:t>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 xml:space="preserve">VIP </a:t>
            </a:r>
            <a:r>
              <a:rPr lang="ko-KR" altLang="en-US" sz="1000" dirty="0"/>
              <a:t>후보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로그인 활발</a:t>
            </a:r>
            <a:endParaRPr lang="en-US" altLang="ko-KR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DCF068-B1D7-B74B-BB77-1EB537DCBC75}"/>
              </a:ext>
            </a:extLst>
          </p:cNvPr>
          <p:cNvSpPr txBox="1"/>
          <p:nvPr/>
        </p:nvSpPr>
        <p:spPr>
          <a:xfrm>
            <a:off x="6202995" y="5541719"/>
            <a:ext cx="8305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 xml:space="preserve">추천 결과 </a:t>
            </a:r>
            <a:endParaRPr lang="en-US" altLang="ko-KR" sz="100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05DEC7A-652F-C445-AC4C-3514D837C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767945"/>
              </p:ext>
            </p:extLst>
          </p:nvPr>
        </p:nvGraphicFramePr>
        <p:xfrm>
          <a:off x="7033570" y="5626742"/>
          <a:ext cx="2984422" cy="975360"/>
        </p:xfrm>
        <a:graphic>
          <a:graphicData uri="http://schemas.openxmlformats.org/drawingml/2006/table">
            <a:tbl>
              <a:tblPr/>
              <a:tblGrid>
                <a:gridCol w="1492211">
                  <a:extLst>
                    <a:ext uri="{9D8B030D-6E8A-4147-A177-3AD203B41FA5}">
                      <a16:colId xmlns:a16="http://schemas.microsoft.com/office/drawing/2014/main" val="3542681015"/>
                    </a:ext>
                  </a:extLst>
                </a:gridCol>
                <a:gridCol w="1492211">
                  <a:extLst>
                    <a:ext uri="{9D8B030D-6E8A-4147-A177-3AD203B41FA5}">
                      <a16:colId xmlns:a16="http://schemas.microsoft.com/office/drawing/2014/main" val="5799046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7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PB_CENTER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8814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ETF_PRODUCT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783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PREMIUM_CARD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3083311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99FD24B-3745-9A41-8805-C6CB85BB32C2}"/>
              </a:ext>
            </a:extLst>
          </p:cNvPr>
          <p:cNvSpPr txBox="1"/>
          <p:nvPr/>
        </p:nvSpPr>
        <p:spPr>
          <a:xfrm>
            <a:off x="10193105" y="5541719"/>
            <a:ext cx="1596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/>
              <a:t>TOP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PB</a:t>
            </a:r>
            <a:r>
              <a:rPr lang="ko-KR" altLang="en-US" sz="1000"/>
              <a:t xml:space="preserve"> 상담 연결</a:t>
            </a:r>
            <a:endParaRPr lang="en-US" altLang="ko-KR" sz="1000"/>
          </a:p>
        </p:txBody>
      </p:sp>
    </p:spTree>
    <p:extLst>
      <p:ext uri="{BB962C8B-B14F-4D97-AF65-F5344CB8AC3E}">
        <p14:creationId xmlns:p14="http://schemas.microsoft.com/office/powerpoint/2010/main" val="290528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(Health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097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Health Mart</a:t>
            </a:r>
            <a:r>
              <a:rPr lang="ko-KR" altLang="en-US" b="1"/>
              <a:t xml:space="preserve"> 는 걸음수</a:t>
            </a:r>
            <a:r>
              <a:rPr lang="en-US" altLang="ko-KR" b="1"/>
              <a:t xml:space="preserve">, </a:t>
            </a:r>
            <a:r>
              <a:rPr lang="ko-KR" altLang="en-US" b="1"/>
              <a:t>심박수</a:t>
            </a:r>
            <a:r>
              <a:rPr lang="en-US" altLang="ko-KR" b="1"/>
              <a:t xml:space="preserve">, </a:t>
            </a:r>
            <a:r>
              <a:rPr lang="ko-KR" altLang="en-US" b="1"/>
              <a:t>스트레스</a:t>
            </a:r>
            <a:r>
              <a:rPr lang="en-US" altLang="ko-KR" b="1"/>
              <a:t xml:space="preserve">, </a:t>
            </a:r>
            <a:r>
              <a:rPr lang="ko-KR" altLang="en-US" b="1"/>
              <a:t>병원 이용</a:t>
            </a:r>
            <a:r>
              <a:rPr lang="en-US" altLang="ko-KR" b="1"/>
              <a:t xml:space="preserve">, </a:t>
            </a:r>
            <a:r>
              <a:rPr lang="ko-KR" altLang="en-US" b="1"/>
              <a:t>건강검진 등을 통합 점수화한 건강 분석 데이터셋</a:t>
            </a:r>
            <a:r>
              <a:rPr lang="en-US" b="1"/>
              <a:t xml:space="preserve"> </a:t>
            </a:r>
            <a:endParaRPr lang="en-KR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72B29D-3CB9-1745-88D3-DAD0AA2A7A83}"/>
              </a:ext>
            </a:extLst>
          </p:cNvPr>
          <p:cNvSpPr txBox="1"/>
          <p:nvPr/>
        </p:nvSpPr>
        <p:spPr>
          <a:xfrm>
            <a:off x="297543" y="1384011"/>
            <a:ext cx="2921794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목적 </a:t>
            </a:r>
            <a:endParaRPr lang="en-US" altLang="ko-KR" sz="1200" b="1"/>
          </a:p>
          <a:p>
            <a:endParaRPr lang="en-US" altLang="ko-K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건강 점수 계산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질환 위험도 예측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건강검진 추천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보험 상품 추천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웰니스 캠페인 대상 선정</a:t>
            </a:r>
            <a:endParaRPr lang="en-US" altLang="ko-KR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57A2D8-53E1-8A42-9F62-9682A465B50B}"/>
              </a:ext>
            </a:extLst>
          </p:cNvPr>
          <p:cNvSpPr txBox="1"/>
          <p:nvPr/>
        </p:nvSpPr>
        <p:spPr>
          <a:xfrm>
            <a:off x="5523816" y="1332666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Health Mart </a:t>
            </a:r>
            <a:r>
              <a:rPr lang="ko-KR" altLang="en-US" sz="1200" b="1"/>
              <a:t xml:space="preserve">규칙 </a:t>
            </a:r>
            <a:endParaRPr lang="en-US" altLang="ko-KR" sz="10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359C98-B8A6-4B40-9496-E553CBF274E5}"/>
              </a:ext>
            </a:extLst>
          </p:cNvPr>
          <p:cNvSpPr txBox="1"/>
          <p:nvPr/>
        </p:nvSpPr>
        <p:spPr>
          <a:xfrm>
            <a:off x="5639871" y="1694959"/>
            <a:ext cx="6254586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/>
              <a:t xml:space="preserve">HEALTH_SCORE = </a:t>
            </a:r>
            <a:r>
              <a:rPr lang="ko-KR" altLang="en-US" sz="1000"/>
              <a:t>활동점수</a:t>
            </a:r>
            <a:r>
              <a:rPr lang="en-US" altLang="ko-KR" sz="1000"/>
              <a:t xml:space="preserve"> + </a:t>
            </a:r>
            <a:r>
              <a:rPr lang="ko-KR" altLang="en-US" sz="1000"/>
              <a:t>생체점수</a:t>
            </a:r>
            <a:r>
              <a:rPr lang="en-US" altLang="ko-KR" sz="1000"/>
              <a:t xml:space="preserve"> + </a:t>
            </a:r>
            <a:r>
              <a:rPr lang="ko-KR" altLang="en-US" sz="1000"/>
              <a:t>생활습관점수</a:t>
            </a:r>
            <a:r>
              <a:rPr lang="en-US" altLang="ko-KR" sz="1000"/>
              <a:t xml:space="preserve"> + </a:t>
            </a:r>
            <a:r>
              <a:rPr lang="ko-KR" altLang="en-US" sz="1000"/>
              <a:t>예방점수</a:t>
            </a:r>
            <a:r>
              <a:rPr lang="en-US" altLang="ko-KR" sz="1000"/>
              <a:t xml:space="preserve"> – </a:t>
            </a:r>
            <a:r>
              <a:rPr lang="ko-KR" altLang="en-US" sz="1000"/>
              <a:t>질환리스크점수</a:t>
            </a:r>
            <a:r>
              <a:rPr lang="en-US" altLang="ko-KR" sz="1000"/>
              <a:t xml:space="preserve"> - </a:t>
            </a:r>
            <a:r>
              <a:rPr lang="ko-KR" altLang="en-US" sz="1000"/>
              <a:t>의료이용과다점수</a:t>
            </a:r>
            <a:endParaRPr lang="en-KR" sz="1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661D1B-5120-6140-9FA5-7EF6A7D90299}"/>
              </a:ext>
            </a:extLst>
          </p:cNvPr>
          <p:cNvSpPr txBox="1"/>
          <p:nvPr/>
        </p:nvSpPr>
        <p:spPr>
          <a:xfrm>
            <a:off x="2595463" y="1410713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사전 필요 데이터 </a:t>
            </a:r>
            <a:endParaRPr lang="en-US" altLang="ko-KR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BA66E4-FEB0-4140-92F5-D242CFDFA57D}"/>
              </a:ext>
            </a:extLst>
          </p:cNvPr>
          <p:cNvSpPr txBox="1"/>
          <p:nvPr/>
        </p:nvSpPr>
        <p:spPr>
          <a:xfrm>
            <a:off x="2595463" y="1722940"/>
            <a:ext cx="24251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healthcare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hospital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wearable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insurance(optional)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98845-AB4C-2442-BC67-0CF3ECECBF65}"/>
              </a:ext>
            </a:extLst>
          </p:cNvPr>
          <p:cNvSpPr txBox="1"/>
          <p:nvPr/>
        </p:nvSpPr>
        <p:spPr>
          <a:xfrm>
            <a:off x="297543" y="3323348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점수 비중 </a:t>
            </a:r>
            <a:endParaRPr lang="en-US" altLang="ko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A2EEFF-769E-774E-B5C1-B6920BB05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591155"/>
              </p:ext>
            </p:extLst>
          </p:nvPr>
        </p:nvGraphicFramePr>
        <p:xfrm>
          <a:off x="408382" y="3736629"/>
          <a:ext cx="3214256" cy="1737360"/>
        </p:xfrm>
        <a:graphic>
          <a:graphicData uri="http://schemas.openxmlformats.org/drawingml/2006/table">
            <a:tbl>
              <a:tblPr/>
              <a:tblGrid>
                <a:gridCol w="1607128">
                  <a:extLst>
                    <a:ext uri="{9D8B030D-6E8A-4147-A177-3AD203B41FA5}">
                      <a16:colId xmlns:a16="http://schemas.microsoft.com/office/drawing/2014/main" val="1143587559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1279840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18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활동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20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생체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4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생활습관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837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예방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66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질환 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8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의료 과다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5227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5178F2F-B43F-7043-AD35-FBA6F0374DC3}"/>
              </a:ext>
            </a:extLst>
          </p:cNvPr>
          <p:cNvSpPr txBox="1"/>
          <p:nvPr/>
        </p:nvSpPr>
        <p:spPr>
          <a:xfrm>
            <a:off x="4261858" y="3324303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</a:t>
            </a:r>
            <a:r>
              <a:rPr lang="ko-KR" altLang="en-US" sz="1200" b="1"/>
              <a:t xml:space="preserve"> 활동 점수 </a:t>
            </a:r>
            <a:r>
              <a:rPr lang="en-US" altLang="ko-KR" sz="1200" b="1"/>
              <a:t>(25)</a:t>
            </a:r>
            <a:endParaRPr lang="en-US" altLang="ko-KR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F2A32F-47DB-2241-97C3-C051DCF608D7}"/>
              </a:ext>
            </a:extLst>
          </p:cNvPr>
          <p:cNvSpPr txBox="1"/>
          <p:nvPr/>
        </p:nvSpPr>
        <p:spPr>
          <a:xfrm>
            <a:off x="4295587" y="404793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1-1)</a:t>
            </a:r>
            <a:r>
              <a:rPr lang="ko-KR" altLang="en-US" sz="1200" b="1"/>
              <a:t xml:space="preserve"> 걸음수 </a:t>
            </a:r>
            <a:endParaRPr lang="en-US" altLang="ko-KR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5AA770-9477-664E-9FEE-1752A5993A00}"/>
              </a:ext>
            </a:extLst>
          </p:cNvPr>
          <p:cNvSpPr txBox="1"/>
          <p:nvPr/>
        </p:nvSpPr>
        <p:spPr>
          <a:xfrm>
            <a:off x="4295587" y="3634488"/>
            <a:ext cx="36682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100"/>
              <a:t xml:space="preserve">activity_score </a:t>
            </a:r>
            <a:r>
              <a:rPr lang="en-US" altLang="ko-KR" sz="1100"/>
              <a:t>=</a:t>
            </a:r>
            <a:r>
              <a:rPr lang="ko-KR" altLang="en-US" sz="1100"/>
              <a:t xml:space="preserve"> </a:t>
            </a:r>
            <a:r>
              <a:rPr lang="en-KR" sz="1100"/>
              <a:t>steps_score + workout_score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E76C7C-0001-F740-83BB-B948E7905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723405"/>
              </p:ext>
            </p:extLst>
          </p:nvPr>
        </p:nvGraphicFramePr>
        <p:xfrm>
          <a:off x="4406679" y="4380297"/>
          <a:ext cx="3523462" cy="1493520"/>
        </p:xfrm>
        <a:graphic>
          <a:graphicData uri="http://schemas.openxmlformats.org/drawingml/2006/table">
            <a:tbl>
              <a:tblPr/>
              <a:tblGrid>
                <a:gridCol w="1761731">
                  <a:extLst>
                    <a:ext uri="{9D8B030D-6E8A-4147-A177-3AD203B41FA5}">
                      <a16:colId xmlns:a16="http://schemas.microsoft.com/office/drawing/2014/main" val="4098402384"/>
                    </a:ext>
                  </a:extLst>
                </a:gridCol>
                <a:gridCol w="1761731">
                  <a:extLst>
                    <a:ext uri="{9D8B030D-6E8A-4147-A177-3AD203B41FA5}">
                      <a16:colId xmlns:a16="http://schemas.microsoft.com/office/drawing/2014/main" val="803307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avg_steps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597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12,000+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150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10,000+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644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7,000+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9261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5,000+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5039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7587490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B8361FA6-3C76-F040-94E5-E4A70EB9A0F2}"/>
              </a:ext>
            </a:extLst>
          </p:cNvPr>
          <p:cNvSpPr txBox="1"/>
          <p:nvPr/>
        </p:nvSpPr>
        <p:spPr>
          <a:xfrm>
            <a:off x="8254584" y="4047930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1-2)</a:t>
            </a:r>
            <a:r>
              <a:rPr lang="ko-KR" altLang="en-US" sz="1200" b="1"/>
              <a:t xml:space="preserve"> 운동 빈도 </a:t>
            </a:r>
            <a:endParaRPr lang="en-US" altLang="ko-KR" sz="10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496BD7-D936-2540-BF9E-E1898EA95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828335"/>
              </p:ext>
            </p:extLst>
          </p:nvPr>
        </p:nvGraphicFramePr>
        <p:xfrm>
          <a:off x="8326994" y="4380297"/>
          <a:ext cx="3523462" cy="1249680"/>
        </p:xfrm>
        <a:graphic>
          <a:graphicData uri="http://schemas.openxmlformats.org/drawingml/2006/table">
            <a:tbl>
              <a:tblPr/>
              <a:tblGrid>
                <a:gridCol w="1971497">
                  <a:extLst>
                    <a:ext uri="{9D8B030D-6E8A-4147-A177-3AD203B41FA5}">
                      <a16:colId xmlns:a16="http://schemas.microsoft.com/office/drawing/2014/main" val="3862588484"/>
                    </a:ext>
                  </a:extLst>
                </a:gridCol>
                <a:gridCol w="1551965">
                  <a:extLst>
                    <a:ext uri="{9D8B030D-6E8A-4147-A177-3AD203B41FA5}">
                      <a16:colId xmlns:a16="http://schemas.microsoft.com/office/drawing/2014/main" val="499557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weekly_workout_days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428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일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4356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일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6496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일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4775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37044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07950A50-E2A8-8F4B-BA13-2C7BFB0C1048}"/>
              </a:ext>
            </a:extLst>
          </p:cNvPr>
          <p:cNvSpPr txBox="1"/>
          <p:nvPr/>
        </p:nvSpPr>
        <p:spPr>
          <a:xfrm>
            <a:off x="5543823" y="2086987"/>
            <a:ext cx="63506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 b="1"/>
              <a:t xml:space="preserve">health_score </a:t>
            </a:r>
            <a:r>
              <a:rPr lang="en-KR" sz="1000"/>
              <a:t>=</a:t>
            </a:r>
            <a:r>
              <a:rPr lang="ko-KR" altLang="en-US" sz="1000"/>
              <a:t xml:space="preserve"> </a:t>
            </a:r>
            <a:r>
              <a:rPr lang="en-KR" sz="1000"/>
              <a:t>activity_score</a:t>
            </a:r>
            <a:r>
              <a:rPr lang="ko-KR" altLang="en-US" sz="1000"/>
              <a:t xml:space="preserve"> </a:t>
            </a:r>
            <a:r>
              <a:rPr lang="en-KR" sz="1000"/>
              <a:t>+ bio_score</a:t>
            </a:r>
            <a:r>
              <a:rPr lang="ko-KR" altLang="en-US" sz="1000"/>
              <a:t xml:space="preserve"> </a:t>
            </a:r>
            <a:r>
              <a:rPr lang="en-KR" sz="1000"/>
              <a:t>+ lifestyle_score</a:t>
            </a:r>
            <a:r>
              <a:rPr lang="ko-KR" altLang="en-US" sz="1000"/>
              <a:t xml:space="preserve"> </a:t>
            </a:r>
            <a:r>
              <a:rPr lang="en-KR" sz="1000"/>
              <a:t>+ prevent_score</a:t>
            </a:r>
            <a:r>
              <a:rPr lang="ko-KR" altLang="en-US" sz="1000"/>
              <a:t xml:space="preserve"> </a:t>
            </a:r>
            <a:r>
              <a:rPr lang="en-KR" sz="1000"/>
              <a:t>- disease_penalty</a:t>
            </a:r>
            <a:r>
              <a:rPr lang="ko-KR" altLang="en-US" sz="1000"/>
              <a:t xml:space="preserve"> </a:t>
            </a:r>
            <a:r>
              <a:rPr lang="en-KR" sz="1000"/>
              <a:t>- visit_penalty</a:t>
            </a:r>
          </a:p>
        </p:txBody>
      </p:sp>
    </p:spTree>
    <p:extLst>
      <p:ext uri="{BB962C8B-B14F-4D97-AF65-F5344CB8AC3E}">
        <p14:creationId xmlns:p14="http://schemas.microsoft.com/office/powerpoint/2010/main" val="1851758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(Health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2/4)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097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Health Mart</a:t>
            </a:r>
            <a:r>
              <a:rPr lang="ko-KR" altLang="en-US" b="1"/>
              <a:t xml:space="preserve"> 는 걸음수</a:t>
            </a:r>
            <a:r>
              <a:rPr lang="en-US" altLang="ko-KR" b="1"/>
              <a:t xml:space="preserve">, </a:t>
            </a:r>
            <a:r>
              <a:rPr lang="ko-KR" altLang="en-US" b="1"/>
              <a:t>심박수</a:t>
            </a:r>
            <a:r>
              <a:rPr lang="en-US" altLang="ko-KR" b="1"/>
              <a:t xml:space="preserve">, </a:t>
            </a:r>
            <a:r>
              <a:rPr lang="ko-KR" altLang="en-US" b="1"/>
              <a:t>스트레스</a:t>
            </a:r>
            <a:r>
              <a:rPr lang="en-US" altLang="ko-KR" b="1"/>
              <a:t xml:space="preserve">, </a:t>
            </a:r>
            <a:r>
              <a:rPr lang="ko-KR" altLang="en-US" b="1"/>
              <a:t>병원 이용</a:t>
            </a:r>
            <a:r>
              <a:rPr lang="en-US" altLang="ko-KR" b="1"/>
              <a:t xml:space="preserve">, </a:t>
            </a:r>
            <a:r>
              <a:rPr lang="ko-KR" altLang="en-US" b="1"/>
              <a:t>건강검진 등을 통합 점수화한 건강 분석 데이터셋</a:t>
            </a:r>
            <a:r>
              <a:rPr lang="en-US" b="1"/>
              <a:t xml:space="preserve"> </a:t>
            </a:r>
            <a:endParaRPr lang="en-KR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98845-AB4C-2442-BC67-0CF3ECECBF65}"/>
              </a:ext>
            </a:extLst>
          </p:cNvPr>
          <p:cNvSpPr txBox="1"/>
          <p:nvPr/>
        </p:nvSpPr>
        <p:spPr>
          <a:xfrm>
            <a:off x="297543" y="1358276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점수 비중 </a:t>
            </a:r>
            <a:endParaRPr lang="en-US" altLang="ko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A2EEFF-769E-774E-B5C1-B6920BB05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492394"/>
              </p:ext>
            </p:extLst>
          </p:nvPr>
        </p:nvGraphicFramePr>
        <p:xfrm>
          <a:off x="408382" y="1771557"/>
          <a:ext cx="3214256" cy="1737360"/>
        </p:xfrm>
        <a:graphic>
          <a:graphicData uri="http://schemas.openxmlformats.org/drawingml/2006/table">
            <a:tbl>
              <a:tblPr/>
              <a:tblGrid>
                <a:gridCol w="1607128">
                  <a:extLst>
                    <a:ext uri="{9D8B030D-6E8A-4147-A177-3AD203B41FA5}">
                      <a16:colId xmlns:a16="http://schemas.microsoft.com/office/drawing/2014/main" val="1143587559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1279840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18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활동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20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생체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4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생활습관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837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예방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66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질환 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8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의료 과다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5227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5178F2F-B43F-7043-AD35-FBA6F0374DC3}"/>
              </a:ext>
            </a:extLst>
          </p:cNvPr>
          <p:cNvSpPr txBox="1"/>
          <p:nvPr/>
        </p:nvSpPr>
        <p:spPr>
          <a:xfrm>
            <a:off x="3965827" y="1358276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</a:t>
            </a:r>
            <a:r>
              <a:rPr lang="ko-KR" altLang="en-US" sz="1200" b="1"/>
              <a:t xml:space="preserve"> 생체 점수 </a:t>
            </a:r>
            <a:r>
              <a:rPr lang="en-US" altLang="ko-KR" sz="1200" b="1"/>
              <a:t>(25)</a:t>
            </a:r>
            <a:endParaRPr lang="en-US" altLang="ko-KR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F2A32F-47DB-2241-97C3-C051DCF608D7}"/>
              </a:ext>
            </a:extLst>
          </p:cNvPr>
          <p:cNvSpPr txBox="1"/>
          <p:nvPr/>
        </p:nvSpPr>
        <p:spPr>
          <a:xfrm>
            <a:off x="3999556" y="2081904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2-1)</a:t>
            </a:r>
            <a:r>
              <a:rPr lang="ko-KR" altLang="en-US" sz="1200" b="1"/>
              <a:t xml:space="preserve"> 평균 심박수 안정성</a:t>
            </a:r>
            <a:endParaRPr lang="en-US" altLang="ko-KR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5AA770-9477-664E-9FEE-1752A5993A00}"/>
              </a:ext>
            </a:extLst>
          </p:cNvPr>
          <p:cNvSpPr txBox="1"/>
          <p:nvPr/>
        </p:nvSpPr>
        <p:spPr>
          <a:xfrm>
            <a:off x="3999556" y="1668461"/>
            <a:ext cx="36682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bio_score =</a:t>
            </a:r>
            <a:r>
              <a:rPr lang="ko-KR" altLang="en-US" sz="1100"/>
              <a:t xml:space="preserve"> </a:t>
            </a:r>
            <a:r>
              <a:rPr lang="en-US" sz="1100"/>
              <a:t>heart_score + spo2_score + bmi_score</a:t>
            </a:r>
            <a:endParaRPr lang="en-KR" sz="11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361FA6-3C76-F040-94E5-E4A70EB9A0F2}"/>
              </a:ext>
            </a:extLst>
          </p:cNvPr>
          <p:cNvSpPr txBox="1"/>
          <p:nvPr/>
        </p:nvSpPr>
        <p:spPr>
          <a:xfrm>
            <a:off x="6762910" y="2077311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2-2)</a:t>
            </a:r>
            <a:r>
              <a:rPr lang="ko-KR" altLang="en-US" sz="1200" b="1"/>
              <a:t xml:space="preserve"> 산소포화도</a:t>
            </a:r>
            <a:endParaRPr lang="en-US" altLang="ko-KR" sz="10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B49BC9-7E9B-634F-A8F9-C60E6D4003D3}"/>
              </a:ext>
            </a:extLst>
          </p:cNvPr>
          <p:cNvSpPr txBox="1"/>
          <p:nvPr/>
        </p:nvSpPr>
        <p:spPr>
          <a:xfrm>
            <a:off x="9439202" y="2077311"/>
            <a:ext cx="25609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2-3)</a:t>
            </a:r>
            <a:r>
              <a:rPr lang="ko-KR" altLang="en-US" sz="1200" b="1"/>
              <a:t xml:space="preserve"> </a:t>
            </a:r>
            <a:r>
              <a:rPr lang="en-US" altLang="ko-KR" sz="1200" b="1"/>
              <a:t>BMI</a:t>
            </a:r>
            <a:endParaRPr lang="en-US" altLang="ko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61979E-9CC8-3741-932F-C485EF02F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915268"/>
              </p:ext>
            </p:extLst>
          </p:nvPr>
        </p:nvGraphicFramePr>
        <p:xfrm>
          <a:off x="4013992" y="2510736"/>
          <a:ext cx="2355272" cy="1249680"/>
        </p:xfrm>
        <a:graphic>
          <a:graphicData uri="http://schemas.openxmlformats.org/drawingml/2006/table">
            <a:tbl>
              <a:tblPr/>
              <a:tblGrid>
                <a:gridCol w="1177636">
                  <a:extLst>
                    <a:ext uri="{9D8B030D-6E8A-4147-A177-3AD203B41FA5}">
                      <a16:colId xmlns:a16="http://schemas.microsoft.com/office/drawing/2014/main" val="1286895447"/>
                    </a:ext>
                  </a:extLst>
                </a:gridCol>
                <a:gridCol w="1177636">
                  <a:extLst>
                    <a:ext uri="{9D8B030D-6E8A-4147-A177-3AD203B41FA5}">
                      <a16:colId xmlns:a16="http://schemas.microsoft.com/office/drawing/2014/main" val="1261503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avg_hr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907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60~75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2355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76~90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7959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91~110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7369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885108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0E16A29-37AB-D342-A0C7-6A0257B0C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625091"/>
              </p:ext>
            </p:extLst>
          </p:nvPr>
        </p:nvGraphicFramePr>
        <p:xfrm>
          <a:off x="6760617" y="2490496"/>
          <a:ext cx="2355272" cy="1249680"/>
        </p:xfrm>
        <a:graphic>
          <a:graphicData uri="http://schemas.openxmlformats.org/drawingml/2006/table">
            <a:tbl>
              <a:tblPr/>
              <a:tblGrid>
                <a:gridCol w="1177636">
                  <a:extLst>
                    <a:ext uri="{9D8B030D-6E8A-4147-A177-3AD203B41FA5}">
                      <a16:colId xmlns:a16="http://schemas.microsoft.com/office/drawing/2014/main" val="2025832473"/>
                    </a:ext>
                  </a:extLst>
                </a:gridCol>
                <a:gridCol w="1177636">
                  <a:extLst>
                    <a:ext uri="{9D8B030D-6E8A-4147-A177-3AD203B41FA5}">
                      <a16:colId xmlns:a16="http://schemas.microsoft.com/office/drawing/2014/main" val="31033182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spo2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351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97+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7413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95+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506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93+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702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44935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D7692BC-6295-534A-9237-83FA6F50C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043958"/>
              </p:ext>
            </p:extLst>
          </p:nvPr>
        </p:nvGraphicFramePr>
        <p:xfrm>
          <a:off x="9507243" y="2490496"/>
          <a:ext cx="2560982" cy="1005840"/>
        </p:xfrm>
        <a:graphic>
          <a:graphicData uri="http://schemas.openxmlformats.org/drawingml/2006/table">
            <a:tbl>
              <a:tblPr/>
              <a:tblGrid>
                <a:gridCol w="1280491">
                  <a:extLst>
                    <a:ext uri="{9D8B030D-6E8A-4147-A177-3AD203B41FA5}">
                      <a16:colId xmlns:a16="http://schemas.microsoft.com/office/drawing/2014/main" val="182075432"/>
                    </a:ext>
                  </a:extLst>
                </a:gridCol>
                <a:gridCol w="1280491">
                  <a:extLst>
                    <a:ext uri="{9D8B030D-6E8A-4147-A177-3AD203B41FA5}">
                      <a16:colId xmlns:a16="http://schemas.microsoft.com/office/drawing/2014/main" val="9870696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bmi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932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18.5~24.9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885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25~29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861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기타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6230857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384DA8C0-9565-A24C-8360-9B8BCD307D28}"/>
              </a:ext>
            </a:extLst>
          </p:cNvPr>
          <p:cNvSpPr txBox="1"/>
          <p:nvPr/>
        </p:nvSpPr>
        <p:spPr>
          <a:xfrm>
            <a:off x="3965827" y="4155684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</a:t>
            </a:r>
            <a:r>
              <a:rPr lang="ko-KR" altLang="en-US" sz="1200" b="1"/>
              <a:t xml:space="preserve"> 생활습관 점수 </a:t>
            </a:r>
            <a:r>
              <a:rPr lang="en-US" altLang="ko-KR" sz="1200" b="1"/>
              <a:t>(15)</a:t>
            </a:r>
            <a:endParaRPr lang="en-US" altLang="ko-KR" sz="1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907870-AA05-0440-8D69-0BE0D6B5CA04}"/>
              </a:ext>
            </a:extLst>
          </p:cNvPr>
          <p:cNvSpPr txBox="1"/>
          <p:nvPr/>
        </p:nvSpPr>
        <p:spPr>
          <a:xfrm>
            <a:off x="3999556" y="4879313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3-1)</a:t>
            </a:r>
            <a:r>
              <a:rPr lang="ko-KR" altLang="en-US" sz="1200" b="1"/>
              <a:t xml:space="preserve"> 스트레스</a:t>
            </a:r>
            <a:endParaRPr lang="en-US" altLang="ko-KR" sz="10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EC56B0-F391-6A46-A2D8-083641A79101}"/>
              </a:ext>
            </a:extLst>
          </p:cNvPr>
          <p:cNvSpPr txBox="1"/>
          <p:nvPr/>
        </p:nvSpPr>
        <p:spPr>
          <a:xfrm>
            <a:off x="3999556" y="4465869"/>
            <a:ext cx="36682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lifestyle_score =</a:t>
            </a:r>
            <a:r>
              <a:rPr lang="ko-KR" altLang="en-US" sz="1100"/>
              <a:t xml:space="preserve"> </a:t>
            </a:r>
            <a:r>
              <a:rPr lang="en-US" sz="1100"/>
              <a:t>stress_score + sleep_score</a:t>
            </a:r>
            <a:endParaRPr lang="en-KR" sz="11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C76A6C-FC57-F948-B284-921C9DBF585D}"/>
              </a:ext>
            </a:extLst>
          </p:cNvPr>
          <p:cNvSpPr txBox="1"/>
          <p:nvPr/>
        </p:nvSpPr>
        <p:spPr>
          <a:xfrm>
            <a:off x="6762910" y="4874719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3-2)</a:t>
            </a:r>
            <a:r>
              <a:rPr lang="ko-KR" altLang="en-US" sz="1200" b="1"/>
              <a:t xml:space="preserve"> 수면시간</a:t>
            </a:r>
            <a:endParaRPr lang="en-US" altLang="ko-KR" sz="100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5A6B067-F33B-1546-A657-4850F391A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836502"/>
              </p:ext>
            </p:extLst>
          </p:nvPr>
        </p:nvGraphicFramePr>
        <p:xfrm>
          <a:off x="4017666" y="5293449"/>
          <a:ext cx="2351598" cy="1005840"/>
        </p:xfrm>
        <a:graphic>
          <a:graphicData uri="http://schemas.openxmlformats.org/drawingml/2006/table">
            <a:tbl>
              <a:tblPr/>
              <a:tblGrid>
                <a:gridCol w="1369774">
                  <a:extLst>
                    <a:ext uri="{9D8B030D-6E8A-4147-A177-3AD203B41FA5}">
                      <a16:colId xmlns:a16="http://schemas.microsoft.com/office/drawing/2014/main" val="297551187"/>
                    </a:ext>
                  </a:extLst>
                </a:gridCol>
                <a:gridCol w="981824">
                  <a:extLst>
                    <a:ext uri="{9D8B030D-6E8A-4147-A177-3AD203B41FA5}">
                      <a16:colId xmlns:a16="http://schemas.microsoft.com/office/drawing/2014/main" val="979293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wearable_stress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495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0~30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358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31~60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905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61+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92819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2E5F51A-6C73-A34C-8B5A-07C55FE91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275348"/>
              </p:ext>
            </p:extLst>
          </p:nvPr>
        </p:nvGraphicFramePr>
        <p:xfrm>
          <a:off x="6760617" y="5276413"/>
          <a:ext cx="2473920" cy="1249680"/>
        </p:xfrm>
        <a:graphic>
          <a:graphicData uri="http://schemas.openxmlformats.org/drawingml/2006/table">
            <a:tbl>
              <a:tblPr/>
              <a:tblGrid>
                <a:gridCol w="1236960">
                  <a:extLst>
                    <a:ext uri="{9D8B030D-6E8A-4147-A177-3AD203B41FA5}">
                      <a16:colId xmlns:a16="http://schemas.microsoft.com/office/drawing/2014/main" val="251475388"/>
                    </a:ext>
                  </a:extLst>
                </a:gridCol>
                <a:gridCol w="1236960">
                  <a:extLst>
                    <a:ext uri="{9D8B030D-6E8A-4147-A177-3AD203B41FA5}">
                      <a16:colId xmlns:a16="http://schemas.microsoft.com/office/drawing/2014/main" val="21508228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sleep_avg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446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7~8h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7258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6h+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72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5h+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8115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681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14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(Health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3/4)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097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Health Mart</a:t>
            </a:r>
            <a:r>
              <a:rPr lang="ko-KR" altLang="en-US" b="1"/>
              <a:t xml:space="preserve"> 는 걸음수</a:t>
            </a:r>
            <a:r>
              <a:rPr lang="en-US" altLang="ko-KR" b="1"/>
              <a:t xml:space="preserve">, </a:t>
            </a:r>
            <a:r>
              <a:rPr lang="ko-KR" altLang="en-US" b="1"/>
              <a:t>심박수</a:t>
            </a:r>
            <a:r>
              <a:rPr lang="en-US" altLang="ko-KR" b="1"/>
              <a:t xml:space="preserve">, </a:t>
            </a:r>
            <a:r>
              <a:rPr lang="ko-KR" altLang="en-US" b="1"/>
              <a:t>스트레스</a:t>
            </a:r>
            <a:r>
              <a:rPr lang="en-US" altLang="ko-KR" b="1"/>
              <a:t xml:space="preserve">, </a:t>
            </a:r>
            <a:r>
              <a:rPr lang="ko-KR" altLang="en-US" b="1"/>
              <a:t>병원 이용</a:t>
            </a:r>
            <a:r>
              <a:rPr lang="en-US" altLang="ko-KR" b="1"/>
              <a:t xml:space="preserve">, </a:t>
            </a:r>
            <a:r>
              <a:rPr lang="ko-KR" altLang="en-US" b="1"/>
              <a:t>건강검진 등을 통합 점수화한 건강 분석 데이터셋</a:t>
            </a:r>
            <a:r>
              <a:rPr lang="en-US" b="1"/>
              <a:t xml:space="preserve"> </a:t>
            </a:r>
            <a:endParaRPr lang="en-KR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98845-AB4C-2442-BC67-0CF3ECECBF65}"/>
              </a:ext>
            </a:extLst>
          </p:cNvPr>
          <p:cNvSpPr txBox="1"/>
          <p:nvPr/>
        </p:nvSpPr>
        <p:spPr>
          <a:xfrm>
            <a:off x="297543" y="1358276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점수 비중 </a:t>
            </a:r>
            <a:endParaRPr lang="en-US" altLang="ko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A2EEFF-769E-774E-B5C1-B6920BB05FD1}"/>
              </a:ext>
            </a:extLst>
          </p:cNvPr>
          <p:cNvGraphicFramePr>
            <a:graphicFrameLocks noGrp="1"/>
          </p:cNvGraphicFramePr>
          <p:nvPr/>
        </p:nvGraphicFramePr>
        <p:xfrm>
          <a:off x="408382" y="1771557"/>
          <a:ext cx="3214256" cy="1737360"/>
        </p:xfrm>
        <a:graphic>
          <a:graphicData uri="http://schemas.openxmlformats.org/drawingml/2006/table">
            <a:tbl>
              <a:tblPr/>
              <a:tblGrid>
                <a:gridCol w="1607128">
                  <a:extLst>
                    <a:ext uri="{9D8B030D-6E8A-4147-A177-3AD203B41FA5}">
                      <a16:colId xmlns:a16="http://schemas.microsoft.com/office/drawing/2014/main" val="1143587559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1279840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18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활동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20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생체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4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생활습관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837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예방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66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질환 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8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의료 과다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5227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5178F2F-B43F-7043-AD35-FBA6F0374DC3}"/>
              </a:ext>
            </a:extLst>
          </p:cNvPr>
          <p:cNvSpPr txBox="1"/>
          <p:nvPr/>
        </p:nvSpPr>
        <p:spPr>
          <a:xfrm>
            <a:off x="3965827" y="1358276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4)</a:t>
            </a:r>
            <a:r>
              <a:rPr lang="ko-KR" altLang="en-US" sz="1200" b="1"/>
              <a:t xml:space="preserve"> 예방 점수 </a:t>
            </a:r>
            <a:r>
              <a:rPr lang="en-US" altLang="ko-KR" sz="1200" b="1"/>
              <a:t>(15)</a:t>
            </a:r>
            <a:endParaRPr lang="en-US" altLang="ko-KR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F2A32F-47DB-2241-97C3-C051DCF608D7}"/>
              </a:ext>
            </a:extLst>
          </p:cNvPr>
          <p:cNvSpPr txBox="1"/>
          <p:nvPr/>
        </p:nvSpPr>
        <p:spPr>
          <a:xfrm>
            <a:off x="3999556" y="2081904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4-1)</a:t>
            </a:r>
            <a:r>
              <a:rPr lang="ko-KR" altLang="en-US" sz="1200" b="1"/>
              <a:t xml:space="preserve"> 건강검진 여부</a:t>
            </a:r>
            <a:endParaRPr lang="en-US" altLang="ko-KR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5AA770-9477-664E-9FEE-1752A5993A00}"/>
              </a:ext>
            </a:extLst>
          </p:cNvPr>
          <p:cNvSpPr txBox="1"/>
          <p:nvPr/>
        </p:nvSpPr>
        <p:spPr>
          <a:xfrm>
            <a:off x="3999556" y="1668461"/>
            <a:ext cx="36682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prevent_score =</a:t>
            </a:r>
            <a:r>
              <a:rPr lang="ko-KR" altLang="en-US" sz="1100"/>
              <a:t xml:space="preserve"> </a:t>
            </a:r>
            <a:r>
              <a:rPr lang="en-US" sz="1100"/>
              <a:t>checkup_score + habit_bonus</a:t>
            </a:r>
            <a:endParaRPr lang="en-KR" sz="11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361FA6-3C76-F040-94E5-E4A70EB9A0F2}"/>
              </a:ext>
            </a:extLst>
          </p:cNvPr>
          <p:cNvSpPr txBox="1"/>
          <p:nvPr/>
        </p:nvSpPr>
        <p:spPr>
          <a:xfrm>
            <a:off x="7067718" y="2077311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4-2)</a:t>
            </a:r>
            <a:r>
              <a:rPr lang="ko-KR" altLang="en-US" sz="1200" b="1"/>
              <a:t xml:space="preserve"> 예방 활동</a:t>
            </a:r>
            <a:endParaRPr lang="en-US" altLang="ko-KR" sz="10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4DA8C0-9565-A24C-8360-9B8BCD307D28}"/>
              </a:ext>
            </a:extLst>
          </p:cNvPr>
          <p:cNvSpPr txBox="1"/>
          <p:nvPr/>
        </p:nvSpPr>
        <p:spPr>
          <a:xfrm>
            <a:off x="3965827" y="4155684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5)</a:t>
            </a:r>
            <a:r>
              <a:rPr lang="ko-KR" altLang="en-US" sz="1200" b="1"/>
              <a:t xml:space="preserve"> 질환 리스크 차감 </a:t>
            </a:r>
            <a:r>
              <a:rPr lang="en-US" altLang="ko-KR" sz="1200" b="1"/>
              <a:t>(-15)</a:t>
            </a:r>
            <a:endParaRPr lang="en-US" altLang="ko-KR" sz="1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907870-AA05-0440-8D69-0BE0D6B5CA04}"/>
              </a:ext>
            </a:extLst>
          </p:cNvPr>
          <p:cNvSpPr txBox="1"/>
          <p:nvPr/>
        </p:nvSpPr>
        <p:spPr>
          <a:xfrm>
            <a:off x="3999556" y="4879313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5-1)</a:t>
            </a:r>
            <a:r>
              <a:rPr lang="ko-KR" altLang="en-US" sz="1200" b="1"/>
              <a:t xml:space="preserve"> 병원 데이터 기반</a:t>
            </a:r>
            <a:endParaRPr lang="en-US" altLang="ko-KR" sz="10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EC56B0-F391-6A46-A2D8-083641A79101}"/>
              </a:ext>
            </a:extLst>
          </p:cNvPr>
          <p:cNvSpPr txBox="1"/>
          <p:nvPr/>
        </p:nvSpPr>
        <p:spPr>
          <a:xfrm>
            <a:off x="3999556" y="4465869"/>
            <a:ext cx="36682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disease_penalty</a:t>
            </a:r>
            <a:endParaRPr lang="en-KR" sz="11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C76A6C-FC57-F948-B284-921C9DBF585D}"/>
              </a:ext>
            </a:extLst>
          </p:cNvPr>
          <p:cNvSpPr txBox="1"/>
          <p:nvPr/>
        </p:nvSpPr>
        <p:spPr>
          <a:xfrm>
            <a:off x="7067718" y="4874719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5-2)</a:t>
            </a:r>
            <a:r>
              <a:rPr lang="ko-KR" altLang="en-US" sz="1200" b="1"/>
              <a:t xml:space="preserve"> 만성질환 플래그</a:t>
            </a:r>
            <a:endParaRPr lang="en-US" altLang="ko-KR" sz="10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5F3CF8-009C-6247-9FC7-5AF9EF6FF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475563"/>
              </p:ext>
            </p:extLst>
          </p:nvPr>
        </p:nvGraphicFramePr>
        <p:xfrm>
          <a:off x="4149766" y="2457378"/>
          <a:ext cx="2613144" cy="1005840"/>
        </p:xfrm>
        <a:graphic>
          <a:graphicData uri="http://schemas.openxmlformats.org/drawingml/2006/table">
            <a:tbl>
              <a:tblPr/>
              <a:tblGrid>
                <a:gridCol w="1306572">
                  <a:extLst>
                    <a:ext uri="{9D8B030D-6E8A-4147-A177-3AD203B41FA5}">
                      <a16:colId xmlns:a16="http://schemas.microsoft.com/office/drawing/2014/main" val="2865852469"/>
                    </a:ext>
                  </a:extLst>
                </a:gridCol>
                <a:gridCol w="1306572">
                  <a:extLst>
                    <a:ext uri="{9D8B030D-6E8A-4147-A177-3AD203B41FA5}">
                      <a16:colId xmlns:a16="http://schemas.microsoft.com/office/drawing/2014/main" val="16049876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최근 검진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948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년 이내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9864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년 이내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1722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62717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FDF723-C8AF-9740-8ADC-1E2258382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91701"/>
              </p:ext>
            </p:extLst>
          </p:nvPr>
        </p:nvGraphicFramePr>
        <p:xfrm>
          <a:off x="7151491" y="2457378"/>
          <a:ext cx="2613144" cy="518160"/>
        </p:xfrm>
        <a:graphic>
          <a:graphicData uri="http://schemas.openxmlformats.org/drawingml/2006/table">
            <a:tbl>
              <a:tblPr/>
              <a:tblGrid>
                <a:gridCol w="1306572">
                  <a:extLst>
                    <a:ext uri="{9D8B030D-6E8A-4147-A177-3AD203B41FA5}">
                      <a16:colId xmlns:a16="http://schemas.microsoft.com/office/drawing/2014/main" val="3221842497"/>
                    </a:ext>
                  </a:extLst>
                </a:gridCol>
                <a:gridCol w="1306572">
                  <a:extLst>
                    <a:ext uri="{9D8B030D-6E8A-4147-A177-3AD203B41FA5}">
                      <a16:colId xmlns:a16="http://schemas.microsoft.com/office/drawing/2014/main" val="14497095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121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걷기 목표 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41175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376F2E-6AD1-D242-8C08-521C04F83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118296"/>
              </p:ext>
            </p:extLst>
          </p:nvPr>
        </p:nvGraphicFramePr>
        <p:xfrm>
          <a:off x="4149766" y="5308146"/>
          <a:ext cx="2613144" cy="1249680"/>
        </p:xfrm>
        <a:graphic>
          <a:graphicData uri="http://schemas.openxmlformats.org/drawingml/2006/table">
            <a:tbl>
              <a:tblPr/>
              <a:tblGrid>
                <a:gridCol w="1306572">
                  <a:extLst>
                    <a:ext uri="{9D8B030D-6E8A-4147-A177-3AD203B41FA5}">
                      <a16:colId xmlns:a16="http://schemas.microsoft.com/office/drawing/2014/main" val="3052688671"/>
                    </a:ext>
                  </a:extLst>
                </a:gridCol>
                <a:gridCol w="1306572">
                  <a:extLst>
                    <a:ext uri="{9D8B030D-6E8A-4147-A177-3AD203B41FA5}">
                      <a16:colId xmlns:a16="http://schemas.microsoft.com/office/drawing/2014/main" val="25234216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health_risk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568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904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60+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2778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40+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6736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5388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FB2F77-7C9B-CF49-BDF4-3D04D2496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163642"/>
              </p:ext>
            </p:extLst>
          </p:nvPr>
        </p:nvGraphicFramePr>
        <p:xfrm>
          <a:off x="7151491" y="5308146"/>
          <a:ext cx="2195946" cy="518160"/>
        </p:xfrm>
        <a:graphic>
          <a:graphicData uri="http://schemas.openxmlformats.org/drawingml/2006/table">
            <a:tbl>
              <a:tblPr/>
              <a:tblGrid>
                <a:gridCol w="1097973">
                  <a:extLst>
                    <a:ext uri="{9D8B030D-6E8A-4147-A177-3AD203B41FA5}">
                      <a16:colId xmlns:a16="http://schemas.microsoft.com/office/drawing/2014/main" val="2277084512"/>
                    </a:ext>
                  </a:extLst>
                </a:gridCol>
                <a:gridCol w="1097973">
                  <a:extLst>
                    <a:ext uri="{9D8B030D-6E8A-4147-A177-3AD203B41FA5}">
                      <a16:colId xmlns:a16="http://schemas.microsoft.com/office/drawing/2014/main" val="13363188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927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당뇨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고혈압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 xml:space="preserve">-5 </a:t>
                      </a:r>
                      <a:r>
                        <a:rPr lang="ko-KR" altLang="en-US" sz="1000"/>
                        <a:t>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562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3386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(Health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4/4)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097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Health Mart</a:t>
            </a:r>
            <a:r>
              <a:rPr lang="ko-KR" altLang="en-US" b="1"/>
              <a:t xml:space="preserve"> 는 걸음수</a:t>
            </a:r>
            <a:r>
              <a:rPr lang="en-US" altLang="ko-KR" b="1"/>
              <a:t xml:space="preserve">, </a:t>
            </a:r>
            <a:r>
              <a:rPr lang="ko-KR" altLang="en-US" b="1"/>
              <a:t>심박수</a:t>
            </a:r>
            <a:r>
              <a:rPr lang="en-US" altLang="ko-KR" b="1"/>
              <a:t xml:space="preserve">, </a:t>
            </a:r>
            <a:r>
              <a:rPr lang="ko-KR" altLang="en-US" b="1"/>
              <a:t>스트레스</a:t>
            </a:r>
            <a:r>
              <a:rPr lang="en-US" altLang="ko-KR" b="1"/>
              <a:t xml:space="preserve">, </a:t>
            </a:r>
            <a:r>
              <a:rPr lang="ko-KR" altLang="en-US" b="1"/>
              <a:t>병원 이용</a:t>
            </a:r>
            <a:r>
              <a:rPr lang="en-US" altLang="ko-KR" b="1"/>
              <a:t xml:space="preserve">, </a:t>
            </a:r>
            <a:r>
              <a:rPr lang="ko-KR" altLang="en-US" b="1"/>
              <a:t>건강검진 등을 통합 점수화한 건강 분석 데이터셋</a:t>
            </a:r>
            <a:r>
              <a:rPr lang="en-US" b="1"/>
              <a:t xml:space="preserve"> </a:t>
            </a:r>
            <a:endParaRPr lang="en-KR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98845-AB4C-2442-BC67-0CF3ECECBF65}"/>
              </a:ext>
            </a:extLst>
          </p:cNvPr>
          <p:cNvSpPr txBox="1"/>
          <p:nvPr/>
        </p:nvSpPr>
        <p:spPr>
          <a:xfrm>
            <a:off x="297543" y="1358276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점수 비중 </a:t>
            </a:r>
            <a:endParaRPr lang="en-US" altLang="ko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A2EEFF-769E-774E-B5C1-B6920BB05FD1}"/>
              </a:ext>
            </a:extLst>
          </p:cNvPr>
          <p:cNvGraphicFramePr>
            <a:graphicFrameLocks noGrp="1"/>
          </p:cNvGraphicFramePr>
          <p:nvPr/>
        </p:nvGraphicFramePr>
        <p:xfrm>
          <a:off x="408382" y="1771557"/>
          <a:ext cx="3214256" cy="1737360"/>
        </p:xfrm>
        <a:graphic>
          <a:graphicData uri="http://schemas.openxmlformats.org/drawingml/2006/table">
            <a:tbl>
              <a:tblPr/>
              <a:tblGrid>
                <a:gridCol w="1607128">
                  <a:extLst>
                    <a:ext uri="{9D8B030D-6E8A-4147-A177-3AD203B41FA5}">
                      <a16:colId xmlns:a16="http://schemas.microsoft.com/office/drawing/2014/main" val="1143587559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1279840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18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활동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20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생체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4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생활습관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837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예방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66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질환 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8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의료 과다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5227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5178F2F-B43F-7043-AD35-FBA6F0374DC3}"/>
              </a:ext>
            </a:extLst>
          </p:cNvPr>
          <p:cNvSpPr txBox="1"/>
          <p:nvPr/>
        </p:nvSpPr>
        <p:spPr>
          <a:xfrm>
            <a:off x="3965827" y="1358276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6)</a:t>
            </a:r>
            <a:r>
              <a:rPr lang="ko-KR" altLang="en-US" sz="1200" b="1"/>
              <a:t xml:space="preserve"> 의료 이용 과다 차감 </a:t>
            </a:r>
            <a:r>
              <a:rPr lang="en-US" altLang="ko-KR" sz="1200" b="1"/>
              <a:t>(-10)</a:t>
            </a:r>
            <a:endParaRPr lang="en-US" altLang="ko-KR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5AA770-9477-664E-9FEE-1752A5993A00}"/>
              </a:ext>
            </a:extLst>
          </p:cNvPr>
          <p:cNvSpPr txBox="1"/>
          <p:nvPr/>
        </p:nvSpPr>
        <p:spPr>
          <a:xfrm>
            <a:off x="3999556" y="1668461"/>
            <a:ext cx="36682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visit_penalty</a:t>
            </a:r>
            <a:endParaRPr lang="en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DE26E7-3FB4-1741-8010-42C826AE1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666842"/>
              </p:ext>
            </p:extLst>
          </p:nvPr>
        </p:nvGraphicFramePr>
        <p:xfrm>
          <a:off x="4124251" y="2030637"/>
          <a:ext cx="4853500" cy="1005840"/>
        </p:xfrm>
        <a:graphic>
          <a:graphicData uri="http://schemas.openxmlformats.org/drawingml/2006/table">
            <a:tbl>
              <a:tblPr/>
              <a:tblGrid>
                <a:gridCol w="2426750">
                  <a:extLst>
                    <a:ext uri="{9D8B030D-6E8A-4147-A177-3AD203B41FA5}">
                      <a16:colId xmlns:a16="http://schemas.microsoft.com/office/drawing/2014/main" val="4035165174"/>
                    </a:ext>
                  </a:extLst>
                </a:gridCol>
                <a:gridCol w="2426750">
                  <a:extLst>
                    <a:ext uri="{9D8B030D-6E8A-4147-A177-3AD203B41FA5}">
                      <a16:colId xmlns:a16="http://schemas.microsoft.com/office/drawing/2014/main" val="4935495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hospital_visit_cnt_30d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732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6</a:t>
                      </a:r>
                      <a:r>
                        <a:rPr lang="ko-KR" altLang="en-US" sz="1000"/>
                        <a:t>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4464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4</a:t>
                      </a:r>
                      <a:r>
                        <a:rPr lang="ko-KR" altLang="en-US" sz="1000"/>
                        <a:t>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029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250809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C2E6CEB6-0CE6-5944-A95E-9ED851BEB8C2}"/>
              </a:ext>
            </a:extLst>
          </p:cNvPr>
          <p:cNvSpPr txBox="1"/>
          <p:nvPr/>
        </p:nvSpPr>
        <p:spPr>
          <a:xfrm>
            <a:off x="297543" y="4000967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Health Mart</a:t>
            </a:r>
            <a:r>
              <a:rPr lang="ko-KR" altLang="en-US" sz="1200" b="1"/>
              <a:t xml:space="preserve"> 등급 체계 </a:t>
            </a:r>
            <a:endParaRPr lang="en-US" altLang="ko-KR" sz="10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1C44B0-49A6-3649-BB2E-629847F3C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505238"/>
              </p:ext>
            </p:extLst>
          </p:nvPr>
        </p:nvGraphicFramePr>
        <p:xfrm>
          <a:off x="404561" y="4585324"/>
          <a:ext cx="3214256" cy="1493520"/>
        </p:xfrm>
        <a:graphic>
          <a:graphicData uri="http://schemas.openxmlformats.org/drawingml/2006/table">
            <a:tbl>
              <a:tblPr/>
              <a:tblGrid>
                <a:gridCol w="1607128">
                  <a:extLst>
                    <a:ext uri="{9D8B030D-6E8A-4147-A177-3AD203B41FA5}">
                      <a16:colId xmlns:a16="http://schemas.microsoft.com/office/drawing/2014/main" val="3136438831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34640072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391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Excellent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095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80~89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742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65~79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Normal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35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50~64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Warning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751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84056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69A77D8B-28AD-E74C-A48A-98930A730C12}"/>
              </a:ext>
            </a:extLst>
          </p:cNvPr>
          <p:cNvSpPr txBox="1"/>
          <p:nvPr/>
        </p:nvSpPr>
        <p:spPr>
          <a:xfrm>
            <a:off x="4572888" y="4000967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추천 규칙 </a:t>
            </a:r>
            <a:endParaRPr lang="en-US" altLang="ko-KR" sz="100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EACC6BE-5F89-AE49-B586-78A507CF0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89028"/>
              </p:ext>
            </p:extLst>
          </p:nvPr>
        </p:nvGraphicFramePr>
        <p:xfrm>
          <a:off x="4663624" y="4585324"/>
          <a:ext cx="4668748" cy="1493520"/>
        </p:xfrm>
        <a:graphic>
          <a:graphicData uri="http://schemas.openxmlformats.org/drawingml/2006/table">
            <a:tbl>
              <a:tblPr/>
              <a:tblGrid>
                <a:gridCol w="2334374">
                  <a:extLst>
                    <a:ext uri="{9D8B030D-6E8A-4147-A177-3AD203B41FA5}">
                      <a16:colId xmlns:a16="http://schemas.microsoft.com/office/drawing/2014/main" val="2366323589"/>
                    </a:ext>
                  </a:extLst>
                </a:gridCol>
                <a:gridCol w="2334374">
                  <a:extLst>
                    <a:ext uri="{9D8B030D-6E8A-4147-A177-3AD203B41FA5}">
                      <a16:colId xmlns:a16="http://schemas.microsoft.com/office/drawing/2014/main" val="1243614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098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점수 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건강검진 예약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907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스트레스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명상 프로그램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3535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걸음수 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걷기 챌린지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1176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 xml:space="preserve">BMI </a:t>
                      </a:r>
                      <a:r>
                        <a:rPr lang="ko-KR" altLang="en-US" sz="1000"/>
                        <a:t>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다이어트 코칭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1068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병원 방문 많음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보험 리모델링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9510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172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전송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GCP)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095A234-EC43-0F4E-BB52-696280B73BC2}"/>
              </a:ext>
            </a:extLst>
          </p:cNvPr>
          <p:cNvSpPr txBox="1"/>
          <p:nvPr/>
        </p:nvSpPr>
        <p:spPr>
          <a:xfrm>
            <a:off x="9119860" y="1415072"/>
            <a:ext cx="297642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200" b="1"/>
              <a:t xml:space="preserve">데이터 전송 </a:t>
            </a:r>
            <a:r>
              <a:rPr lang="en-US" altLang="ko-KR" sz="1200" b="1"/>
              <a:t xml:space="preserve">(AWS -&gt; GCP) </a:t>
            </a:r>
            <a:r>
              <a:rPr lang="ko-KR" altLang="en-US" sz="1200" b="1"/>
              <a:t xml:space="preserve">프로세스 </a:t>
            </a:r>
            <a:endParaRPr lang="en-KR" sz="1200" b="1"/>
          </a:p>
          <a:p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S3 Curated Parquet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Storage Transfer / Dataproc / BQ Load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BigQuery 테이블 생성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 xml:space="preserve">SQL 분석 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Vertex AI 학습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 xml:space="preserve">예측 결과 저장 </a:t>
            </a:r>
          </a:p>
        </p:txBody>
      </p:sp>
      <p:sp>
        <p:nvSpPr>
          <p:cNvPr id="82" name="Google Shape;2639;p69">
            <a:extLst>
              <a:ext uri="{FF2B5EF4-FFF2-40B4-BE49-F238E27FC236}">
                <a16:creationId xmlns:a16="http://schemas.microsoft.com/office/drawing/2014/main" id="{C23C2B7E-7FC4-EC44-813D-5134E94AD201}"/>
              </a:ext>
            </a:extLst>
          </p:cNvPr>
          <p:cNvSpPr/>
          <p:nvPr/>
        </p:nvSpPr>
        <p:spPr>
          <a:xfrm>
            <a:off x="5917457" y="1381732"/>
            <a:ext cx="3029679" cy="2094532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3" name="Google Shape;3518;p84">
            <a:extLst>
              <a:ext uri="{FF2B5EF4-FFF2-40B4-BE49-F238E27FC236}">
                <a16:creationId xmlns:a16="http://schemas.microsoft.com/office/drawing/2014/main" id="{2EC0DD78-6977-ED42-9E29-5DE3358080A9}"/>
              </a:ext>
            </a:extLst>
          </p:cNvPr>
          <p:cNvSpPr/>
          <p:nvPr/>
        </p:nvSpPr>
        <p:spPr>
          <a:xfrm>
            <a:off x="6175546" y="1726149"/>
            <a:ext cx="2654448" cy="1629564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2756;p69">
            <a:extLst>
              <a:ext uri="{FF2B5EF4-FFF2-40B4-BE49-F238E27FC236}">
                <a16:creationId xmlns:a16="http://schemas.microsoft.com/office/drawing/2014/main" id="{055E3BC7-DA55-ED46-AA2C-6A65C21E47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6931" t="-49479" r="-5592" b="-59116"/>
          <a:stretch/>
        </p:blipFill>
        <p:spPr>
          <a:xfrm>
            <a:off x="5689845" y="1400108"/>
            <a:ext cx="755735" cy="30766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3519;p84">
            <a:extLst>
              <a:ext uri="{FF2B5EF4-FFF2-40B4-BE49-F238E27FC236}">
                <a16:creationId xmlns:a16="http://schemas.microsoft.com/office/drawing/2014/main" id="{FEE3DA87-D93E-6D4E-90C5-E550797BC46F}"/>
              </a:ext>
            </a:extLst>
          </p:cNvPr>
          <p:cNvSpPr txBox="1"/>
          <p:nvPr/>
        </p:nvSpPr>
        <p:spPr>
          <a:xfrm>
            <a:off x="5862824" y="1694736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VPC (Global)</a:t>
            </a:r>
            <a:endParaRPr sz="9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" name="Google Shape;379;g3d6e2211149_2_228">
            <a:extLst>
              <a:ext uri="{FF2B5EF4-FFF2-40B4-BE49-F238E27FC236}">
                <a16:creationId xmlns:a16="http://schemas.microsoft.com/office/drawing/2014/main" id="{F0AB1806-23C6-0D40-B3B0-41F5D466B6E9}"/>
              </a:ext>
            </a:extLst>
          </p:cNvPr>
          <p:cNvCxnSpPr>
            <a:cxnSpLocks/>
            <a:stCxn id="99" idx="1"/>
          </p:cNvCxnSpPr>
          <p:nvPr/>
        </p:nvCxnSpPr>
        <p:spPr>
          <a:xfrm flipH="1" flipV="1">
            <a:off x="4845311" y="1573470"/>
            <a:ext cx="1093990" cy="111569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98" name="Google Shape;426;p29">
            <a:extLst>
              <a:ext uri="{FF2B5EF4-FFF2-40B4-BE49-F238E27FC236}">
                <a16:creationId xmlns:a16="http://schemas.microsoft.com/office/drawing/2014/main" id="{2787BC64-3249-CB40-AF05-6A6E3D3D66BA}"/>
              </a:ext>
            </a:extLst>
          </p:cNvPr>
          <p:cNvSpPr txBox="1"/>
          <p:nvPr/>
        </p:nvSpPr>
        <p:spPr>
          <a:xfrm>
            <a:off x="5823296" y="2839106"/>
            <a:ext cx="1197394" cy="39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Storage Transfer Service</a:t>
            </a:r>
            <a:endParaRPr sz="900"/>
          </a:p>
        </p:txBody>
      </p:sp>
      <p:pic>
        <p:nvPicPr>
          <p:cNvPr id="99" name="Google Shape;427;p29">
            <a:extLst>
              <a:ext uri="{FF2B5EF4-FFF2-40B4-BE49-F238E27FC236}">
                <a16:creationId xmlns:a16="http://schemas.microsoft.com/office/drawing/2014/main" id="{68D50327-5DC0-EB48-A2C6-2C4837EE34D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9301" y="2494581"/>
            <a:ext cx="389175" cy="389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2648;p69">
            <a:extLst>
              <a:ext uri="{FF2B5EF4-FFF2-40B4-BE49-F238E27FC236}">
                <a16:creationId xmlns:a16="http://schemas.microsoft.com/office/drawing/2014/main" id="{43215E88-E02E-6345-BCAA-D0957F78ABA4}"/>
              </a:ext>
            </a:extLst>
          </p:cNvPr>
          <p:cNvGrpSpPr/>
          <p:nvPr/>
        </p:nvGrpSpPr>
        <p:grpSpPr>
          <a:xfrm>
            <a:off x="6543177" y="2072935"/>
            <a:ext cx="820995" cy="424443"/>
            <a:chOff x="-4301646" y="369515"/>
            <a:chExt cx="615746" cy="280714"/>
          </a:xfrm>
        </p:grpSpPr>
        <p:sp>
          <p:nvSpPr>
            <p:cNvPr id="101" name="Google Shape;2649;p69">
              <a:extLst>
                <a:ext uri="{FF2B5EF4-FFF2-40B4-BE49-F238E27FC236}">
                  <a16:creationId xmlns:a16="http://schemas.microsoft.com/office/drawing/2014/main" id="{1DA4BFC6-4CC8-2744-9F11-585E362D5EF1}"/>
                </a:ext>
              </a:extLst>
            </p:cNvPr>
            <p:cNvSpPr/>
            <p:nvPr/>
          </p:nvSpPr>
          <p:spPr>
            <a:xfrm>
              <a:off x="-4301646" y="369515"/>
              <a:ext cx="615746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spcFirstLastPara="1" wrap="square" lIns="390133" tIns="109700" rIns="60933" bIns="121900" anchor="ctr" anchorCtr="0">
              <a:noAutofit/>
            </a:bodyPr>
            <a:lstStyle/>
            <a:p>
              <a:pPr>
                <a:buClr>
                  <a:schemeClr val="dk1"/>
                </a:buClr>
              </a:pPr>
              <a:r>
                <a:rPr lang="en-US" sz="9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Bucket</a:t>
              </a:r>
              <a:endParaRPr sz="9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2" name="Google Shape;2650;p69">
              <a:extLst>
                <a:ext uri="{FF2B5EF4-FFF2-40B4-BE49-F238E27FC236}">
                  <a16:creationId xmlns:a16="http://schemas.microsoft.com/office/drawing/2014/main" id="{87990022-E568-514A-9888-0BBB33688BD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4254032" y="400076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650;p53">
            <a:extLst>
              <a:ext uri="{FF2B5EF4-FFF2-40B4-BE49-F238E27FC236}">
                <a16:creationId xmlns:a16="http://schemas.microsoft.com/office/drawing/2014/main" id="{81C53E4F-2D6E-9845-ACE3-9E332874353E}"/>
              </a:ext>
            </a:extLst>
          </p:cNvPr>
          <p:cNvSpPr/>
          <p:nvPr/>
        </p:nvSpPr>
        <p:spPr>
          <a:xfrm>
            <a:off x="7686301" y="2112381"/>
            <a:ext cx="10782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Vertex AI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659;p53">
            <a:extLst>
              <a:ext uri="{FF2B5EF4-FFF2-40B4-BE49-F238E27FC236}">
                <a16:creationId xmlns:a16="http://schemas.microsoft.com/office/drawing/2014/main" id="{274B26BD-2E6B-7744-A7ED-97634EE540BD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32050" y="2172836"/>
            <a:ext cx="256100" cy="2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892;p37">
            <a:extLst>
              <a:ext uri="{FF2B5EF4-FFF2-40B4-BE49-F238E27FC236}">
                <a16:creationId xmlns:a16="http://schemas.microsoft.com/office/drawing/2014/main" id="{1F2B25E7-0CC3-E947-95FC-5EC3B979D206}"/>
              </a:ext>
            </a:extLst>
          </p:cNvPr>
          <p:cNvSpPr/>
          <p:nvPr/>
        </p:nvSpPr>
        <p:spPr>
          <a:xfrm>
            <a:off x="7041405" y="2727168"/>
            <a:ext cx="1007259" cy="438441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10"/>
              </a:schemeClr>
            </a:outerShdw>
          </a:effectLst>
        </p:spPr>
        <p:txBody>
          <a:bodyPr spcFirstLastPara="1" wrap="square" lIns="429750" tIns="118850" rIns="45700" bIns="1463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6" name="Google Shape;911;p37">
            <a:extLst>
              <a:ext uri="{FF2B5EF4-FFF2-40B4-BE49-F238E27FC236}">
                <a16:creationId xmlns:a16="http://schemas.microsoft.com/office/drawing/2014/main" id="{9941B80D-B568-4844-876D-2F99586D7DFB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37832" y="2827634"/>
            <a:ext cx="242325" cy="2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2669;p69">
            <a:extLst>
              <a:ext uri="{FF2B5EF4-FFF2-40B4-BE49-F238E27FC236}">
                <a16:creationId xmlns:a16="http://schemas.microsoft.com/office/drawing/2014/main" id="{BAF8BA9C-6167-074F-B307-34D1E88A2491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6328476" y="2509654"/>
            <a:ext cx="642479" cy="179515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08" name="Google Shape;2669;p69">
            <a:extLst>
              <a:ext uri="{FF2B5EF4-FFF2-40B4-BE49-F238E27FC236}">
                <a16:creationId xmlns:a16="http://schemas.microsoft.com/office/drawing/2014/main" id="{6D058707-C441-784D-BF94-1321FA573E69}"/>
              </a:ext>
            </a:extLst>
          </p:cNvPr>
          <p:cNvCxnSpPr>
            <a:cxnSpLocks/>
            <a:endCxn id="105" idx="0"/>
          </p:cNvCxnSpPr>
          <p:nvPr/>
        </p:nvCxnSpPr>
        <p:spPr>
          <a:xfrm>
            <a:off x="6983447" y="2506583"/>
            <a:ext cx="561588" cy="220585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12" name="Google Shape;2669;p69">
            <a:extLst>
              <a:ext uri="{FF2B5EF4-FFF2-40B4-BE49-F238E27FC236}">
                <a16:creationId xmlns:a16="http://schemas.microsoft.com/office/drawing/2014/main" id="{9F99EC68-F810-0B45-B921-5E2B248F5B61}"/>
              </a:ext>
            </a:extLst>
          </p:cNvPr>
          <p:cNvCxnSpPr>
            <a:cxnSpLocks/>
            <a:stCxn id="105" idx="0"/>
            <a:endCxn id="103" idx="2"/>
          </p:cNvCxnSpPr>
          <p:nvPr/>
        </p:nvCxnSpPr>
        <p:spPr>
          <a:xfrm flipV="1">
            <a:off x="7545035" y="2494581"/>
            <a:ext cx="680366" cy="232587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1FF63227-8D06-0149-B1F8-AED8F91406B9}"/>
              </a:ext>
            </a:extLst>
          </p:cNvPr>
          <p:cNvSpPr txBox="1"/>
          <p:nvPr/>
        </p:nvSpPr>
        <p:spPr>
          <a:xfrm>
            <a:off x="447724" y="4096053"/>
            <a:ext cx="2995890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s3://lifesync-curated/</a:t>
            </a:r>
          </a:p>
          <a:p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customer_360_profile/dt=2026-04-24/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score_mart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ai_feature_table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vip_candidate_mart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recommendation_mart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health_mart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</p:txBody>
      </p:sp>
      <p:sp>
        <p:nvSpPr>
          <p:cNvPr id="117" name="Google Shape;274;g3d6e2211149_2_228">
            <a:extLst>
              <a:ext uri="{FF2B5EF4-FFF2-40B4-BE49-F238E27FC236}">
                <a16:creationId xmlns:a16="http://schemas.microsoft.com/office/drawing/2014/main" id="{66C50E2F-F339-B042-966E-EBEA3EFA97B9}"/>
              </a:ext>
            </a:extLst>
          </p:cNvPr>
          <p:cNvSpPr txBox="1"/>
          <p:nvPr/>
        </p:nvSpPr>
        <p:spPr>
          <a:xfrm>
            <a:off x="421668" y="3771841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S3</a:t>
            </a:r>
            <a:r>
              <a:rPr lang="ko-KR" altLang="en-US" sz="1200" b="1">
                <a:solidFill>
                  <a:schemeClr val="dk1"/>
                </a:solidFill>
              </a:rPr>
              <a:t xml:space="preserve"> 폴더 구조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8175E09-058B-2042-937D-F4BEC5B2B740}"/>
              </a:ext>
            </a:extLst>
          </p:cNvPr>
          <p:cNvSpPr txBox="1"/>
          <p:nvPr/>
        </p:nvSpPr>
        <p:spPr>
          <a:xfrm>
            <a:off x="447724" y="5615363"/>
            <a:ext cx="2995890" cy="553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part-00000.snappy.parquet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part-00001.snappy.parquet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_SUCCESS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D3B5BF3-8D6B-CA42-8EBC-0337EDC7670F}"/>
              </a:ext>
            </a:extLst>
          </p:cNvPr>
          <p:cNvSpPr txBox="1"/>
          <p:nvPr/>
        </p:nvSpPr>
        <p:spPr>
          <a:xfrm>
            <a:off x="8891856" y="4096053"/>
            <a:ext cx="2995890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gs://lifesync-data-lake/</a:t>
            </a:r>
          </a:p>
        </p:txBody>
      </p:sp>
      <p:sp>
        <p:nvSpPr>
          <p:cNvPr id="120" name="Google Shape;274;g3d6e2211149_2_228">
            <a:extLst>
              <a:ext uri="{FF2B5EF4-FFF2-40B4-BE49-F238E27FC236}">
                <a16:creationId xmlns:a16="http://schemas.microsoft.com/office/drawing/2014/main" id="{96F8E5DF-109B-3B4C-AB62-93051002633E}"/>
              </a:ext>
            </a:extLst>
          </p:cNvPr>
          <p:cNvSpPr txBox="1"/>
          <p:nvPr/>
        </p:nvSpPr>
        <p:spPr>
          <a:xfrm>
            <a:off x="8865800" y="3771841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GCS Bucket 구조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5BC1277-5DFF-9D49-A04E-8BD80C14DE8F}"/>
              </a:ext>
            </a:extLst>
          </p:cNvPr>
          <p:cNvSpPr txBox="1"/>
          <p:nvPr/>
        </p:nvSpPr>
        <p:spPr>
          <a:xfrm>
            <a:off x="8891856" y="4632005"/>
            <a:ext cx="2995890" cy="2154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gs://lifesync-data-lake/curated/</a:t>
            </a:r>
          </a:p>
          <a:p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customer_360_profile/dt=2026-04-24/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score_mart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ai_feature_table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vip_candidate_mart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recommendation_mart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health_mart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ml/</a:t>
            </a:r>
            <a:b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</a:br>
            <a: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├ training/ -&gt; </a:t>
            </a:r>
            <a:r>
              <a:rPr lang="en-US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학습용</a:t>
            </a:r>
            <a: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</a:t>
            </a:r>
            <a:r>
              <a:rPr lang="en-US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추출</a:t>
            </a:r>
            <a: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</a:t>
            </a:r>
            <a:r>
              <a:rPr lang="en-US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데이터</a:t>
            </a:r>
            <a:b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</a:br>
            <a: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├ prediction/ 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-&gt; </a:t>
            </a:r>
            <a:r>
              <a:rPr lang="ko-KR" alt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예측 입력 데이터</a:t>
            </a:r>
            <a:b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</a:br>
            <a: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└ </a:t>
            </a:r>
            <a:r>
              <a:rPr lang="en-US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model_output</a:t>
            </a:r>
            <a: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/ 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-&gt; </a:t>
            </a:r>
            <a:r>
              <a:rPr lang="ko-KR" alt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예측 결과</a:t>
            </a:r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4FFAA8C-2714-AB40-9902-658CB324B6D2}"/>
              </a:ext>
            </a:extLst>
          </p:cNvPr>
          <p:cNvSpPr txBox="1"/>
          <p:nvPr/>
        </p:nvSpPr>
        <p:spPr>
          <a:xfrm>
            <a:off x="4354474" y="4124145"/>
            <a:ext cx="2995890" cy="8617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AWS S3 Source: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s3://lifesync-curated/</a:t>
            </a:r>
          </a:p>
          <a:p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Destination: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gs://lifesync-data-lake/curated/</a:t>
            </a:r>
          </a:p>
        </p:txBody>
      </p:sp>
      <p:sp>
        <p:nvSpPr>
          <p:cNvPr id="123" name="Google Shape;274;g3d6e2211149_2_228">
            <a:extLst>
              <a:ext uri="{FF2B5EF4-FFF2-40B4-BE49-F238E27FC236}">
                <a16:creationId xmlns:a16="http://schemas.microsoft.com/office/drawing/2014/main" id="{0673306D-26F1-FA4C-9ED6-AD2B698955C8}"/>
              </a:ext>
            </a:extLst>
          </p:cNvPr>
          <p:cNvSpPr txBox="1"/>
          <p:nvPr/>
        </p:nvSpPr>
        <p:spPr>
          <a:xfrm>
            <a:off x="4328418" y="3799933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 xml:space="preserve">GCP Storage Transfer 동작 방식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274;g3d6e2211149_2_228">
            <a:extLst>
              <a:ext uri="{FF2B5EF4-FFF2-40B4-BE49-F238E27FC236}">
                <a16:creationId xmlns:a16="http://schemas.microsoft.com/office/drawing/2014/main" id="{5FF0B5A7-246C-3141-B49C-201196D5E4B3}"/>
              </a:ext>
            </a:extLst>
          </p:cNvPr>
          <p:cNvSpPr txBox="1"/>
          <p:nvPr/>
        </p:nvSpPr>
        <p:spPr>
          <a:xfrm>
            <a:off x="4300513" y="5159564"/>
            <a:ext cx="2187320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</a:rPr>
              <a:t xml:space="preserve">GCP Transfer Job 생성 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 : Amazon S3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</a:rPr>
              <a:t>Bucket : lifesync-curated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Key ID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</a:rPr>
              <a:t>Secret Access Key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chemeClr val="dk1"/>
                </a:solidFill>
              </a:rPr>
              <a:t>Destination -&gt; Clud Storage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Bucket : lifesync-data-lake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</a:rPr>
              <a:t>Path : curated/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274;g3d6e2211149_2_228">
            <a:extLst>
              <a:ext uri="{FF2B5EF4-FFF2-40B4-BE49-F238E27FC236}">
                <a16:creationId xmlns:a16="http://schemas.microsoft.com/office/drawing/2014/main" id="{0582358C-6967-F14B-95E2-FC1801BCCB9B}"/>
              </a:ext>
            </a:extLst>
          </p:cNvPr>
          <p:cNvSpPr txBox="1"/>
          <p:nvPr/>
        </p:nvSpPr>
        <p:spPr>
          <a:xfrm>
            <a:off x="6340225" y="5159564"/>
            <a:ext cx="218732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Object Conditions : Transfer only new objects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>
              <a:solidFill>
                <a:schemeClr val="dk1"/>
              </a:solidFill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Schedule : Daily 03:00 Asia/Seoul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>
              <a:solidFill>
                <a:schemeClr val="dk1"/>
              </a:solidFill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Delete source objects = OFF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 destination if source missing = OFF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9878E1F-59AB-DE44-8CE5-91A9BFC5D2AD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EMR</a:t>
            </a:r>
            <a:r>
              <a:rPr lang="ko-KR" altLang="en-US" b="1"/>
              <a:t xml:space="preserve">에서 생성된 </a:t>
            </a:r>
            <a:r>
              <a:rPr lang="en-US" altLang="ko-KR" b="1"/>
              <a:t>6</a:t>
            </a:r>
            <a:r>
              <a:rPr lang="ko-KR" altLang="en-US" b="1"/>
              <a:t xml:space="preserve">개 데이터셋은 </a:t>
            </a:r>
            <a:r>
              <a:rPr lang="en-US" b="1"/>
              <a:t>S3 Curated</a:t>
            </a:r>
            <a:r>
              <a:rPr lang="ko-KR" altLang="en-US" b="1"/>
              <a:t xml:space="preserve">에는 </a:t>
            </a:r>
            <a:r>
              <a:rPr lang="en-US" b="1"/>
              <a:t xml:space="preserve">Parquet </a:t>
            </a:r>
            <a:r>
              <a:rPr lang="ko-KR" altLang="en-US" b="1"/>
              <a:t>파티션 형태</a:t>
            </a:r>
            <a:r>
              <a:rPr lang="en-US" altLang="ko-KR"/>
              <a:t xml:space="preserve">, </a:t>
            </a:r>
            <a:r>
              <a:rPr lang="en-US" b="1"/>
              <a:t>BigQuery</a:t>
            </a:r>
            <a:r>
              <a:rPr lang="ko-KR" altLang="en-US" b="1"/>
              <a:t>에는 목적별 테이블 구조로 적재</a:t>
            </a:r>
            <a:endParaRPr lang="en-KR" b="1"/>
          </a:p>
        </p:txBody>
      </p:sp>
      <p:sp>
        <p:nvSpPr>
          <p:cNvPr id="86" name="Google Shape;262;g3d6e2211149_2_228">
            <a:extLst>
              <a:ext uri="{FF2B5EF4-FFF2-40B4-BE49-F238E27FC236}">
                <a16:creationId xmlns:a16="http://schemas.microsoft.com/office/drawing/2014/main" id="{B60BFF14-E3D3-FB4E-9A2D-2CC1432208D1}"/>
              </a:ext>
            </a:extLst>
          </p:cNvPr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87" name="Google Shape;263;g3d6e2211149_2_228" descr="VPC group icon. ">
            <a:extLst>
              <a:ext uri="{FF2B5EF4-FFF2-40B4-BE49-F238E27FC236}">
                <a16:creationId xmlns:a16="http://schemas.microsoft.com/office/drawing/2014/main" id="{81E3B365-0E1E-BA47-8AC5-BFA65D91A80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264;g3d6e2211149_2_228">
            <a:extLst>
              <a:ext uri="{FF2B5EF4-FFF2-40B4-BE49-F238E27FC236}">
                <a16:creationId xmlns:a16="http://schemas.microsoft.com/office/drawing/2014/main" id="{AE14C13F-F80F-8F44-B461-A8E5090FB6A2}"/>
              </a:ext>
            </a:extLst>
          </p:cNvPr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89" name="Google Shape;265;g3d6e2211149_2_228" descr="Private subnet group icon. ">
            <a:extLst>
              <a:ext uri="{FF2B5EF4-FFF2-40B4-BE49-F238E27FC236}">
                <a16:creationId xmlns:a16="http://schemas.microsoft.com/office/drawing/2014/main" id="{AE124EDD-3929-8A42-AF6E-9A26B806842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AB7DD07E-9188-5E40-BDFE-4000BCA321C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274;g3d6e2211149_2_228">
            <a:extLst>
              <a:ext uri="{FF2B5EF4-FFF2-40B4-BE49-F238E27FC236}">
                <a16:creationId xmlns:a16="http://schemas.microsoft.com/office/drawing/2014/main" id="{3B1DC3EB-8E71-7447-AACD-EBE9AF19CA37}"/>
              </a:ext>
            </a:extLst>
          </p:cNvPr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288;g3d6e2211149_2_228">
            <a:extLst>
              <a:ext uri="{FF2B5EF4-FFF2-40B4-BE49-F238E27FC236}">
                <a16:creationId xmlns:a16="http://schemas.microsoft.com/office/drawing/2014/main" id="{00F1A47E-05F5-784E-A6CC-CD5C33C8B0BA}"/>
              </a:ext>
            </a:extLst>
          </p:cNvPr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93" name="Google Shape;289;g3d6e2211149_2_228" descr="Private subnet group icon. ">
            <a:extLst>
              <a:ext uri="{FF2B5EF4-FFF2-40B4-BE49-F238E27FC236}">
                <a16:creationId xmlns:a16="http://schemas.microsoft.com/office/drawing/2014/main" id="{9DB80BDD-8638-AE45-8C0B-FF6E150BB5CE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290;g3d6e2211149_2_228" descr="AWS Glue service icon.">
            <a:extLst>
              <a:ext uri="{FF2B5EF4-FFF2-40B4-BE49-F238E27FC236}">
                <a16:creationId xmlns:a16="http://schemas.microsoft.com/office/drawing/2014/main" id="{D9DC60DE-CDD1-3E44-8442-67259328F800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291;g3d6e2211149_2_228">
            <a:extLst>
              <a:ext uri="{FF2B5EF4-FFF2-40B4-BE49-F238E27FC236}">
                <a16:creationId xmlns:a16="http://schemas.microsoft.com/office/drawing/2014/main" id="{A812F385-A87C-FE43-95F9-BC995D7A43EA}"/>
              </a:ext>
            </a:extLst>
          </p:cNvPr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96" name="Google Shape;292;g3d6e2211149_2_228" descr="Amazon EMR service icon.">
            <a:extLst>
              <a:ext uri="{FF2B5EF4-FFF2-40B4-BE49-F238E27FC236}">
                <a16:creationId xmlns:a16="http://schemas.microsoft.com/office/drawing/2014/main" id="{70B98F02-21B7-9F45-862B-162403AB8BA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294;g3d6e2211149_2_228" descr="AWS Lambda service icon.">
            <a:extLst>
              <a:ext uri="{FF2B5EF4-FFF2-40B4-BE49-F238E27FC236}">
                <a16:creationId xmlns:a16="http://schemas.microsoft.com/office/drawing/2014/main" id="{C5BDE829-D4D6-F94D-93BD-6B780B7406F5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295;g3d6e2211149_2_228">
            <a:extLst>
              <a:ext uri="{FF2B5EF4-FFF2-40B4-BE49-F238E27FC236}">
                <a16:creationId xmlns:a16="http://schemas.microsoft.com/office/drawing/2014/main" id="{BA2C9D09-71B3-6341-A9E8-B6A1B8606E32}"/>
              </a:ext>
            </a:extLst>
          </p:cNvPr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11" name="Google Shape;361;g3d6e2211149_2_228">
            <a:extLst>
              <a:ext uri="{FF2B5EF4-FFF2-40B4-BE49-F238E27FC236}">
                <a16:creationId xmlns:a16="http://schemas.microsoft.com/office/drawing/2014/main" id="{EA63C42C-91DC-1047-910F-C49572D2953A}"/>
              </a:ext>
            </a:extLst>
          </p:cNvPr>
          <p:cNvCxnSpPr>
            <a:cxnSpLocks/>
            <a:stCxn id="140" idx="2"/>
            <a:endCxn id="138" idx="1"/>
          </p:cNvCxnSpPr>
          <p:nvPr/>
        </p:nvCxnSpPr>
        <p:spPr>
          <a:xfrm>
            <a:off x="620556" y="1616494"/>
            <a:ext cx="716180" cy="13832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13" name="Google Shape;364;g3d6e2211149_2_228">
            <a:extLst>
              <a:ext uri="{FF2B5EF4-FFF2-40B4-BE49-F238E27FC236}">
                <a16:creationId xmlns:a16="http://schemas.microsoft.com/office/drawing/2014/main" id="{5C8892EE-AD9A-6244-BC2E-9491EEE25A33}"/>
              </a:ext>
            </a:extLst>
          </p:cNvPr>
          <p:cNvCxnSpPr>
            <a:cxnSpLocks/>
            <a:stCxn id="109" idx="0"/>
            <a:endCxn id="90" idx="2"/>
          </p:cNvCxnSpPr>
          <p:nvPr/>
        </p:nvCxnSpPr>
        <p:spPr>
          <a:xfrm flipV="1">
            <a:off x="2423764" y="1799908"/>
            <a:ext cx="414562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14" name="Google Shape;365;g3d6e2211149_2_228">
            <a:extLst>
              <a:ext uri="{FF2B5EF4-FFF2-40B4-BE49-F238E27FC236}">
                <a16:creationId xmlns:a16="http://schemas.microsoft.com/office/drawing/2014/main" id="{9AA7CFCA-B054-074C-9510-44C61AAE9664}"/>
              </a:ext>
            </a:extLst>
          </p:cNvPr>
          <p:cNvCxnSpPr>
            <a:endCxn id="94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115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BCAB4CCD-8503-2842-83A9-B157C4AF9063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371;g3d6e2211149_2_228">
            <a:extLst>
              <a:ext uri="{FF2B5EF4-FFF2-40B4-BE49-F238E27FC236}">
                <a16:creationId xmlns:a16="http://schemas.microsoft.com/office/drawing/2014/main" id="{141851B2-7E44-3446-A836-7DB0B62852A3}"/>
              </a:ext>
            </a:extLst>
          </p:cNvPr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128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859E7348-A283-1D48-A975-7DAD22BC770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375;g3d6e2211149_2_228">
            <a:extLst>
              <a:ext uri="{FF2B5EF4-FFF2-40B4-BE49-F238E27FC236}">
                <a16:creationId xmlns:a16="http://schemas.microsoft.com/office/drawing/2014/main" id="{AB85BAF8-E683-294F-8A8D-C6575BD874DE}"/>
              </a:ext>
            </a:extLst>
          </p:cNvPr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376;g3d6e2211149_2_228">
            <a:extLst>
              <a:ext uri="{FF2B5EF4-FFF2-40B4-BE49-F238E27FC236}">
                <a16:creationId xmlns:a16="http://schemas.microsoft.com/office/drawing/2014/main" id="{BB38A5F5-C240-A249-AE16-07D124B05E1E}"/>
              </a:ext>
            </a:extLst>
          </p:cNvPr>
          <p:cNvCxnSpPr>
            <a:stCxn id="128" idx="3"/>
            <a:endCxn id="96" idx="0"/>
          </p:cNvCxnSpPr>
          <p:nvPr/>
        </p:nvCxnSpPr>
        <p:spPr>
          <a:xfrm>
            <a:off x="3801357" y="1584740"/>
            <a:ext cx="1109400" cy="1176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31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71287DE-71ED-8649-935E-DBAD3D563AB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379;g3d6e2211149_2_228">
            <a:extLst>
              <a:ext uri="{FF2B5EF4-FFF2-40B4-BE49-F238E27FC236}">
                <a16:creationId xmlns:a16="http://schemas.microsoft.com/office/drawing/2014/main" id="{0CDC66DB-D255-3C44-AF9B-207EABDD2CE7}"/>
              </a:ext>
            </a:extLst>
          </p:cNvPr>
          <p:cNvCxnSpPr>
            <a:cxnSpLocks/>
            <a:stCxn id="131" idx="2"/>
            <a:endCxn id="96" idx="0"/>
          </p:cNvCxnSpPr>
          <p:nvPr/>
        </p:nvCxnSpPr>
        <p:spPr>
          <a:xfrm>
            <a:off x="4642304" y="1776477"/>
            <a:ext cx="268453" cy="98468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33" name="Google Shape;380;g3d6e2211149_2_228">
            <a:extLst>
              <a:ext uri="{FF2B5EF4-FFF2-40B4-BE49-F238E27FC236}">
                <a16:creationId xmlns:a16="http://schemas.microsoft.com/office/drawing/2014/main" id="{CDC6A299-8841-C240-9179-16955AAB5F52}"/>
              </a:ext>
            </a:extLst>
          </p:cNvPr>
          <p:cNvCxnSpPr>
            <a:cxnSpLocks/>
            <a:endCxn id="94" idx="0"/>
          </p:cNvCxnSpPr>
          <p:nvPr/>
        </p:nvCxnSpPr>
        <p:spPr>
          <a:xfrm>
            <a:off x="3041333" y="1787747"/>
            <a:ext cx="1059668" cy="9736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134" name="Google Shape;303;g3d6896b4338_0_0">
            <a:extLst>
              <a:ext uri="{FF2B5EF4-FFF2-40B4-BE49-F238E27FC236}">
                <a16:creationId xmlns:a16="http://schemas.microsoft.com/office/drawing/2014/main" id="{2C8E05EC-987A-834E-A76B-AD8AD47BFE84}"/>
              </a:ext>
            </a:extLst>
          </p:cNvPr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303;g3d6896b4338_0_0">
            <a:extLst>
              <a:ext uri="{FF2B5EF4-FFF2-40B4-BE49-F238E27FC236}">
                <a16:creationId xmlns:a16="http://schemas.microsoft.com/office/drawing/2014/main" id="{94CAC2F1-CBF4-0044-96FC-4CDA5747E0AE}"/>
              </a:ext>
            </a:extLst>
          </p:cNvPr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303;g3d6896b4338_0_0">
            <a:extLst>
              <a:ext uri="{FF2B5EF4-FFF2-40B4-BE49-F238E27FC236}">
                <a16:creationId xmlns:a16="http://schemas.microsoft.com/office/drawing/2014/main" id="{F1FA6C51-0F62-184E-83C0-A3571F6F42BE}"/>
              </a:ext>
            </a:extLst>
          </p:cNvPr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Elbow Connector 136">
            <a:extLst>
              <a:ext uri="{FF2B5EF4-FFF2-40B4-BE49-F238E27FC236}">
                <a16:creationId xmlns:a16="http://schemas.microsoft.com/office/drawing/2014/main" id="{9118CE54-B79D-8C46-8322-4E8CA853AE7F}"/>
              </a:ext>
            </a:extLst>
          </p:cNvPr>
          <p:cNvCxnSpPr>
            <a:cxnSpLocks/>
            <a:stCxn id="115" idx="2"/>
            <a:endCxn id="109" idx="2"/>
          </p:cNvCxnSpPr>
          <p:nvPr/>
        </p:nvCxnSpPr>
        <p:spPr>
          <a:xfrm rot="16200000" flipH="1">
            <a:off x="1403846" y="2183689"/>
            <a:ext cx="199409" cy="1840428"/>
          </a:xfrm>
          <a:prstGeom prst="bentConnector3">
            <a:avLst>
              <a:gd name="adj1" fmla="val 21463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38" name="Google Shape;294;g3d6e2211149_2_228" descr="AWS Lambda service icon.">
            <a:extLst>
              <a:ext uri="{FF2B5EF4-FFF2-40B4-BE49-F238E27FC236}">
                <a16:creationId xmlns:a16="http://schemas.microsoft.com/office/drawing/2014/main" id="{C080CFF4-51F1-DA42-85F5-627D187EF0A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295;g3d6e2211149_2_228">
            <a:extLst>
              <a:ext uri="{FF2B5EF4-FFF2-40B4-BE49-F238E27FC236}">
                <a16:creationId xmlns:a16="http://schemas.microsoft.com/office/drawing/2014/main" id="{DAF6F0AF-49F8-4F40-ACB9-3EF691878388}"/>
              </a:ext>
            </a:extLst>
          </p:cNvPr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40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C03E965F-5631-8741-BBEE-2F10C26C8B81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329;g3d6e2211149_2_228">
            <a:extLst>
              <a:ext uri="{FF2B5EF4-FFF2-40B4-BE49-F238E27FC236}">
                <a16:creationId xmlns:a16="http://schemas.microsoft.com/office/drawing/2014/main" id="{B433E1EB-EBB4-9448-8145-D041641ABCA8}"/>
              </a:ext>
            </a:extLst>
          </p:cNvPr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361;g3d6e2211149_2_228">
            <a:extLst>
              <a:ext uri="{FF2B5EF4-FFF2-40B4-BE49-F238E27FC236}">
                <a16:creationId xmlns:a16="http://schemas.microsoft.com/office/drawing/2014/main" id="{8B144786-ECB9-FA43-A5A1-D8EE11E9B330}"/>
              </a:ext>
            </a:extLst>
          </p:cNvPr>
          <p:cNvCxnSpPr>
            <a:cxnSpLocks/>
            <a:endCxn id="138" idx="0"/>
          </p:cNvCxnSpPr>
          <p:nvPr/>
        </p:nvCxnSpPr>
        <p:spPr>
          <a:xfrm flipH="1">
            <a:off x="1540576" y="1700140"/>
            <a:ext cx="1136058" cy="10957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43" name="Google Shape;293;g3d6e2211149_2_228">
            <a:extLst>
              <a:ext uri="{FF2B5EF4-FFF2-40B4-BE49-F238E27FC236}">
                <a16:creationId xmlns:a16="http://schemas.microsoft.com/office/drawing/2014/main" id="{D8DB2E8E-F2D0-D943-B844-2245E8CCA11E}"/>
              </a:ext>
            </a:extLst>
          </p:cNvPr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144" name="Google Shape;294;g3d6e2211149_2_228" descr="AWS Lambda service icon.">
            <a:extLst>
              <a:ext uri="{FF2B5EF4-FFF2-40B4-BE49-F238E27FC236}">
                <a16:creationId xmlns:a16="http://schemas.microsoft.com/office/drawing/2014/main" id="{11CD0FA4-D55A-664D-9AE9-BC075AB52ACF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295;g3d6e2211149_2_228">
            <a:extLst>
              <a:ext uri="{FF2B5EF4-FFF2-40B4-BE49-F238E27FC236}">
                <a16:creationId xmlns:a16="http://schemas.microsoft.com/office/drawing/2014/main" id="{AC430187-5C1F-444D-AD13-2CEC330DA9E4}"/>
              </a:ext>
            </a:extLst>
          </p:cNvPr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46" name="Google Shape;364;g3d6e2211149_2_228">
            <a:extLst>
              <a:ext uri="{FF2B5EF4-FFF2-40B4-BE49-F238E27FC236}">
                <a16:creationId xmlns:a16="http://schemas.microsoft.com/office/drawing/2014/main" id="{9F316755-F5CE-FE40-A610-0A26065CCD37}"/>
              </a:ext>
            </a:extLst>
          </p:cNvPr>
          <p:cNvCxnSpPr>
            <a:cxnSpLocks/>
            <a:stCxn id="144" idx="0"/>
            <a:endCxn id="90" idx="2"/>
          </p:cNvCxnSpPr>
          <p:nvPr/>
        </p:nvCxnSpPr>
        <p:spPr>
          <a:xfrm flipH="1" flipV="1">
            <a:off x="2838326" y="1799908"/>
            <a:ext cx="511876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47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13EC1A5-F390-3748-A5F1-566CEBACA13A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302;g3d6e2211149_2_228">
            <a:extLst>
              <a:ext uri="{FF2B5EF4-FFF2-40B4-BE49-F238E27FC236}">
                <a16:creationId xmlns:a16="http://schemas.microsoft.com/office/drawing/2014/main" id="{7186F20A-02BC-9644-B278-7216C20473A1}"/>
              </a:ext>
            </a:extLst>
          </p:cNvPr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</a:t>
            </a:r>
            <a:r>
              <a:rPr lang="en-US" sz="900">
                <a:solidFill>
                  <a:schemeClr val="dk1"/>
                </a:solidFill>
              </a:rPr>
              <a:t>MySQL)</a:t>
            </a:r>
            <a:endParaRPr/>
          </a:p>
        </p:txBody>
      </p:sp>
      <p:cxnSp>
        <p:nvCxnSpPr>
          <p:cNvPr id="149" name="Google Shape;364;g3d6e2211149_2_228">
            <a:extLst>
              <a:ext uri="{FF2B5EF4-FFF2-40B4-BE49-F238E27FC236}">
                <a16:creationId xmlns:a16="http://schemas.microsoft.com/office/drawing/2014/main" id="{7F570CD4-1C67-BD48-BEB9-B39C45B160BD}"/>
              </a:ext>
            </a:extLst>
          </p:cNvPr>
          <p:cNvCxnSpPr>
            <a:cxnSpLocks/>
            <a:stCxn id="147" idx="1"/>
            <a:endCxn id="144" idx="2"/>
          </p:cNvCxnSpPr>
          <p:nvPr/>
        </p:nvCxnSpPr>
        <p:spPr>
          <a:xfrm flipH="1" flipV="1">
            <a:off x="3350202" y="3203608"/>
            <a:ext cx="551911" cy="3773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98504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적재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CBC2EA-1259-6741-9140-34FE04ED9F6D}"/>
              </a:ext>
            </a:extLst>
          </p:cNvPr>
          <p:cNvSpPr txBox="1"/>
          <p:nvPr/>
        </p:nvSpPr>
        <p:spPr>
          <a:xfrm>
            <a:off x="12370754" y="8361157"/>
            <a:ext cx="4422163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 = X_test.copy()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result["prediction"] = pred</a:t>
            </a:r>
          </a:p>
          <a:p>
            <a:endParaRPr lang="en-US" sz="16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result.to_gbq(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"lifesync_dw.vip_prediction_result",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project_id="your-project",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if_exists="replace"</a:t>
            </a:r>
          </a:p>
          <a:p>
            <a:r>
              <a:rPr lang="en-US" altLang="ko-KR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</a:p>
        </p:txBody>
      </p:sp>
      <p:sp>
        <p:nvSpPr>
          <p:cNvPr id="14" name="Google Shape;350;g3d6e2211149_2_228">
            <a:extLst>
              <a:ext uri="{FF2B5EF4-FFF2-40B4-BE49-F238E27FC236}">
                <a16:creationId xmlns:a16="http://schemas.microsoft.com/office/drawing/2014/main" id="{DD4A2A54-5489-8D4D-A8A0-35C3FE999AE8}"/>
              </a:ext>
            </a:extLst>
          </p:cNvPr>
          <p:cNvSpPr txBox="1"/>
          <p:nvPr/>
        </p:nvSpPr>
        <p:spPr>
          <a:xfrm>
            <a:off x="12370754" y="80534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 xml:space="preserve">결과를 </a:t>
            </a:r>
            <a:r>
              <a:rPr lang="en-US" altLang="ko-KR" sz="1200" b="1">
                <a:solidFill>
                  <a:schemeClr val="dk1"/>
                </a:solidFill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</a:rPr>
              <a:t xml:space="preserve">로 저장 </a:t>
            </a:r>
            <a:endParaRPr sz="12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4AA13C-DCA9-8E46-8E6C-5582DC2EB5ED}"/>
              </a:ext>
            </a:extLst>
          </p:cNvPr>
          <p:cNvSpPr txBox="1"/>
          <p:nvPr/>
        </p:nvSpPr>
        <p:spPr>
          <a:xfrm>
            <a:off x="243510" y="1664079"/>
            <a:ext cx="3239919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Dataset : </a:t>
            </a:r>
            <a:r>
              <a:rPr lang="en-US" altLang="ko-KR" sz="1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lifesync_curated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lifesync_curated.customer_360_profile</a:t>
            </a:r>
          </a:p>
          <a:p>
            <a:r>
              <a:rPr lang="en-US" sz="1000" dirty="0" err="1"/>
              <a:t>lifesync_curated.score_mart</a:t>
            </a:r>
            <a:endParaRPr lang="en-US" sz="1000" dirty="0"/>
          </a:p>
          <a:p>
            <a:r>
              <a:rPr lang="en-US" sz="1000" dirty="0" err="1"/>
              <a:t>lifesync_curated.ai_feature_table</a:t>
            </a:r>
            <a:endParaRPr lang="en-US" sz="1000" dirty="0"/>
          </a:p>
          <a:p>
            <a:r>
              <a:rPr lang="en-US" sz="1000" dirty="0" err="1"/>
              <a:t>lifesync_curated.vip_candidate_mart</a:t>
            </a:r>
            <a:endParaRPr lang="en-US" sz="1000" dirty="0"/>
          </a:p>
          <a:p>
            <a:r>
              <a:rPr lang="en-US" sz="1000" dirty="0" err="1"/>
              <a:t>lifesync_curated.recommendation_mart</a:t>
            </a:r>
            <a:endParaRPr lang="en-US" sz="1000" dirty="0"/>
          </a:p>
          <a:p>
            <a:r>
              <a:rPr lang="en-US" sz="1000" dirty="0" err="1"/>
              <a:t>lifesync_curated.health_mart</a:t>
            </a:r>
            <a:endParaRPr lang="en-US" sz="1000" dirty="0"/>
          </a:p>
          <a:p>
            <a:endParaRPr lang="en-US" sz="1000" dirty="0"/>
          </a:p>
          <a:p>
            <a:r>
              <a:rPr lang="en-US" altLang="ko-KR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Dataset : </a:t>
            </a:r>
            <a:r>
              <a:rPr lang="en-US" altLang="ko-KR" sz="1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lifesync_</a:t>
            </a:r>
            <a:r>
              <a:rPr lang="en-US" altLang="ko-KR" sz="1000" b="1" dirty="0" err="1">
                <a:solidFill>
                  <a:schemeClr val="dk1"/>
                </a:solidFill>
              </a:rPr>
              <a:t>ml</a:t>
            </a:r>
            <a:endParaRPr lang="en-US" altLang="ko-KR" sz="1000" b="1" dirty="0">
              <a:solidFill>
                <a:schemeClr val="dk1"/>
              </a:solidFill>
            </a:endParaRPr>
          </a:p>
          <a:p>
            <a:endParaRPr lang="en-KR" sz="1000" dirty="0"/>
          </a:p>
          <a:p>
            <a:r>
              <a:rPr lang="en-US" altLang="ko-KR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Dataset : </a:t>
            </a:r>
            <a:r>
              <a:rPr lang="en-US" altLang="ko-KR" sz="1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lifesync_serving</a:t>
            </a:r>
            <a:endParaRPr lang="en-US" sz="1000" dirty="0"/>
          </a:p>
        </p:txBody>
      </p:sp>
      <p:sp>
        <p:nvSpPr>
          <p:cNvPr id="18" name="Google Shape;274;g3d6e2211149_2_228">
            <a:extLst>
              <a:ext uri="{FF2B5EF4-FFF2-40B4-BE49-F238E27FC236}">
                <a16:creationId xmlns:a16="http://schemas.microsoft.com/office/drawing/2014/main" id="{C619F72D-EFC9-E545-A6C9-709C38BDD86B}"/>
              </a:ext>
            </a:extLst>
          </p:cNvPr>
          <p:cNvSpPr txBox="1"/>
          <p:nvPr/>
        </p:nvSpPr>
        <p:spPr>
          <a:xfrm>
            <a:off x="243510" y="1230370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Dataset 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생성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348A0D-6FED-2642-9875-06DA5B9F4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54865"/>
              </p:ext>
            </p:extLst>
          </p:nvPr>
        </p:nvGraphicFramePr>
        <p:xfrm>
          <a:off x="9572404" y="983158"/>
          <a:ext cx="2484884" cy="73152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</a:t>
                      </a:r>
                      <a:r>
                        <a:rPr lang="en-US" altLang="ko-KR" sz="1000"/>
                        <a:t>25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BigQuery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978055"/>
                  </a:ext>
                </a:extLst>
              </a:tr>
            </a:tbl>
          </a:graphicData>
        </a:graphic>
      </p:graphicFrame>
      <p:sp>
        <p:nvSpPr>
          <p:cNvPr id="10" name="Google Shape;274;g3d6e2211149_2_228">
            <a:extLst>
              <a:ext uri="{FF2B5EF4-FFF2-40B4-BE49-F238E27FC236}">
                <a16:creationId xmlns:a16="http://schemas.microsoft.com/office/drawing/2014/main" id="{EE501F37-EEBD-5448-A3A1-A68DC529A24E}"/>
              </a:ext>
            </a:extLst>
          </p:cNvPr>
          <p:cNvSpPr txBox="1"/>
          <p:nvPr/>
        </p:nvSpPr>
        <p:spPr>
          <a:xfrm>
            <a:off x="9515395" y="1990686"/>
            <a:ext cx="2541893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ko-KR" altLang="en-US" sz="1200" b="1">
                <a:solidFill>
                  <a:schemeClr val="dk1"/>
                </a:solidFill>
              </a:rPr>
              <a:t xml:space="preserve">적재 방식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AEF591-B888-A44C-8F12-287687548D8C}"/>
              </a:ext>
            </a:extLst>
          </p:cNvPr>
          <p:cNvSpPr txBox="1"/>
          <p:nvPr/>
        </p:nvSpPr>
        <p:spPr>
          <a:xfrm>
            <a:off x="9515395" y="2432169"/>
            <a:ext cx="25418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매일 새벽</a:t>
            </a:r>
            <a:r>
              <a:rPr lang="ko-KR" altLang="en-US" sz="1000"/>
              <a:t xml:space="preserve"> </a:t>
            </a:r>
            <a:r>
              <a:rPr lang="en-US" altLang="ko-KR" sz="1000"/>
              <a:t>03:00</a:t>
            </a:r>
            <a:endParaRPr lang="en-KR" sz="1000"/>
          </a:p>
          <a:p>
            <a:r>
              <a:rPr lang="en-KR" sz="1000"/>
              <a:t>S3 → GCS → BigQuery Load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72D188-8613-0F49-AA1E-3503296F022F}"/>
              </a:ext>
            </a:extLst>
          </p:cNvPr>
          <p:cNvSpPr txBox="1"/>
          <p:nvPr/>
        </p:nvSpPr>
        <p:spPr>
          <a:xfrm>
            <a:off x="3788230" y="1739176"/>
            <a:ext cx="323991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Customer360 = 서비스 조회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Score Mart = 앱 점수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AI Feature = Vertex AI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Recommendation = 마케팅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VIP Mart = PB 영업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Health Mart = 헬스케어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/>
              <a:t>lifesync_ml</a:t>
            </a:r>
            <a:r>
              <a:rPr lang="ko-KR" altLang="en-US" sz="1100" dirty="0"/>
              <a:t xml:space="preserve">은 </a:t>
            </a:r>
            <a:r>
              <a:rPr lang="en-US" sz="1100" dirty="0"/>
              <a:t xml:space="preserve">AI </a:t>
            </a:r>
            <a:r>
              <a:rPr lang="ko-KR" altLang="en-US" sz="1100" dirty="0"/>
              <a:t>학습 레이어</a:t>
            </a:r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/>
              <a:t>lifesync_serving</a:t>
            </a:r>
            <a:r>
              <a:rPr lang="ko-KR" altLang="en-US" sz="1100" dirty="0"/>
              <a:t>은 서비스 제공 레이어</a:t>
            </a:r>
            <a:endParaRPr lang="en-KR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05FDAE-0E24-AD47-B49E-D26BDADDE23E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EMR</a:t>
            </a:r>
            <a:r>
              <a:rPr lang="ko-KR" altLang="en-US" b="1"/>
              <a:t xml:space="preserve">에서 생성된 </a:t>
            </a:r>
            <a:r>
              <a:rPr lang="en-US" altLang="ko-KR" b="1"/>
              <a:t>6</a:t>
            </a:r>
            <a:r>
              <a:rPr lang="ko-KR" altLang="en-US" b="1"/>
              <a:t xml:space="preserve">개 데이터셋은 </a:t>
            </a:r>
            <a:r>
              <a:rPr lang="en-US" b="1"/>
              <a:t>S3 Curated</a:t>
            </a:r>
            <a:r>
              <a:rPr lang="ko-KR" altLang="en-US" b="1"/>
              <a:t xml:space="preserve">에는 </a:t>
            </a:r>
            <a:r>
              <a:rPr lang="en-US" b="1"/>
              <a:t xml:space="preserve">Parquet </a:t>
            </a:r>
            <a:r>
              <a:rPr lang="ko-KR" altLang="en-US" b="1"/>
              <a:t>파티션 형태</a:t>
            </a:r>
            <a:r>
              <a:rPr lang="en-US" altLang="ko-KR"/>
              <a:t xml:space="preserve">, </a:t>
            </a:r>
            <a:r>
              <a:rPr lang="en-US" b="1"/>
              <a:t>BigQuery</a:t>
            </a:r>
            <a:r>
              <a:rPr lang="ko-KR" altLang="en-US" b="1"/>
              <a:t>에는 목적별 테이블 구조로 적재</a:t>
            </a:r>
            <a:endParaRPr lang="en-KR" b="1"/>
          </a:p>
        </p:txBody>
      </p:sp>
      <p:sp>
        <p:nvSpPr>
          <p:cNvPr id="19" name="Google Shape;274;g3d6e2211149_2_228">
            <a:extLst>
              <a:ext uri="{FF2B5EF4-FFF2-40B4-BE49-F238E27FC236}">
                <a16:creationId xmlns:a16="http://schemas.microsoft.com/office/drawing/2014/main" id="{F49F09D7-EFC7-0F44-A713-70086876DF2E}"/>
              </a:ext>
            </a:extLst>
          </p:cNvPr>
          <p:cNvSpPr txBox="1"/>
          <p:nvPr/>
        </p:nvSpPr>
        <p:spPr>
          <a:xfrm>
            <a:off x="243509" y="3987593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테이블 매핑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F39E535-EAE0-7541-9521-BB287F70F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097894"/>
              </p:ext>
            </p:extLst>
          </p:nvPr>
        </p:nvGraphicFramePr>
        <p:xfrm>
          <a:off x="243509" y="4380819"/>
          <a:ext cx="4539506" cy="1737360"/>
        </p:xfrm>
        <a:graphic>
          <a:graphicData uri="http://schemas.openxmlformats.org/drawingml/2006/table">
            <a:tbl>
              <a:tblPr/>
              <a:tblGrid>
                <a:gridCol w="2269753">
                  <a:extLst>
                    <a:ext uri="{9D8B030D-6E8A-4147-A177-3AD203B41FA5}">
                      <a16:colId xmlns:a16="http://schemas.microsoft.com/office/drawing/2014/main" val="1875178918"/>
                    </a:ext>
                  </a:extLst>
                </a:gridCol>
                <a:gridCol w="2269753">
                  <a:extLst>
                    <a:ext uri="{9D8B030D-6E8A-4147-A177-3AD203B41FA5}">
                      <a16:colId xmlns:a16="http://schemas.microsoft.com/office/drawing/2014/main" val="3642884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 xml:space="preserve">GCS </a:t>
                      </a:r>
                      <a:r>
                        <a:rPr lang="ko-KR" altLang="en-US" sz="1200" b="1" dirty="0"/>
                        <a:t>경로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 xml:space="preserve">BigQuery </a:t>
                      </a:r>
                      <a:r>
                        <a:rPr lang="ko-KR" altLang="en-US" sz="1200" b="1"/>
                        <a:t>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809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customer_360_profile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customer_360_profile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3936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score_mart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score_mart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51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ai_feature_table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ai_feature_table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5119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vip_candidate_mart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vip_candidate_mart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372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recommendation_mart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recommendation_mart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6363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492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87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학습용 데이터셋 생성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1/3)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CBC2EA-1259-6741-9140-34FE04ED9F6D}"/>
              </a:ext>
            </a:extLst>
          </p:cNvPr>
          <p:cNvSpPr txBox="1"/>
          <p:nvPr/>
        </p:nvSpPr>
        <p:spPr>
          <a:xfrm>
            <a:off x="12370754" y="8361157"/>
            <a:ext cx="4422163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 = X_test.copy()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result["prediction"] = pred</a:t>
            </a:r>
          </a:p>
          <a:p>
            <a:endParaRPr lang="en-US" sz="16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result.to_gbq(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"lifesync_dw.vip_prediction_result",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project_id="your-project",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if_exists="replace"</a:t>
            </a:r>
          </a:p>
          <a:p>
            <a:r>
              <a:rPr lang="en-US" altLang="ko-KR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</a:p>
        </p:txBody>
      </p:sp>
      <p:sp>
        <p:nvSpPr>
          <p:cNvPr id="14" name="Google Shape;350;g3d6e2211149_2_228">
            <a:extLst>
              <a:ext uri="{FF2B5EF4-FFF2-40B4-BE49-F238E27FC236}">
                <a16:creationId xmlns:a16="http://schemas.microsoft.com/office/drawing/2014/main" id="{DD4A2A54-5489-8D4D-A8A0-35C3FE999AE8}"/>
              </a:ext>
            </a:extLst>
          </p:cNvPr>
          <p:cNvSpPr txBox="1"/>
          <p:nvPr/>
        </p:nvSpPr>
        <p:spPr>
          <a:xfrm>
            <a:off x="12370754" y="80534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 xml:space="preserve">결과를 </a:t>
            </a:r>
            <a:r>
              <a:rPr lang="en-US" altLang="ko-KR" sz="1200" b="1">
                <a:solidFill>
                  <a:schemeClr val="dk1"/>
                </a:solidFill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</a:rPr>
              <a:t xml:space="preserve">로 저장 </a:t>
            </a:r>
            <a:endParaRPr sz="1200" b="1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E137A41-7352-2E40-8BC9-5FCB51DE2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533753"/>
              </p:ext>
            </p:extLst>
          </p:nvPr>
        </p:nvGraphicFramePr>
        <p:xfrm>
          <a:off x="9572404" y="983158"/>
          <a:ext cx="2484884" cy="73152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</a:t>
                      </a:r>
                      <a:r>
                        <a:rPr lang="en-US" altLang="ko-KR" sz="1000"/>
                        <a:t>25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BigQuery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97805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7E39061-219C-104D-A2A0-1040339703DB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 xml:space="preserve">BigQuery </a:t>
            </a:r>
            <a:r>
              <a:rPr lang="ko-KR" altLang="en-US" b="1"/>
              <a:t xml:space="preserve">적재 후 </a:t>
            </a:r>
            <a:r>
              <a:rPr lang="en-US" b="1"/>
              <a:t>View/SQL</a:t>
            </a:r>
            <a:r>
              <a:rPr lang="ko-KR" altLang="en-US" b="1"/>
              <a:t>로 분석 및 학습용 데이터셋 생성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9BBDB0-8E38-0446-B9E1-987366C58521}"/>
              </a:ext>
            </a:extLst>
          </p:cNvPr>
          <p:cNvSpPr txBox="1"/>
          <p:nvPr/>
        </p:nvSpPr>
        <p:spPr>
          <a:xfrm>
            <a:off x="243509" y="1939761"/>
            <a:ext cx="255053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 xml:space="preserve">STEP1 BigQuery View </a:t>
            </a:r>
            <a:r>
              <a:rPr lang="ko-KR" altLang="en-US" sz="1000"/>
              <a:t>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 xml:space="preserve">STEP2 KPI / </a:t>
            </a:r>
            <a:r>
              <a:rPr lang="ko-KR" altLang="en-US" sz="1000"/>
              <a:t>고객 인사이트 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 xml:space="preserve">STEP3 ML </a:t>
            </a:r>
            <a:r>
              <a:rPr lang="ko-KR" altLang="en-US" sz="1000"/>
              <a:t xml:space="preserve">학습용 </a:t>
            </a:r>
            <a:r>
              <a:rPr lang="en-US" sz="1000"/>
              <a:t xml:space="preserve">Table </a:t>
            </a:r>
            <a:r>
              <a:rPr lang="ko-KR" altLang="en-US" sz="1000"/>
              <a:t>생성</a:t>
            </a:r>
            <a:endParaRPr lang="en-KR" sz="1000"/>
          </a:p>
        </p:txBody>
      </p:sp>
      <p:sp>
        <p:nvSpPr>
          <p:cNvPr id="16" name="Google Shape;274;g3d6e2211149_2_228">
            <a:extLst>
              <a:ext uri="{FF2B5EF4-FFF2-40B4-BE49-F238E27FC236}">
                <a16:creationId xmlns:a16="http://schemas.microsoft.com/office/drawing/2014/main" id="{1826C8E2-09B5-E449-9CA1-839DF27FA00D}"/>
              </a:ext>
            </a:extLst>
          </p:cNvPr>
          <p:cNvSpPr txBox="1"/>
          <p:nvPr/>
        </p:nvSpPr>
        <p:spPr>
          <a:xfrm>
            <a:off x="252149" y="1574001"/>
            <a:ext cx="319443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ko-KR" altLang="en-US" sz="1200" b="1">
                <a:solidFill>
                  <a:schemeClr val="dk1"/>
                </a:solidFill>
              </a:rPr>
              <a:t xml:space="preserve">분석 및 데이터셋 생성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B011C5-CEDD-4840-A38F-32E350D64747}"/>
              </a:ext>
            </a:extLst>
          </p:cNvPr>
          <p:cNvSpPr txBox="1"/>
          <p:nvPr/>
        </p:nvSpPr>
        <p:spPr>
          <a:xfrm>
            <a:off x="243509" y="3177718"/>
            <a:ext cx="6663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STEP1</a:t>
            </a:r>
            <a:r>
              <a:rPr lang="en-US" altLang="ko-KR" sz="1200" b="1"/>
              <a:t>.</a:t>
            </a:r>
            <a:r>
              <a:rPr lang="en-US" sz="1200" b="1"/>
              <a:t xml:space="preserve"> BigQuery View </a:t>
            </a:r>
            <a:r>
              <a:rPr lang="ko-KR" altLang="en-US" sz="1200" b="1"/>
              <a:t xml:space="preserve">분석 </a:t>
            </a:r>
            <a:r>
              <a:rPr lang="en-US" altLang="ko-KR" sz="1200" b="1"/>
              <a:t xml:space="preserve">- </a:t>
            </a:r>
            <a:r>
              <a:rPr lang="ko-KR" altLang="en-US" sz="1200"/>
              <a:t xml:space="preserve">운영자가 즉시 조회 가능한 분석용 </a:t>
            </a:r>
            <a:r>
              <a:rPr lang="en-US" sz="1200"/>
              <a:t xml:space="preserve">View </a:t>
            </a:r>
            <a:r>
              <a:rPr lang="ko-KR" altLang="en-US" sz="1200"/>
              <a:t>생성</a:t>
            </a:r>
            <a:endParaRPr lang="en-KR" sz="12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8029C-7320-0848-9126-F1522C00B544}"/>
              </a:ext>
            </a:extLst>
          </p:cNvPr>
          <p:cNvSpPr txBox="1"/>
          <p:nvPr/>
        </p:nvSpPr>
        <p:spPr>
          <a:xfrm>
            <a:off x="243509" y="3740426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1) </a:t>
            </a:r>
            <a:r>
              <a:rPr lang="ko-KR" altLang="en-US" sz="1200" b="1"/>
              <a:t xml:space="preserve">고객 통합 </a:t>
            </a:r>
            <a:r>
              <a:rPr lang="en-US" altLang="ko-KR" sz="1200" b="1"/>
              <a:t xml:space="preserve">View </a:t>
            </a:r>
            <a:endParaRPr lang="en-KR" sz="12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CC5A71-C773-4C4F-AA32-702EB462F054}"/>
              </a:ext>
            </a:extLst>
          </p:cNvPr>
          <p:cNvSpPr txBox="1"/>
          <p:nvPr/>
        </p:nvSpPr>
        <p:spPr>
          <a:xfrm>
            <a:off x="350625" y="4128293"/>
            <a:ext cx="4938828" cy="24622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 dirty="0"/>
              <a:t xml:space="preserve">CREATE OR REPLACE VIEW </a:t>
            </a:r>
            <a:r>
              <a:rPr lang="en-US" altLang="ko-KR" sz="1100" dirty="0" err="1"/>
              <a:t>lifesync_serving.v_customer_summary</a:t>
            </a:r>
            <a:r>
              <a:rPr lang="en-US" altLang="ko-KR" sz="1100" dirty="0"/>
              <a:t xml:space="preserve"> AS</a:t>
            </a:r>
          </a:p>
          <a:p>
            <a:r>
              <a:rPr lang="en-US" altLang="ko-KR" sz="1100" dirty="0"/>
              <a:t>SELECT</a:t>
            </a:r>
          </a:p>
          <a:p>
            <a:r>
              <a:rPr lang="en-US" altLang="ko-KR" sz="1100" dirty="0"/>
              <a:t xml:space="preserve">  </a:t>
            </a:r>
            <a:r>
              <a:rPr lang="en-US" altLang="ko-KR" sz="1100" dirty="0" err="1"/>
              <a:t>c.global_id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/>
              <a:t xml:space="preserve">  </a:t>
            </a:r>
            <a:r>
              <a:rPr lang="en-US" altLang="ko-KR" sz="1100" dirty="0" err="1"/>
              <a:t>c.customer_grade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/>
              <a:t xml:space="preserve">  </a:t>
            </a:r>
            <a:r>
              <a:rPr lang="en-US" altLang="ko-KR" sz="1100" dirty="0" err="1"/>
              <a:t>s.lifesync_score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/>
              <a:t xml:space="preserve">  </a:t>
            </a:r>
            <a:r>
              <a:rPr lang="en-US" altLang="ko-KR" sz="1100" dirty="0" err="1"/>
              <a:t>c.latest_balance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/>
              <a:t xml:space="preserve">  </a:t>
            </a:r>
            <a:r>
              <a:rPr lang="en-US" altLang="ko-KR" sz="1100" dirty="0" err="1"/>
              <a:t>c.invest_total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/>
              <a:t xml:space="preserve">  </a:t>
            </a:r>
            <a:r>
              <a:rPr lang="en-US" altLang="ko-KR" sz="1100" dirty="0" err="1"/>
              <a:t>c.card_total_spend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/>
              <a:t xml:space="preserve">  </a:t>
            </a:r>
            <a:r>
              <a:rPr lang="en-US" altLang="ko-KR" sz="1100" dirty="0" err="1"/>
              <a:t>h.health_score</a:t>
            </a:r>
            <a:endParaRPr lang="en-US" altLang="ko-KR" sz="1100" dirty="0"/>
          </a:p>
          <a:p>
            <a:r>
              <a:rPr lang="en-US" altLang="ko-KR" sz="1100" dirty="0"/>
              <a:t>FROM lifesync_curated.customer_360_profile c</a:t>
            </a:r>
          </a:p>
          <a:p>
            <a:r>
              <a:rPr lang="en-US" altLang="ko-KR" sz="1100" dirty="0"/>
              <a:t xml:space="preserve">LEFT JOIN </a:t>
            </a:r>
            <a:r>
              <a:rPr lang="en-US" altLang="ko-KR" sz="1100" dirty="0" err="1"/>
              <a:t>lifesync_curated.score_mart</a:t>
            </a:r>
            <a:r>
              <a:rPr lang="en-US" altLang="ko-KR" sz="1100" dirty="0"/>
              <a:t xml:space="preserve"> s</a:t>
            </a:r>
          </a:p>
          <a:p>
            <a:r>
              <a:rPr lang="en-US" altLang="ko-KR" sz="1100" dirty="0"/>
              <a:t xml:space="preserve">ON </a:t>
            </a:r>
            <a:r>
              <a:rPr lang="en-US" altLang="ko-KR" sz="1100" dirty="0" err="1"/>
              <a:t>c.global_id</a:t>
            </a:r>
            <a:r>
              <a:rPr lang="en-US" altLang="ko-KR" sz="1100" dirty="0"/>
              <a:t xml:space="preserve"> = </a:t>
            </a:r>
            <a:r>
              <a:rPr lang="en-US" altLang="ko-KR" sz="1100" dirty="0" err="1"/>
              <a:t>s.global_id</a:t>
            </a:r>
            <a:endParaRPr lang="en-US" altLang="ko-KR" sz="1100" dirty="0"/>
          </a:p>
          <a:p>
            <a:r>
              <a:rPr lang="en-US" altLang="ko-KR" sz="1100" dirty="0"/>
              <a:t xml:space="preserve">LEFT JOIN </a:t>
            </a:r>
            <a:r>
              <a:rPr lang="en-US" altLang="ko-KR" sz="1100" dirty="0" err="1"/>
              <a:t>lifesync_curated.health_mart</a:t>
            </a:r>
            <a:r>
              <a:rPr lang="en-US" altLang="ko-KR" sz="1100" dirty="0"/>
              <a:t xml:space="preserve"> h</a:t>
            </a:r>
          </a:p>
          <a:p>
            <a:r>
              <a:rPr lang="en-US" altLang="ko-KR" sz="1100" dirty="0"/>
              <a:t xml:space="preserve">ON </a:t>
            </a:r>
            <a:r>
              <a:rPr lang="en-US" altLang="ko-KR" sz="1100" dirty="0" err="1"/>
              <a:t>c.global_id</a:t>
            </a:r>
            <a:r>
              <a:rPr lang="en-US" altLang="ko-KR" sz="1100" dirty="0"/>
              <a:t xml:space="preserve"> = </a:t>
            </a:r>
            <a:r>
              <a:rPr lang="en-US" altLang="ko-KR" sz="1100" dirty="0" err="1"/>
              <a:t>h.global_id</a:t>
            </a:r>
            <a:r>
              <a:rPr lang="en-US" altLang="ko-KR" sz="1100" dirty="0"/>
              <a:t>;</a:t>
            </a:r>
            <a:endParaRPr lang="en-KR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E5C70D-751E-6C4D-80D5-0D58247BB8AE}"/>
              </a:ext>
            </a:extLst>
          </p:cNvPr>
          <p:cNvSpPr txBox="1"/>
          <p:nvPr/>
        </p:nvSpPr>
        <p:spPr>
          <a:xfrm>
            <a:off x="5768902" y="3740426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 VIP</a:t>
            </a:r>
            <a:r>
              <a:rPr lang="ko-KR" altLang="en-US" sz="1200" b="1"/>
              <a:t xml:space="preserve"> 고객 </a:t>
            </a:r>
            <a:r>
              <a:rPr lang="en-US" altLang="ko-KR" sz="1200" b="1"/>
              <a:t xml:space="preserve">View </a:t>
            </a:r>
            <a:endParaRPr lang="en-KR" sz="1200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61A70C-23D3-C540-A694-9C043AFEEDFD}"/>
              </a:ext>
            </a:extLst>
          </p:cNvPr>
          <p:cNvSpPr txBox="1"/>
          <p:nvPr/>
        </p:nvSpPr>
        <p:spPr>
          <a:xfrm>
            <a:off x="5822460" y="4128293"/>
            <a:ext cx="4938828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 dirty="0"/>
              <a:t xml:space="preserve">CREATE OR REPLACE VIEW </a:t>
            </a:r>
            <a:r>
              <a:rPr lang="en-US" altLang="ko-KR" sz="1100" dirty="0" err="1"/>
              <a:t>lifesync_serving.v_vip_customer</a:t>
            </a:r>
            <a:r>
              <a:rPr lang="en-US" altLang="ko-KR" sz="1100" dirty="0"/>
              <a:t xml:space="preserve"> AS</a:t>
            </a:r>
          </a:p>
          <a:p>
            <a:r>
              <a:rPr lang="en-US" altLang="ko-KR" sz="1100" dirty="0"/>
              <a:t>SELECT *</a:t>
            </a:r>
          </a:p>
          <a:p>
            <a:r>
              <a:rPr lang="en-US" altLang="ko-KR" sz="1100" dirty="0"/>
              <a:t xml:space="preserve">FROM </a:t>
            </a:r>
            <a:r>
              <a:rPr lang="en-US" altLang="ko-KR" sz="1100" dirty="0" err="1"/>
              <a:t>lifesync_curated.vip_candidate_mart</a:t>
            </a:r>
            <a:endParaRPr lang="en-US" altLang="ko-KR" sz="1100" dirty="0"/>
          </a:p>
          <a:p>
            <a:r>
              <a:rPr lang="en-US" altLang="ko-KR" sz="1100" dirty="0"/>
              <a:t xml:space="preserve">WHERE </a:t>
            </a:r>
            <a:r>
              <a:rPr lang="en-US" altLang="ko-KR" sz="1100" dirty="0" err="1"/>
              <a:t>vip_level</a:t>
            </a:r>
            <a:r>
              <a:rPr lang="en-US" altLang="ko-KR" sz="1100" dirty="0"/>
              <a:t xml:space="preserve"> IN ('VIP_CONFIRMED','PB_TARGET');</a:t>
            </a:r>
            <a:endParaRPr lang="en-KR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C9413E-54F9-D248-A6D6-247B0D26E9AD}"/>
              </a:ext>
            </a:extLst>
          </p:cNvPr>
          <p:cNvSpPr txBox="1"/>
          <p:nvPr/>
        </p:nvSpPr>
        <p:spPr>
          <a:xfrm>
            <a:off x="5768902" y="5262324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3) </a:t>
            </a:r>
            <a:r>
              <a:rPr lang="ko-KR" altLang="en-US" sz="1200" b="1"/>
              <a:t xml:space="preserve">추천 </a:t>
            </a:r>
            <a:r>
              <a:rPr lang="en-US" altLang="ko-KR" sz="1200" b="1"/>
              <a:t xml:space="preserve">View </a:t>
            </a:r>
            <a:endParaRPr lang="en-KR" sz="1200"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FB70FD-32A0-F345-8C86-060355094F92}"/>
              </a:ext>
            </a:extLst>
          </p:cNvPr>
          <p:cNvSpPr txBox="1"/>
          <p:nvPr/>
        </p:nvSpPr>
        <p:spPr>
          <a:xfrm>
            <a:off x="5822460" y="5650191"/>
            <a:ext cx="4938828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CREATE OR REPLACE VIEW lifesync_serving.v_recommend_top3 AS</a:t>
            </a:r>
          </a:p>
          <a:p>
            <a:r>
              <a:rPr lang="en-US" altLang="ko-KR" sz="1100"/>
              <a:t>SELECT *</a:t>
            </a:r>
          </a:p>
          <a:p>
            <a:r>
              <a:rPr lang="en-US" altLang="ko-KR" sz="1100"/>
              <a:t>FROM lifesync_curated.recommendation_mart</a:t>
            </a:r>
          </a:p>
          <a:p>
            <a:r>
              <a:rPr lang="en-US" altLang="ko-KR" sz="1100"/>
              <a:t>WHERE rec_rank &lt;= 3;</a:t>
            </a:r>
            <a:endParaRPr lang="en-KR" sz="11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60565F-036E-D143-8DCF-24CA372667D4}"/>
              </a:ext>
            </a:extLst>
          </p:cNvPr>
          <p:cNvSpPr txBox="1"/>
          <p:nvPr/>
        </p:nvSpPr>
        <p:spPr>
          <a:xfrm>
            <a:off x="3545467" y="1939761"/>
            <a:ext cx="255053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lifesync_ml.vip_training_data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lifesync_ml.rec_training_data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lifesync_ml.health_training_data</a:t>
            </a:r>
            <a:endParaRPr lang="en-KR" sz="1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BBAF73-C8C5-EE47-989E-C03EF7741B83}"/>
              </a:ext>
            </a:extLst>
          </p:cNvPr>
          <p:cNvSpPr txBox="1"/>
          <p:nvPr/>
        </p:nvSpPr>
        <p:spPr>
          <a:xfrm>
            <a:off x="243509" y="1130907"/>
            <a:ext cx="54371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View</a:t>
            </a:r>
            <a:r>
              <a:rPr lang="ko-KR" altLang="en-US" sz="1200"/>
              <a:t>는 한번 만들어두고</a:t>
            </a:r>
            <a:r>
              <a:rPr lang="en-US" altLang="ko-KR" sz="1200"/>
              <a:t xml:space="preserve">, </a:t>
            </a:r>
            <a:r>
              <a:rPr lang="ko-KR" altLang="en-US" sz="1200"/>
              <a:t>학습용 데이터 생성은 스케줄 자동 실행</a:t>
            </a:r>
            <a:endParaRPr lang="en-KR" sz="12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347C6B-0F94-3D48-AF60-CF5B0F36FBE1}"/>
              </a:ext>
            </a:extLst>
          </p:cNvPr>
          <p:cNvSpPr txBox="1"/>
          <p:nvPr/>
        </p:nvSpPr>
        <p:spPr>
          <a:xfrm>
            <a:off x="5228996" y="1137883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1</a:t>
            </a:r>
            <a:r>
              <a:rPr lang="ko-KR" altLang="en-US" sz="1200"/>
              <a:t>회 구축</a:t>
            </a:r>
            <a:r>
              <a:rPr lang="en-US" altLang="ko-KR" sz="1200"/>
              <a:t xml:space="preserve">: </a:t>
            </a:r>
            <a:r>
              <a:rPr lang="en-US" sz="1200"/>
              <a:t xml:space="preserve">View / SQL / </a:t>
            </a:r>
            <a:r>
              <a:rPr lang="ko-KR" altLang="en-US" sz="1200"/>
              <a:t>모델 생성</a:t>
            </a:r>
            <a:endParaRPr lang="en-KR" sz="1200"/>
          </a:p>
        </p:txBody>
      </p:sp>
    </p:spTree>
    <p:extLst>
      <p:ext uri="{BB962C8B-B14F-4D97-AF65-F5344CB8AC3E}">
        <p14:creationId xmlns:p14="http://schemas.microsoft.com/office/powerpoint/2010/main" val="607735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학습용 데이터셋 생성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2/3)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CBC2EA-1259-6741-9140-34FE04ED9F6D}"/>
              </a:ext>
            </a:extLst>
          </p:cNvPr>
          <p:cNvSpPr txBox="1"/>
          <p:nvPr/>
        </p:nvSpPr>
        <p:spPr>
          <a:xfrm>
            <a:off x="12370754" y="8361157"/>
            <a:ext cx="4422163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 = X_test.copy()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result["prediction"] = pred</a:t>
            </a:r>
          </a:p>
          <a:p>
            <a:endParaRPr lang="en-US" sz="16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result.to_gbq(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"lifesync_dw.vip_prediction_result",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project_id="your-project",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if_exists="replace"</a:t>
            </a:r>
          </a:p>
          <a:p>
            <a:r>
              <a:rPr lang="en-US" altLang="ko-KR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</a:p>
        </p:txBody>
      </p:sp>
      <p:sp>
        <p:nvSpPr>
          <p:cNvPr id="14" name="Google Shape;350;g3d6e2211149_2_228">
            <a:extLst>
              <a:ext uri="{FF2B5EF4-FFF2-40B4-BE49-F238E27FC236}">
                <a16:creationId xmlns:a16="http://schemas.microsoft.com/office/drawing/2014/main" id="{DD4A2A54-5489-8D4D-A8A0-35C3FE999AE8}"/>
              </a:ext>
            </a:extLst>
          </p:cNvPr>
          <p:cNvSpPr txBox="1"/>
          <p:nvPr/>
        </p:nvSpPr>
        <p:spPr>
          <a:xfrm>
            <a:off x="12370754" y="80534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 xml:space="preserve">결과를 </a:t>
            </a:r>
            <a:r>
              <a:rPr lang="en-US" altLang="ko-KR" sz="1200" b="1">
                <a:solidFill>
                  <a:schemeClr val="dk1"/>
                </a:solidFill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</a:rPr>
              <a:t xml:space="preserve">로 저장 </a:t>
            </a:r>
            <a:endParaRPr sz="1200" b="1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E137A41-7352-2E40-8BC9-5FCB51DE2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404449"/>
              </p:ext>
            </p:extLst>
          </p:nvPr>
        </p:nvGraphicFramePr>
        <p:xfrm>
          <a:off x="9572404" y="983158"/>
          <a:ext cx="2484884" cy="73152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</a:t>
                      </a:r>
                      <a:r>
                        <a:rPr lang="en-US" altLang="ko-KR" sz="1000"/>
                        <a:t>25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BigQuery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97805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7E39061-219C-104D-A2A0-1040339703DB}"/>
              </a:ext>
            </a:extLst>
          </p:cNvPr>
          <p:cNvSpPr txBox="1"/>
          <p:nvPr/>
        </p:nvSpPr>
        <p:spPr>
          <a:xfrm>
            <a:off x="243510" y="707150"/>
            <a:ext cx="8745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</a:t>
            </a:r>
            <a:r>
              <a:rPr lang="ko-KR" altLang="en-US" b="1"/>
              <a:t xml:space="preserve">의 </a:t>
            </a:r>
            <a:r>
              <a:rPr lang="en-US" b="1"/>
              <a:t xml:space="preserve">View </a:t>
            </a:r>
            <a:r>
              <a:rPr lang="ko-KR" altLang="en-US" b="1"/>
              <a:t>분석 및 학습용 데이터 생성 명령어는 초기에는 수작업으로 만들고</a:t>
            </a:r>
            <a:r>
              <a:rPr lang="en-US" altLang="ko-KR" b="1"/>
              <a:t xml:space="preserve">, </a:t>
            </a:r>
            <a:r>
              <a:rPr lang="ko-KR" altLang="en-US" b="1"/>
              <a:t xml:space="preserve">운영 단계에서는 </a:t>
            </a:r>
            <a:r>
              <a:rPr lang="en-US" b="1"/>
              <a:t>Scheduled Query</a:t>
            </a:r>
            <a:r>
              <a:rPr lang="ko-KR" altLang="en-US" b="1"/>
              <a:t xml:space="preserve"> 실행 구조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9BBDB0-8E38-0446-B9E1-987366C58521}"/>
              </a:ext>
            </a:extLst>
          </p:cNvPr>
          <p:cNvSpPr txBox="1"/>
          <p:nvPr/>
        </p:nvSpPr>
        <p:spPr>
          <a:xfrm>
            <a:off x="243509" y="1799085"/>
            <a:ext cx="255053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 xml:space="preserve">STEP1 BigQuery View </a:t>
            </a:r>
            <a:r>
              <a:rPr lang="ko-KR" altLang="en-US" sz="1000"/>
              <a:t>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 xml:space="preserve">STEP2 KPI / </a:t>
            </a:r>
            <a:r>
              <a:rPr lang="ko-KR" altLang="en-US" sz="1000"/>
              <a:t>고객 인사이트 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 xml:space="preserve">STEP3 ML </a:t>
            </a:r>
            <a:r>
              <a:rPr lang="ko-KR" altLang="en-US" sz="1000"/>
              <a:t xml:space="preserve">학습용 </a:t>
            </a:r>
            <a:r>
              <a:rPr lang="en-US" sz="1000"/>
              <a:t xml:space="preserve">Table </a:t>
            </a:r>
            <a:r>
              <a:rPr lang="ko-KR" altLang="en-US" sz="1000"/>
              <a:t>생성</a:t>
            </a:r>
            <a:endParaRPr lang="en-KR" sz="1000"/>
          </a:p>
        </p:txBody>
      </p:sp>
      <p:sp>
        <p:nvSpPr>
          <p:cNvPr id="16" name="Google Shape;274;g3d6e2211149_2_228">
            <a:extLst>
              <a:ext uri="{FF2B5EF4-FFF2-40B4-BE49-F238E27FC236}">
                <a16:creationId xmlns:a16="http://schemas.microsoft.com/office/drawing/2014/main" id="{1826C8E2-09B5-E449-9CA1-839DF27FA00D}"/>
              </a:ext>
            </a:extLst>
          </p:cNvPr>
          <p:cNvSpPr txBox="1"/>
          <p:nvPr/>
        </p:nvSpPr>
        <p:spPr>
          <a:xfrm>
            <a:off x="252149" y="1433325"/>
            <a:ext cx="319443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ko-KR" altLang="en-US" sz="1200" b="1">
                <a:solidFill>
                  <a:schemeClr val="dk1"/>
                </a:solidFill>
              </a:rPr>
              <a:t xml:space="preserve">분석 및 데이터셋 생성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B011C5-CEDD-4840-A38F-32E350D64747}"/>
              </a:ext>
            </a:extLst>
          </p:cNvPr>
          <p:cNvSpPr txBox="1"/>
          <p:nvPr/>
        </p:nvSpPr>
        <p:spPr>
          <a:xfrm>
            <a:off x="243509" y="3037042"/>
            <a:ext cx="6663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STEP</a:t>
            </a:r>
            <a:r>
              <a:rPr lang="en-US" altLang="ko-KR" sz="1200" b="1"/>
              <a:t>2.</a:t>
            </a:r>
            <a:r>
              <a:rPr lang="en-US" sz="1200" b="1"/>
              <a:t xml:space="preserve"> KPI </a:t>
            </a:r>
            <a:r>
              <a:rPr lang="ko-KR" altLang="en-US" sz="1200" b="1"/>
              <a:t>분석</a:t>
            </a:r>
            <a:endParaRPr lang="en-KR" sz="12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8029C-7320-0848-9126-F1522C00B544}"/>
              </a:ext>
            </a:extLst>
          </p:cNvPr>
          <p:cNvSpPr txBox="1"/>
          <p:nvPr/>
        </p:nvSpPr>
        <p:spPr>
          <a:xfrm>
            <a:off x="243509" y="3599750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1) </a:t>
            </a:r>
            <a:r>
              <a:rPr lang="ko-KR" altLang="en-US" sz="1200" b="1"/>
              <a:t>고객 등급 분포</a:t>
            </a:r>
            <a:endParaRPr lang="en-KR" sz="12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CC5A71-C773-4C4F-AA32-702EB462F054}"/>
              </a:ext>
            </a:extLst>
          </p:cNvPr>
          <p:cNvSpPr txBox="1"/>
          <p:nvPr/>
        </p:nvSpPr>
        <p:spPr>
          <a:xfrm>
            <a:off x="350625" y="3987617"/>
            <a:ext cx="4938828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 dirty="0"/>
              <a:t xml:space="preserve">SELECT </a:t>
            </a:r>
            <a:r>
              <a:rPr lang="en-US" altLang="ko-KR" sz="1100" dirty="0" err="1"/>
              <a:t>customer_grade</a:t>
            </a:r>
            <a:r>
              <a:rPr lang="en-US" altLang="ko-KR" sz="1100" dirty="0"/>
              <a:t>, COUNT(*)</a:t>
            </a:r>
          </a:p>
          <a:p>
            <a:r>
              <a:rPr lang="en-US" altLang="ko-KR" sz="1100" dirty="0"/>
              <a:t xml:space="preserve">FROM </a:t>
            </a:r>
            <a:r>
              <a:rPr lang="en-US" altLang="ko-KR" sz="1100" dirty="0" err="1"/>
              <a:t>lifesync_curated.score_mart</a:t>
            </a:r>
            <a:endParaRPr lang="en-US" altLang="ko-KR" sz="1100" dirty="0"/>
          </a:p>
          <a:p>
            <a:r>
              <a:rPr lang="en-US" altLang="ko-KR" sz="1100" dirty="0"/>
              <a:t xml:space="preserve">GROUP BY </a:t>
            </a:r>
            <a:r>
              <a:rPr lang="en-US" altLang="ko-KR" sz="1100" dirty="0" err="1"/>
              <a:t>customer_grade</a:t>
            </a:r>
            <a:r>
              <a:rPr lang="en-US" altLang="ko-KR" sz="1100" dirty="0"/>
              <a:t>;</a:t>
            </a:r>
            <a:endParaRPr lang="en-KR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E5C70D-751E-6C4D-80D5-0D58247BB8AE}"/>
              </a:ext>
            </a:extLst>
          </p:cNvPr>
          <p:cNvSpPr txBox="1"/>
          <p:nvPr/>
        </p:nvSpPr>
        <p:spPr>
          <a:xfrm>
            <a:off x="5768902" y="3599750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 VIP</a:t>
            </a:r>
            <a:r>
              <a:rPr lang="ko-KR" altLang="en-US" sz="1200" b="1"/>
              <a:t xml:space="preserve"> 후보 수</a:t>
            </a:r>
            <a:endParaRPr lang="en-KR" sz="1200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61A70C-23D3-C540-A694-9C043AFEEDFD}"/>
              </a:ext>
            </a:extLst>
          </p:cNvPr>
          <p:cNvSpPr txBox="1"/>
          <p:nvPr/>
        </p:nvSpPr>
        <p:spPr>
          <a:xfrm>
            <a:off x="5822460" y="3987617"/>
            <a:ext cx="4938828" cy="430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SELECT COUNT(*)</a:t>
            </a:r>
          </a:p>
          <a:p>
            <a:r>
              <a:rPr lang="en-US" altLang="ko-KR" sz="1100"/>
              <a:t>FROM lifesync_curated.vip_candidate_mart;</a:t>
            </a:r>
            <a:endParaRPr lang="en-KR" sz="11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C9413E-54F9-D248-A6D6-247B0D26E9AD}"/>
              </a:ext>
            </a:extLst>
          </p:cNvPr>
          <p:cNvSpPr txBox="1"/>
          <p:nvPr/>
        </p:nvSpPr>
        <p:spPr>
          <a:xfrm>
            <a:off x="5768902" y="5121648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4) </a:t>
            </a:r>
            <a:r>
              <a:rPr lang="ko-KR" altLang="en-US" sz="1200" b="1"/>
              <a:t>건강 위험 고객 수</a:t>
            </a:r>
            <a:endParaRPr lang="en-KR" sz="1200"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FB70FD-32A0-F345-8C86-060355094F92}"/>
              </a:ext>
            </a:extLst>
          </p:cNvPr>
          <p:cNvSpPr txBox="1"/>
          <p:nvPr/>
        </p:nvSpPr>
        <p:spPr>
          <a:xfrm>
            <a:off x="5822460" y="5509515"/>
            <a:ext cx="4938828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SELECT COUNT(*)</a:t>
            </a:r>
          </a:p>
          <a:p>
            <a:r>
              <a:rPr lang="en-US" altLang="ko-KR" sz="1100"/>
              <a:t>FROM lifesync_curated.health_mart</a:t>
            </a:r>
          </a:p>
          <a:p>
            <a:r>
              <a:rPr lang="en-US" altLang="ko-KR" sz="1100"/>
              <a:t>WHERE health_grade='RISK';</a:t>
            </a:r>
            <a:endParaRPr lang="en-KR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800150-4CFA-1042-8417-795C420F7FF9}"/>
              </a:ext>
            </a:extLst>
          </p:cNvPr>
          <p:cNvSpPr txBox="1"/>
          <p:nvPr/>
        </p:nvSpPr>
        <p:spPr>
          <a:xfrm>
            <a:off x="243509" y="5121648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3) </a:t>
            </a:r>
            <a:r>
              <a:rPr lang="ko-KR" altLang="en-US" sz="1200" b="1"/>
              <a:t xml:space="preserve">추천 상품 </a:t>
            </a:r>
            <a:r>
              <a:rPr lang="en-US" altLang="ko-KR" sz="1200" b="1"/>
              <a:t>Top 10</a:t>
            </a:r>
            <a:endParaRPr lang="en-KR" sz="12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5FA4AB-AA73-EE4A-BDBE-992B06A7D1CD}"/>
              </a:ext>
            </a:extLst>
          </p:cNvPr>
          <p:cNvSpPr txBox="1"/>
          <p:nvPr/>
        </p:nvSpPr>
        <p:spPr>
          <a:xfrm>
            <a:off x="350625" y="5509515"/>
            <a:ext cx="4938828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SELECT recommendation_name, COUNT(*)</a:t>
            </a:r>
          </a:p>
          <a:p>
            <a:r>
              <a:rPr lang="en-US" altLang="ko-KR" sz="1100"/>
              <a:t>FROM lifesync_curated.recommendation_mart</a:t>
            </a:r>
          </a:p>
          <a:p>
            <a:r>
              <a:rPr lang="en-US" altLang="ko-KR" sz="1100"/>
              <a:t>GROUP BY recommendation_name</a:t>
            </a:r>
          </a:p>
          <a:p>
            <a:r>
              <a:rPr lang="en-US" altLang="ko-KR" sz="1100"/>
              <a:t>ORDER BY 2 DESC;</a:t>
            </a:r>
            <a:endParaRPr lang="en-KR" sz="11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33A26D-7789-1046-BE69-3D7CB76266EE}"/>
              </a:ext>
            </a:extLst>
          </p:cNvPr>
          <p:cNvSpPr txBox="1"/>
          <p:nvPr/>
        </p:nvSpPr>
        <p:spPr>
          <a:xfrm>
            <a:off x="3545467" y="1799085"/>
            <a:ext cx="255053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lifesync_ml.vip_training_data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lifesync_ml.rec_training_data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lifesync_ml.health_training_data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16538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학습용 데이터셋 생성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3/3)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CBC2EA-1259-6741-9140-34FE04ED9F6D}"/>
              </a:ext>
            </a:extLst>
          </p:cNvPr>
          <p:cNvSpPr txBox="1"/>
          <p:nvPr/>
        </p:nvSpPr>
        <p:spPr>
          <a:xfrm>
            <a:off x="12370754" y="8361157"/>
            <a:ext cx="4422163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 = X_test.copy()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result["prediction"] = pred</a:t>
            </a:r>
          </a:p>
          <a:p>
            <a:endParaRPr lang="en-US" sz="16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result.to_gbq(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"lifesync_dw.vip_prediction_result",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project_id="your-project",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if_exists="replace"</a:t>
            </a:r>
          </a:p>
          <a:p>
            <a:r>
              <a:rPr lang="en-US" altLang="ko-KR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</a:p>
        </p:txBody>
      </p:sp>
      <p:sp>
        <p:nvSpPr>
          <p:cNvPr id="14" name="Google Shape;350;g3d6e2211149_2_228">
            <a:extLst>
              <a:ext uri="{FF2B5EF4-FFF2-40B4-BE49-F238E27FC236}">
                <a16:creationId xmlns:a16="http://schemas.microsoft.com/office/drawing/2014/main" id="{DD4A2A54-5489-8D4D-A8A0-35C3FE999AE8}"/>
              </a:ext>
            </a:extLst>
          </p:cNvPr>
          <p:cNvSpPr txBox="1"/>
          <p:nvPr/>
        </p:nvSpPr>
        <p:spPr>
          <a:xfrm>
            <a:off x="12370754" y="80534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 xml:space="preserve">결과를 </a:t>
            </a:r>
            <a:r>
              <a:rPr lang="en-US" altLang="ko-KR" sz="1200" b="1">
                <a:solidFill>
                  <a:schemeClr val="dk1"/>
                </a:solidFill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</a:rPr>
              <a:t xml:space="preserve">로 저장 </a:t>
            </a:r>
            <a:endParaRPr sz="1200" b="1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E137A41-7352-2E40-8BC9-5FCB51DE2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444310"/>
              </p:ext>
            </p:extLst>
          </p:nvPr>
        </p:nvGraphicFramePr>
        <p:xfrm>
          <a:off x="9572404" y="983158"/>
          <a:ext cx="2484884" cy="73152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</a:t>
                      </a:r>
                      <a:r>
                        <a:rPr lang="en-US" altLang="ko-KR" sz="1000"/>
                        <a:t>25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BigQuery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97805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7E39061-219C-104D-A2A0-1040339703DB}"/>
              </a:ext>
            </a:extLst>
          </p:cNvPr>
          <p:cNvSpPr txBox="1"/>
          <p:nvPr/>
        </p:nvSpPr>
        <p:spPr>
          <a:xfrm>
            <a:off x="243509" y="707150"/>
            <a:ext cx="8900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</a:t>
            </a:r>
            <a:r>
              <a:rPr lang="ko-KR" altLang="en-US" b="1"/>
              <a:t xml:space="preserve">의 </a:t>
            </a:r>
            <a:r>
              <a:rPr lang="en-US" b="1"/>
              <a:t xml:space="preserve">View </a:t>
            </a:r>
            <a:r>
              <a:rPr lang="ko-KR" altLang="en-US" b="1"/>
              <a:t>분석 및 학습용 데이터 생성 명령어는 초기에는 수작업으로 만들고</a:t>
            </a:r>
            <a:r>
              <a:rPr lang="en-US" altLang="ko-KR" b="1"/>
              <a:t xml:space="preserve">, </a:t>
            </a:r>
            <a:r>
              <a:rPr lang="ko-KR" altLang="en-US" b="1"/>
              <a:t xml:space="preserve">운영 단계에서는 </a:t>
            </a:r>
            <a:r>
              <a:rPr lang="en-US" b="1"/>
              <a:t>Scheduled Query</a:t>
            </a:r>
            <a:r>
              <a:rPr lang="ko-KR" altLang="en-US" b="1"/>
              <a:t xml:space="preserve"> 실행 구조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9BBDB0-8E38-0446-B9E1-987366C58521}"/>
              </a:ext>
            </a:extLst>
          </p:cNvPr>
          <p:cNvSpPr txBox="1"/>
          <p:nvPr/>
        </p:nvSpPr>
        <p:spPr>
          <a:xfrm>
            <a:off x="243509" y="1939761"/>
            <a:ext cx="255053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 xml:space="preserve">STEP1 BigQuery View </a:t>
            </a:r>
            <a:r>
              <a:rPr lang="ko-KR" altLang="en-US" sz="1000"/>
              <a:t>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 xml:space="preserve">STEP2 KPI / </a:t>
            </a:r>
            <a:r>
              <a:rPr lang="ko-KR" altLang="en-US" sz="1000"/>
              <a:t>고객 인사이트 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 xml:space="preserve">STEP3 ML </a:t>
            </a:r>
            <a:r>
              <a:rPr lang="ko-KR" altLang="en-US" sz="1000"/>
              <a:t xml:space="preserve">학습용 </a:t>
            </a:r>
            <a:r>
              <a:rPr lang="en-US" sz="1000"/>
              <a:t xml:space="preserve">Table </a:t>
            </a:r>
            <a:r>
              <a:rPr lang="ko-KR" altLang="en-US" sz="1000"/>
              <a:t>생성</a:t>
            </a:r>
            <a:endParaRPr lang="en-KR" sz="1000"/>
          </a:p>
        </p:txBody>
      </p:sp>
      <p:sp>
        <p:nvSpPr>
          <p:cNvPr id="16" name="Google Shape;274;g3d6e2211149_2_228">
            <a:extLst>
              <a:ext uri="{FF2B5EF4-FFF2-40B4-BE49-F238E27FC236}">
                <a16:creationId xmlns:a16="http://schemas.microsoft.com/office/drawing/2014/main" id="{1826C8E2-09B5-E449-9CA1-839DF27FA00D}"/>
              </a:ext>
            </a:extLst>
          </p:cNvPr>
          <p:cNvSpPr txBox="1"/>
          <p:nvPr/>
        </p:nvSpPr>
        <p:spPr>
          <a:xfrm>
            <a:off x="252149" y="1574001"/>
            <a:ext cx="319443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ko-KR" altLang="en-US" sz="1200" b="1">
                <a:solidFill>
                  <a:schemeClr val="dk1"/>
                </a:solidFill>
              </a:rPr>
              <a:t xml:space="preserve">분석 및 데이터셋 생성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B011C5-CEDD-4840-A38F-32E350D64747}"/>
              </a:ext>
            </a:extLst>
          </p:cNvPr>
          <p:cNvSpPr txBox="1"/>
          <p:nvPr/>
        </p:nvSpPr>
        <p:spPr>
          <a:xfrm>
            <a:off x="243509" y="3177718"/>
            <a:ext cx="6663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STEP</a:t>
            </a:r>
            <a:r>
              <a:rPr lang="en-US" altLang="ko-KR" sz="1200" b="1"/>
              <a:t>3.</a:t>
            </a:r>
            <a:r>
              <a:rPr lang="en-US" sz="1200" b="1"/>
              <a:t xml:space="preserve"> ML 학습용 데이터 생성 </a:t>
            </a:r>
            <a:r>
              <a:rPr lang="en-US" altLang="ko-KR" sz="1200" b="1"/>
              <a:t xml:space="preserve">– Dataset : lifesync_ml </a:t>
            </a:r>
            <a:endParaRPr lang="en-KR" sz="12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8029C-7320-0848-9126-F1522C00B544}"/>
              </a:ext>
            </a:extLst>
          </p:cNvPr>
          <p:cNvSpPr txBox="1"/>
          <p:nvPr/>
        </p:nvSpPr>
        <p:spPr>
          <a:xfrm>
            <a:off x="243509" y="3740426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 VIP</a:t>
            </a:r>
            <a:r>
              <a:rPr lang="ko-KR" altLang="en-US" sz="1200" b="1"/>
              <a:t xml:space="preserve"> 학습 데이터 </a:t>
            </a:r>
            <a:endParaRPr lang="en-KR" sz="12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CC5A71-C773-4C4F-AA32-702EB462F054}"/>
              </a:ext>
            </a:extLst>
          </p:cNvPr>
          <p:cNvSpPr txBox="1"/>
          <p:nvPr/>
        </p:nvSpPr>
        <p:spPr>
          <a:xfrm>
            <a:off x="350625" y="4128293"/>
            <a:ext cx="4938828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CREATE OR REPLACE TABLE lifesync_ml.vip_training_data AS</a:t>
            </a:r>
          </a:p>
          <a:p>
            <a:r>
              <a:rPr lang="en-US" altLang="ko-KR" sz="1100"/>
              <a:t>SELECT *</a:t>
            </a:r>
          </a:p>
          <a:p>
            <a:r>
              <a:rPr lang="en-US" altLang="ko-KR" sz="1100"/>
              <a:t>FROM lifesync_curated.ai_feature_table</a:t>
            </a:r>
          </a:p>
          <a:p>
            <a:r>
              <a:rPr lang="en-US" altLang="ko-KR" sz="1100"/>
              <a:t>WHERE vip_label IS NOT NULL;</a:t>
            </a:r>
            <a:endParaRPr lang="en-KR" sz="11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E5C70D-751E-6C4D-80D5-0D58247BB8AE}"/>
              </a:ext>
            </a:extLst>
          </p:cNvPr>
          <p:cNvSpPr txBox="1"/>
          <p:nvPr/>
        </p:nvSpPr>
        <p:spPr>
          <a:xfrm>
            <a:off x="5768902" y="3740426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2) </a:t>
            </a:r>
            <a:r>
              <a:rPr lang="ko-KR" altLang="en-US" sz="1200" b="1"/>
              <a:t xml:space="preserve">추천 모델 학습 데이터 </a:t>
            </a:r>
            <a:endParaRPr lang="en-KR" sz="1200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61A70C-23D3-C540-A694-9C043AFEEDFD}"/>
              </a:ext>
            </a:extLst>
          </p:cNvPr>
          <p:cNvSpPr txBox="1"/>
          <p:nvPr/>
        </p:nvSpPr>
        <p:spPr>
          <a:xfrm>
            <a:off x="5822460" y="4128293"/>
            <a:ext cx="4938828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CREATE OR REPLACE TABLE lifesync_ml.rec_training_data AS</a:t>
            </a:r>
          </a:p>
          <a:p>
            <a:r>
              <a:rPr lang="en-US" altLang="ko-KR" sz="1100"/>
              <a:t>SELECT *</a:t>
            </a:r>
          </a:p>
          <a:p>
            <a:r>
              <a:rPr lang="en-US" altLang="ko-KR" sz="1100"/>
              <a:t>FROM lifesync_curated.ai_feature_table;</a:t>
            </a:r>
            <a:endParaRPr lang="en-KR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800150-4CFA-1042-8417-795C420F7FF9}"/>
              </a:ext>
            </a:extLst>
          </p:cNvPr>
          <p:cNvSpPr txBox="1"/>
          <p:nvPr/>
        </p:nvSpPr>
        <p:spPr>
          <a:xfrm>
            <a:off x="243509" y="5262324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3) Health </a:t>
            </a:r>
            <a:r>
              <a:rPr lang="ko-KR" altLang="en-US" sz="1200" b="1"/>
              <a:t>예측 학습 데이터</a:t>
            </a:r>
            <a:endParaRPr lang="en-KR" sz="12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5FA4AB-AA73-EE4A-BDBE-992B06A7D1CD}"/>
              </a:ext>
            </a:extLst>
          </p:cNvPr>
          <p:cNvSpPr txBox="1"/>
          <p:nvPr/>
        </p:nvSpPr>
        <p:spPr>
          <a:xfrm>
            <a:off x="350625" y="5650191"/>
            <a:ext cx="4938828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CREATE OR REPLACE TABLE lifesync_ml.health_training_data AS</a:t>
            </a:r>
          </a:p>
          <a:p>
            <a:r>
              <a:rPr lang="en-US" altLang="ko-KR" sz="1100"/>
              <a:t>SELECT *</a:t>
            </a:r>
          </a:p>
          <a:p>
            <a:r>
              <a:rPr lang="en-US" altLang="ko-KR" sz="1100"/>
              <a:t>FROM lifesync_curated.ai_feature_table;</a:t>
            </a:r>
            <a:endParaRPr lang="en-KR" sz="11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64B4A1-D5AC-D042-B923-23E9DC655377}"/>
              </a:ext>
            </a:extLst>
          </p:cNvPr>
          <p:cNvSpPr txBox="1"/>
          <p:nvPr/>
        </p:nvSpPr>
        <p:spPr>
          <a:xfrm>
            <a:off x="3545467" y="1939761"/>
            <a:ext cx="25505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lifesync_ml.vip_training_input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Lifesync_ml_signup_scoring_input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lifesync_ml.rec_training_input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lifesync_ml.health_training_input</a:t>
            </a:r>
            <a:endParaRPr lang="en-KR" sz="1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8F252E-ADDA-BA48-864F-5426A8B7D6A1}"/>
              </a:ext>
            </a:extLst>
          </p:cNvPr>
          <p:cNvSpPr txBox="1"/>
          <p:nvPr/>
        </p:nvSpPr>
        <p:spPr>
          <a:xfrm>
            <a:off x="9460631" y="1941328"/>
            <a:ext cx="273137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BigQuery Scheduled Query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03:</a:t>
            </a:r>
            <a:r>
              <a:rPr lang="en-US" altLang="ko-KR" sz="1000"/>
              <a:t>3</a:t>
            </a:r>
            <a:r>
              <a:rPr lang="en-US" sz="1000"/>
              <a:t xml:space="preserve">0 vip_training_data </a:t>
            </a:r>
            <a:r>
              <a:rPr lang="ko-KR" altLang="en-US" sz="1000"/>
              <a:t>생성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 xml:space="preserve">03:35 </a:t>
            </a:r>
            <a:r>
              <a:rPr lang="en-US" sz="1000"/>
              <a:t xml:space="preserve">signup_training_data </a:t>
            </a:r>
            <a:r>
              <a:rPr lang="ko-KR" altLang="en-US" sz="1000"/>
              <a:t>생성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 xml:space="preserve">03:40 </a:t>
            </a:r>
            <a:r>
              <a:rPr lang="en-US" sz="1000"/>
              <a:t xml:space="preserve">rec_training_data </a:t>
            </a:r>
            <a:r>
              <a:rPr lang="ko-KR" altLang="en-US" sz="1000"/>
              <a:t>생성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 xml:space="preserve">03:45 </a:t>
            </a:r>
            <a:r>
              <a:rPr lang="en-US" sz="1000"/>
              <a:t xml:space="preserve">health_training_data </a:t>
            </a:r>
            <a:r>
              <a:rPr lang="ko-KR" altLang="en-US" sz="1000"/>
              <a:t>생성</a:t>
            </a:r>
            <a:endParaRPr lang="en-KR" sz="1000"/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DF3BA8D7-54E9-5A43-883D-139BFEBD29EE}"/>
              </a:ext>
            </a:extLst>
          </p:cNvPr>
          <p:cNvSpPr txBox="1"/>
          <p:nvPr/>
        </p:nvSpPr>
        <p:spPr>
          <a:xfrm>
            <a:off x="6138936" y="1174796"/>
            <a:ext cx="3194436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Scheduled Query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>
              <a:solidFill>
                <a:schemeClr val="dk1"/>
              </a:solidFill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Name : lifesync-vip-training-daily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>
              <a:solidFill>
                <a:schemeClr val="dk1"/>
              </a:solidFill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 xml:space="preserve">반복주기 설정 </a:t>
            </a:r>
            <a:r>
              <a:rPr lang="en-US" altLang="ko-KR" sz="1200" b="1">
                <a:solidFill>
                  <a:schemeClr val="dk1"/>
                </a:solidFill>
              </a:rPr>
              <a:t xml:space="preserve">: 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dk1"/>
                </a:solidFill>
              </a:rPr>
              <a:t>Every day 03:10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dk1"/>
                </a:solidFill>
              </a:rPr>
              <a:t>Timezone: Asia/Seoul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endParaRPr lang="en-US" sz="1200" b="1">
              <a:solidFill>
                <a:schemeClr val="dk1"/>
              </a:solidFill>
            </a:endParaRP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200" b="1">
                <a:solidFill>
                  <a:schemeClr val="dk1"/>
                </a:solidFill>
              </a:rPr>
              <a:t xml:space="preserve">Destination 설정 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dk1"/>
                </a:solidFill>
              </a:rPr>
              <a:t>Write Preference: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dk1"/>
                </a:solidFill>
              </a:rPr>
              <a:t>Overwrite / Append</a:t>
            </a:r>
          </a:p>
        </p:txBody>
      </p:sp>
    </p:spTree>
    <p:extLst>
      <p:ext uri="{BB962C8B-B14F-4D97-AF65-F5344CB8AC3E}">
        <p14:creationId xmlns:p14="http://schemas.microsoft.com/office/powerpoint/2010/main" val="1516873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(AI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모델 학습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1150A3-D31D-C04F-9955-BC8C72B30BCE}"/>
              </a:ext>
            </a:extLst>
          </p:cNvPr>
          <p:cNvSpPr txBox="1"/>
          <p:nvPr/>
        </p:nvSpPr>
        <p:spPr>
          <a:xfrm>
            <a:off x="243509" y="1813951"/>
            <a:ext cx="668945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 xml:space="preserve">XGBoost </a:t>
            </a:r>
            <a:r>
              <a:rPr lang="ko-KR" altLang="en-US" sz="1000"/>
              <a:t xml:space="preserve">맞춤 모델 개발 </a:t>
            </a:r>
            <a:r>
              <a:rPr lang="en-US" altLang="ko-KR" sz="1000"/>
              <a:t>(</a:t>
            </a:r>
            <a:r>
              <a:rPr lang="ko-KR" altLang="en-US" sz="1000"/>
              <a:t>모델 알고리즘</a:t>
            </a:r>
            <a:r>
              <a:rPr lang="en-US" altLang="ko-KR" sz="1000"/>
              <a:t>)</a:t>
            </a:r>
          </a:p>
          <a:p>
            <a:r>
              <a:rPr lang="en-US" altLang="ko-KR" sz="1000"/>
              <a:t>-</a:t>
            </a:r>
            <a:r>
              <a:rPr lang="ko-KR" altLang="en-US" sz="1000"/>
              <a:t xml:space="preserve"> </a:t>
            </a:r>
            <a:r>
              <a:rPr lang="en-US" sz="1000"/>
              <a:t xml:space="preserve">XGBoost </a:t>
            </a:r>
            <a:r>
              <a:rPr lang="ko-KR" altLang="en-US" sz="1000"/>
              <a:t xml:space="preserve">모델을 </a:t>
            </a:r>
            <a:r>
              <a:rPr lang="en-US" sz="1000"/>
              <a:t xml:space="preserve">Python </a:t>
            </a:r>
            <a:r>
              <a:rPr lang="ko-KR" altLang="en-US" sz="1000"/>
              <a:t>코드로 학습시키고</a:t>
            </a:r>
            <a:r>
              <a:rPr lang="en-US" altLang="ko-KR" sz="1000"/>
              <a:t>,</a:t>
            </a:r>
            <a:br>
              <a:rPr lang="en-US" altLang="ko-KR" sz="1000"/>
            </a:br>
            <a:r>
              <a:rPr lang="ko-KR" altLang="en-US" sz="1000"/>
              <a:t xml:space="preserve">그 결과 모델 파일을 </a:t>
            </a:r>
            <a:r>
              <a:rPr lang="en-US" sz="1000"/>
              <a:t>Vertex AI</a:t>
            </a:r>
            <a:r>
              <a:rPr lang="en-US" altLang="ko-KR" sz="1000"/>
              <a:t>(</a:t>
            </a:r>
            <a:r>
              <a:rPr lang="ko-KR" altLang="en-US" sz="1000"/>
              <a:t>모델을 운영하는 플랫폼</a:t>
            </a:r>
            <a:r>
              <a:rPr lang="en-US" altLang="ko-KR" sz="1000"/>
              <a:t>)</a:t>
            </a:r>
            <a:r>
              <a:rPr lang="ko-KR" altLang="en-US" sz="1000"/>
              <a:t>에 등록</a:t>
            </a:r>
            <a:r>
              <a:rPr lang="en-US" altLang="ko-KR" sz="1000"/>
              <a:t>·</a:t>
            </a:r>
            <a:r>
              <a:rPr lang="ko-KR" altLang="en-US" sz="1000"/>
              <a:t>배포하는 방식</a:t>
            </a:r>
            <a:endParaRPr lang="en-KR" sz="1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4034CF-5F1D-1D48-9793-C9BACDD72991}"/>
              </a:ext>
            </a:extLst>
          </p:cNvPr>
          <p:cNvSpPr txBox="1"/>
          <p:nvPr/>
        </p:nvSpPr>
        <p:spPr>
          <a:xfrm>
            <a:off x="243509" y="1366776"/>
            <a:ext cx="107558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Vertex AI</a:t>
            </a:r>
            <a:r>
              <a:rPr lang="ko-KR" altLang="en-US" sz="1200"/>
              <a:t xml:space="preserve">는 </a:t>
            </a:r>
            <a:r>
              <a:rPr lang="ko-KR" altLang="en-US" sz="1200" b="1"/>
              <a:t>모델을 제공하는 플랫폼이면서 동시에 직접 모델을 구축</a:t>
            </a:r>
            <a:r>
              <a:rPr lang="en-US" altLang="ko-KR" sz="1200" b="1"/>
              <a:t>·</a:t>
            </a:r>
            <a:r>
              <a:rPr lang="ko-KR" altLang="en-US" sz="1200" b="1"/>
              <a:t>학습</a:t>
            </a:r>
            <a:r>
              <a:rPr lang="en-US" altLang="ko-KR" sz="1200" b="1"/>
              <a:t>·</a:t>
            </a:r>
            <a:r>
              <a:rPr lang="ko-KR" altLang="en-US" sz="1200" b="1"/>
              <a:t xml:space="preserve">배포할 수 있는 통합 </a:t>
            </a:r>
            <a:r>
              <a:rPr lang="en-US" sz="1200" b="1"/>
              <a:t xml:space="preserve">AI </a:t>
            </a:r>
            <a:r>
              <a:rPr lang="ko-KR" altLang="en-US" sz="1200" b="1"/>
              <a:t>서비스</a:t>
            </a:r>
            <a:endParaRPr lang="en-US" altLang="ko-KR" sz="12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BF95F1-9B25-F843-869A-02395A30CB8A}"/>
              </a:ext>
            </a:extLst>
          </p:cNvPr>
          <p:cNvSpPr txBox="1"/>
          <p:nvPr/>
        </p:nvSpPr>
        <p:spPr>
          <a:xfrm>
            <a:off x="243509" y="707150"/>
            <a:ext cx="98584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Scheduled Query</a:t>
            </a:r>
            <a:r>
              <a:rPr lang="ko-KR" altLang="en-US" b="1"/>
              <a:t>가 학습</a:t>
            </a:r>
            <a:r>
              <a:rPr lang="en-US" altLang="ko-KR" b="1"/>
              <a:t>/</a:t>
            </a:r>
            <a:r>
              <a:rPr lang="ko-KR" altLang="en-US" b="1"/>
              <a:t>예측 입력 테이블을 만들고</a:t>
            </a:r>
            <a:r>
              <a:rPr lang="en-US" altLang="ko-KR" b="1"/>
              <a:t xml:space="preserve">, </a:t>
            </a:r>
            <a:r>
              <a:rPr lang="en-US" b="1"/>
              <a:t>Cloud Scheduler</a:t>
            </a:r>
            <a:r>
              <a:rPr lang="ko-KR" altLang="en-US" b="1"/>
              <a:t xml:space="preserve">가 </a:t>
            </a:r>
            <a:r>
              <a:rPr lang="en-US" b="1"/>
              <a:t>Python Trigger</a:t>
            </a:r>
            <a:r>
              <a:rPr lang="ko-KR" altLang="en-US" b="1"/>
              <a:t>를 실행해</a:t>
            </a:r>
            <a:br>
              <a:rPr lang="ko-KR" altLang="en-US" b="1"/>
            </a:br>
            <a:r>
              <a:rPr lang="en-US" b="1"/>
              <a:t>Vertex AI Batch Predict</a:t>
            </a:r>
            <a:r>
              <a:rPr lang="ko-KR" altLang="en-US" b="1"/>
              <a:t>를 자동 수행하는 구조</a:t>
            </a:r>
            <a:endParaRPr lang="en-KR" b="1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60E9F57-48A9-3240-91E8-A2BF03195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709333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Vertext AI Predict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13" name="Google Shape;274;g3d6e2211149_2_228">
            <a:extLst>
              <a:ext uri="{FF2B5EF4-FFF2-40B4-BE49-F238E27FC236}">
                <a16:creationId xmlns:a16="http://schemas.microsoft.com/office/drawing/2014/main" id="{B4314E9E-D1D3-E246-AEE7-38AD96492732}"/>
              </a:ext>
            </a:extLst>
          </p:cNvPr>
          <p:cNvSpPr txBox="1"/>
          <p:nvPr/>
        </p:nvSpPr>
        <p:spPr>
          <a:xfrm>
            <a:off x="243509" y="2693410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 xml:space="preserve">XGBoost 모델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F21942-67C5-5840-9B3D-7E0320105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622661"/>
              </p:ext>
            </p:extLst>
          </p:nvPr>
        </p:nvGraphicFramePr>
        <p:xfrm>
          <a:off x="243510" y="3125632"/>
          <a:ext cx="6565254" cy="1249680"/>
        </p:xfrm>
        <a:graphic>
          <a:graphicData uri="http://schemas.openxmlformats.org/drawingml/2006/table">
            <a:tbl>
              <a:tblPr/>
              <a:tblGrid>
                <a:gridCol w="2188418">
                  <a:extLst>
                    <a:ext uri="{9D8B030D-6E8A-4147-A177-3AD203B41FA5}">
                      <a16:colId xmlns:a16="http://schemas.microsoft.com/office/drawing/2014/main" val="713545409"/>
                    </a:ext>
                  </a:extLst>
                </a:gridCol>
                <a:gridCol w="2188418">
                  <a:extLst>
                    <a:ext uri="{9D8B030D-6E8A-4147-A177-3AD203B41FA5}">
                      <a16:colId xmlns:a16="http://schemas.microsoft.com/office/drawing/2014/main" val="1938635318"/>
                    </a:ext>
                  </a:extLst>
                </a:gridCol>
                <a:gridCol w="2188418">
                  <a:extLst>
                    <a:ext uri="{9D8B030D-6E8A-4147-A177-3AD203B41FA5}">
                      <a16:colId xmlns:a16="http://schemas.microsoft.com/office/drawing/2014/main" val="32962204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예측값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509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신규 가입 가능성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signup_prob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1826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>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>승급 가능성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6608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 클릭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구매 가능성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rec_prob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583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미래 건강 위험도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health_score_pred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783097"/>
                  </a:ext>
                </a:extLst>
              </a:tr>
            </a:tbl>
          </a:graphicData>
        </a:graphic>
      </p:graphicFrame>
      <p:sp>
        <p:nvSpPr>
          <p:cNvPr id="18" name="Google Shape;274;g3d6e2211149_2_228">
            <a:extLst>
              <a:ext uri="{FF2B5EF4-FFF2-40B4-BE49-F238E27FC236}">
                <a16:creationId xmlns:a16="http://schemas.microsoft.com/office/drawing/2014/main" id="{378C7AD4-F29A-6445-80B1-6A4D1305A353}"/>
              </a:ext>
            </a:extLst>
          </p:cNvPr>
          <p:cNvSpPr txBox="1"/>
          <p:nvPr/>
        </p:nvSpPr>
        <p:spPr>
          <a:xfrm>
            <a:off x="243509" y="4805553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권장 알고리즘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DB5280-E938-DC4D-8817-26CB387A6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574657"/>
              </p:ext>
            </p:extLst>
          </p:nvPr>
        </p:nvGraphicFramePr>
        <p:xfrm>
          <a:off x="243509" y="5249594"/>
          <a:ext cx="6565254" cy="1249680"/>
        </p:xfrm>
        <a:graphic>
          <a:graphicData uri="http://schemas.openxmlformats.org/drawingml/2006/table">
            <a:tbl>
              <a:tblPr/>
              <a:tblGrid>
                <a:gridCol w="3282627">
                  <a:extLst>
                    <a:ext uri="{9D8B030D-6E8A-4147-A177-3AD203B41FA5}">
                      <a16:colId xmlns:a16="http://schemas.microsoft.com/office/drawing/2014/main" val="550615126"/>
                    </a:ext>
                  </a:extLst>
                </a:gridCol>
                <a:gridCol w="3282627">
                  <a:extLst>
                    <a:ext uri="{9D8B030D-6E8A-4147-A177-3AD203B41FA5}">
                      <a16:colId xmlns:a16="http://schemas.microsoft.com/office/drawing/2014/main" val="41039906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454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648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>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010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XGBoost / Ranking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2779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XGBoost Regressor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525282"/>
                  </a:ext>
                </a:extLst>
              </a:tr>
            </a:tbl>
          </a:graphicData>
        </a:graphic>
      </p:graphicFrame>
      <p:sp>
        <p:nvSpPr>
          <p:cNvPr id="20" name="Google Shape;274;g3d6e2211149_2_228">
            <a:extLst>
              <a:ext uri="{FF2B5EF4-FFF2-40B4-BE49-F238E27FC236}">
                <a16:creationId xmlns:a16="http://schemas.microsoft.com/office/drawing/2014/main" id="{3ACE0F1D-E0F7-E948-87D8-7DE11BA3384C}"/>
              </a:ext>
            </a:extLst>
          </p:cNvPr>
          <p:cNvSpPr txBox="1"/>
          <p:nvPr/>
        </p:nvSpPr>
        <p:spPr>
          <a:xfrm>
            <a:off x="8034973" y="2693410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 xml:space="preserve">재학습 주기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50EDF9-7F3F-5C43-A262-8BE7491A8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517468"/>
              </p:ext>
            </p:extLst>
          </p:nvPr>
        </p:nvGraphicFramePr>
        <p:xfrm>
          <a:off x="8090784" y="3125632"/>
          <a:ext cx="3857706" cy="1249680"/>
        </p:xfrm>
        <a:graphic>
          <a:graphicData uri="http://schemas.openxmlformats.org/drawingml/2006/table">
            <a:tbl>
              <a:tblPr/>
              <a:tblGrid>
                <a:gridCol w="1928853">
                  <a:extLst>
                    <a:ext uri="{9D8B030D-6E8A-4147-A177-3AD203B41FA5}">
                      <a16:colId xmlns:a16="http://schemas.microsoft.com/office/drawing/2014/main" val="323540721"/>
                    </a:ext>
                  </a:extLst>
                </a:gridCol>
                <a:gridCol w="1928853">
                  <a:extLst>
                    <a:ext uri="{9D8B030D-6E8A-4147-A177-3AD203B41FA5}">
                      <a16:colId xmlns:a16="http://schemas.microsoft.com/office/drawing/2014/main" val="8193571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주기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442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주 </a:t>
                      </a:r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23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주 </a:t>
                      </a:r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3529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주 </a:t>
                      </a:r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046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월 </a:t>
                      </a:r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664328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715D24FF-A509-A444-AAFC-F0D72FE1E490}"/>
              </a:ext>
            </a:extLst>
          </p:cNvPr>
          <p:cNvSpPr txBox="1"/>
          <p:nvPr/>
        </p:nvSpPr>
        <p:spPr>
          <a:xfrm>
            <a:off x="9572404" y="1704678"/>
            <a:ext cx="23668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 xml:space="preserve">매일 </a:t>
            </a:r>
            <a:r>
              <a:rPr lang="en-US" altLang="ko-KR" sz="1000"/>
              <a:t>04:00 Cloud Scheduler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Cloud Run Python Trigger </a:t>
            </a:r>
            <a:r>
              <a:rPr lang="ko-KR" altLang="en-US" sz="1000"/>
              <a:t>실행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Vertex AI Batch Predict 실행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BigQuery </a:t>
            </a:r>
            <a:r>
              <a:rPr lang="ko-KR" altLang="en-US" sz="1000"/>
              <a:t>결과 저장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252724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(AI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모델 학습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274;g3d6e2211149_2_228">
            <a:extLst>
              <a:ext uri="{FF2B5EF4-FFF2-40B4-BE49-F238E27FC236}">
                <a16:creationId xmlns:a16="http://schemas.microsoft.com/office/drawing/2014/main" id="{B4314E9E-D1D3-E246-AEE7-38AD96492732}"/>
              </a:ext>
            </a:extLst>
          </p:cNvPr>
          <p:cNvSpPr txBox="1"/>
          <p:nvPr/>
        </p:nvSpPr>
        <p:spPr>
          <a:xfrm>
            <a:off x="252706" y="2058621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 xml:space="preserve">1) </a:t>
            </a:r>
            <a:r>
              <a:rPr lang="en-US" sz="1200" b="1">
                <a:solidFill>
                  <a:schemeClr val="dk1"/>
                </a:solidFill>
              </a:rPr>
              <a:t xml:space="preserve">Cloud Run 배포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75DC5-4807-1E42-BFD0-7021D3BC675A}"/>
              </a:ext>
            </a:extLst>
          </p:cNvPr>
          <p:cNvSpPr txBox="1"/>
          <p:nvPr/>
        </p:nvSpPr>
        <p:spPr>
          <a:xfrm>
            <a:off x="243509" y="1379202"/>
            <a:ext cx="8914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 xml:space="preserve">Vertex AI </a:t>
            </a:r>
            <a:r>
              <a:rPr lang="ko-KR" altLang="en-US" sz="1200"/>
              <a:t xml:space="preserve">등록 모델을 매일 자동 실행하여 </a:t>
            </a:r>
            <a:r>
              <a:rPr lang="en-US" sz="1200"/>
              <a:t xml:space="preserve">BigQuery </a:t>
            </a:r>
            <a:r>
              <a:rPr lang="ko-KR" altLang="en-US" sz="1200"/>
              <a:t xml:space="preserve">입력 데이터를 예측하고 결과를 </a:t>
            </a:r>
            <a:r>
              <a:rPr lang="en-US" sz="1200"/>
              <a:t>BigQuery</a:t>
            </a:r>
            <a:r>
              <a:rPr lang="ko-KR" altLang="en-US" sz="1200"/>
              <a:t xml:space="preserve">에 저장하는 운영용 </a:t>
            </a:r>
            <a:r>
              <a:rPr lang="en-US" sz="1200"/>
              <a:t xml:space="preserve">Batch Predict </a:t>
            </a:r>
            <a:endParaRPr lang="en-KR" sz="120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4B26C06-511B-6E4B-8A5B-1B9798413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370199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Vertext AI Predict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40AF13F-2766-7145-B8F6-6A8BFC9CA2A7}"/>
              </a:ext>
            </a:extLst>
          </p:cNvPr>
          <p:cNvSpPr txBox="1"/>
          <p:nvPr/>
        </p:nvSpPr>
        <p:spPr>
          <a:xfrm>
            <a:off x="9572404" y="1704678"/>
            <a:ext cx="23668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 xml:space="preserve">매일 </a:t>
            </a:r>
            <a:r>
              <a:rPr lang="en-US" altLang="ko-KR" sz="1000"/>
              <a:t>04:00 Cloud Scheduler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Cloud Run Python Trigger </a:t>
            </a:r>
            <a:r>
              <a:rPr lang="ko-KR" altLang="en-US" sz="1000"/>
              <a:t>실행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Vertex AI Batch Predict 실행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BigQuery </a:t>
            </a:r>
            <a:r>
              <a:rPr lang="ko-KR" altLang="en-US" sz="1000"/>
              <a:t>결과 저장</a:t>
            </a:r>
            <a:endParaRPr lang="en-KR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64586F-FB60-9648-976E-9979D23F4D45}"/>
              </a:ext>
            </a:extLst>
          </p:cNvPr>
          <p:cNvSpPr txBox="1"/>
          <p:nvPr/>
        </p:nvSpPr>
        <p:spPr>
          <a:xfrm>
            <a:off x="294910" y="2512248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gcloud run deploy lifesync-predict-runner \</a:t>
            </a:r>
          </a:p>
          <a:p>
            <a:r>
              <a:rPr lang="en-US" altLang="ko-KR" sz="1100"/>
              <a:t>--source . \</a:t>
            </a:r>
          </a:p>
          <a:p>
            <a:r>
              <a:rPr lang="en-US" altLang="ko-KR" sz="1100"/>
              <a:t>--region asia-northeast3 \</a:t>
            </a:r>
          </a:p>
          <a:p>
            <a:r>
              <a:rPr lang="en-US" altLang="ko-KR" sz="1100"/>
              <a:t>--allow-unauthenticated</a:t>
            </a:r>
            <a:endParaRPr lang="en-KR" sz="1100"/>
          </a:p>
        </p:txBody>
      </p:sp>
      <p:sp>
        <p:nvSpPr>
          <p:cNvPr id="19" name="Google Shape;274;g3d6e2211149_2_228">
            <a:extLst>
              <a:ext uri="{FF2B5EF4-FFF2-40B4-BE49-F238E27FC236}">
                <a16:creationId xmlns:a16="http://schemas.microsoft.com/office/drawing/2014/main" id="{38B321E7-749D-FC43-9B73-DBEF93680BE4}"/>
              </a:ext>
            </a:extLst>
          </p:cNvPr>
          <p:cNvSpPr txBox="1"/>
          <p:nvPr/>
        </p:nvSpPr>
        <p:spPr>
          <a:xfrm>
            <a:off x="252706" y="390148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 xml:space="preserve">2) </a:t>
            </a:r>
            <a:r>
              <a:rPr lang="en-US" sz="1200" b="1">
                <a:solidFill>
                  <a:schemeClr val="dk1"/>
                </a:solidFill>
              </a:rPr>
              <a:t>Cloud Scheduler 등록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16A46D-8247-EE47-AEC9-7C0D9E8906B5}"/>
              </a:ext>
            </a:extLst>
          </p:cNvPr>
          <p:cNvSpPr txBox="1"/>
          <p:nvPr/>
        </p:nvSpPr>
        <p:spPr>
          <a:xfrm>
            <a:off x="294910" y="4355115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 xml:space="preserve">매일 </a:t>
            </a:r>
            <a:r>
              <a:rPr lang="en-US" altLang="ko-KR" sz="1100"/>
              <a:t>04:00</a:t>
            </a:r>
          </a:p>
          <a:p>
            <a:endParaRPr lang="en-US" sz="1100"/>
          </a:p>
          <a:p>
            <a:r>
              <a:rPr lang="en-US" sz="1100"/>
              <a:t xml:space="preserve">HTTP 호출 대상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/>
              <a:t>https://lifesync-predict-runner.run.app</a:t>
            </a:r>
            <a:endParaRPr lang="en-KR" sz="1100"/>
          </a:p>
        </p:txBody>
      </p:sp>
      <p:sp>
        <p:nvSpPr>
          <p:cNvPr id="22" name="Google Shape;274;g3d6e2211149_2_228">
            <a:extLst>
              <a:ext uri="{FF2B5EF4-FFF2-40B4-BE49-F238E27FC236}">
                <a16:creationId xmlns:a16="http://schemas.microsoft.com/office/drawing/2014/main" id="{93A2059D-8EEB-804F-822D-3D37D14E79A5}"/>
              </a:ext>
            </a:extLst>
          </p:cNvPr>
          <p:cNvSpPr txBox="1"/>
          <p:nvPr/>
        </p:nvSpPr>
        <p:spPr>
          <a:xfrm>
            <a:off x="5331143" y="2058621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 xml:space="preserve">3) </a:t>
            </a:r>
            <a:r>
              <a:rPr lang="en-US" sz="1200" b="1">
                <a:solidFill>
                  <a:schemeClr val="dk1"/>
                </a:solidFill>
              </a:rPr>
              <a:t xml:space="preserve">결과 저장 </a:t>
            </a:r>
            <a:r>
              <a:rPr lang="en-US" altLang="ko-KR" sz="1200" b="1">
                <a:solidFill>
                  <a:schemeClr val="dk1"/>
                </a:solidFill>
              </a:rPr>
              <a:t xml:space="preserve">(Batch Predict </a:t>
            </a:r>
            <a:r>
              <a:rPr lang="ko-KR" altLang="en-US" sz="1200" b="1">
                <a:solidFill>
                  <a:schemeClr val="dk1"/>
                </a:solidFill>
              </a:rPr>
              <a:t>결과</a:t>
            </a:r>
            <a:r>
              <a:rPr lang="en-US" altLang="ko-KR" sz="1200" b="1">
                <a:solidFill>
                  <a:schemeClr val="dk1"/>
                </a:solidFill>
              </a:rPr>
              <a:t>)</a:t>
            </a:r>
            <a:r>
              <a:rPr lang="en-US" sz="1200" b="1">
                <a:solidFill>
                  <a:schemeClr val="dk1"/>
                </a:solidFill>
              </a:rPr>
              <a:t xml:space="preserve"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F7B124-38C2-A149-95BD-8F925ECF2A90}"/>
              </a:ext>
            </a:extLst>
          </p:cNvPr>
          <p:cNvSpPr txBox="1"/>
          <p:nvPr/>
        </p:nvSpPr>
        <p:spPr>
          <a:xfrm>
            <a:off x="5373347" y="2512248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lifesync_ml.vip_prediction_result</a:t>
            </a:r>
          </a:p>
          <a:p>
            <a:r>
              <a:rPr lang="en-US" altLang="ko-KR" sz="1100"/>
              <a:t>lifesync_ml.signup_prediction_result</a:t>
            </a:r>
          </a:p>
          <a:p>
            <a:r>
              <a:rPr lang="en-US" altLang="ko-KR" sz="1100"/>
              <a:t>lifesync_ml.rec_prediction_result</a:t>
            </a:r>
          </a:p>
          <a:p>
            <a:r>
              <a:rPr lang="en-US" altLang="ko-KR" sz="1100"/>
              <a:t>lifesync_ml.health_prediction_result</a:t>
            </a:r>
            <a:endParaRPr lang="en-KR" sz="11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21A637-4114-914C-9EFB-181FA87DD06E}"/>
              </a:ext>
            </a:extLst>
          </p:cNvPr>
          <p:cNvSpPr txBox="1"/>
          <p:nvPr/>
        </p:nvSpPr>
        <p:spPr>
          <a:xfrm>
            <a:off x="243509" y="707150"/>
            <a:ext cx="98584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Scheduled Query</a:t>
            </a:r>
            <a:r>
              <a:rPr lang="ko-KR" altLang="en-US" b="1"/>
              <a:t>가 학습</a:t>
            </a:r>
            <a:r>
              <a:rPr lang="en-US" altLang="ko-KR" b="1"/>
              <a:t>/</a:t>
            </a:r>
            <a:r>
              <a:rPr lang="ko-KR" altLang="en-US" b="1"/>
              <a:t>예측 입력 테이블을 만들고</a:t>
            </a:r>
            <a:r>
              <a:rPr lang="en-US" altLang="ko-KR" b="1"/>
              <a:t xml:space="preserve">, </a:t>
            </a:r>
            <a:r>
              <a:rPr lang="en-US" b="1"/>
              <a:t>Cloud Scheduler</a:t>
            </a:r>
            <a:r>
              <a:rPr lang="ko-KR" altLang="en-US" b="1"/>
              <a:t xml:space="preserve">가 </a:t>
            </a:r>
            <a:r>
              <a:rPr lang="en-US" b="1"/>
              <a:t>Python Trigger</a:t>
            </a:r>
            <a:r>
              <a:rPr lang="ko-KR" altLang="en-US" b="1"/>
              <a:t>를 실행해</a:t>
            </a:r>
            <a:br>
              <a:rPr lang="ko-KR" altLang="en-US" b="1"/>
            </a:br>
            <a:r>
              <a:rPr lang="en-US" b="1"/>
              <a:t>Vertex AI Batch Predict</a:t>
            </a:r>
            <a:r>
              <a:rPr lang="ko-KR" altLang="en-US" b="1"/>
              <a:t>를 자동 수행하는 구조</a:t>
            </a:r>
            <a:endParaRPr lang="en-KR" b="1"/>
          </a:p>
        </p:txBody>
      </p:sp>
    </p:spTree>
    <p:extLst>
      <p:ext uri="{BB962C8B-B14F-4D97-AF65-F5344CB8AC3E}">
        <p14:creationId xmlns:p14="http://schemas.microsoft.com/office/powerpoint/2010/main" val="312407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결과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1/4)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92EC48-8168-2C46-974E-B39610C43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25078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891C909-FFFE-084F-8758-882A7E30911D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 xml:space="preserve">BigQuery Scheduled Query → Cloud Scheduler → Vertex_AI_Batch_Predict.py </a:t>
            </a:r>
            <a:r>
              <a:rPr lang="ko-KR" altLang="en-US" b="1"/>
              <a:t xml:space="preserve">실행 → 결과 </a:t>
            </a:r>
            <a:r>
              <a:rPr lang="en-US" b="1"/>
              <a:t xml:space="preserve">BigQuery </a:t>
            </a:r>
            <a:r>
              <a:rPr lang="ko-KR" altLang="en-US" b="1"/>
              <a:t>저장</a:t>
            </a:r>
            <a:endParaRPr lang="en-KR" b="1"/>
          </a:p>
        </p:txBody>
      </p:sp>
      <p:sp>
        <p:nvSpPr>
          <p:cNvPr id="24" name="Google Shape;274;g3d6e2211149_2_228">
            <a:extLst>
              <a:ext uri="{FF2B5EF4-FFF2-40B4-BE49-F238E27FC236}">
                <a16:creationId xmlns:a16="http://schemas.microsoft.com/office/drawing/2014/main" id="{BE612F06-2497-BE49-8964-20C3D4F6D386}"/>
              </a:ext>
            </a:extLst>
          </p:cNvPr>
          <p:cNvSpPr txBox="1"/>
          <p:nvPr/>
        </p:nvSpPr>
        <p:spPr>
          <a:xfrm>
            <a:off x="243509" y="147083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 xml:space="preserve">결과 저장 </a:t>
            </a:r>
            <a:r>
              <a:rPr lang="en-US" altLang="ko-KR" sz="1200" b="1">
                <a:solidFill>
                  <a:schemeClr val="dk1"/>
                </a:solidFill>
              </a:rPr>
              <a:t xml:space="preserve">(Batch Predict </a:t>
            </a:r>
            <a:r>
              <a:rPr lang="ko-KR" altLang="en-US" sz="1200" b="1">
                <a:solidFill>
                  <a:schemeClr val="dk1"/>
                </a:solidFill>
              </a:rPr>
              <a:t>결과</a:t>
            </a:r>
            <a:r>
              <a:rPr lang="en-US" altLang="ko-KR" sz="1200" b="1">
                <a:solidFill>
                  <a:schemeClr val="dk1"/>
                </a:solidFill>
              </a:rPr>
              <a:t>)</a:t>
            </a:r>
            <a:r>
              <a:rPr lang="en-US" sz="1200" b="1">
                <a:solidFill>
                  <a:schemeClr val="dk1"/>
                </a:solidFill>
              </a:rPr>
              <a:t xml:space="preserve"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0359C5-B52A-DE41-BEC1-05F63EB224EC}"/>
              </a:ext>
            </a:extLst>
          </p:cNvPr>
          <p:cNvSpPr txBox="1"/>
          <p:nvPr/>
        </p:nvSpPr>
        <p:spPr>
          <a:xfrm>
            <a:off x="285713" y="1924465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lifesync_ml.vip_prediction_result</a:t>
            </a:r>
          </a:p>
          <a:p>
            <a:r>
              <a:rPr lang="en-US" altLang="ko-KR" sz="1100"/>
              <a:t>lifesync_ml.signup_prediction_result</a:t>
            </a:r>
          </a:p>
          <a:p>
            <a:r>
              <a:rPr lang="en-US" altLang="ko-KR" sz="1100"/>
              <a:t>lifesync_ml.rec_prediction_result</a:t>
            </a:r>
          </a:p>
          <a:p>
            <a:r>
              <a:rPr lang="en-US" altLang="ko-KR" sz="1100"/>
              <a:t>lifesync_ml.health_prediction_result</a:t>
            </a:r>
            <a:endParaRPr lang="en-KR" sz="1100"/>
          </a:p>
        </p:txBody>
      </p:sp>
      <p:sp>
        <p:nvSpPr>
          <p:cNvPr id="26" name="Google Shape;274;g3d6e2211149_2_228">
            <a:extLst>
              <a:ext uri="{FF2B5EF4-FFF2-40B4-BE49-F238E27FC236}">
                <a16:creationId xmlns:a16="http://schemas.microsoft.com/office/drawing/2014/main" id="{C5266E60-F97F-A24A-976A-758CAB3471C8}"/>
              </a:ext>
            </a:extLst>
          </p:cNvPr>
          <p:cNvSpPr txBox="1"/>
          <p:nvPr/>
        </p:nvSpPr>
        <p:spPr>
          <a:xfrm>
            <a:off x="243509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1) VIP Prediction Result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8EF0B2-3EF9-A644-B2BA-A2022C2DC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862877"/>
              </p:ext>
            </p:extLst>
          </p:nvPr>
        </p:nvGraphicFramePr>
        <p:xfrm>
          <a:off x="285713" y="3496644"/>
          <a:ext cx="4362158" cy="2225040"/>
        </p:xfrm>
        <a:graphic>
          <a:graphicData uri="http://schemas.openxmlformats.org/drawingml/2006/table">
            <a:tbl>
              <a:tblPr/>
              <a:tblGrid>
                <a:gridCol w="2181079">
                  <a:extLst>
                    <a:ext uri="{9D8B030D-6E8A-4147-A177-3AD203B41FA5}">
                      <a16:colId xmlns:a16="http://schemas.microsoft.com/office/drawing/2014/main" val="889282043"/>
                    </a:ext>
                  </a:extLst>
                </a:gridCol>
                <a:gridCol w="2181079">
                  <a:extLst>
                    <a:ext uri="{9D8B030D-6E8A-4147-A177-3AD203B41FA5}">
                      <a16:colId xmlns:a16="http://schemas.microsoft.com/office/drawing/2014/main" val="1055162030"/>
                    </a:ext>
                  </a:extLst>
                </a:gridCol>
              </a:tblGrid>
              <a:tr h="17942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055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785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balance_30d_avg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입력값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314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invest_total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입력값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5872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affiliate_cnt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입력값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005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 xml:space="preserve">후보 여부 </a:t>
                      </a:r>
                      <a:r>
                        <a:rPr lang="en-US" altLang="ko-KR" sz="1000"/>
                        <a:t>(0/1)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2227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확률배열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621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batch_id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실행차수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3723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prediction_time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예측시간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913215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0A09C9-4F62-5842-831E-A7A5543D1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776189"/>
              </p:ext>
            </p:extLst>
          </p:nvPr>
        </p:nvGraphicFramePr>
        <p:xfrm>
          <a:off x="5462090" y="3499912"/>
          <a:ext cx="5187153" cy="1005840"/>
        </p:xfrm>
        <a:graphic>
          <a:graphicData uri="http://schemas.openxmlformats.org/drawingml/2006/table">
            <a:tbl>
              <a:tblPr/>
              <a:tblGrid>
                <a:gridCol w="1729051">
                  <a:extLst>
                    <a:ext uri="{9D8B030D-6E8A-4147-A177-3AD203B41FA5}">
                      <a16:colId xmlns:a16="http://schemas.microsoft.com/office/drawing/2014/main" val="1198394406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4021822404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2638892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global_id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18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[0.91,0.09]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909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[0.18,0.82]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50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 dirty="0"/>
                        <a:t>[0.87,0.13]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942756"/>
                  </a:ext>
                </a:extLst>
              </a:tr>
            </a:tbl>
          </a:graphicData>
        </a:graphic>
      </p:graphicFrame>
      <p:sp>
        <p:nvSpPr>
          <p:cNvPr id="27" name="Google Shape;274;g3d6e2211149_2_228">
            <a:extLst>
              <a:ext uri="{FF2B5EF4-FFF2-40B4-BE49-F238E27FC236}">
                <a16:creationId xmlns:a16="http://schemas.microsoft.com/office/drawing/2014/main" id="{F22A3B11-9AAB-0946-874F-9C510D41CCCA}"/>
              </a:ext>
            </a:extLst>
          </p:cNvPr>
          <p:cNvSpPr txBox="1"/>
          <p:nvPr/>
        </p:nvSpPr>
        <p:spPr>
          <a:xfrm>
            <a:off x="5462090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예시 데이터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AF4E5E6D-F667-0B4F-BE92-33F9653E3E80}"/>
              </a:ext>
            </a:extLst>
          </p:cNvPr>
          <p:cNvSpPr txBox="1"/>
          <p:nvPr/>
        </p:nvSpPr>
        <p:spPr>
          <a:xfrm>
            <a:off x="5462090" y="4654770"/>
            <a:ext cx="402231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0.91 = VIP 될 가능성이 높음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74;g3d6e2211149_2_228">
            <a:extLst>
              <a:ext uri="{FF2B5EF4-FFF2-40B4-BE49-F238E27FC236}">
                <a16:creationId xmlns:a16="http://schemas.microsoft.com/office/drawing/2014/main" id="{CD793379-1343-DD49-B499-3785369D500A}"/>
              </a:ext>
            </a:extLst>
          </p:cNvPr>
          <p:cNvSpPr txBox="1"/>
          <p:nvPr/>
        </p:nvSpPr>
        <p:spPr>
          <a:xfrm>
            <a:off x="5462090" y="5494199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활용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C4A6C5-559A-6B44-B912-D6E9CDC173A1}"/>
              </a:ext>
            </a:extLst>
          </p:cNvPr>
          <p:cNvSpPr txBox="1"/>
          <p:nvPr/>
        </p:nvSpPr>
        <p:spPr>
          <a:xfrm>
            <a:off x="5458153" y="5851211"/>
            <a:ext cx="34581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 xml:space="preserve">VIP </a:t>
            </a:r>
            <a:r>
              <a:rPr lang="ko-KR" altLang="en-US" sz="1000"/>
              <a:t>여부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48457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결과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2/4)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92EC48-8168-2C46-974E-B39610C4343F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891C909-FFFE-084F-8758-882A7E30911D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 xml:space="preserve">BigQuery Scheduled Query → Cloud Scheduler → Vertex_AI_Batch_Predict.py </a:t>
            </a:r>
            <a:r>
              <a:rPr lang="ko-KR" altLang="en-US" b="1"/>
              <a:t xml:space="preserve">실행 → 결과 </a:t>
            </a:r>
            <a:r>
              <a:rPr lang="en-US" b="1"/>
              <a:t xml:space="preserve">BigQuery </a:t>
            </a:r>
            <a:r>
              <a:rPr lang="ko-KR" altLang="en-US" b="1"/>
              <a:t>저장</a:t>
            </a:r>
            <a:endParaRPr lang="en-KR" b="1"/>
          </a:p>
        </p:txBody>
      </p:sp>
      <p:sp>
        <p:nvSpPr>
          <p:cNvPr id="24" name="Google Shape;274;g3d6e2211149_2_228">
            <a:extLst>
              <a:ext uri="{FF2B5EF4-FFF2-40B4-BE49-F238E27FC236}">
                <a16:creationId xmlns:a16="http://schemas.microsoft.com/office/drawing/2014/main" id="{BE612F06-2497-BE49-8964-20C3D4F6D386}"/>
              </a:ext>
            </a:extLst>
          </p:cNvPr>
          <p:cNvSpPr txBox="1"/>
          <p:nvPr/>
        </p:nvSpPr>
        <p:spPr>
          <a:xfrm>
            <a:off x="243509" y="147083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 xml:space="preserve">결과 저장 </a:t>
            </a:r>
            <a:r>
              <a:rPr lang="en-US" altLang="ko-KR" sz="1200" b="1">
                <a:solidFill>
                  <a:schemeClr val="dk1"/>
                </a:solidFill>
              </a:rPr>
              <a:t xml:space="preserve">(Batch Predict </a:t>
            </a:r>
            <a:r>
              <a:rPr lang="ko-KR" altLang="en-US" sz="1200" b="1">
                <a:solidFill>
                  <a:schemeClr val="dk1"/>
                </a:solidFill>
              </a:rPr>
              <a:t>결과</a:t>
            </a:r>
            <a:r>
              <a:rPr lang="en-US" altLang="ko-KR" sz="1200" b="1">
                <a:solidFill>
                  <a:schemeClr val="dk1"/>
                </a:solidFill>
              </a:rPr>
              <a:t>)</a:t>
            </a:r>
            <a:r>
              <a:rPr lang="en-US" sz="1200" b="1">
                <a:solidFill>
                  <a:schemeClr val="dk1"/>
                </a:solidFill>
              </a:rPr>
              <a:t xml:space="preserve"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0359C5-B52A-DE41-BEC1-05F63EB224EC}"/>
              </a:ext>
            </a:extLst>
          </p:cNvPr>
          <p:cNvSpPr txBox="1"/>
          <p:nvPr/>
        </p:nvSpPr>
        <p:spPr>
          <a:xfrm>
            <a:off x="285713" y="1924465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lifesync_ml.vip_prediction_result</a:t>
            </a:r>
          </a:p>
          <a:p>
            <a:r>
              <a:rPr lang="en-US" altLang="ko-KR" sz="1100"/>
              <a:t>lifesync_ml.signup_prediction_result</a:t>
            </a:r>
          </a:p>
          <a:p>
            <a:r>
              <a:rPr lang="en-US" altLang="ko-KR" sz="1100"/>
              <a:t>lifesync_ml.rec_prediction_result</a:t>
            </a:r>
          </a:p>
          <a:p>
            <a:r>
              <a:rPr lang="en-US" altLang="ko-KR" sz="1100"/>
              <a:t>lifesync_ml.health_prediction_result</a:t>
            </a:r>
            <a:endParaRPr lang="en-KR" sz="1100"/>
          </a:p>
        </p:txBody>
      </p:sp>
      <p:sp>
        <p:nvSpPr>
          <p:cNvPr id="26" name="Google Shape;274;g3d6e2211149_2_228">
            <a:extLst>
              <a:ext uri="{FF2B5EF4-FFF2-40B4-BE49-F238E27FC236}">
                <a16:creationId xmlns:a16="http://schemas.microsoft.com/office/drawing/2014/main" id="{C5266E60-F97F-A24A-976A-758CAB3471C8}"/>
              </a:ext>
            </a:extLst>
          </p:cNvPr>
          <p:cNvSpPr txBox="1"/>
          <p:nvPr/>
        </p:nvSpPr>
        <p:spPr>
          <a:xfrm>
            <a:off x="243509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>2</a:t>
            </a:r>
            <a:r>
              <a:rPr lang="en-US" sz="1200" b="1">
                <a:solidFill>
                  <a:schemeClr val="dk1"/>
                </a:solidFill>
              </a:rPr>
              <a:t>) Signup Prediction Result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0A09C9-4F62-5842-831E-A7A5543D1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601380"/>
              </p:ext>
            </p:extLst>
          </p:nvPr>
        </p:nvGraphicFramePr>
        <p:xfrm>
          <a:off x="5462090" y="3499912"/>
          <a:ext cx="5187153" cy="1005840"/>
        </p:xfrm>
        <a:graphic>
          <a:graphicData uri="http://schemas.openxmlformats.org/drawingml/2006/table">
            <a:tbl>
              <a:tblPr/>
              <a:tblGrid>
                <a:gridCol w="1729051">
                  <a:extLst>
                    <a:ext uri="{9D8B030D-6E8A-4147-A177-3AD203B41FA5}">
                      <a16:colId xmlns:a16="http://schemas.microsoft.com/office/drawing/2014/main" val="1198394406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4021822404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2638892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global_id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18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[0.84,0.16]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909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G000002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[0.22,0.78]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50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G000003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[0.77,0.23]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942756"/>
                  </a:ext>
                </a:extLst>
              </a:tr>
            </a:tbl>
          </a:graphicData>
        </a:graphic>
      </p:graphicFrame>
      <p:sp>
        <p:nvSpPr>
          <p:cNvPr id="27" name="Google Shape;274;g3d6e2211149_2_228">
            <a:extLst>
              <a:ext uri="{FF2B5EF4-FFF2-40B4-BE49-F238E27FC236}">
                <a16:creationId xmlns:a16="http://schemas.microsoft.com/office/drawing/2014/main" id="{F22A3B11-9AAB-0946-874F-9C510D41CCCA}"/>
              </a:ext>
            </a:extLst>
          </p:cNvPr>
          <p:cNvSpPr txBox="1"/>
          <p:nvPr/>
        </p:nvSpPr>
        <p:spPr>
          <a:xfrm>
            <a:off x="5462090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예시 데이터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AF4E5E6D-F667-0B4F-BE92-33F9653E3E80}"/>
              </a:ext>
            </a:extLst>
          </p:cNvPr>
          <p:cNvSpPr txBox="1"/>
          <p:nvPr/>
        </p:nvSpPr>
        <p:spPr>
          <a:xfrm>
            <a:off x="5462090" y="4654770"/>
            <a:ext cx="402231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</a:t>
            </a: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84</a:t>
            </a: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= 가입 가능성 매우 높음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E979A2-A4EC-314B-B609-9C5C5367E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291657"/>
              </p:ext>
            </p:extLst>
          </p:nvPr>
        </p:nvGraphicFramePr>
        <p:xfrm>
          <a:off x="278465" y="3506486"/>
          <a:ext cx="4985826" cy="2956560"/>
        </p:xfrm>
        <a:graphic>
          <a:graphicData uri="http://schemas.openxmlformats.org/drawingml/2006/table">
            <a:tbl>
              <a:tblPr/>
              <a:tblGrid>
                <a:gridCol w="1661942">
                  <a:extLst>
                    <a:ext uri="{9D8B030D-6E8A-4147-A177-3AD203B41FA5}">
                      <a16:colId xmlns:a16="http://schemas.microsoft.com/office/drawing/2014/main" val="394140406"/>
                    </a:ext>
                  </a:extLst>
                </a:gridCol>
                <a:gridCol w="1661942">
                  <a:extLst>
                    <a:ext uri="{9D8B030D-6E8A-4147-A177-3AD203B41FA5}">
                      <a16:colId xmlns:a16="http://schemas.microsoft.com/office/drawing/2014/main" val="658136115"/>
                    </a:ext>
                  </a:extLst>
                </a:gridCol>
                <a:gridCol w="1661942">
                  <a:extLst>
                    <a:ext uri="{9D8B030D-6E8A-4147-A177-3AD203B41FA5}">
                      <a16:colId xmlns:a16="http://schemas.microsoft.com/office/drawing/2014/main" val="184329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549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고객 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6252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feature_dt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1076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balance_30d_avg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평균 잔액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1868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card_spend_30d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 사용액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927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invest_ratio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투자비율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436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login_cnt_30d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로그인 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378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recommend_click_rate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클릭률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6491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affiliate_cnt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이용수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455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가입 예측 </a:t>
                      </a:r>
                      <a:r>
                        <a:rPr lang="en-US" altLang="ko-KR" sz="1000"/>
                        <a:t>(0/1)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2176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ARRAY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891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prediction_time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예측시각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268141"/>
                  </a:ext>
                </a:extLst>
              </a:tr>
            </a:tbl>
          </a:graphicData>
        </a:graphic>
      </p:graphicFrame>
      <p:sp>
        <p:nvSpPr>
          <p:cNvPr id="13" name="Google Shape;274;g3d6e2211149_2_228">
            <a:extLst>
              <a:ext uri="{FF2B5EF4-FFF2-40B4-BE49-F238E27FC236}">
                <a16:creationId xmlns:a16="http://schemas.microsoft.com/office/drawing/2014/main" id="{7C7EF220-2828-1343-BD3B-E0A0F1531359}"/>
              </a:ext>
            </a:extLst>
          </p:cNvPr>
          <p:cNvSpPr txBox="1"/>
          <p:nvPr/>
        </p:nvSpPr>
        <p:spPr>
          <a:xfrm>
            <a:off x="5462090" y="5494199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활용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5E40AA-7A38-564E-8984-1C9AEBD76CC8}"/>
              </a:ext>
            </a:extLst>
          </p:cNvPr>
          <p:cNvSpPr txBox="1"/>
          <p:nvPr/>
        </p:nvSpPr>
        <p:spPr>
          <a:xfrm>
            <a:off x="5458153" y="5851211"/>
            <a:ext cx="34581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보험 가입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프리미엄 카드 제안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 xml:space="preserve">PB </a:t>
            </a:r>
            <a:r>
              <a:rPr lang="ko-KR" altLang="en-US" sz="1000"/>
              <a:t>멤버십 제안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6899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결과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3/4)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92EC48-8168-2C46-974E-B39610C4343F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891C909-FFFE-084F-8758-882A7E30911D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 xml:space="preserve">BigQuery Scheduled Query → Cloud Scheduler → Vertex_AI_Batch_Predict.py </a:t>
            </a:r>
            <a:r>
              <a:rPr lang="ko-KR" altLang="en-US" b="1"/>
              <a:t xml:space="preserve">실행 → 결과 </a:t>
            </a:r>
            <a:r>
              <a:rPr lang="en-US" b="1"/>
              <a:t xml:space="preserve">BigQuery </a:t>
            </a:r>
            <a:r>
              <a:rPr lang="ko-KR" altLang="en-US" b="1"/>
              <a:t>저장</a:t>
            </a:r>
            <a:endParaRPr lang="en-KR" b="1"/>
          </a:p>
        </p:txBody>
      </p:sp>
      <p:sp>
        <p:nvSpPr>
          <p:cNvPr id="24" name="Google Shape;274;g3d6e2211149_2_228">
            <a:extLst>
              <a:ext uri="{FF2B5EF4-FFF2-40B4-BE49-F238E27FC236}">
                <a16:creationId xmlns:a16="http://schemas.microsoft.com/office/drawing/2014/main" id="{BE612F06-2497-BE49-8964-20C3D4F6D386}"/>
              </a:ext>
            </a:extLst>
          </p:cNvPr>
          <p:cNvSpPr txBox="1"/>
          <p:nvPr/>
        </p:nvSpPr>
        <p:spPr>
          <a:xfrm>
            <a:off x="243509" y="147083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 xml:space="preserve">결과 저장 </a:t>
            </a:r>
            <a:r>
              <a:rPr lang="en-US" altLang="ko-KR" sz="1200" b="1">
                <a:solidFill>
                  <a:schemeClr val="dk1"/>
                </a:solidFill>
              </a:rPr>
              <a:t xml:space="preserve">(Batch Predict </a:t>
            </a:r>
            <a:r>
              <a:rPr lang="ko-KR" altLang="en-US" sz="1200" b="1">
                <a:solidFill>
                  <a:schemeClr val="dk1"/>
                </a:solidFill>
              </a:rPr>
              <a:t>결과</a:t>
            </a:r>
            <a:r>
              <a:rPr lang="en-US" altLang="ko-KR" sz="1200" b="1">
                <a:solidFill>
                  <a:schemeClr val="dk1"/>
                </a:solidFill>
              </a:rPr>
              <a:t>)</a:t>
            </a:r>
            <a:r>
              <a:rPr lang="en-US" sz="1200" b="1">
                <a:solidFill>
                  <a:schemeClr val="dk1"/>
                </a:solidFill>
              </a:rPr>
              <a:t xml:space="preserve"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0359C5-B52A-DE41-BEC1-05F63EB224EC}"/>
              </a:ext>
            </a:extLst>
          </p:cNvPr>
          <p:cNvSpPr txBox="1"/>
          <p:nvPr/>
        </p:nvSpPr>
        <p:spPr>
          <a:xfrm>
            <a:off x="285713" y="1924465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lifesync_ml.vip_prediction_result</a:t>
            </a:r>
          </a:p>
          <a:p>
            <a:r>
              <a:rPr lang="en-US" altLang="ko-KR" sz="1100"/>
              <a:t>lifesync_ml.signup_prediction_result</a:t>
            </a:r>
          </a:p>
          <a:p>
            <a:r>
              <a:rPr lang="en-US" altLang="ko-KR" sz="1100"/>
              <a:t>lifesync_ml.rec_prediction_result</a:t>
            </a:r>
          </a:p>
          <a:p>
            <a:r>
              <a:rPr lang="en-US" altLang="ko-KR" sz="1100"/>
              <a:t>lifesync_ml.health_prediction_result</a:t>
            </a:r>
            <a:endParaRPr lang="en-KR" sz="1100"/>
          </a:p>
        </p:txBody>
      </p:sp>
      <p:sp>
        <p:nvSpPr>
          <p:cNvPr id="26" name="Google Shape;274;g3d6e2211149_2_228">
            <a:extLst>
              <a:ext uri="{FF2B5EF4-FFF2-40B4-BE49-F238E27FC236}">
                <a16:creationId xmlns:a16="http://schemas.microsoft.com/office/drawing/2014/main" id="{C5266E60-F97F-A24A-976A-758CAB3471C8}"/>
              </a:ext>
            </a:extLst>
          </p:cNvPr>
          <p:cNvSpPr txBox="1"/>
          <p:nvPr/>
        </p:nvSpPr>
        <p:spPr>
          <a:xfrm>
            <a:off x="243509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>3</a:t>
            </a:r>
            <a:r>
              <a:rPr lang="en-US" sz="1200" b="1">
                <a:solidFill>
                  <a:schemeClr val="dk1"/>
                </a:solidFill>
              </a:rPr>
              <a:t>) Recommendation Prediction Result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0A09C9-4F62-5842-831E-A7A5543D1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697744"/>
              </p:ext>
            </p:extLst>
          </p:nvPr>
        </p:nvGraphicFramePr>
        <p:xfrm>
          <a:off x="5462090" y="3499912"/>
          <a:ext cx="5187153" cy="1005840"/>
        </p:xfrm>
        <a:graphic>
          <a:graphicData uri="http://schemas.openxmlformats.org/drawingml/2006/table">
            <a:tbl>
              <a:tblPr/>
              <a:tblGrid>
                <a:gridCol w="1729051">
                  <a:extLst>
                    <a:ext uri="{9D8B030D-6E8A-4147-A177-3AD203B41FA5}">
                      <a16:colId xmlns:a16="http://schemas.microsoft.com/office/drawing/2014/main" val="1198394406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4021822404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2638892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global_id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18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[0.91,0.09]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909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[0.34,0.66]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50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 dirty="0"/>
                        <a:t>[0.73,0.27]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942756"/>
                  </a:ext>
                </a:extLst>
              </a:tr>
            </a:tbl>
          </a:graphicData>
        </a:graphic>
      </p:graphicFrame>
      <p:sp>
        <p:nvSpPr>
          <p:cNvPr id="27" name="Google Shape;274;g3d6e2211149_2_228">
            <a:extLst>
              <a:ext uri="{FF2B5EF4-FFF2-40B4-BE49-F238E27FC236}">
                <a16:creationId xmlns:a16="http://schemas.microsoft.com/office/drawing/2014/main" id="{F22A3B11-9AAB-0946-874F-9C510D41CCCA}"/>
              </a:ext>
            </a:extLst>
          </p:cNvPr>
          <p:cNvSpPr txBox="1"/>
          <p:nvPr/>
        </p:nvSpPr>
        <p:spPr>
          <a:xfrm>
            <a:off x="5462090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예시 데이터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AF4E5E6D-F667-0B4F-BE92-33F9653E3E80}"/>
              </a:ext>
            </a:extLst>
          </p:cNvPr>
          <p:cNvSpPr txBox="1"/>
          <p:nvPr/>
        </p:nvSpPr>
        <p:spPr>
          <a:xfrm>
            <a:off x="5462090" y="4654770"/>
            <a:ext cx="402231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</a:t>
            </a:r>
            <a:r>
              <a:rPr lang="en-US" sz="1000">
                <a:solidFill>
                  <a:schemeClr val="dk1"/>
                </a:solidFill>
              </a:rPr>
              <a:t>91</a:t>
            </a: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= 추천상품 클릭 </a:t>
            </a: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/ 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가입 가능성 높음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F83A0E-7F89-F540-BEC0-39B915300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227496"/>
              </p:ext>
            </p:extLst>
          </p:nvPr>
        </p:nvGraphicFramePr>
        <p:xfrm>
          <a:off x="267721" y="3499912"/>
          <a:ext cx="4726311" cy="2468880"/>
        </p:xfrm>
        <a:graphic>
          <a:graphicData uri="http://schemas.openxmlformats.org/drawingml/2006/table">
            <a:tbl>
              <a:tblPr/>
              <a:tblGrid>
                <a:gridCol w="1575437">
                  <a:extLst>
                    <a:ext uri="{9D8B030D-6E8A-4147-A177-3AD203B41FA5}">
                      <a16:colId xmlns:a16="http://schemas.microsoft.com/office/drawing/2014/main" val="2935312163"/>
                    </a:ext>
                  </a:extLst>
                </a:gridCol>
                <a:gridCol w="1575437">
                  <a:extLst>
                    <a:ext uri="{9D8B030D-6E8A-4147-A177-3AD203B41FA5}">
                      <a16:colId xmlns:a16="http://schemas.microsoft.com/office/drawing/2014/main" val="4078560322"/>
                    </a:ext>
                  </a:extLst>
                </a:gridCol>
                <a:gridCol w="1575437">
                  <a:extLst>
                    <a:ext uri="{9D8B030D-6E8A-4147-A177-3AD203B41FA5}">
                      <a16:colId xmlns:a16="http://schemas.microsoft.com/office/drawing/2014/main" val="39367684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324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고객 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175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feature_dt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638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lifesync_score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현재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919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480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invest_total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투자금액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9783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push_click_rate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푸시 반응률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9501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반응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446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ARRAY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6717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prediction_time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예측시각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361703"/>
                  </a:ext>
                </a:extLst>
              </a:tr>
            </a:tbl>
          </a:graphicData>
        </a:graphic>
      </p:graphicFrame>
      <p:sp>
        <p:nvSpPr>
          <p:cNvPr id="13" name="Google Shape;274;g3d6e2211149_2_228">
            <a:extLst>
              <a:ext uri="{FF2B5EF4-FFF2-40B4-BE49-F238E27FC236}">
                <a16:creationId xmlns:a16="http://schemas.microsoft.com/office/drawing/2014/main" id="{5CE6214D-A5DB-584A-A0E7-FA1D9A20D6AA}"/>
              </a:ext>
            </a:extLst>
          </p:cNvPr>
          <p:cNvSpPr txBox="1"/>
          <p:nvPr/>
        </p:nvSpPr>
        <p:spPr>
          <a:xfrm>
            <a:off x="5462090" y="5494199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활용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6609DD-45EF-9841-83C7-5EDDBA779EDD}"/>
              </a:ext>
            </a:extLst>
          </p:cNvPr>
          <p:cNvSpPr txBox="1"/>
          <p:nvPr/>
        </p:nvSpPr>
        <p:spPr>
          <a:xfrm>
            <a:off x="5458153" y="5851211"/>
            <a:ext cx="34581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 xml:space="preserve">ETF </a:t>
            </a:r>
            <a:r>
              <a:rPr lang="ko-KR" altLang="en-US" sz="1000"/>
              <a:t>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보험 리모델링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프리미엄 카드 추천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415580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결과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4/4)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92EC48-8168-2C46-974E-B39610C4343F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891C909-FFFE-084F-8758-882A7E30911D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 xml:space="preserve">BigQuery Scheduled Query → Cloud Scheduler → Vertex_AI_Batch_Predict.py </a:t>
            </a:r>
            <a:r>
              <a:rPr lang="ko-KR" altLang="en-US" b="1"/>
              <a:t xml:space="preserve">실행 → 결과 </a:t>
            </a:r>
            <a:r>
              <a:rPr lang="en-US" b="1"/>
              <a:t xml:space="preserve">BigQuery </a:t>
            </a:r>
            <a:r>
              <a:rPr lang="ko-KR" altLang="en-US" b="1"/>
              <a:t>저장</a:t>
            </a:r>
            <a:endParaRPr lang="en-KR" b="1"/>
          </a:p>
        </p:txBody>
      </p:sp>
      <p:sp>
        <p:nvSpPr>
          <p:cNvPr id="24" name="Google Shape;274;g3d6e2211149_2_228">
            <a:extLst>
              <a:ext uri="{FF2B5EF4-FFF2-40B4-BE49-F238E27FC236}">
                <a16:creationId xmlns:a16="http://schemas.microsoft.com/office/drawing/2014/main" id="{BE612F06-2497-BE49-8964-20C3D4F6D386}"/>
              </a:ext>
            </a:extLst>
          </p:cNvPr>
          <p:cNvSpPr txBox="1"/>
          <p:nvPr/>
        </p:nvSpPr>
        <p:spPr>
          <a:xfrm>
            <a:off x="243509" y="147083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 xml:space="preserve">결과 저장 </a:t>
            </a:r>
            <a:r>
              <a:rPr lang="en-US" altLang="ko-KR" sz="1200" b="1">
                <a:solidFill>
                  <a:schemeClr val="dk1"/>
                </a:solidFill>
              </a:rPr>
              <a:t xml:space="preserve">(Batch Predict </a:t>
            </a:r>
            <a:r>
              <a:rPr lang="ko-KR" altLang="en-US" sz="1200" b="1">
                <a:solidFill>
                  <a:schemeClr val="dk1"/>
                </a:solidFill>
              </a:rPr>
              <a:t>결과</a:t>
            </a:r>
            <a:r>
              <a:rPr lang="en-US" altLang="ko-KR" sz="1200" b="1">
                <a:solidFill>
                  <a:schemeClr val="dk1"/>
                </a:solidFill>
              </a:rPr>
              <a:t>)</a:t>
            </a:r>
            <a:r>
              <a:rPr lang="en-US" sz="1200" b="1">
                <a:solidFill>
                  <a:schemeClr val="dk1"/>
                </a:solidFill>
              </a:rPr>
              <a:t xml:space="preserve"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0359C5-B52A-DE41-BEC1-05F63EB224EC}"/>
              </a:ext>
            </a:extLst>
          </p:cNvPr>
          <p:cNvSpPr txBox="1"/>
          <p:nvPr/>
        </p:nvSpPr>
        <p:spPr>
          <a:xfrm>
            <a:off x="285713" y="1924465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lifesync_ml.vip_prediction_result</a:t>
            </a:r>
          </a:p>
          <a:p>
            <a:r>
              <a:rPr lang="en-US" altLang="ko-KR" sz="1100"/>
              <a:t>lifesync_ml.signup_prediction_result</a:t>
            </a:r>
          </a:p>
          <a:p>
            <a:r>
              <a:rPr lang="en-US" altLang="ko-KR" sz="1100"/>
              <a:t>lifesync_ml.rec_prediction_result</a:t>
            </a:r>
          </a:p>
          <a:p>
            <a:r>
              <a:rPr lang="en-US" altLang="ko-KR" sz="1100"/>
              <a:t>lifesync_ml.health_prediction_result</a:t>
            </a:r>
            <a:endParaRPr lang="en-KR" sz="1100"/>
          </a:p>
        </p:txBody>
      </p:sp>
      <p:sp>
        <p:nvSpPr>
          <p:cNvPr id="26" name="Google Shape;274;g3d6e2211149_2_228">
            <a:extLst>
              <a:ext uri="{FF2B5EF4-FFF2-40B4-BE49-F238E27FC236}">
                <a16:creationId xmlns:a16="http://schemas.microsoft.com/office/drawing/2014/main" id="{C5266E60-F97F-A24A-976A-758CAB3471C8}"/>
              </a:ext>
            </a:extLst>
          </p:cNvPr>
          <p:cNvSpPr txBox="1"/>
          <p:nvPr/>
        </p:nvSpPr>
        <p:spPr>
          <a:xfrm>
            <a:off x="243509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>4</a:t>
            </a:r>
            <a:r>
              <a:rPr lang="en-US" sz="1200" b="1">
                <a:solidFill>
                  <a:schemeClr val="dk1"/>
                </a:solidFill>
              </a:rPr>
              <a:t>) Health Prediction Result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0A09C9-4F62-5842-831E-A7A5543D1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485578"/>
              </p:ext>
            </p:extLst>
          </p:nvPr>
        </p:nvGraphicFramePr>
        <p:xfrm>
          <a:off x="5462090" y="3499912"/>
          <a:ext cx="3458102" cy="1005840"/>
        </p:xfrm>
        <a:graphic>
          <a:graphicData uri="http://schemas.openxmlformats.org/drawingml/2006/table">
            <a:tbl>
              <a:tblPr/>
              <a:tblGrid>
                <a:gridCol w="1729051">
                  <a:extLst>
                    <a:ext uri="{9D8B030D-6E8A-4147-A177-3AD203B41FA5}">
                      <a16:colId xmlns:a16="http://schemas.microsoft.com/office/drawing/2014/main" val="1198394406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4021822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global_id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18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909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71.8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50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 dirty="0"/>
                        <a:t>48.6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942756"/>
                  </a:ext>
                </a:extLst>
              </a:tr>
            </a:tbl>
          </a:graphicData>
        </a:graphic>
      </p:graphicFrame>
      <p:sp>
        <p:nvSpPr>
          <p:cNvPr id="27" name="Google Shape;274;g3d6e2211149_2_228">
            <a:extLst>
              <a:ext uri="{FF2B5EF4-FFF2-40B4-BE49-F238E27FC236}">
                <a16:creationId xmlns:a16="http://schemas.microsoft.com/office/drawing/2014/main" id="{F22A3B11-9AAB-0946-874F-9C510D41CCCA}"/>
              </a:ext>
            </a:extLst>
          </p:cNvPr>
          <p:cNvSpPr txBox="1"/>
          <p:nvPr/>
        </p:nvSpPr>
        <p:spPr>
          <a:xfrm>
            <a:off x="5462090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예시 데이터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AF4E5E6D-F667-0B4F-BE92-33F9653E3E80}"/>
              </a:ext>
            </a:extLst>
          </p:cNvPr>
          <p:cNvSpPr txBox="1"/>
          <p:nvPr/>
        </p:nvSpPr>
        <p:spPr>
          <a:xfrm>
            <a:off x="5462090" y="4654770"/>
            <a:ext cx="4022315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92 = 매우 건강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</a:rPr>
              <a:t xml:space="preserve">71 = </a:t>
            </a:r>
            <a:r>
              <a:rPr lang="ko-KR" altLang="en-US" sz="1000">
                <a:solidFill>
                  <a:schemeClr val="dk1"/>
                </a:solidFill>
              </a:rPr>
              <a:t>관리 필요</a:t>
            </a:r>
            <a:endParaRPr lang="en-US" altLang="ko-KR" sz="1000">
              <a:solidFill>
                <a:schemeClr val="dk1"/>
              </a:solidFill>
            </a:endParaRP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= 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건강 위험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88D7C82-7A26-8848-86D3-5764C8D07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579386"/>
              </p:ext>
            </p:extLst>
          </p:nvPr>
        </p:nvGraphicFramePr>
        <p:xfrm>
          <a:off x="285713" y="3488263"/>
          <a:ext cx="4694250" cy="2468880"/>
        </p:xfrm>
        <a:graphic>
          <a:graphicData uri="http://schemas.openxmlformats.org/drawingml/2006/table">
            <a:tbl>
              <a:tblPr/>
              <a:tblGrid>
                <a:gridCol w="1564750">
                  <a:extLst>
                    <a:ext uri="{9D8B030D-6E8A-4147-A177-3AD203B41FA5}">
                      <a16:colId xmlns:a16="http://schemas.microsoft.com/office/drawing/2014/main" val="1454823462"/>
                    </a:ext>
                  </a:extLst>
                </a:gridCol>
                <a:gridCol w="1564750">
                  <a:extLst>
                    <a:ext uri="{9D8B030D-6E8A-4147-A177-3AD203B41FA5}">
                      <a16:colId xmlns:a16="http://schemas.microsoft.com/office/drawing/2014/main" val="2474887772"/>
                    </a:ext>
                  </a:extLst>
                </a:gridCol>
                <a:gridCol w="1564750">
                  <a:extLst>
                    <a:ext uri="{9D8B030D-6E8A-4147-A177-3AD203B41FA5}">
                      <a16:colId xmlns:a16="http://schemas.microsoft.com/office/drawing/2014/main" val="1667692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036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고객 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538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feature_dt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18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avg_steps_30d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평균 걸음수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6137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avg_hr_30d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평균 심박수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99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stress_avg_30d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스트레스 평균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9851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hospital_visit_90d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병원 방문수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183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inactive_days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비활성 일수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1269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776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prediction_time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예측시각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5672389"/>
                  </a:ext>
                </a:extLst>
              </a:tr>
            </a:tbl>
          </a:graphicData>
        </a:graphic>
      </p:graphicFrame>
      <p:sp>
        <p:nvSpPr>
          <p:cNvPr id="13" name="Google Shape;274;g3d6e2211149_2_228">
            <a:extLst>
              <a:ext uri="{FF2B5EF4-FFF2-40B4-BE49-F238E27FC236}">
                <a16:creationId xmlns:a16="http://schemas.microsoft.com/office/drawing/2014/main" id="{1DF8B4C2-E0DE-E848-A6F5-2660A7645EED}"/>
              </a:ext>
            </a:extLst>
          </p:cNvPr>
          <p:cNvSpPr txBox="1"/>
          <p:nvPr/>
        </p:nvSpPr>
        <p:spPr>
          <a:xfrm>
            <a:off x="5462090" y="5494199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활용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14EE5B-B96F-FF46-A25E-18423ADED23B}"/>
              </a:ext>
            </a:extLst>
          </p:cNvPr>
          <p:cNvSpPr txBox="1"/>
          <p:nvPr/>
        </p:nvSpPr>
        <p:spPr>
          <a:xfrm>
            <a:off x="5458153" y="5851211"/>
            <a:ext cx="34581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건강검진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운동 프로그램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보험 보장 분석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만성질환 예방 캠페인</a:t>
            </a:r>
          </a:p>
        </p:txBody>
      </p:sp>
    </p:spTree>
    <p:extLst>
      <p:ext uri="{BB962C8B-B14F-4D97-AF65-F5344CB8AC3E}">
        <p14:creationId xmlns:p14="http://schemas.microsoft.com/office/powerpoint/2010/main" val="388382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고객 가치 점수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1/2)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0F8CF-A1E6-9E4E-A116-BFD941CD38DD}"/>
              </a:ext>
            </a:extLst>
          </p:cNvPr>
          <p:cNvSpPr txBox="1"/>
          <p:nvPr/>
        </p:nvSpPr>
        <p:spPr>
          <a:xfrm>
            <a:off x="243509" y="707150"/>
            <a:ext cx="9941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Dynamic Score</a:t>
            </a:r>
            <a:r>
              <a:rPr lang="ko-KR" altLang="en-US" b="1"/>
              <a:t>는 고객의 현재 자산</a:t>
            </a:r>
            <a:r>
              <a:rPr lang="en-US" altLang="ko-KR" b="1"/>
              <a:t xml:space="preserve">, </a:t>
            </a:r>
            <a:r>
              <a:rPr lang="ko-KR" altLang="en-US" b="1"/>
              <a:t>활동성</a:t>
            </a:r>
            <a:r>
              <a:rPr lang="en-US" altLang="ko-KR" b="1"/>
              <a:t xml:space="preserve">, </a:t>
            </a:r>
            <a:r>
              <a:rPr lang="en-US" b="1"/>
              <a:t xml:space="preserve">AI </a:t>
            </a:r>
            <a:r>
              <a:rPr lang="ko-KR" altLang="en-US" b="1"/>
              <a:t>예측</a:t>
            </a:r>
            <a:r>
              <a:rPr lang="en-US" altLang="ko-KR" b="1"/>
              <a:t xml:space="preserve">, </a:t>
            </a:r>
            <a:r>
              <a:rPr lang="ko-KR" altLang="en-US" b="1"/>
              <a:t xml:space="preserve">건강상태를 합산하여 </a:t>
            </a:r>
            <a:r>
              <a:rPr lang="en-US" altLang="ko-KR" b="1"/>
              <a:t>0~100</a:t>
            </a:r>
            <a:r>
              <a:rPr lang="ko-KR" altLang="en-US" b="1"/>
              <a:t>점으로 계산하는 하이브리드 점수</a:t>
            </a:r>
            <a:endParaRPr lang="en-KR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2E86EE-7B2E-674F-8CDF-929D8DA1DC4B}"/>
              </a:ext>
            </a:extLst>
          </p:cNvPr>
          <p:cNvSpPr txBox="1"/>
          <p:nvPr/>
        </p:nvSpPr>
        <p:spPr>
          <a:xfrm>
            <a:off x="297543" y="1100221"/>
            <a:ext cx="57984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고객 상태를 매일 재평가하는 실시간 고객 가치 점수</a:t>
            </a:r>
            <a:endParaRPr lang="en-US" altLang="ko-KR" sz="1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9C570-D082-AE4C-AAA0-53832056DE29}"/>
              </a:ext>
            </a:extLst>
          </p:cNvPr>
          <p:cNvSpPr txBox="1"/>
          <p:nvPr/>
        </p:nvSpPr>
        <p:spPr>
          <a:xfrm>
            <a:off x="297543" y="288925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Dynamic Score </a:t>
            </a:r>
            <a:r>
              <a:rPr lang="ko-KR" altLang="en-US" sz="1200" b="1"/>
              <a:t xml:space="preserve">구조 </a:t>
            </a:r>
            <a:endParaRPr lang="en-US" altLang="ko-KR" sz="10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34A0F0-0592-B943-BF80-A9CF99D6BB42}"/>
              </a:ext>
            </a:extLst>
          </p:cNvPr>
          <p:cNvSpPr txBox="1"/>
          <p:nvPr/>
        </p:nvSpPr>
        <p:spPr>
          <a:xfrm>
            <a:off x="413598" y="3251547"/>
            <a:ext cx="2022343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/>
              <a:t>Rule Score (</a:t>
            </a:r>
            <a:r>
              <a:rPr lang="ko-KR" altLang="en-US" sz="1000"/>
              <a:t>기존 점수</a:t>
            </a:r>
            <a:r>
              <a:rPr lang="en-US" altLang="ko-KR" sz="1000"/>
              <a:t>)</a:t>
            </a:r>
          </a:p>
          <a:p>
            <a:r>
              <a:rPr lang="en-US" altLang="ko-KR" sz="1000"/>
              <a:t xml:space="preserve">+ VIP </a:t>
            </a:r>
            <a:r>
              <a:rPr lang="ko-KR" altLang="en-US" sz="1000"/>
              <a:t>예측</a:t>
            </a:r>
          </a:p>
          <a:p>
            <a:r>
              <a:rPr lang="en-US" altLang="ko-KR" sz="1000"/>
              <a:t xml:space="preserve">+ </a:t>
            </a:r>
            <a:r>
              <a:rPr lang="ko-KR" altLang="en-US" sz="1000"/>
              <a:t>가입 예측</a:t>
            </a:r>
          </a:p>
          <a:p>
            <a:r>
              <a:rPr lang="en-US" altLang="ko-KR" sz="1000"/>
              <a:t xml:space="preserve">+ </a:t>
            </a:r>
            <a:r>
              <a:rPr lang="ko-KR" altLang="en-US" sz="1000"/>
              <a:t>추천 반응 예측</a:t>
            </a:r>
          </a:p>
          <a:p>
            <a:r>
              <a:rPr lang="en-US" altLang="ko-KR" sz="1000"/>
              <a:t xml:space="preserve">+ </a:t>
            </a:r>
            <a:r>
              <a:rPr lang="ko-KR" altLang="en-US" sz="1000"/>
              <a:t>건강 예측</a:t>
            </a:r>
          </a:p>
          <a:p>
            <a:r>
              <a:rPr lang="en-US" altLang="ko-KR" sz="1000"/>
              <a:t xml:space="preserve">+ </a:t>
            </a:r>
            <a:r>
              <a:rPr lang="ko-KR" altLang="en-US" sz="1000"/>
              <a:t>실시간 행동점수</a:t>
            </a:r>
          </a:p>
          <a:p>
            <a:r>
              <a:rPr lang="en-US" altLang="ko-KR" sz="1000"/>
              <a:t xml:space="preserve">- </a:t>
            </a:r>
            <a:r>
              <a:rPr lang="ko-KR" altLang="en-US" sz="1000"/>
              <a:t>이탈 위험</a:t>
            </a:r>
          </a:p>
          <a:p>
            <a:r>
              <a:rPr lang="en-US" altLang="ko-KR" sz="1000"/>
              <a:t>= Dynamic Score</a:t>
            </a:r>
            <a:endParaRPr lang="en-KR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A11524-4FB9-764B-9156-1A845D92336B}"/>
              </a:ext>
            </a:extLst>
          </p:cNvPr>
          <p:cNvSpPr txBox="1"/>
          <p:nvPr/>
        </p:nvSpPr>
        <p:spPr>
          <a:xfrm>
            <a:off x="3177168" y="288925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입력 데이터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C75F29-6719-BA4D-B18C-661D8876D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192163"/>
              </p:ext>
            </p:extLst>
          </p:nvPr>
        </p:nvGraphicFramePr>
        <p:xfrm>
          <a:off x="3289674" y="3253457"/>
          <a:ext cx="3997390" cy="1737360"/>
        </p:xfrm>
        <a:graphic>
          <a:graphicData uri="http://schemas.openxmlformats.org/drawingml/2006/table">
            <a:tbl>
              <a:tblPr/>
              <a:tblGrid>
                <a:gridCol w="1998695">
                  <a:extLst>
                    <a:ext uri="{9D8B030D-6E8A-4147-A177-3AD203B41FA5}">
                      <a16:colId xmlns:a16="http://schemas.microsoft.com/office/drawing/2014/main" val="2975776254"/>
                    </a:ext>
                  </a:extLst>
                </a:gridCol>
                <a:gridCol w="1998695">
                  <a:extLst>
                    <a:ext uri="{9D8B030D-6E8A-4147-A177-3AD203B41FA5}">
                      <a16:colId xmlns:a16="http://schemas.microsoft.com/office/drawing/2014/main" val="2703051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749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기존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score_mart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7839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>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vip_prediction_result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220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signup_prediction_result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7500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rec_prediction_result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0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health_prediction_result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5246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행동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app_log / clickstream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113299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DB0624D-2E3C-1241-9B44-534E2C9B2359}"/>
              </a:ext>
            </a:extLst>
          </p:cNvPr>
          <p:cNvSpPr txBox="1"/>
          <p:nvPr/>
        </p:nvSpPr>
        <p:spPr>
          <a:xfrm>
            <a:off x="7960184" y="288925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점수 비율 </a:t>
            </a:r>
            <a:r>
              <a:rPr lang="en-US" altLang="ko-KR" sz="1200" b="1"/>
              <a:t>(100</a:t>
            </a:r>
            <a:r>
              <a:rPr lang="ko-KR" altLang="en-US" sz="1200" b="1"/>
              <a:t>점 기준</a:t>
            </a:r>
            <a:r>
              <a:rPr lang="en-US" altLang="ko-KR" sz="1200" b="1"/>
              <a:t>)</a:t>
            </a:r>
            <a:endParaRPr lang="en-US" altLang="ko-KR" sz="1000" b="1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74DD4-DCDD-8D46-A5D9-CFBFDF6DA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87017"/>
              </p:ext>
            </p:extLst>
          </p:nvPr>
        </p:nvGraphicFramePr>
        <p:xfrm>
          <a:off x="8058660" y="3251547"/>
          <a:ext cx="3818218" cy="1981200"/>
        </p:xfrm>
        <a:graphic>
          <a:graphicData uri="http://schemas.openxmlformats.org/drawingml/2006/table">
            <a:tbl>
              <a:tblPr/>
              <a:tblGrid>
                <a:gridCol w="1909109">
                  <a:extLst>
                    <a:ext uri="{9D8B030D-6E8A-4147-A177-3AD203B41FA5}">
                      <a16:colId xmlns:a16="http://schemas.microsoft.com/office/drawing/2014/main" val="1476772637"/>
                    </a:ext>
                  </a:extLst>
                </a:gridCol>
                <a:gridCol w="1909109">
                  <a:extLst>
                    <a:ext uri="{9D8B030D-6E8A-4147-A177-3AD203B41FA5}">
                      <a16:colId xmlns:a16="http://schemas.microsoft.com/office/drawing/2014/main" val="32856367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비중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853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기존 </a:t>
                      </a:r>
                      <a:r>
                        <a:rPr lang="en-US" sz="1000"/>
                        <a:t>LifeSync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127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>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966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559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970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090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행동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35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이탈 위험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82624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55B4DB9-2D18-BA42-968E-030C8DDFA131}"/>
              </a:ext>
            </a:extLst>
          </p:cNvPr>
          <p:cNvSpPr txBox="1"/>
          <p:nvPr/>
        </p:nvSpPr>
        <p:spPr>
          <a:xfrm>
            <a:off x="309050" y="1470838"/>
            <a:ext cx="26143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Dynamic Score </a:t>
            </a:r>
            <a:r>
              <a:rPr lang="ko-KR" altLang="en-US" sz="1200" b="1"/>
              <a:t xml:space="preserve">규칙 </a:t>
            </a:r>
            <a:endParaRPr lang="en-US" altLang="ko-KR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7C4A23-9F8E-384F-8AA8-CD919CF8B4D1}"/>
              </a:ext>
            </a:extLst>
          </p:cNvPr>
          <p:cNvSpPr txBox="1"/>
          <p:nvPr/>
        </p:nvSpPr>
        <p:spPr>
          <a:xfrm>
            <a:off x="309050" y="1833131"/>
            <a:ext cx="7486178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/>
              <a:t>DynamicScore=(BaseScore×0.50)+(VIP×15)+(Signup×10)+(Rec×10)+(Health×0.10)+(Behavior×0.10)−(Churn×0.05)</a:t>
            </a:r>
          </a:p>
          <a:p>
            <a:endParaRPr lang="en-US" sz="1100"/>
          </a:p>
          <a:p>
            <a:r>
              <a:rPr lang="en-US" sz="1100"/>
              <a:t>(</a:t>
            </a:r>
            <a:r>
              <a:rPr lang="ko-KR" altLang="en-US" sz="1100"/>
              <a:t xml:space="preserve">확률값은 </a:t>
            </a:r>
            <a:r>
              <a:rPr lang="en-US" altLang="ko-KR" sz="1100"/>
              <a:t xml:space="preserve">0~1, </a:t>
            </a:r>
            <a:r>
              <a:rPr lang="ko-KR" altLang="en-US" sz="1100"/>
              <a:t xml:space="preserve">점수는 </a:t>
            </a:r>
            <a:r>
              <a:rPr lang="en-US" altLang="ko-KR" sz="1100"/>
              <a:t xml:space="preserve">0~100 </a:t>
            </a:r>
            <a:r>
              <a:rPr lang="ko-KR" altLang="en-US" sz="1100"/>
              <a:t>기준으로 환산</a:t>
            </a:r>
            <a:r>
              <a:rPr lang="en-US" altLang="ko-KR" sz="110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7B7F0B-2C90-3B4B-B2BA-8F539FC8F3E2}"/>
              </a:ext>
            </a:extLst>
          </p:cNvPr>
          <p:cNvSpPr txBox="1"/>
          <p:nvPr/>
        </p:nvSpPr>
        <p:spPr>
          <a:xfrm>
            <a:off x="297543" y="5196990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운영 방식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E595BA-89FE-3342-AAFB-9FE7DD55AF4D}"/>
              </a:ext>
            </a:extLst>
          </p:cNvPr>
          <p:cNvSpPr txBox="1"/>
          <p:nvPr/>
        </p:nvSpPr>
        <p:spPr>
          <a:xfrm>
            <a:off x="309050" y="5612821"/>
            <a:ext cx="326414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매일 새벽 Batch Dynamic Score 재계산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로그인 시 실시간 Micro Score 보정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2878273-5A64-6042-BD47-B3C5797B1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389879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809553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675331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04:40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Dynamic Score 재계산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59B5B6E-6EC2-A149-B2B3-1B190C6D059C}"/>
              </a:ext>
            </a:extLst>
          </p:cNvPr>
          <p:cNvSpPr txBox="1"/>
          <p:nvPr/>
        </p:nvSpPr>
        <p:spPr>
          <a:xfrm>
            <a:off x="3177168" y="5517693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결과 데이터 </a:t>
            </a:r>
            <a:endParaRPr lang="en-US" altLang="ko-KR" sz="1000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DBE2B5-0436-554D-8C5A-DD23586C5D87}"/>
              </a:ext>
            </a:extLst>
          </p:cNvPr>
          <p:cNvSpPr txBox="1"/>
          <p:nvPr/>
        </p:nvSpPr>
        <p:spPr>
          <a:xfrm>
            <a:off x="3219337" y="5933191"/>
            <a:ext cx="40677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 xml:space="preserve">Final Recommendation Mart </a:t>
            </a:r>
            <a:r>
              <a:rPr lang="ko-KR" altLang="en-US" sz="1000"/>
              <a:t>생성</a:t>
            </a:r>
            <a:endParaRPr lang="en-KR" sz="10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D27CFF-F717-E941-BDFF-00C00B941EDF}"/>
              </a:ext>
            </a:extLst>
          </p:cNvPr>
          <p:cNvSpPr txBox="1"/>
          <p:nvPr/>
        </p:nvSpPr>
        <p:spPr>
          <a:xfrm>
            <a:off x="9572404" y="1704678"/>
            <a:ext cx="23668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Cloud Scheduler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Cloud Run</a:t>
            </a:r>
          </a:p>
          <a:p>
            <a:r>
              <a:rPr lang="en-US" altLang="ko-KR" sz="1000"/>
              <a:t xml:space="preserve"> ├ Predict</a:t>
            </a:r>
          </a:p>
          <a:p>
            <a:r>
              <a:rPr lang="en-US" altLang="ko-KR" sz="1000"/>
              <a:t xml:space="preserve"> ├ Dynamic Score SQL</a:t>
            </a:r>
          </a:p>
          <a:p>
            <a:r>
              <a:rPr lang="en-US" altLang="ko-KR" sz="1000"/>
              <a:t xml:space="preserve"> ├ Recommendation SQL</a:t>
            </a:r>
          </a:p>
          <a:p>
            <a:r>
              <a:rPr lang="en-US" altLang="ko-KR" sz="1000"/>
              <a:t xml:space="preserve"> └ Serving View </a:t>
            </a:r>
            <a:r>
              <a:rPr lang="ko-KR" altLang="en-US" sz="1000"/>
              <a:t>생성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1494051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고객 가치 점수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2/2)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0F8CF-A1E6-9E4E-A116-BFD941CD38DD}"/>
              </a:ext>
            </a:extLst>
          </p:cNvPr>
          <p:cNvSpPr txBox="1"/>
          <p:nvPr/>
        </p:nvSpPr>
        <p:spPr>
          <a:xfrm>
            <a:off x="243509" y="707150"/>
            <a:ext cx="9941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Dynamic Score</a:t>
            </a:r>
            <a:r>
              <a:rPr lang="ko-KR" altLang="en-US" b="1"/>
              <a:t xml:space="preserve">는 </a:t>
            </a:r>
            <a:r>
              <a:rPr lang="en-US" b="1"/>
              <a:t xml:space="preserve">Vertex AI </a:t>
            </a:r>
            <a:r>
              <a:rPr lang="ko-KR" altLang="en-US" b="1"/>
              <a:t xml:space="preserve">예측 완료 직후 </a:t>
            </a:r>
            <a:r>
              <a:rPr lang="en-US" b="1"/>
              <a:t>BigQuery SQL</a:t>
            </a:r>
            <a:r>
              <a:rPr lang="ko-KR" altLang="en-US" b="1"/>
              <a:t>로 재계산하고</a:t>
            </a:r>
            <a:r>
              <a:rPr lang="en-US" altLang="ko-KR" b="1"/>
              <a:t xml:space="preserve">, </a:t>
            </a:r>
            <a:r>
              <a:rPr lang="ko-KR" altLang="en-US" b="1"/>
              <a:t xml:space="preserve">이후 추천 </a:t>
            </a:r>
            <a:r>
              <a:rPr lang="en-US" b="1"/>
              <a:t>Mart</a:t>
            </a:r>
            <a:r>
              <a:rPr lang="ko-KR" altLang="en-US" b="1"/>
              <a:t xml:space="preserve">와 </a:t>
            </a:r>
            <a:r>
              <a:rPr lang="en-US" b="1"/>
              <a:t>Serving View</a:t>
            </a:r>
            <a:r>
              <a:rPr lang="ko-KR" altLang="en-US" b="1"/>
              <a:t>를 갱신</a:t>
            </a:r>
            <a:endParaRPr lang="en-KR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9C570-D082-AE4C-AAA0-53832056DE29}"/>
              </a:ext>
            </a:extLst>
          </p:cNvPr>
          <p:cNvSpPr txBox="1"/>
          <p:nvPr/>
        </p:nvSpPr>
        <p:spPr>
          <a:xfrm>
            <a:off x="243509" y="1291326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Dynamic Score </a:t>
            </a:r>
            <a:r>
              <a:rPr lang="ko-KR" altLang="en-US" sz="1200" b="1"/>
              <a:t xml:space="preserve">구조 </a:t>
            </a:r>
            <a:endParaRPr lang="en-US" altLang="ko-KR" sz="10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34A0F0-0592-B943-BF80-A9CF99D6BB42}"/>
              </a:ext>
            </a:extLst>
          </p:cNvPr>
          <p:cNvSpPr txBox="1"/>
          <p:nvPr/>
        </p:nvSpPr>
        <p:spPr>
          <a:xfrm>
            <a:off x="359564" y="1653619"/>
            <a:ext cx="2022343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/>
              <a:t>Rule Score (</a:t>
            </a:r>
            <a:r>
              <a:rPr lang="ko-KR" altLang="en-US" sz="1000"/>
              <a:t>기존 점수</a:t>
            </a:r>
            <a:r>
              <a:rPr lang="en-US" altLang="ko-KR" sz="1000"/>
              <a:t>)</a:t>
            </a:r>
          </a:p>
          <a:p>
            <a:r>
              <a:rPr lang="en-US" altLang="ko-KR" sz="1000"/>
              <a:t xml:space="preserve">+ VIP </a:t>
            </a:r>
            <a:r>
              <a:rPr lang="ko-KR" altLang="en-US" sz="1000"/>
              <a:t>예측</a:t>
            </a:r>
          </a:p>
          <a:p>
            <a:r>
              <a:rPr lang="en-US" altLang="ko-KR" sz="1000"/>
              <a:t xml:space="preserve">+ </a:t>
            </a:r>
            <a:r>
              <a:rPr lang="ko-KR" altLang="en-US" sz="1000"/>
              <a:t>가입 예측</a:t>
            </a:r>
          </a:p>
          <a:p>
            <a:r>
              <a:rPr lang="en-US" altLang="ko-KR" sz="1000"/>
              <a:t xml:space="preserve">+ </a:t>
            </a:r>
            <a:r>
              <a:rPr lang="ko-KR" altLang="en-US" sz="1000"/>
              <a:t>추천 반응 예측</a:t>
            </a:r>
          </a:p>
          <a:p>
            <a:r>
              <a:rPr lang="en-US" altLang="ko-KR" sz="1000"/>
              <a:t xml:space="preserve">+ </a:t>
            </a:r>
            <a:r>
              <a:rPr lang="ko-KR" altLang="en-US" sz="1000"/>
              <a:t>건강 예측</a:t>
            </a:r>
          </a:p>
          <a:p>
            <a:r>
              <a:rPr lang="en-US" altLang="ko-KR" sz="1000"/>
              <a:t xml:space="preserve">+ </a:t>
            </a:r>
            <a:r>
              <a:rPr lang="ko-KR" altLang="en-US" sz="1000"/>
              <a:t>실시간 행동점수</a:t>
            </a:r>
          </a:p>
          <a:p>
            <a:r>
              <a:rPr lang="en-US" altLang="ko-KR" sz="1000"/>
              <a:t xml:space="preserve">- </a:t>
            </a:r>
            <a:r>
              <a:rPr lang="ko-KR" altLang="en-US" sz="1000"/>
              <a:t>이탈 위험</a:t>
            </a:r>
          </a:p>
          <a:p>
            <a:r>
              <a:rPr lang="en-US" altLang="ko-KR" sz="1000"/>
              <a:t>= Dynamic Score</a:t>
            </a:r>
            <a:endParaRPr lang="en-KR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A11524-4FB9-764B-9156-1A845D92336B}"/>
              </a:ext>
            </a:extLst>
          </p:cNvPr>
          <p:cNvSpPr txBox="1"/>
          <p:nvPr/>
        </p:nvSpPr>
        <p:spPr>
          <a:xfrm>
            <a:off x="2867679" y="127916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행동 점수 </a:t>
            </a:r>
            <a:r>
              <a:rPr lang="en-US" altLang="ko-KR" sz="1200" b="1"/>
              <a:t>(</a:t>
            </a:r>
            <a:r>
              <a:rPr lang="ko-KR" altLang="en-US" sz="1200" b="1"/>
              <a:t>예시</a:t>
            </a:r>
            <a:r>
              <a:rPr lang="en-US" altLang="ko-KR" sz="1200" b="1"/>
              <a:t>)</a:t>
            </a:r>
            <a:r>
              <a:rPr lang="ko-KR" altLang="en-US" sz="1200" b="1"/>
              <a:t xml:space="preserve"> </a:t>
            </a:r>
            <a:endParaRPr lang="en-US" altLang="ko-KR" sz="1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B0624D-2E3C-1241-9B44-534E2C9B2359}"/>
              </a:ext>
            </a:extLst>
          </p:cNvPr>
          <p:cNvSpPr txBox="1"/>
          <p:nvPr/>
        </p:nvSpPr>
        <p:spPr>
          <a:xfrm>
            <a:off x="7735101" y="129499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이탈 위험 </a:t>
            </a:r>
            <a:r>
              <a:rPr lang="en-US" altLang="ko-KR" sz="1200" b="1"/>
              <a:t>(</a:t>
            </a:r>
            <a:r>
              <a:rPr lang="ko-KR" altLang="en-US" sz="1200" b="1"/>
              <a:t>차감</a:t>
            </a:r>
            <a:r>
              <a:rPr lang="en-US" altLang="ko-KR" sz="1200" b="1"/>
              <a:t>)</a:t>
            </a:r>
            <a:endParaRPr lang="en-US" altLang="ko-KR" sz="1000" b="1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4EF38CD-0AEE-FD4C-A5FA-F0045E931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800262"/>
              </p:ext>
            </p:extLst>
          </p:nvPr>
        </p:nvGraphicFramePr>
        <p:xfrm>
          <a:off x="2877473" y="1653619"/>
          <a:ext cx="3846884" cy="1493520"/>
        </p:xfrm>
        <a:graphic>
          <a:graphicData uri="http://schemas.openxmlformats.org/drawingml/2006/table">
            <a:tbl>
              <a:tblPr/>
              <a:tblGrid>
                <a:gridCol w="1923442">
                  <a:extLst>
                    <a:ext uri="{9D8B030D-6E8A-4147-A177-3AD203B41FA5}">
                      <a16:colId xmlns:a16="http://schemas.microsoft.com/office/drawing/2014/main" val="2330363327"/>
                    </a:ext>
                  </a:extLst>
                </a:gridCol>
                <a:gridCol w="1923442">
                  <a:extLst>
                    <a:ext uri="{9D8B030D-6E8A-4147-A177-3AD203B41FA5}">
                      <a16:colId xmlns:a16="http://schemas.microsoft.com/office/drawing/2014/main" val="27483522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948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 xml:space="preserve">최근 </a:t>
                      </a:r>
                      <a:r>
                        <a:rPr lang="en-US" altLang="ko-KR" sz="1000"/>
                        <a:t>7</a:t>
                      </a:r>
                      <a:r>
                        <a:rPr lang="ko-KR" altLang="en-US" sz="1000"/>
                        <a:t xml:space="preserve">일 로그인 </a:t>
                      </a:r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회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1261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4122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앱 체류시간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848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콘텐츠 열람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403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보험 페이지 방문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26025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2C53BBE-083F-F943-8DF0-AA22EE83B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315901"/>
              </p:ext>
            </p:extLst>
          </p:nvPr>
        </p:nvGraphicFramePr>
        <p:xfrm>
          <a:off x="7735101" y="1667316"/>
          <a:ext cx="3757246" cy="1249680"/>
        </p:xfrm>
        <a:graphic>
          <a:graphicData uri="http://schemas.openxmlformats.org/drawingml/2006/table">
            <a:tbl>
              <a:tblPr/>
              <a:tblGrid>
                <a:gridCol w="1878623">
                  <a:extLst>
                    <a:ext uri="{9D8B030D-6E8A-4147-A177-3AD203B41FA5}">
                      <a16:colId xmlns:a16="http://schemas.microsoft.com/office/drawing/2014/main" val="3062098839"/>
                    </a:ext>
                  </a:extLst>
                </a:gridCol>
                <a:gridCol w="1878623">
                  <a:extLst>
                    <a:ext uri="{9D8B030D-6E8A-4147-A177-3AD203B41FA5}">
                      <a16:colId xmlns:a16="http://schemas.microsoft.com/office/drawing/2014/main" val="21452591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546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30</a:t>
                      </a:r>
                      <a:r>
                        <a:rPr lang="ko-KR" altLang="en-US" sz="1000"/>
                        <a:t>일 미접속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283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 사용 급감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5719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 급감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676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민원 발생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58619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48C9969-302B-5146-A114-74068793D03D}"/>
              </a:ext>
            </a:extLst>
          </p:cNvPr>
          <p:cNvSpPr txBox="1"/>
          <p:nvPr/>
        </p:nvSpPr>
        <p:spPr>
          <a:xfrm>
            <a:off x="2867679" y="423338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등급 기준 </a:t>
            </a:r>
            <a:endParaRPr lang="en-US" altLang="ko-KR" sz="10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365883-D872-934F-9BA3-F7D6898DC066}"/>
              </a:ext>
            </a:extLst>
          </p:cNvPr>
          <p:cNvSpPr txBox="1"/>
          <p:nvPr/>
        </p:nvSpPr>
        <p:spPr>
          <a:xfrm>
            <a:off x="7735101" y="423338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엔진</a:t>
            </a:r>
            <a:endParaRPr lang="en-US" altLang="ko-KR" sz="1000" b="1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6245F14-7847-EF44-B2C6-314525042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591689"/>
              </p:ext>
            </p:extLst>
          </p:nvPr>
        </p:nvGraphicFramePr>
        <p:xfrm>
          <a:off x="2877473" y="4724907"/>
          <a:ext cx="3846884" cy="1493520"/>
        </p:xfrm>
        <a:graphic>
          <a:graphicData uri="http://schemas.openxmlformats.org/drawingml/2006/table">
            <a:tbl>
              <a:tblPr/>
              <a:tblGrid>
                <a:gridCol w="1923442">
                  <a:extLst>
                    <a:ext uri="{9D8B030D-6E8A-4147-A177-3AD203B41FA5}">
                      <a16:colId xmlns:a16="http://schemas.microsoft.com/office/drawing/2014/main" val="3316407029"/>
                    </a:ext>
                  </a:extLst>
                </a:gridCol>
                <a:gridCol w="1923442">
                  <a:extLst>
                    <a:ext uri="{9D8B030D-6E8A-4147-A177-3AD203B41FA5}">
                      <a16:colId xmlns:a16="http://schemas.microsoft.com/office/drawing/2014/main" val="20586860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927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068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80~89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720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70~79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7577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60~69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5551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&lt;60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085006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B4F7118-47F2-B845-98D3-E10640E59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172068"/>
              </p:ext>
            </p:extLst>
          </p:nvPr>
        </p:nvGraphicFramePr>
        <p:xfrm>
          <a:off x="7735101" y="4724907"/>
          <a:ext cx="3757246" cy="1493520"/>
        </p:xfrm>
        <a:graphic>
          <a:graphicData uri="http://schemas.openxmlformats.org/drawingml/2006/table">
            <a:tbl>
              <a:tblPr/>
              <a:tblGrid>
                <a:gridCol w="1878623">
                  <a:extLst>
                    <a:ext uri="{9D8B030D-6E8A-4147-A177-3AD203B41FA5}">
                      <a16:colId xmlns:a16="http://schemas.microsoft.com/office/drawing/2014/main" val="935392174"/>
                    </a:ext>
                  </a:extLst>
                </a:gridCol>
                <a:gridCol w="1878623">
                  <a:extLst>
                    <a:ext uri="{9D8B030D-6E8A-4147-A177-3AD203B41FA5}">
                      <a16:colId xmlns:a16="http://schemas.microsoft.com/office/drawing/2014/main" val="6009807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11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>확률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 xml:space="preserve">PB </a:t>
                      </a:r>
                      <a:r>
                        <a:rPr lang="ko-KR" altLang="en-US" sz="1000"/>
                        <a:t>센터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581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확률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5585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확률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Premium 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4552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건강검진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6368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이탈 위험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리텐션 쿠폰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755472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B7F05D72-5762-DE4B-B690-ABABE4FE6D69}"/>
              </a:ext>
            </a:extLst>
          </p:cNvPr>
          <p:cNvSpPr txBox="1"/>
          <p:nvPr/>
        </p:nvSpPr>
        <p:spPr>
          <a:xfrm>
            <a:off x="2740301" y="3178787"/>
            <a:ext cx="39840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실시간 행동점수는 고객의 최근 로그인</a:t>
            </a:r>
            <a:r>
              <a:rPr lang="en-US" altLang="ko-KR" sz="1000"/>
              <a:t xml:space="preserve">, </a:t>
            </a:r>
            <a:r>
              <a:rPr lang="ko-KR" altLang="en-US" sz="1000"/>
              <a:t>클릭</a:t>
            </a:r>
            <a:r>
              <a:rPr lang="en-US" altLang="ko-KR" sz="1000"/>
              <a:t xml:space="preserve">, </a:t>
            </a:r>
            <a:r>
              <a:rPr lang="ko-KR" altLang="en-US" sz="1000"/>
              <a:t>체류시간</a:t>
            </a:r>
            <a:r>
              <a:rPr lang="en-US" altLang="ko-KR" sz="1000"/>
              <a:t xml:space="preserve">, </a:t>
            </a:r>
            <a:r>
              <a:rPr lang="ko-KR" altLang="en-US" sz="1000"/>
              <a:t>거래행동</a:t>
            </a:r>
            <a:r>
              <a:rPr lang="en-US" altLang="ko-KR" sz="1000"/>
              <a:t xml:space="preserve">, </a:t>
            </a:r>
            <a:r>
              <a:rPr lang="ko-KR" altLang="en-US" sz="1000"/>
              <a:t xml:space="preserve">건강활동을 즉시 점수화하여 </a:t>
            </a:r>
            <a:r>
              <a:rPr lang="en-US" sz="1000"/>
              <a:t>Dynamic Score</a:t>
            </a:r>
            <a:r>
              <a:rPr lang="ko-KR" altLang="en-US" sz="1000"/>
              <a:t>에 반영하는 구조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4219039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결과 전달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-&gt; AWS – 1/2)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3496508-2AC8-5B4E-AE9E-0276542324D4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A9961E4-8979-AE46-B01F-B8845C60A3C0}"/>
              </a:ext>
            </a:extLst>
          </p:cNvPr>
          <p:cNvSpPr txBox="1"/>
          <p:nvPr/>
        </p:nvSpPr>
        <p:spPr>
          <a:xfrm>
            <a:off x="243509" y="707150"/>
            <a:ext cx="9261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Serving View</a:t>
            </a:r>
            <a:r>
              <a:rPr lang="ko-KR" altLang="en-US" b="1"/>
              <a:t xml:space="preserve">는 </a:t>
            </a:r>
            <a:r>
              <a:rPr lang="en-US" b="1"/>
              <a:t xml:space="preserve">Dynamic Score, </a:t>
            </a:r>
            <a:r>
              <a:rPr lang="ko-KR" altLang="en-US" b="1"/>
              <a:t>추천 결과</a:t>
            </a:r>
            <a:r>
              <a:rPr lang="en-US" altLang="ko-KR" b="1"/>
              <a:t xml:space="preserve">, </a:t>
            </a:r>
            <a:r>
              <a:rPr lang="ko-KR" altLang="en-US" b="1"/>
              <a:t xml:space="preserve">예측 결과를 통합한 실시간 전달용 최종 </a:t>
            </a:r>
            <a:r>
              <a:rPr lang="en-US" b="1"/>
              <a:t xml:space="preserve">View </a:t>
            </a:r>
            <a:r>
              <a:rPr lang="ko-KR" altLang="en-US" b="1"/>
              <a:t>이며</a:t>
            </a:r>
            <a:r>
              <a:rPr lang="en-US" altLang="ko-KR" b="1"/>
              <a:t xml:space="preserve">, </a:t>
            </a:r>
            <a:r>
              <a:rPr lang="en-US" b="1"/>
              <a:t>Cloud Run</a:t>
            </a:r>
            <a:r>
              <a:rPr lang="ko-KR" altLang="en-US" b="1"/>
              <a:t xml:space="preserve">이 이를 읽어 </a:t>
            </a:r>
            <a:r>
              <a:rPr lang="en-US" b="1"/>
              <a:t>AWS Private API Gateway → Lambda</a:t>
            </a:r>
            <a:r>
              <a:rPr lang="ko-KR" altLang="en-US" b="1"/>
              <a:t>로 전달하는 중간 소비 계층</a:t>
            </a:r>
            <a:endParaRPr lang="en-KR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767A39-B2CC-3B4D-922D-F33D0D63DA27}"/>
              </a:ext>
            </a:extLst>
          </p:cNvPr>
          <p:cNvSpPr txBox="1"/>
          <p:nvPr/>
        </p:nvSpPr>
        <p:spPr>
          <a:xfrm>
            <a:off x="243509" y="1311636"/>
            <a:ext cx="9027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/>
              <a:t>Serving View 는 BigQuery에 계산 완료된 데이터를 실시간 API 전달용으로 정리한 최종 소비 계층(View)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1374DF-4074-CD42-AF84-C91B00E21BA3}"/>
              </a:ext>
            </a:extLst>
          </p:cNvPr>
          <p:cNvSpPr txBox="1"/>
          <p:nvPr/>
        </p:nvSpPr>
        <p:spPr>
          <a:xfrm>
            <a:off x="9504792" y="1746846"/>
            <a:ext cx="2620108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100"/>
              <a:t>[Sender Cloud Run]</a:t>
            </a:r>
            <a:br>
              <a:rPr lang="en-US" sz="1100"/>
            </a:br>
            <a:r>
              <a:rPr lang="en-US" sz="1100"/>
              <a:t xml:space="preserve">04:40 </a:t>
            </a:r>
            <a:r>
              <a:rPr lang="ko-KR" altLang="en-US" sz="1100"/>
              <a:t>실행</a:t>
            </a:r>
            <a:br>
              <a:rPr lang="ko-KR" altLang="en-US" sz="1100"/>
            </a:br>
            <a:r>
              <a:rPr lang="en-US" sz="1100"/>
              <a:t xml:space="preserve">Serving View </a:t>
            </a:r>
            <a:r>
              <a:rPr lang="ko-KR" altLang="en-US" sz="1100"/>
              <a:t>조회</a:t>
            </a:r>
            <a:endParaRPr lang="en-US" altLang="ko-KR" sz="11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AWS Private API Gateway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Lambda</a:t>
            </a:r>
          </a:p>
        </p:txBody>
      </p:sp>
      <p:sp>
        <p:nvSpPr>
          <p:cNvPr id="26" name="Google Shape;274;g3d6e2211149_2_228">
            <a:extLst>
              <a:ext uri="{FF2B5EF4-FFF2-40B4-BE49-F238E27FC236}">
                <a16:creationId xmlns:a16="http://schemas.microsoft.com/office/drawing/2014/main" id="{C2C7608B-0150-114A-B599-D3E464ADFF6F}"/>
              </a:ext>
            </a:extLst>
          </p:cNvPr>
          <p:cNvSpPr txBox="1"/>
          <p:nvPr/>
        </p:nvSpPr>
        <p:spPr>
          <a:xfrm>
            <a:off x="270499" y="177027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Serviing View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37B53E-F12F-0141-8FFD-C714AFA72E4D}"/>
              </a:ext>
            </a:extLst>
          </p:cNvPr>
          <p:cNvSpPr txBox="1"/>
          <p:nvPr/>
        </p:nvSpPr>
        <p:spPr>
          <a:xfrm>
            <a:off x="312703" y="2223899"/>
            <a:ext cx="3980111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KR" sz="1000"/>
              <a:t>lifesync_serving.v_user_dashboard</a:t>
            </a:r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FBD97B7B-8873-0B4D-86D9-C0E09852DF50}"/>
              </a:ext>
            </a:extLst>
          </p:cNvPr>
          <p:cNvSpPr txBox="1"/>
          <p:nvPr/>
        </p:nvSpPr>
        <p:spPr>
          <a:xfrm>
            <a:off x="270499" y="2913063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Serviing View 구조 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6B5A413-3285-0040-A654-A713BEFE6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013901"/>
              </p:ext>
            </p:extLst>
          </p:nvPr>
        </p:nvGraphicFramePr>
        <p:xfrm>
          <a:off x="312703" y="3429000"/>
          <a:ext cx="3980112" cy="2468880"/>
        </p:xfrm>
        <a:graphic>
          <a:graphicData uri="http://schemas.openxmlformats.org/drawingml/2006/table">
            <a:tbl>
              <a:tblPr/>
              <a:tblGrid>
                <a:gridCol w="1990056">
                  <a:extLst>
                    <a:ext uri="{9D8B030D-6E8A-4147-A177-3AD203B41FA5}">
                      <a16:colId xmlns:a16="http://schemas.microsoft.com/office/drawing/2014/main" val="1287599112"/>
                    </a:ext>
                  </a:extLst>
                </a:gridCol>
                <a:gridCol w="1990056">
                  <a:extLst>
                    <a:ext uri="{9D8B030D-6E8A-4147-A177-3AD203B41FA5}">
                      <a16:colId xmlns:a16="http://schemas.microsoft.com/office/drawing/2014/main" val="983732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860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6866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dynamic_score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최종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183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dynamic_grade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VIP/GOLD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960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next_best_action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액션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212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>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331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signup_prob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321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rec_prob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반응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4747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3115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update_time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생성시각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7375757"/>
                  </a:ext>
                </a:extLst>
              </a:tr>
            </a:tbl>
          </a:graphicData>
        </a:graphic>
      </p:graphicFrame>
      <p:sp>
        <p:nvSpPr>
          <p:cNvPr id="30" name="Google Shape;274;g3d6e2211149_2_228">
            <a:extLst>
              <a:ext uri="{FF2B5EF4-FFF2-40B4-BE49-F238E27FC236}">
                <a16:creationId xmlns:a16="http://schemas.microsoft.com/office/drawing/2014/main" id="{74DA3F6F-C73F-0E4A-B21C-DF906DEDD804}"/>
              </a:ext>
            </a:extLst>
          </p:cNvPr>
          <p:cNvSpPr txBox="1"/>
          <p:nvPr/>
        </p:nvSpPr>
        <p:spPr>
          <a:xfrm>
            <a:off x="4757059" y="2913063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Serviing View 데이터 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예시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274;g3d6e2211149_2_228">
            <a:extLst>
              <a:ext uri="{FF2B5EF4-FFF2-40B4-BE49-F238E27FC236}">
                <a16:creationId xmlns:a16="http://schemas.microsoft.com/office/drawing/2014/main" id="{51D6392B-3949-544A-A7BD-3A442339619B}"/>
              </a:ext>
            </a:extLst>
          </p:cNvPr>
          <p:cNvSpPr txBox="1"/>
          <p:nvPr/>
        </p:nvSpPr>
        <p:spPr>
          <a:xfrm>
            <a:off x="9665910" y="2913063"/>
            <a:ext cx="225559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전달 JSON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6EE3A3-CE36-4D47-A8CB-D9D011679A59}"/>
              </a:ext>
            </a:extLst>
          </p:cNvPr>
          <p:cNvSpPr txBox="1"/>
          <p:nvPr/>
        </p:nvSpPr>
        <p:spPr>
          <a:xfrm>
            <a:off x="9745354" y="3449231"/>
            <a:ext cx="2379545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global_id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": "</a:t>
            </a:r>
            <a:r>
              <a:rPr lang="en-US" altLang="ko-KR" sz="1000" dirty="0"/>
              <a:t xml:space="preserve"> G000000001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dynamic_score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": 92.4,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dynamic_grade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": "VIP",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next_best_action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": "PB_CENTER",</a:t>
            </a:r>
          </a:p>
          <a:p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vip_prob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": 0.94,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signup_prob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": 0.81,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rec_prob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": 0.77,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health_score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": 88.1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F9B09022-90EA-754D-AD7A-C4358CF31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270685"/>
              </p:ext>
            </p:extLst>
          </p:nvPr>
        </p:nvGraphicFramePr>
        <p:xfrm>
          <a:off x="4757059" y="3454887"/>
          <a:ext cx="4263684" cy="1158240"/>
        </p:xfrm>
        <a:graphic>
          <a:graphicData uri="http://schemas.openxmlformats.org/drawingml/2006/table">
            <a:tbl>
              <a:tblPr/>
              <a:tblGrid>
                <a:gridCol w="912221">
                  <a:extLst>
                    <a:ext uri="{9D8B030D-6E8A-4147-A177-3AD203B41FA5}">
                      <a16:colId xmlns:a16="http://schemas.microsoft.com/office/drawing/2014/main" val="3481169030"/>
                    </a:ext>
                  </a:extLst>
                </a:gridCol>
                <a:gridCol w="1420837">
                  <a:extLst>
                    <a:ext uri="{9D8B030D-6E8A-4147-A177-3AD203B41FA5}">
                      <a16:colId xmlns:a16="http://schemas.microsoft.com/office/drawing/2014/main" val="3832968963"/>
                    </a:ext>
                  </a:extLst>
                </a:gridCol>
                <a:gridCol w="864705">
                  <a:extLst>
                    <a:ext uri="{9D8B030D-6E8A-4147-A177-3AD203B41FA5}">
                      <a16:colId xmlns:a16="http://schemas.microsoft.com/office/drawing/2014/main" val="1210554256"/>
                    </a:ext>
                  </a:extLst>
                </a:gridCol>
                <a:gridCol w="1065921">
                  <a:extLst>
                    <a:ext uri="{9D8B030D-6E8A-4147-A177-3AD203B41FA5}">
                      <a16:colId xmlns:a16="http://schemas.microsoft.com/office/drawing/2014/main" val="4134009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global_id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dynamic_score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041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PB_CENTER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0612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83.1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ETF_PRODUCT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63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58.2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3634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87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결과 전달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-&gt; AWS – 2/2)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3496508-2AC8-5B4E-AE9E-027654232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259161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709516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775368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조회 정보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A9961E4-8979-AE46-B01F-B8845C60A3C0}"/>
              </a:ext>
            </a:extLst>
          </p:cNvPr>
          <p:cNvSpPr txBox="1"/>
          <p:nvPr/>
        </p:nvSpPr>
        <p:spPr>
          <a:xfrm>
            <a:off x="243509" y="707150"/>
            <a:ext cx="9261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Serving View</a:t>
            </a:r>
            <a:r>
              <a:rPr lang="ko-KR" altLang="en-US" b="1"/>
              <a:t xml:space="preserve">는 </a:t>
            </a:r>
            <a:r>
              <a:rPr lang="en-US" b="1"/>
              <a:t xml:space="preserve">Dynamic Score, </a:t>
            </a:r>
            <a:r>
              <a:rPr lang="ko-KR" altLang="en-US" b="1"/>
              <a:t>추천 결과</a:t>
            </a:r>
            <a:r>
              <a:rPr lang="en-US" altLang="ko-KR" b="1"/>
              <a:t xml:space="preserve">, </a:t>
            </a:r>
            <a:r>
              <a:rPr lang="ko-KR" altLang="en-US" b="1"/>
              <a:t xml:space="preserve">예측 결과를 통합한 실시간 전달용 최종 </a:t>
            </a:r>
            <a:r>
              <a:rPr lang="en-US" b="1"/>
              <a:t xml:space="preserve">View </a:t>
            </a:r>
            <a:r>
              <a:rPr lang="ko-KR" altLang="en-US" b="1"/>
              <a:t>이며</a:t>
            </a:r>
            <a:r>
              <a:rPr lang="en-US" altLang="ko-KR" b="1"/>
              <a:t xml:space="preserve">, </a:t>
            </a:r>
            <a:r>
              <a:rPr lang="en-US" b="1"/>
              <a:t>Cloud Run</a:t>
            </a:r>
            <a:r>
              <a:rPr lang="ko-KR" altLang="en-US" b="1"/>
              <a:t xml:space="preserve">이 이를 읽어 </a:t>
            </a:r>
            <a:r>
              <a:rPr lang="en-US" b="1"/>
              <a:t>AWS Private API Gateway → Lambda</a:t>
            </a:r>
            <a:r>
              <a:rPr lang="ko-KR" altLang="en-US" b="1"/>
              <a:t>로 전달하는 중간 소비 계층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743E4D-5424-314D-848E-9E512BDE0639}"/>
              </a:ext>
            </a:extLst>
          </p:cNvPr>
          <p:cNvSpPr txBox="1"/>
          <p:nvPr/>
        </p:nvSpPr>
        <p:spPr>
          <a:xfrm>
            <a:off x="9504792" y="1746846"/>
            <a:ext cx="262010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100"/>
              <a:t>[Sender Cloud Run]</a:t>
            </a:r>
            <a:br>
              <a:rPr lang="en-US" sz="1100"/>
            </a:br>
            <a:r>
              <a:rPr lang="en-US" sz="1100"/>
              <a:t xml:space="preserve">04:40 </a:t>
            </a:r>
            <a:r>
              <a:rPr lang="ko-KR" altLang="en-US" sz="1100"/>
              <a:t>실행</a:t>
            </a:r>
            <a:br>
              <a:rPr lang="ko-KR" altLang="en-US" sz="1100"/>
            </a:br>
            <a:r>
              <a:rPr lang="en-US" sz="1100"/>
              <a:t xml:space="preserve">Serving View </a:t>
            </a:r>
            <a:r>
              <a:rPr lang="ko-KR" altLang="en-US" sz="1100"/>
              <a:t>조회</a:t>
            </a:r>
            <a:endParaRPr lang="en-US" altLang="ko-KR" sz="1100"/>
          </a:p>
          <a:p>
            <a:pPr marL="228600" indent="-228600">
              <a:buFont typeface="+mj-lt"/>
              <a:buAutoNum type="arabicParenR"/>
            </a:pPr>
            <a:r>
              <a:rPr lang="en-US" sz="1100"/>
              <a:t>AWS API Gateway (Private)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100"/>
              <a:t>Lambda Recommendation Engine</a:t>
            </a:r>
            <a:br>
              <a:rPr lang="en-US" sz="1100"/>
            </a:br>
            <a:r>
              <a:rPr lang="en-US" sz="1100"/>
              <a:t>├ DynamoDB</a:t>
            </a:r>
            <a:br>
              <a:rPr lang="en-US" sz="1100"/>
            </a:br>
            <a:r>
              <a:rPr lang="en-US" sz="1100"/>
              <a:t>├ Aurora MySQL</a:t>
            </a:r>
            <a:br>
              <a:rPr lang="en-US" sz="1100"/>
            </a:br>
            <a:r>
              <a:rPr lang="en-US" sz="1100"/>
              <a:t>└ ElastiCache Redis</a:t>
            </a:r>
            <a:r>
              <a:rPr lang="en-US" altLang="ko-KR" sz="1100"/>
              <a:t xml:space="preserve">05:00 </a:t>
            </a:r>
            <a:r>
              <a:rPr lang="en-US" sz="1100"/>
              <a:t xml:space="preserve">Main </a:t>
            </a:r>
          </a:p>
          <a:p>
            <a:pPr marL="228600" indent="-228600">
              <a:buFont typeface="+mj-lt"/>
              <a:buAutoNum type="arabicParenR"/>
            </a:pPr>
            <a:endParaRPr lang="en-US" sz="1100"/>
          </a:p>
          <a:p>
            <a:pPr marL="228600" indent="-228600">
              <a:buFont typeface="+mj-lt"/>
              <a:buAutoNum type="arabicParenR"/>
            </a:pPr>
            <a:r>
              <a:rPr lang="en-US" sz="1100"/>
              <a:t>Dashboard 에서 정보 조회</a:t>
            </a:r>
            <a:endParaRPr lang="en-KR" sz="1000"/>
          </a:p>
        </p:txBody>
      </p:sp>
      <p:sp>
        <p:nvSpPr>
          <p:cNvPr id="16" name="Google Shape;2639;p69">
            <a:extLst>
              <a:ext uri="{FF2B5EF4-FFF2-40B4-BE49-F238E27FC236}">
                <a16:creationId xmlns:a16="http://schemas.microsoft.com/office/drawing/2014/main" id="{8E19EC3C-1129-9241-B0F5-01C68B2811B7}"/>
              </a:ext>
            </a:extLst>
          </p:cNvPr>
          <p:cNvSpPr/>
          <p:nvPr/>
        </p:nvSpPr>
        <p:spPr>
          <a:xfrm>
            <a:off x="351876" y="1411348"/>
            <a:ext cx="3292069" cy="2094532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7" name="Google Shape;3518;p84">
            <a:extLst>
              <a:ext uri="{FF2B5EF4-FFF2-40B4-BE49-F238E27FC236}">
                <a16:creationId xmlns:a16="http://schemas.microsoft.com/office/drawing/2014/main" id="{470A3774-07CE-BC4F-9BEA-22CC2E2F95CC}"/>
              </a:ext>
            </a:extLst>
          </p:cNvPr>
          <p:cNvSpPr/>
          <p:nvPr/>
        </p:nvSpPr>
        <p:spPr>
          <a:xfrm>
            <a:off x="572125" y="1755765"/>
            <a:ext cx="2954678" cy="1629564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2756;p69">
            <a:extLst>
              <a:ext uri="{FF2B5EF4-FFF2-40B4-BE49-F238E27FC236}">
                <a16:creationId xmlns:a16="http://schemas.microsoft.com/office/drawing/2014/main" id="{E304D956-FDEC-2641-AA6E-0F92856F4C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6931" t="-49479" r="-5592" b="-59116"/>
          <a:stretch/>
        </p:blipFill>
        <p:spPr>
          <a:xfrm>
            <a:off x="386654" y="1429724"/>
            <a:ext cx="755735" cy="30766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519;p84">
            <a:extLst>
              <a:ext uri="{FF2B5EF4-FFF2-40B4-BE49-F238E27FC236}">
                <a16:creationId xmlns:a16="http://schemas.microsoft.com/office/drawing/2014/main" id="{84BE14AF-3FAE-A643-A477-576C8B1E49B2}"/>
              </a:ext>
            </a:extLst>
          </p:cNvPr>
          <p:cNvSpPr txBox="1"/>
          <p:nvPr/>
        </p:nvSpPr>
        <p:spPr>
          <a:xfrm>
            <a:off x="559633" y="1724352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VPC (Global)</a:t>
            </a:r>
            <a:endParaRPr sz="9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" name="Google Shape;892;p37">
            <a:extLst>
              <a:ext uri="{FF2B5EF4-FFF2-40B4-BE49-F238E27FC236}">
                <a16:creationId xmlns:a16="http://schemas.microsoft.com/office/drawing/2014/main" id="{ED6E0B99-BD86-9C49-91C6-93765F0AA3B3}"/>
              </a:ext>
            </a:extLst>
          </p:cNvPr>
          <p:cNvSpPr/>
          <p:nvPr/>
        </p:nvSpPr>
        <p:spPr>
          <a:xfrm>
            <a:off x="692935" y="2426280"/>
            <a:ext cx="1007259" cy="438441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10"/>
              </a:schemeClr>
            </a:outerShdw>
          </a:effectLst>
        </p:spPr>
        <p:txBody>
          <a:bodyPr spcFirstLastPara="1" wrap="square" lIns="429750" tIns="118850" rIns="45700" bIns="1463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" name="Google Shape;911;p37">
            <a:extLst>
              <a:ext uri="{FF2B5EF4-FFF2-40B4-BE49-F238E27FC236}">
                <a16:creationId xmlns:a16="http://schemas.microsoft.com/office/drawing/2014/main" id="{B8A013D1-8240-E24B-95C4-C902A92C9FA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362" y="2526746"/>
            <a:ext cx="242325" cy="2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2669;p69">
            <a:extLst>
              <a:ext uri="{FF2B5EF4-FFF2-40B4-BE49-F238E27FC236}">
                <a16:creationId xmlns:a16="http://schemas.microsoft.com/office/drawing/2014/main" id="{9A320511-E514-F743-BBCD-A22F701E4CB6}"/>
              </a:ext>
            </a:extLst>
          </p:cNvPr>
          <p:cNvCxnSpPr>
            <a:cxnSpLocks/>
          </p:cNvCxnSpPr>
          <p:nvPr/>
        </p:nvCxnSpPr>
        <p:spPr>
          <a:xfrm flipV="1">
            <a:off x="2134520" y="2758753"/>
            <a:ext cx="408740" cy="268043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43" name="Google Shape;266;g3d6e2211149_2_228">
            <a:extLst>
              <a:ext uri="{FF2B5EF4-FFF2-40B4-BE49-F238E27FC236}">
                <a16:creationId xmlns:a16="http://schemas.microsoft.com/office/drawing/2014/main" id="{10A730E4-1828-FD44-B777-9596F4AD31F2}"/>
              </a:ext>
            </a:extLst>
          </p:cNvPr>
          <p:cNvSpPr/>
          <p:nvPr/>
        </p:nvSpPr>
        <p:spPr>
          <a:xfrm>
            <a:off x="4914463" y="1429724"/>
            <a:ext cx="3149290" cy="1513618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lang="en-US" sz="1200"/>
          </a:p>
        </p:txBody>
      </p:sp>
      <p:pic>
        <p:nvPicPr>
          <p:cNvPr id="44" name="Google Shape;267;g3d6e2211149_2_228" descr="VPC group icon. ">
            <a:extLst>
              <a:ext uri="{FF2B5EF4-FFF2-40B4-BE49-F238E27FC236}">
                <a16:creationId xmlns:a16="http://schemas.microsoft.com/office/drawing/2014/main" id="{D63CEE07-6830-C04A-9440-F510B15D706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9287" y="14252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68;g3d6e2211149_2_228">
            <a:extLst>
              <a:ext uri="{FF2B5EF4-FFF2-40B4-BE49-F238E27FC236}">
                <a16:creationId xmlns:a16="http://schemas.microsoft.com/office/drawing/2014/main" id="{51266955-E78B-734E-AD90-31BCF19DC592}"/>
              </a:ext>
            </a:extLst>
          </p:cNvPr>
          <p:cNvSpPr/>
          <p:nvPr/>
        </p:nvSpPr>
        <p:spPr>
          <a:xfrm>
            <a:off x="6141763" y="1757163"/>
            <a:ext cx="1844894" cy="1107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46" name="Google Shape;269;g3d6e2211149_2_228" descr="Private subnet group icon. ">
            <a:extLst>
              <a:ext uri="{FF2B5EF4-FFF2-40B4-BE49-F238E27FC236}">
                <a16:creationId xmlns:a16="http://schemas.microsoft.com/office/drawing/2014/main" id="{416AC039-0C00-8640-9ED3-A9AFD8AC2EF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8508" y="1760201"/>
            <a:ext cx="381000" cy="29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275;g3d6e2211149_2_228" descr="Amazon Aurora service icon.">
            <a:extLst>
              <a:ext uri="{FF2B5EF4-FFF2-40B4-BE49-F238E27FC236}">
                <a16:creationId xmlns:a16="http://schemas.microsoft.com/office/drawing/2014/main" id="{AF715DFD-8DC0-E440-9EA5-6133BF2FCBD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6471" y="2090278"/>
            <a:ext cx="519585" cy="51958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76;g3d6e2211149_2_228">
            <a:extLst>
              <a:ext uri="{FF2B5EF4-FFF2-40B4-BE49-F238E27FC236}">
                <a16:creationId xmlns:a16="http://schemas.microsoft.com/office/drawing/2014/main" id="{CFD5ABDA-50D4-C445-8A49-CE3F72F3C0A3}"/>
              </a:ext>
            </a:extLst>
          </p:cNvPr>
          <p:cNvSpPr txBox="1"/>
          <p:nvPr/>
        </p:nvSpPr>
        <p:spPr>
          <a:xfrm>
            <a:off x="6180943" y="257262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49" name="Google Shape;277;g3d6e2211149_2_228" descr="Amazon DynamoDB service icon.">
            <a:extLst>
              <a:ext uri="{FF2B5EF4-FFF2-40B4-BE49-F238E27FC236}">
                <a16:creationId xmlns:a16="http://schemas.microsoft.com/office/drawing/2014/main" id="{1C9E4345-A20F-424B-B045-2401A576043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14448" y="1791611"/>
            <a:ext cx="429045" cy="42904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278;g3d6e2211149_2_228">
            <a:extLst>
              <a:ext uri="{FF2B5EF4-FFF2-40B4-BE49-F238E27FC236}">
                <a16:creationId xmlns:a16="http://schemas.microsoft.com/office/drawing/2014/main" id="{026860F5-3E8B-AA49-8CAF-ED53CC0DE514}"/>
              </a:ext>
            </a:extLst>
          </p:cNvPr>
          <p:cNvSpPr txBox="1"/>
          <p:nvPr/>
        </p:nvSpPr>
        <p:spPr>
          <a:xfrm>
            <a:off x="5207738" y="2197831"/>
            <a:ext cx="122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51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B6378EDB-E139-EE4B-8A0E-A31545A3A984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80552" y="2090301"/>
            <a:ext cx="519539" cy="51953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80;g3d6e2211149_2_228">
            <a:extLst>
              <a:ext uri="{FF2B5EF4-FFF2-40B4-BE49-F238E27FC236}">
                <a16:creationId xmlns:a16="http://schemas.microsoft.com/office/drawing/2014/main" id="{79ED3FFB-0DF3-804D-AE49-D1A94FAD3341}"/>
              </a:ext>
            </a:extLst>
          </p:cNvPr>
          <p:cNvSpPr txBox="1"/>
          <p:nvPr/>
        </p:nvSpPr>
        <p:spPr>
          <a:xfrm>
            <a:off x="7030497" y="2568319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55" name="Graphic 7" descr="Amazon API Gateway service icon.">
            <a:extLst>
              <a:ext uri="{FF2B5EF4-FFF2-40B4-BE49-F238E27FC236}">
                <a16:creationId xmlns:a16="http://schemas.microsoft.com/office/drawing/2014/main" id="{DE48CDCA-4971-194B-8ED4-48BF8B57EAD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4131503" y="2244869"/>
            <a:ext cx="402599" cy="402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TextBox 9">
            <a:extLst>
              <a:ext uri="{FF2B5EF4-FFF2-40B4-BE49-F238E27FC236}">
                <a16:creationId xmlns:a16="http://schemas.microsoft.com/office/drawing/2014/main" id="{76D7935D-92A9-D64C-B33B-CCD5BAD5C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8646" y="2650401"/>
            <a:ext cx="9383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 xml:space="preserve">Amazon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 Gateway</a:t>
            </a:r>
          </a:p>
        </p:txBody>
      </p:sp>
      <p:pic>
        <p:nvPicPr>
          <p:cNvPr id="57" name="Google Shape;294;g3d6e2211149_2_228" descr="AWS Lambda service icon.">
            <a:extLst>
              <a:ext uri="{FF2B5EF4-FFF2-40B4-BE49-F238E27FC236}">
                <a16:creationId xmlns:a16="http://schemas.microsoft.com/office/drawing/2014/main" id="{0F436B6B-FB95-8F4D-9D6A-7B2EB483EA31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006633" y="217094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295;g3d6e2211149_2_228">
            <a:extLst>
              <a:ext uri="{FF2B5EF4-FFF2-40B4-BE49-F238E27FC236}">
                <a16:creationId xmlns:a16="http://schemas.microsoft.com/office/drawing/2014/main" id="{5C284199-6FE1-3244-9051-24DC6217C3A3}"/>
              </a:ext>
            </a:extLst>
          </p:cNvPr>
          <p:cNvSpPr txBox="1"/>
          <p:nvPr/>
        </p:nvSpPr>
        <p:spPr>
          <a:xfrm>
            <a:off x="4935220" y="2568319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9" name="Google Shape;272;g3d6e2211149_2_228">
            <a:extLst>
              <a:ext uri="{FF2B5EF4-FFF2-40B4-BE49-F238E27FC236}">
                <a16:creationId xmlns:a16="http://schemas.microsoft.com/office/drawing/2014/main" id="{081084F9-1BBC-F542-9709-448EFD1B62C5}"/>
              </a:ext>
            </a:extLst>
          </p:cNvPr>
          <p:cNvCxnSpPr>
            <a:cxnSpLocks/>
            <a:stCxn id="55" idx="3"/>
            <a:endCxn id="57" idx="1"/>
          </p:cNvCxnSpPr>
          <p:nvPr/>
        </p:nvCxnSpPr>
        <p:spPr>
          <a:xfrm flipV="1">
            <a:off x="4534102" y="2374782"/>
            <a:ext cx="472531" cy="71387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1" name="Google Shape;337;p26">
            <a:extLst>
              <a:ext uri="{FF2B5EF4-FFF2-40B4-BE49-F238E27FC236}">
                <a16:creationId xmlns:a16="http://schemas.microsoft.com/office/drawing/2014/main" id="{A7D780F2-DCD4-C04D-97F3-2765EF954A88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756289" y="2774929"/>
            <a:ext cx="454100" cy="4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338;p26">
            <a:extLst>
              <a:ext uri="{FF2B5EF4-FFF2-40B4-BE49-F238E27FC236}">
                <a16:creationId xmlns:a16="http://schemas.microsoft.com/office/drawing/2014/main" id="{2FFA5346-914C-3940-B5B4-C946334F3F3F}"/>
              </a:ext>
            </a:extLst>
          </p:cNvPr>
          <p:cNvSpPr txBox="1"/>
          <p:nvPr/>
        </p:nvSpPr>
        <p:spPr>
          <a:xfrm>
            <a:off x="1538394" y="3159157"/>
            <a:ext cx="9378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Eventarc</a:t>
            </a:r>
            <a:endParaRPr sz="900" b="1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1312;p48">
            <a:extLst>
              <a:ext uri="{FF2B5EF4-FFF2-40B4-BE49-F238E27FC236}">
                <a16:creationId xmlns:a16="http://schemas.microsoft.com/office/drawing/2014/main" id="{7CBD5C39-4DAC-684E-A259-4711650F845F}"/>
              </a:ext>
            </a:extLst>
          </p:cNvPr>
          <p:cNvSpPr/>
          <p:nvPr/>
        </p:nvSpPr>
        <p:spPr>
          <a:xfrm>
            <a:off x="2394903" y="2350071"/>
            <a:ext cx="1002627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1340;p48">
            <a:extLst>
              <a:ext uri="{FF2B5EF4-FFF2-40B4-BE49-F238E27FC236}">
                <a16:creationId xmlns:a16="http://schemas.microsoft.com/office/drawing/2014/main" id="{058ADA5D-CEAA-4345-936E-7CAB5266E6E3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17322" y="2433422"/>
            <a:ext cx="235100" cy="245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2669;p69">
            <a:extLst>
              <a:ext uri="{FF2B5EF4-FFF2-40B4-BE49-F238E27FC236}">
                <a16:creationId xmlns:a16="http://schemas.microsoft.com/office/drawing/2014/main" id="{7E23719A-0B60-C140-A38F-E2169C64B718}"/>
              </a:ext>
            </a:extLst>
          </p:cNvPr>
          <p:cNvCxnSpPr>
            <a:cxnSpLocks/>
            <a:stCxn id="64" idx="1"/>
            <a:endCxn id="38" idx="3"/>
          </p:cNvCxnSpPr>
          <p:nvPr/>
        </p:nvCxnSpPr>
        <p:spPr>
          <a:xfrm flipH="1">
            <a:off x="1700194" y="2541171"/>
            <a:ext cx="694709" cy="10433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7" name="Google Shape;2669;p69">
            <a:extLst>
              <a:ext uri="{FF2B5EF4-FFF2-40B4-BE49-F238E27FC236}">
                <a16:creationId xmlns:a16="http://schemas.microsoft.com/office/drawing/2014/main" id="{D2E6B04D-341A-6D44-89F2-DE9E1651BA2E}"/>
              </a:ext>
            </a:extLst>
          </p:cNvPr>
          <p:cNvCxnSpPr>
            <a:cxnSpLocks/>
            <a:stCxn id="64" idx="3"/>
            <a:endCxn id="55" idx="1"/>
          </p:cNvCxnSpPr>
          <p:nvPr/>
        </p:nvCxnSpPr>
        <p:spPr>
          <a:xfrm flipV="1">
            <a:off x="3397530" y="2446169"/>
            <a:ext cx="733973" cy="95002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CE075257-60D3-454F-950C-A47EE1C726C9}"/>
              </a:ext>
            </a:extLst>
          </p:cNvPr>
          <p:cNvSpPr txBox="1"/>
          <p:nvPr/>
        </p:nvSpPr>
        <p:spPr>
          <a:xfrm>
            <a:off x="4900098" y="3105892"/>
            <a:ext cx="38922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Aurora(</a:t>
            </a:r>
            <a:r>
              <a:rPr lang="ko-KR" altLang="en-US" sz="1000"/>
              <a:t>상품</a:t>
            </a:r>
            <a:r>
              <a:rPr lang="en-US" sz="1000"/>
              <a:t>DB) + Redis(</a:t>
            </a:r>
            <a:r>
              <a:rPr lang="ko-KR" altLang="en-US" sz="1000"/>
              <a:t>추천캐시</a:t>
            </a:r>
            <a:r>
              <a:rPr lang="en-US" altLang="ko-KR" sz="1000"/>
              <a:t xml:space="preserve">) + </a:t>
            </a:r>
            <a:r>
              <a:rPr lang="en-US" sz="1000"/>
              <a:t>DynamoDB(</a:t>
            </a:r>
            <a:r>
              <a:rPr lang="ko-KR" altLang="en-US" sz="1000"/>
              <a:t>고객상태</a:t>
            </a:r>
            <a:r>
              <a:rPr lang="en-US" altLang="ko-KR" sz="1000"/>
              <a:t>)</a:t>
            </a:r>
            <a:endParaRPr lang="en-KR" sz="10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AC30F9A-E421-0D44-A7BD-5F9D9E254DC9}"/>
              </a:ext>
            </a:extLst>
          </p:cNvPr>
          <p:cNvSpPr txBox="1"/>
          <p:nvPr/>
        </p:nvSpPr>
        <p:spPr>
          <a:xfrm>
            <a:off x="354643" y="427038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 API Gateway (Private)</a:t>
            </a:r>
            <a:endParaRPr lang="en-US" altLang="ko-KR" sz="1000" b="1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912997-CBCE-D745-A971-7CBBF3034B04}"/>
              </a:ext>
            </a:extLst>
          </p:cNvPr>
          <p:cNvSpPr txBox="1"/>
          <p:nvPr/>
        </p:nvSpPr>
        <p:spPr>
          <a:xfrm>
            <a:off x="348358" y="381888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구성 요소 </a:t>
            </a:r>
            <a:endParaRPr lang="en-US" altLang="ko-KR" sz="1000" b="1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9008A2-FA0A-C04C-A003-9F42786A491B}"/>
              </a:ext>
            </a:extLst>
          </p:cNvPr>
          <p:cNvSpPr txBox="1"/>
          <p:nvPr/>
        </p:nvSpPr>
        <p:spPr>
          <a:xfrm>
            <a:off x="486139" y="4658835"/>
            <a:ext cx="3292070" cy="4308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GCP Cloud Run</a:t>
            </a:r>
            <a:r>
              <a:rPr lang="ko-KR" altLang="en-US" sz="1100"/>
              <a:t>에서만 호출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 xml:space="preserve">VPN </a:t>
            </a:r>
            <a:r>
              <a:rPr lang="ko-KR" altLang="en-US" sz="1100"/>
              <a:t>경유</a:t>
            </a:r>
            <a:endParaRPr lang="en-KR" sz="110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94E71C0-5C66-F641-A594-34B67AAEB3B0}"/>
              </a:ext>
            </a:extLst>
          </p:cNvPr>
          <p:cNvSpPr txBox="1"/>
          <p:nvPr/>
        </p:nvSpPr>
        <p:spPr>
          <a:xfrm>
            <a:off x="4364232" y="427038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 Lambda</a:t>
            </a:r>
            <a:endParaRPr lang="en-US" altLang="ko-KR" sz="1000" b="1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D5AE496-DFEB-4245-A492-E8F813F116E9}"/>
              </a:ext>
            </a:extLst>
          </p:cNvPr>
          <p:cNvSpPr txBox="1"/>
          <p:nvPr/>
        </p:nvSpPr>
        <p:spPr>
          <a:xfrm>
            <a:off x="4495728" y="4658835"/>
            <a:ext cx="3292070" cy="6001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 xml:space="preserve">고객 점수 </a:t>
            </a:r>
            <a:r>
              <a:rPr lang="en-US" altLang="ko-KR" sz="1100"/>
              <a:t xml:space="preserve">&gt; DynamoDB </a:t>
            </a:r>
            <a:r>
              <a:rPr lang="ko-KR" altLang="en-US" sz="1100"/>
              <a:t xml:space="preserve">저장 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추천 오케스트레이터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상품 조합 엔진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D82C5F2-1789-C946-9E03-DEB04B2FD83A}"/>
              </a:ext>
            </a:extLst>
          </p:cNvPr>
          <p:cNvSpPr txBox="1"/>
          <p:nvPr/>
        </p:nvSpPr>
        <p:spPr>
          <a:xfrm>
            <a:off x="8633722" y="427038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 DynamoDB</a:t>
            </a:r>
            <a:endParaRPr lang="en-US" altLang="ko-KR" sz="1000" b="1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E77655-2D70-524C-8191-923D7CEEEB2B}"/>
              </a:ext>
            </a:extLst>
          </p:cNvPr>
          <p:cNvSpPr txBox="1"/>
          <p:nvPr/>
        </p:nvSpPr>
        <p:spPr>
          <a:xfrm>
            <a:off x="8765218" y="4658835"/>
            <a:ext cx="3292070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 xml:space="preserve">고객 최신 점수 </a:t>
            </a:r>
            <a:r>
              <a:rPr lang="en-US" altLang="ko-KR" sz="1100"/>
              <a:t xml:space="preserve">/ </a:t>
            </a:r>
            <a:r>
              <a:rPr lang="ko-KR" altLang="en-US" sz="1100"/>
              <a:t xml:space="preserve">등급 </a:t>
            </a:r>
            <a:r>
              <a:rPr lang="en-US" altLang="ko-KR" sz="1100"/>
              <a:t xml:space="preserve">/ </a:t>
            </a:r>
            <a:r>
              <a:rPr lang="en-US" sz="1100"/>
              <a:t xml:space="preserve">AI </a:t>
            </a:r>
            <a:r>
              <a:rPr lang="ko-KR" altLang="en-US" sz="1100"/>
              <a:t>결과 저장</a:t>
            </a:r>
            <a:endParaRPr lang="en-KR" sz="110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D5D2AC7-B232-E145-89BE-A29C8F29E18C}"/>
              </a:ext>
            </a:extLst>
          </p:cNvPr>
          <p:cNvSpPr txBox="1"/>
          <p:nvPr/>
        </p:nvSpPr>
        <p:spPr>
          <a:xfrm>
            <a:off x="354643" y="5490502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4) Aurora MySQL</a:t>
            </a:r>
            <a:endParaRPr lang="en-US" altLang="ko-KR" sz="1000" b="1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8FA314F-97F2-C447-A506-F1B37E962280}"/>
              </a:ext>
            </a:extLst>
          </p:cNvPr>
          <p:cNvSpPr txBox="1"/>
          <p:nvPr/>
        </p:nvSpPr>
        <p:spPr>
          <a:xfrm>
            <a:off x="486139" y="5878950"/>
            <a:ext cx="3292070" cy="6001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 xml:space="preserve">그룹사 상품 </a:t>
            </a:r>
            <a:r>
              <a:rPr lang="en-US" altLang="ko-KR" sz="1100"/>
              <a:t>Master DB</a:t>
            </a:r>
          </a:p>
          <a:p>
            <a:r>
              <a:rPr lang="en-US" altLang="ko-KR" sz="1100"/>
              <a:t>(</a:t>
            </a:r>
            <a:r>
              <a:rPr lang="ko-KR" altLang="en-US" sz="1100"/>
              <a:t xml:space="preserve">은행 상품 </a:t>
            </a:r>
            <a:r>
              <a:rPr lang="en-US" altLang="ko-KR" sz="1100"/>
              <a:t xml:space="preserve">/ </a:t>
            </a:r>
            <a:r>
              <a:rPr lang="ko-KR" altLang="en-US" sz="1100"/>
              <a:t xml:space="preserve">카드 상품 </a:t>
            </a:r>
            <a:r>
              <a:rPr lang="en-US" altLang="ko-KR" sz="1100"/>
              <a:t xml:space="preserve">/ </a:t>
            </a:r>
            <a:r>
              <a:rPr lang="ko-KR" altLang="en-US" sz="1100"/>
              <a:t xml:space="preserve">보험 상품 </a:t>
            </a:r>
            <a:r>
              <a:rPr lang="en-US" altLang="ko-KR" sz="1100"/>
              <a:t xml:space="preserve">/ </a:t>
            </a:r>
            <a:r>
              <a:rPr lang="ko-KR" altLang="en-US" sz="1100"/>
              <a:t xml:space="preserve">증권 상품 </a:t>
            </a:r>
            <a:r>
              <a:rPr lang="en-US" altLang="ko-KR" sz="1100"/>
              <a:t xml:space="preserve">/ </a:t>
            </a:r>
            <a:r>
              <a:rPr lang="ko-KR" altLang="en-US" sz="1100"/>
              <a:t>헬스케어 서비스</a:t>
            </a:r>
            <a:r>
              <a:rPr lang="en-US" altLang="ko-KR" sz="1100"/>
              <a:t>)</a:t>
            </a:r>
            <a:endParaRPr lang="en-KR" sz="11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9E714A7-B632-C942-94A7-C027B87C6EAA}"/>
              </a:ext>
            </a:extLst>
          </p:cNvPr>
          <p:cNvSpPr txBox="1"/>
          <p:nvPr/>
        </p:nvSpPr>
        <p:spPr>
          <a:xfrm>
            <a:off x="4364232" y="5490502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5) ElastiCache Redis</a:t>
            </a:r>
            <a:endParaRPr lang="en-US" altLang="ko-KR" sz="1000" b="1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EDAE1B9-7B31-B14C-ACEA-738DE44EE0C7}"/>
              </a:ext>
            </a:extLst>
          </p:cNvPr>
          <p:cNvSpPr txBox="1"/>
          <p:nvPr/>
        </p:nvSpPr>
        <p:spPr>
          <a:xfrm>
            <a:off x="4495728" y="5878950"/>
            <a:ext cx="3292070" cy="4308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 xml:space="preserve">메인 </a:t>
            </a:r>
            <a:r>
              <a:rPr lang="en-US" altLang="ko-KR" sz="1100" dirty="0"/>
              <a:t xml:space="preserve">Dashboard </a:t>
            </a:r>
            <a:r>
              <a:rPr lang="ko-KR" altLang="en-US" sz="1100" dirty="0"/>
              <a:t>초고속 캐시</a:t>
            </a:r>
            <a:endParaRPr lang="en-US" altLang="ko-KR" sz="1100" dirty="0"/>
          </a:p>
          <a:p>
            <a:r>
              <a:rPr lang="en-US" altLang="ko-KR" sz="1100" dirty="0"/>
              <a:t xml:space="preserve">(G000000001 </a:t>
            </a:r>
            <a:r>
              <a:rPr lang="ko-KR" altLang="en-US" sz="1100" dirty="0"/>
              <a:t xml:space="preserve">추천 결과 </a:t>
            </a:r>
            <a:r>
              <a:rPr lang="en-US" altLang="ko-KR" sz="1100" dirty="0"/>
              <a:t>10</a:t>
            </a:r>
            <a:r>
              <a:rPr lang="ko-KR" altLang="en-US" sz="1100" dirty="0"/>
              <a:t>분 캐시</a:t>
            </a:r>
            <a:r>
              <a:rPr lang="en-US" altLang="ko-KR" sz="1100" dirty="0"/>
              <a:t>)</a:t>
            </a:r>
            <a:endParaRPr lang="en-KR" sz="1100" dirty="0"/>
          </a:p>
        </p:txBody>
      </p:sp>
      <p:cxnSp>
        <p:nvCxnSpPr>
          <p:cNvPr id="80" name="Google Shape;272;g3d6e2211149_2_228">
            <a:extLst>
              <a:ext uri="{FF2B5EF4-FFF2-40B4-BE49-F238E27FC236}">
                <a16:creationId xmlns:a16="http://schemas.microsoft.com/office/drawing/2014/main" id="{30F66838-DB22-9244-B63A-03361B99BCD2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5398557" y="2006134"/>
            <a:ext cx="215891" cy="44003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2" name="Google Shape;272;g3d6e2211149_2_228">
            <a:extLst>
              <a:ext uri="{FF2B5EF4-FFF2-40B4-BE49-F238E27FC236}">
                <a16:creationId xmlns:a16="http://schemas.microsoft.com/office/drawing/2014/main" id="{98281B73-BC4D-E549-9EF3-97EBF6403F38}"/>
              </a:ext>
            </a:extLst>
          </p:cNvPr>
          <p:cNvCxnSpPr>
            <a:cxnSpLocks/>
          </p:cNvCxnSpPr>
          <p:nvPr/>
        </p:nvCxnSpPr>
        <p:spPr>
          <a:xfrm>
            <a:off x="5466723" y="2491300"/>
            <a:ext cx="921273" cy="7212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" name="Google Shape;303;g3d6896b4338_0_0">
            <a:extLst>
              <a:ext uri="{FF2B5EF4-FFF2-40B4-BE49-F238E27FC236}">
                <a16:creationId xmlns:a16="http://schemas.microsoft.com/office/drawing/2014/main" id="{FBC8513C-CDA8-3C41-9CD1-A36343672B32}"/>
              </a:ext>
            </a:extLst>
          </p:cNvPr>
          <p:cNvSpPr/>
          <p:nvPr/>
        </p:nvSpPr>
        <p:spPr>
          <a:xfrm>
            <a:off x="5284144" y="18135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303;g3d6896b4338_0_0">
            <a:extLst>
              <a:ext uri="{FF2B5EF4-FFF2-40B4-BE49-F238E27FC236}">
                <a16:creationId xmlns:a16="http://schemas.microsoft.com/office/drawing/2014/main" id="{D809F733-74AC-F64D-B0C5-C8D919FBA286}"/>
              </a:ext>
            </a:extLst>
          </p:cNvPr>
          <p:cNvSpPr/>
          <p:nvPr/>
        </p:nvSpPr>
        <p:spPr>
          <a:xfrm>
            <a:off x="6060767" y="213248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303;g3d6896b4338_0_0">
            <a:extLst>
              <a:ext uri="{FF2B5EF4-FFF2-40B4-BE49-F238E27FC236}">
                <a16:creationId xmlns:a16="http://schemas.microsoft.com/office/drawing/2014/main" id="{8F60AF4B-9BF6-C24C-9671-DA61B37C4331}"/>
              </a:ext>
            </a:extLst>
          </p:cNvPr>
          <p:cNvSpPr/>
          <p:nvPr/>
        </p:nvSpPr>
        <p:spPr>
          <a:xfrm>
            <a:off x="6964767" y="271762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668497AD-89E5-8A48-A098-9F139C4C5390}"/>
              </a:ext>
            </a:extLst>
          </p:cNvPr>
          <p:cNvCxnSpPr>
            <a:cxnSpLocks/>
            <a:stCxn id="58" idx="2"/>
            <a:endCxn id="52" idx="2"/>
          </p:cNvCxnSpPr>
          <p:nvPr/>
        </p:nvCxnSpPr>
        <p:spPr>
          <a:xfrm rot="16200000" flipH="1">
            <a:off x="6413433" y="1739455"/>
            <a:ext cx="12700" cy="2335127"/>
          </a:xfrm>
          <a:prstGeom prst="bentConnector3">
            <a:avLst>
              <a:gd name="adj1" fmla="val 1046496"/>
            </a:avLst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926383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저장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9261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Lambda</a:t>
            </a:r>
            <a:r>
              <a:rPr lang="ko-KR" altLang="en-US" b="1"/>
              <a:t xml:space="preserve">는 </a:t>
            </a:r>
            <a:r>
              <a:rPr lang="en-US" b="1"/>
              <a:t xml:space="preserve">GCP </a:t>
            </a:r>
            <a:r>
              <a:rPr lang="ko-KR" altLang="en-US" b="1"/>
              <a:t xml:space="preserve">예측 결과를 </a:t>
            </a:r>
            <a:r>
              <a:rPr lang="en-US" b="1"/>
              <a:t>DynamoDB</a:t>
            </a:r>
            <a:r>
              <a:rPr lang="ko-KR" altLang="en-US" b="1"/>
              <a:t xml:space="preserve">에 저장한 뒤 </a:t>
            </a:r>
            <a:r>
              <a:rPr lang="en-US" b="1"/>
              <a:t>Aurora DB</a:t>
            </a:r>
            <a:r>
              <a:rPr lang="ko-KR" altLang="en-US" b="1"/>
              <a:t>에서 고객 등급별 상품</a:t>
            </a:r>
            <a:r>
              <a:rPr lang="en-US" altLang="ko-KR" b="1"/>
              <a:t>·</a:t>
            </a:r>
            <a:r>
              <a:rPr lang="ko-KR" altLang="en-US" b="1"/>
              <a:t>서비스를 조회하여 개인화 추천 데이터를 생성하고</a:t>
            </a:r>
            <a:r>
              <a:rPr lang="en-US" altLang="ko-KR" b="1"/>
              <a:t xml:space="preserve">, </a:t>
            </a:r>
            <a:r>
              <a:rPr lang="ko-KR" altLang="en-US" b="1"/>
              <a:t xml:space="preserve">이를 </a:t>
            </a:r>
            <a:r>
              <a:rPr lang="en-US" b="1"/>
              <a:t>ElastiCache(Redis)</a:t>
            </a:r>
            <a:r>
              <a:rPr lang="ko-KR" altLang="en-US" b="1"/>
              <a:t xml:space="preserve">에 캐시하는 구조 </a:t>
            </a:r>
            <a:endParaRPr lang="en-KR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ECC876-49DE-874A-9FE0-6099F53F04DF}"/>
              </a:ext>
            </a:extLst>
          </p:cNvPr>
          <p:cNvSpPr txBox="1"/>
          <p:nvPr/>
        </p:nvSpPr>
        <p:spPr>
          <a:xfrm>
            <a:off x="9504792" y="1746846"/>
            <a:ext cx="268720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Lambda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DynamoDB </a:t>
            </a:r>
            <a:r>
              <a:rPr lang="ko-KR" altLang="en-US" sz="1000"/>
              <a:t>최신 점수 저장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Aurora </a:t>
            </a:r>
            <a:r>
              <a:rPr lang="ko-KR" altLang="en-US" sz="1000"/>
              <a:t>상품 조회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Redis </a:t>
            </a:r>
            <a:r>
              <a:rPr lang="ko-KR" altLang="en-US" sz="1000"/>
              <a:t>캐시 생성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고객시 로그인 시</a:t>
            </a:r>
            <a:r>
              <a:rPr lang="en-US" altLang="ko-KR" sz="1000"/>
              <a:t xml:space="preserve">, </a:t>
            </a:r>
            <a:r>
              <a:rPr lang="en-US" sz="1000"/>
              <a:t xml:space="preserve">Dashboard </a:t>
            </a:r>
            <a:r>
              <a:rPr lang="ko-KR" altLang="en-US" sz="1000"/>
              <a:t>정보 조회</a:t>
            </a:r>
            <a:endParaRPr lang="en-KR" sz="100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B416C0D-2D17-3940-B029-D7142C046C3B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709516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775368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조회 정보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7" name="Google Shape;2639;p69">
            <a:extLst>
              <a:ext uri="{FF2B5EF4-FFF2-40B4-BE49-F238E27FC236}">
                <a16:creationId xmlns:a16="http://schemas.microsoft.com/office/drawing/2014/main" id="{638C29D8-C154-3248-AFF2-CC2AE4FDFB9A}"/>
              </a:ext>
            </a:extLst>
          </p:cNvPr>
          <p:cNvSpPr/>
          <p:nvPr/>
        </p:nvSpPr>
        <p:spPr>
          <a:xfrm>
            <a:off x="351876" y="1411348"/>
            <a:ext cx="3292069" cy="2094532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8" name="Google Shape;3518;p84">
            <a:extLst>
              <a:ext uri="{FF2B5EF4-FFF2-40B4-BE49-F238E27FC236}">
                <a16:creationId xmlns:a16="http://schemas.microsoft.com/office/drawing/2014/main" id="{350080D6-6260-0D44-938F-255EEC3965FA}"/>
              </a:ext>
            </a:extLst>
          </p:cNvPr>
          <p:cNvSpPr/>
          <p:nvPr/>
        </p:nvSpPr>
        <p:spPr>
          <a:xfrm>
            <a:off x="572125" y="1755765"/>
            <a:ext cx="2954678" cy="1629564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756;p69">
            <a:extLst>
              <a:ext uri="{FF2B5EF4-FFF2-40B4-BE49-F238E27FC236}">
                <a16:creationId xmlns:a16="http://schemas.microsoft.com/office/drawing/2014/main" id="{FDACE19A-0F21-434E-9596-A6A6F9F06D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6931" t="-49479" r="-5592" b="-59116"/>
          <a:stretch/>
        </p:blipFill>
        <p:spPr>
          <a:xfrm>
            <a:off x="386654" y="1429724"/>
            <a:ext cx="755735" cy="307664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519;p84">
            <a:extLst>
              <a:ext uri="{FF2B5EF4-FFF2-40B4-BE49-F238E27FC236}">
                <a16:creationId xmlns:a16="http://schemas.microsoft.com/office/drawing/2014/main" id="{C79098B0-6C26-6840-A653-FC57982DA90C}"/>
              </a:ext>
            </a:extLst>
          </p:cNvPr>
          <p:cNvSpPr txBox="1"/>
          <p:nvPr/>
        </p:nvSpPr>
        <p:spPr>
          <a:xfrm>
            <a:off x="559633" y="1724352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VPC (Global)</a:t>
            </a:r>
            <a:endParaRPr sz="9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" name="Google Shape;892;p37">
            <a:extLst>
              <a:ext uri="{FF2B5EF4-FFF2-40B4-BE49-F238E27FC236}">
                <a16:creationId xmlns:a16="http://schemas.microsoft.com/office/drawing/2014/main" id="{9814B8FD-A1F7-AB40-B469-ABB1744986C0}"/>
              </a:ext>
            </a:extLst>
          </p:cNvPr>
          <p:cNvSpPr/>
          <p:nvPr/>
        </p:nvSpPr>
        <p:spPr>
          <a:xfrm>
            <a:off x="692935" y="2426280"/>
            <a:ext cx="1007259" cy="438441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10"/>
              </a:schemeClr>
            </a:outerShdw>
          </a:effectLst>
        </p:spPr>
        <p:txBody>
          <a:bodyPr spcFirstLastPara="1" wrap="square" lIns="429750" tIns="118850" rIns="45700" bIns="1463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" name="Google Shape;911;p37">
            <a:extLst>
              <a:ext uri="{FF2B5EF4-FFF2-40B4-BE49-F238E27FC236}">
                <a16:creationId xmlns:a16="http://schemas.microsoft.com/office/drawing/2014/main" id="{2F2C7A6F-66ED-5946-94A1-A5129308B69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362" y="2526746"/>
            <a:ext cx="242325" cy="2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" name="Google Shape;2669;p69">
            <a:extLst>
              <a:ext uri="{FF2B5EF4-FFF2-40B4-BE49-F238E27FC236}">
                <a16:creationId xmlns:a16="http://schemas.microsoft.com/office/drawing/2014/main" id="{9BE2CAF4-5969-F548-9934-188D2F623843}"/>
              </a:ext>
            </a:extLst>
          </p:cNvPr>
          <p:cNvCxnSpPr>
            <a:cxnSpLocks/>
          </p:cNvCxnSpPr>
          <p:nvPr/>
        </p:nvCxnSpPr>
        <p:spPr>
          <a:xfrm flipV="1">
            <a:off x="2134520" y="2758753"/>
            <a:ext cx="408740" cy="268043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34" name="Google Shape;266;g3d6e2211149_2_228">
            <a:extLst>
              <a:ext uri="{FF2B5EF4-FFF2-40B4-BE49-F238E27FC236}">
                <a16:creationId xmlns:a16="http://schemas.microsoft.com/office/drawing/2014/main" id="{1A825953-DBF4-3348-BCAE-FE2FDBDD86BF}"/>
              </a:ext>
            </a:extLst>
          </p:cNvPr>
          <p:cNvSpPr/>
          <p:nvPr/>
        </p:nvSpPr>
        <p:spPr>
          <a:xfrm>
            <a:off x="4914463" y="1429724"/>
            <a:ext cx="3149290" cy="1513618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lang="en-US" sz="1200"/>
          </a:p>
        </p:txBody>
      </p:sp>
      <p:pic>
        <p:nvPicPr>
          <p:cNvPr id="35" name="Google Shape;267;g3d6e2211149_2_228" descr="VPC group icon. ">
            <a:extLst>
              <a:ext uri="{FF2B5EF4-FFF2-40B4-BE49-F238E27FC236}">
                <a16:creationId xmlns:a16="http://schemas.microsoft.com/office/drawing/2014/main" id="{AD6C23A5-90EB-F944-AC1C-E9FD373DFD3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9287" y="14252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268;g3d6e2211149_2_228">
            <a:extLst>
              <a:ext uri="{FF2B5EF4-FFF2-40B4-BE49-F238E27FC236}">
                <a16:creationId xmlns:a16="http://schemas.microsoft.com/office/drawing/2014/main" id="{D859394B-49D8-704D-A4C1-CE5ED1D0564D}"/>
              </a:ext>
            </a:extLst>
          </p:cNvPr>
          <p:cNvSpPr/>
          <p:nvPr/>
        </p:nvSpPr>
        <p:spPr>
          <a:xfrm>
            <a:off x="6141763" y="1757163"/>
            <a:ext cx="1844894" cy="1107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7" name="Google Shape;269;g3d6e2211149_2_228" descr="Private subnet group icon. ">
            <a:extLst>
              <a:ext uri="{FF2B5EF4-FFF2-40B4-BE49-F238E27FC236}">
                <a16:creationId xmlns:a16="http://schemas.microsoft.com/office/drawing/2014/main" id="{37562473-FBE5-A14A-8FA0-16088EEA270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8508" y="1760201"/>
            <a:ext cx="381000" cy="29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275;g3d6e2211149_2_228" descr="Amazon Aurora service icon.">
            <a:extLst>
              <a:ext uri="{FF2B5EF4-FFF2-40B4-BE49-F238E27FC236}">
                <a16:creationId xmlns:a16="http://schemas.microsoft.com/office/drawing/2014/main" id="{8430026F-47D3-CB4A-815C-AFF6726C932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6471" y="2090278"/>
            <a:ext cx="519585" cy="51958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276;g3d6e2211149_2_228">
            <a:extLst>
              <a:ext uri="{FF2B5EF4-FFF2-40B4-BE49-F238E27FC236}">
                <a16:creationId xmlns:a16="http://schemas.microsoft.com/office/drawing/2014/main" id="{AA25AF66-682C-3645-B5B9-F80A900EF9F2}"/>
              </a:ext>
            </a:extLst>
          </p:cNvPr>
          <p:cNvSpPr txBox="1"/>
          <p:nvPr/>
        </p:nvSpPr>
        <p:spPr>
          <a:xfrm>
            <a:off x="6180943" y="257262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40" name="Google Shape;277;g3d6e2211149_2_228" descr="Amazon DynamoDB service icon.">
            <a:extLst>
              <a:ext uri="{FF2B5EF4-FFF2-40B4-BE49-F238E27FC236}">
                <a16:creationId xmlns:a16="http://schemas.microsoft.com/office/drawing/2014/main" id="{797D294F-77D6-EC4F-B4E1-FC23E5F5D0E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14448" y="1791611"/>
            <a:ext cx="429045" cy="42904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278;g3d6e2211149_2_228">
            <a:extLst>
              <a:ext uri="{FF2B5EF4-FFF2-40B4-BE49-F238E27FC236}">
                <a16:creationId xmlns:a16="http://schemas.microsoft.com/office/drawing/2014/main" id="{585143C1-CEDD-BD40-8DD0-851C37E03FF3}"/>
              </a:ext>
            </a:extLst>
          </p:cNvPr>
          <p:cNvSpPr txBox="1"/>
          <p:nvPr/>
        </p:nvSpPr>
        <p:spPr>
          <a:xfrm>
            <a:off x="5207738" y="2197831"/>
            <a:ext cx="122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42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5901CE58-369B-9848-89AC-EA351A3B9E3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80552" y="2090301"/>
            <a:ext cx="519539" cy="51953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280;g3d6e2211149_2_228">
            <a:extLst>
              <a:ext uri="{FF2B5EF4-FFF2-40B4-BE49-F238E27FC236}">
                <a16:creationId xmlns:a16="http://schemas.microsoft.com/office/drawing/2014/main" id="{6C5BD9C7-AFA8-A440-B75C-E30658AE96D5}"/>
              </a:ext>
            </a:extLst>
          </p:cNvPr>
          <p:cNvSpPr txBox="1"/>
          <p:nvPr/>
        </p:nvSpPr>
        <p:spPr>
          <a:xfrm>
            <a:off x="7030497" y="2568319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44" name="Graphic 7" descr="Amazon API Gateway service icon.">
            <a:extLst>
              <a:ext uri="{FF2B5EF4-FFF2-40B4-BE49-F238E27FC236}">
                <a16:creationId xmlns:a16="http://schemas.microsoft.com/office/drawing/2014/main" id="{57B3F921-485C-014F-8A96-5C80AFA3D29A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4131503" y="2244869"/>
            <a:ext cx="402599" cy="402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9">
            <a:extLst>
              <a:ext uri="{FF2B5EF4-FFF2-40B4-BE49-F238E27FC236}">
                <a16:creationId xmlns:a16="http://schemas.microsoft.com/office/drawing/2014/main" id="{3E2B5C86-A08F-5E4B-B7B4-D5D645796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8646" y="2650401"/>
            <a:ext cx="9383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 xml:space="preserve">Amazon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 Gateway</a:t>
            </a:r>
          </a:p>
        </p:txBody>
      </p:sp>
      <p:pic>
        <p:nvPicPr>
          <p:cNvPr id="46" name="Google Shape;294;g3d6e2211149_2_228" descr="AWS Lambda service icon.">
            <a:extLst>
              <a:ext uri="{FF2B5EF4-FFF2-40B4-BE49-F238E27FC236}">
                <a16:creationId xmlns:a16="http://schemas.microsoft.com/office/drawing/2014/main" id="{D70F6262-8FDE-1543-8214-00DE8DAC98B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006633" y="217094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295;g3d6e2211149_2_228">
            <a:extLst>
              <a:ext uri="{FF2B5EF4-FFF2-40B4-BE49-F238E27FC236}">
                <a16:creationId xmlns:a16="http://schemas.microsoft.com/office/drawing/2014/main" id="{92CE0CAC-70DB-F343-94F6-B7E7D1206043}"/>
              </a:ext>
            </a:extLst>
          </p:cNvPr>
          <p:cNvSpPr txBox="1"/>
          <p:nvPr/>
        </p:nvSpPr>
        <p:spPr>
          <a:xfrm>
            <a:off x="4935220" y="2568319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48" name="Google Shape;272;g3d6e2211149_2_228">
            <a:extLst>
              <a:ext uri="{FF2B5EF4-FFF2-40B4-BE49-F238E27FC236}">
                <a16:creationId xmlns:a16="http://schemas.microsoft.com/office/drawing/2014/main" id="{407844D6-24DB-E442-ACFF-F2C98D91861D}"/>
              </a:ext>
            </a:extLst>
          </p:cNvPr>
          <p:cNvCxnSpPr>
            <a:cxnSpLocks/>
            <a:stCxn id="44" idx="3"/>
            <a:endCxn id="46" idx="1"/>
          </p:cNvCxnSpPr>
          <p:nvPr/>
        </p:nvCxnSpPr>
        <p:spPr>
          <a:xfrm flipV="1">
            <a:off x="4534102" y="2374782"/>
            <a:ext cx="472531" cy="71387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49" name="Google Shape;337;p26">
            <a:extLst>
              <a:ext uri="{FF2B5EF4-FFF2-40B4-BE49-F238E27FC236}">
                <a16:creationId xmlns:a16="http://schemas.microsoft.com/office/drawing/2014/main" id="{15FEA722-76AA-8A4D-B938-ECC4ED01E28B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756289" y="2774929"/>
            <a:ext cx="454100" cy="4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338;p26">
            <a:extLst>
              <a:ext uri="{FF2B5EF4-FFF2-40B4-BE49-F238E27FC236}">
                <a16:creationId xmlns:a16="http://schemas.microsoft.com/office/drawing/2014/main" id="{957CD451-D6A5-3A4F-BBC6-0B26815734A1}"/>
              </a:ext>
            </a:extLst>
          </p:cNvPr>
          <p:cNvSpPr txBox="1"/>
          <p:nvPr/>
        </p:nvSpPr>
        <p:spPr>
          <a:xfrm>
            <a:off x="1538394" y="3159157"/>
            <a:ext cx="9378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Eventarc</a:t>
            </a:r>
            <a:endParaRPr sz="900" b="1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Google Shape;1312;p48">
            <a:extLst>
              <a:ext uri="{FF2B5EF4-FFF2-40B4-BE49-F238E27FC236}">
                <a16:creationId xmlns:a16="http://schemas.microsoft.com/office/drawing/2014/main" id="{B7119BA4-6DB9-C14F-A9D9-82E08F915055}"/>
              </a:ext>
            </a:extLst>
          </p:cNvPr>
          <p:cNvSpPr/>
          <p:nvPr/>
        </p:nvSpPr>
        <p:spPr>
          <a:xfrm>
            <a:off x="2394903" y="2350071"/>
            <a:ext cx="1002627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" name="Google Shape;1340;p48">
            <a:extLst>
              <a:ext uri="{FF2B5EF4-FFF2-40B4-BE49-F238E27FC236}">
                <a16:creationId xmlns:a16="http://schemas.microsoft.com/office/drawing/2014/main" id="{86A03DFF-C880-484C-8B20-F04595DD3BA2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17322" y="2433422"/>
            <a:ext cx="235100" cy="245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" name="Google Shape;2669;p69">
            <a:extLst>
              <a:ext uri="{FF2B5EF4-FFF2-40B4-BE49-F238E27FC236}">
                <a16:creationId xmlns:a16="http://schemas.microsoft.com/office/drawing/2014/main" id="{44449FBC-4C19-1A41-9D19-45E3BA248814}"/>
              </a:ext>
            </a:extLst>
          </p:cNvPr>
          <p:cNvCxnSpPr>
            <a:cxnSpLocks/>
            <a:stCxn id="51" idx="1"/>
            <a:endCxn id="31" idx="3"/>
          </p:cNvCxnSpPr>
          <p:nvPr/>
        </p:nvCxnSpPr>
        <p:spPr>
          <a:xfrm flipH="1">
            <a:off x="1700194" y="2541171"/>
            <a:ext cx="694709" cy="10433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4" name="Google Shape;2669;p69">
            <a:extLst>
              <a:ext uri="{FF2B5EF4-FFF2-40B4-BE49-F238E27FC236}">
                <a16:creationId xmlns:a16="http://schemas.microsoft.com/office/drawing/2014/main" id="{B6A2B57E-32CC-164B-B4F5-B04A9F031CA0}"/>
              </a:ext>
            </a:extLst>
          </p:cNvPr>
          <p:cNvCxnSpPr>
            <a:cxnSpLocks/>
            <a:stCxn id="51" idx="3"/>
            <a:endCxn id="44" idx="1"/>
          </p:cNvCxnSpPr>
          <p:nvPr/>
        </p:nvCxnSpPr>
        <p:spPr>
          <a:xfrm flipV="1">
            <a:off x="3397530" y="2446169"/>
            <a:ext cx="733973" cy="95002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DB94BDA-2C50-6540-AA76-59733C9962B5}"/>
              </a:ext>
            </a:extLst>
          </p:cNvPr>
          <p:cNvSpPr txBox="1"/>
          <p:nvPr/>
        </p:nvSpPr>
        <p:spPr>
          <a:xfrm>
            <a:off x="4900098" y="3042842"/>
            <a:ext cx="38922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Aurora(</a:t>
            </a:r>
            <a:r>
              <a:rPr lang="ko-KR" altLang="en-US" sz="1000"/>
              <a:t>상품</a:t>
            </a:r>
            <a:r>
              <a:rPr lang="en-US" sz="1000"/>
              <a:t>DB) + Redis(</a:t>
            </a:r>
            <a:r>
              <a:rPr lang="ko-KR" altLang="en-US" sz="1000"/>
              <a:t>추천캐시</a:t>
            </a:r>
            <a:r>
              <a:rPr lang="en-US" altLang="ko-KR" sz="1000"/>
              <a:t xml:space="preserve">) + </a:t>
            </a:r>
            <a:r>
              <a:rPr lang="en-US" sz="1000"/>
              <a:t>DynamoDB(</a:t>
            </a:r>
            <a:r>
              <a:rPr lang="ko-KR" altLang="en-US" sz="1000"/>
              <a:t>고객상태</a:t>
            </a:r>
            <a:r>
              <a:rPr lang="en-US" altLang="ko-KR" sz="1000"/>
              <a:t>)</a:t>
            </a:r>
            <a:endParaRPr lang="en-KR" sz="1000"/>
          </a:p>
        </p:txBody>
      </p:sp>
      <p:cxnSp>
        <p:nvCxnSpPr>
          <p:cNvPr id="56" name="Google Shape;272;g3d6e2211149_2_228">
            <a:extLst>
              <a:ext uri="{FF2B5EF4-FFF2-40B4-BE49-F238E27FC236}">
                <a16:creationId xmlns:a16="http://schemas.microsoft.com/office/drawing/2014/main" id="{75C60660-779C-5748-A53A-0BB715C1726E}"/>
              </a:ext>
            </a:extLst>
          </p:cNvPr>
          <p:cNvCxnSpPr>
            <a:cxnSpLocks/>
            <a:endCxn id="40" idx="1"/>
          </p:cNvCxnSpPr>
          <p:nvPr/>
        </p:nvCxnSpPr>
        <p:spPr>
          <a:xfrm flipV="1">
            <a:off x="5398557" y="2006134"/>
            <a:ext cx="215891" cy="44003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7" name="Google Shape;272;g3d6e2211149_2_228">
            <a:extLst>
              <a:ext uri="{FF2B5EF4-FFF2-40B4-BE49-F238E27FC236}">
                <a16:creationId xmlns:a16="http://schemas.microsoft.com/office/drawing/2014/main" id="{0F1BEC62-3E68-5B4E-84D0-117A0FD5AE12}"/>
              </a:ext>
            </a:extLst>
          </p:cNvPr>
          <p:cNvCxnSpPr>
            <a:cxnSpLocks/>
          </p:cNvCxnSpPr>
          <p:nvPr/>
        </p:nvCxnSpPr>
        <p:spPr>
          <a:xfrm>
            <a:off x="5466723" y="2491300"/>
            <a:ext cx="921273" cy="7212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8" name="Google Shape;272;g3d6e2211149_2_228">
            <a:extLst>
              <a:ext uri="{FF2B5EF4-FFF2-40B4-BE49-F238E27FC236}">
                <a16:creationId xmlns:a16="http://schemas.microsoft.com/office/drawing/2014/main" id="{63949245-3314-AC4B-91D0-953D0E0BAE59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5409232" y="2350071"/>
            <a:ext cx="1871320" cy="16653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383327" y="3711943"/>
            <a:ext cx="326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 err="1"/>
              <a:t>DynamicDB</a:t>
            </a:r>
            <a:r>
              <a:rPr lang="ko-KR" altLang="en-US" sz="1200" b="1" dirty="0"/>
              <a:t xml:space="preserve"> 저장 </a:t>
            </a:r>
            <a:r>
              <a:rPr lang="ko-KR" altLang="en-US" sz="1200" b="1" dirty="0" err="1"/>
              <a:t>메세지</a:t>
            </a:r>
            <a:r>
              <a:rPr lang="ko-KR" altLang="en-US" sz="1200" b="1" dirty="0"/>
              <a:t xml:space="preserve"> 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lifesync_customer_result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 xml:space="preserve"> </a:t>
            </a:r>
            <a:endParaRPr lang="en-US" altLang="ko-KR" sz="10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55C21B-1FA7-8B46-959C-513B9C0B4B83}"/>
              </a:ext>
            </a:extLst>
          </p:cNvPr>
          <p:cNvSpPr txBox="1"/>
          <p:nvPr/>
        </p:nvSpPr>
        <p:spPr>
          <a:xfrm>
            <a:off x="499382" y="4291286"/>
            <a:ext cx="3144563" cy="20928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"global_id":"G001",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"update_time":"2026-04-28T04:30:00Z",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"dynamic_score":92.4,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"dynamic_grade":"VIP",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"next_best_action":"PB_CENTER",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"vip_prob":0.94,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"signup_prob":0.81,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"rec_prob":0.77,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"health_score":88.1,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"source":"GCP_LIFESYNC360",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"ttl":1777777777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sp>
        <p:nvSpPr>
          <p:cNvPr id="63" name="Google Shape;303;g3d6896b4338_0_0">
            <a:extLst>
              <a:ext uri="{FF2B5EF4-FFF2-40B4-BE49-F238E27FC236}">
                <a16:creationId xmlns:a16="http://schemas.microsoft.com/office/drawing/2014/main" id="{04458EFC-B53B-3B41-BCB8-7C693F988AC8}"/>
              </a:ext>
            </a:extLst>
          </p:cNvPr>
          <p:cNvSpPr/>
          <p:nvPr/>
        </p:nvSpPr>
        <p:spPr>
          <a:xfrm>
            <a:off x="5284144" y="18135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303;g3d6896b4338_0_0">
            <a:extLst>
              <a:ext uri="{FF2B5EF4-FFF2-40B4-BE49-F238E27FC236}">
                <a16:creationId xmlns:a16="http://schemas.microsoft.com/office/drawing/2014/main" id="{3AE6A444-E5B8-8446-AB5D-57F10A4D60E4}"/>
              </a:ext>
            </a:extLst>
          </p:cNvPr>
          <p:cNvSpPr/>
          <p:nvPr/>
        </p:nvSpPr>
        <p:spPr>
          <a:xfrm>
            <a:off x="6060767" y="213248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303;g3d6896b4338_0_0">
            <a:extLst>
              <a:ext uri="{FF2B5EF4-FFF2-40B4-BE49-F238E27FC236}">
                <a16:creationId xmlns:a16="http://schemas.microsoft.com/office/drawing/2014/main" id="{09B05102-B866-904C-B9F7-713114523800}"/>
              </a:ext>
            </a:extLst>
          </p:cNvPr>
          <p:cNvSpPr/>
          <p:nvPr/>
        </p:nvSpPr>
        <p:spPr>
          <a:xfrm>
            <a:off x="6953272" y="245154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4158B49-C400-4E4C-AB47-43B1A61CA459}"/>
              </a:ext>
            </a:extLst>
          </p:cNvPr>
          <p:cNvSpPr txBox="1"/>
          <p:nvPr/>
        </p:nvSpPr>
        <p:spPr>
          <a:xfrm>
            <a:off x="4550634" y="3699768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Aurora</a:t>
            </a:r>
            <a:r>
              <a:rPr lang="ko-KR" altLang="en-US" sz="1200" b="1"/>
              <a:t xml:space="preserve"> 상품 조회 </a:t>
            </a:r>
            <a:endParaRPr lang="en-US" altLang="ko-KR" sz="1000" b="1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ED54A0A-6BFB-B44D-ADF7-F4C81F9810B1}"/>
              </a:ext>
            </a:extLst>
          </p:cNvPr>
          <p:cNvSpPr txBox="1"/>
          <p:nvPr/>
        </p:nvSpPr>
        <p:spPr>
          <a:xfrm>
            <a:off x="4666689" y="4279111"/>
            <a:ext cx="3144563" cy="20928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global_id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":"</a:t>
            </a:r>
            <a:r>
              <a:rPr lang="en-US" altLang="ko-KR" sz="1000" dirty="0"/>
              <a:t xml:space="preserve"> G000000001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"update_time":"2026-04-28T04:30:00Z",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"dynamic_score":92.4,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dynamic_grade":"VIP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next_best_action":"PB_CENTER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"vip_prob":0.94,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"signup_prob":0.81,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"rec_prob":0.77,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"health_score":88.1,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"source":"GCP_LIFESYNC360",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 xml:space="preserve">  "ttl":1777777777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61B20A-7052-0142-97CC-21F7AEFD550D}"/>
              </a:ext>
            </a:extLst>
          </p:cNvPr>
          <p:cNvSpPr txBox="1"/>
          <p:nvPr/>
        </p:nvSpPr>
        <p:spPr>
          <a:xfrm>
            <a:off x="8472234" y="3699768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Aurora, </a:t>
            </a:r>
            <a:r>
              <a:rPr lang="ko-KR" altLang="en-US" sz="1200" b="1"/>
              <a:t xml:space="preserve">상품 데이터 생성 시나리오 </a:t>
            </a:r>
            <a:endParaRPr lang="en-US" altLang="ko-KR" sz="1000" b="1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0F031D4-2FEA-DC41-AD12-21FC345518C2}"/>
              </a:ext>
            </a:extLst>
          </p:cNvPr>
          <p:cNvSpPr txBox="1"/>
          <p:nvPr/>
        </p:nvSpPr>
        <p:spPr>
          <a:xfrm>
            <a:off x="8472235" y="4202884"/>
            <a:ext cx="361883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6개 계열사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10~15개 카테고리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120개 상품명을 Base Pool로 등록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Base Pool × Variant 조합으로 10,000개 상품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상품별 옵션 3~6개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등급/점수/카테고리 기반 추천 규칙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금융+헬스+보험 교차판매 규칙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등급별 캠페인 생성</a:t>
            </a:r>
          </a:p>
        </p:txBody>
      </p:sp>
    </p:spTree>
    <p:extLst>
      <p:ext uri="{BB962C8B-B14F-4D97-AF65-F5344CB8AC3E}">
        <p14:creationId xmlns:p14="http://schemas.microsoft.com/office/powerpoint/2010/main" val="179033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7497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company_master</a:t>
            </a:r>
            <a:r>
              <a:rPr lang="ko-KR" altLang="en-US" b="1"/>
              <a:t>는 전체 추천 플랫폼의 최상위 기준 데이터로</a:t>
            </a:r>
            <a:r>
              <a:rPr lang="en-US" altLang="ko-KR" b="1"/>
              <a:t>,</a:t>
            </a:r>
            <a:r>
              <a:rPr lang="ko-KR" altLang="en-US" b="1"/>
              <a:t xml:space="preserve"> </a:t>
            </a:r>
            <a:r>
              <a:rPr lang="en-US" b="1"/>
              <a:t xml:space="preserve">LifeSync360 </a:t>
            </a:r>
            <a:r>
              <a:rPr lang="ko-KR" altLang="en-US" b="1"/>
              <a:t>플랫폼에서 은행</a:t>
            </a:r>
            <a:r>
              <a:rPr lang="en-US" altLang="ko-KR" b="1"/>
              <a:t>,</a:t>
            </a:r>
            <a:r>
              <a:rPr lang="ko-KR" altLang="en-US" b="1"/>
              <a:t xml:space="preserve"> 카드</a:t>
            </a:r>
            <a:r>
              <a:rPr lang="en-US" altLang="ko-KR" b="1"/>
              <a:t>,</a:t>
            </a:r>
            <a:r>
              <a:rPr lang="ko-KR" altLang="en-US" b="1"/>
              <a:t xml:space="preserve"> 증권</a:t>
            </a:r>
            <a:r>
              <a:rPr lang="en-US" altLang="ko-KR" b="1"/>
              <a:t>,</a:t>
            </a:r>
            <a:r>
              <a:rPr lang="ko-KR" altLang="en-US" b="1"/>
              <a:t xml:space="preserve"> 보험</a:t>
            </a:r>
            <a:r>
              <a:rPr lang="en-US" altLang="ko-KR" b="1"/>
              <a:t>,</a:t>
            </a:r>
            <a:r>
              <a:rPr lang="ko-KR" altLang="en-US" b="1"/>
              <a:t xml:space="preserve"> 온라인 보험</a:t>
            </a:r>
            <a:r>
              <a:rPr lang="en-US" altLang="ko-KR" b="1"/>
              <a:t>,</a:t>
            </a:r>
            <a:r>
              <a:rPr lang="ko-KR" altLang="en-US" b="1"/>
              <a:t xml:space="preserve"> 헬스케어 서비스를 통합 추천하기 위한 기준 회사 데이터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회사 마스터 </a:t>
            </a:r>
            <a:r>
              <a:rPr lang="en-US" altLang="ko-KR" sz="1200" b="1"/>
              <a:t>(Company_master)</a:t>
            </a:r>
            <a:r>
              <a:rPr lang="ko-KR" altLang="en-US" sz="1200" b="1"/>
              <a:t xml:space="preserve"> 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BANK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CARD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SEC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INS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ONLINE_INS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HEALTHCARE</a:t>
            </a:r>
            <a:endParaRPr lang="en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970B39-ACC8-4346-AC32-346BFD20704B}"/>
              </a:ext>
            </a:extLst>
          </p:cNvPr>
          <p:cNvGraphicFramePr>
            <a:graphicFrameLocks noGrp="1"/>
          </p:cNvGraphicFramePr>
          <p:nvPr/>
        </p:nvGraphicFramePr>
        <p:xfrm>
          <a:off x="319040" y="4096344"/>
          <a:ext cx="3362740" cy="1737360"/>
        </p:xfrm>
        <a:graphic>
          <a:graphicData uri="http://schemas.openxmlformats.org/drawingml/2006/table">
            <a:tbl>
              <a:tblPr/>
              <a:tblGrid>
                <a:gridCol w="1584397">
                  <a:extLst>
                    <a:ext uri="{9D8B030D-6E8A-4147-A177-3AD203B41FA5}">
                      <a16:colId xmlns:a16="http://schemas.microsoft.com/office/drawing/2014/main" val="1009643933"/>
                    </a:ext>
                  </a:extLst>
                </a:gridCol>
                <a:gridCol w="1778343">
                  <a:extLst>
                    <a:ext uri="{9D8B030D-6E8A-4147-A177-3AD203B41FA5}">
                      <a16:colId xmlns:a16="http://schemas.microsoft.com/office/drawing/2014/main" val="7588416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035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적금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대출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180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포인트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혜택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646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ETF/</a:t>
                      </a:r>
                      <a:r>
                        <a:rPr lang="ko-KR" altLang="en-US" sz="1000"/>
                        <a:t>펀드</a:t>
                      </a:r>
                      <a:r>
                        <a:rPr lang="en-US" altLang="ko-KR" sz="1000"/>
                        <a:t>/</a:t>
                      </a:r>
                      <a:r>
                        <a:rPr lang="en-US" sz="1000"/>
                        <a:t>WM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740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39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ONLINE_INS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디지털 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0977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5224201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6379958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데이터 구조 </a:t>
            </a:r>
            <a:endParaRPr lang="en-US" altLang="ko-KR" sz="1000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E0BF67-9273-6E42-8ED0-12E67F9BCA98}"/>
              </a:ext>
            </a:extLst>
          </p:cNvPr>
          <p:cNvSpPr txBox="1"/>
          <p:nvPr/>
        </p:nvSpPr>
        <p:spPr>
          <a:xfrm>
            <a:off x="243509" y="372328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회사 마스터 구조 </a:t>
            </a:r>
            <a:endParaRPr lang="en-US" altLang="ko-KR" sz="10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0CD4A1-691A-9B45-8223-C2338A7DCED4}"/>
              </a:ext>
            </a:extLst>
          </p:cNvPr>
          <p:cNvGraphicFramePr>
            <a:graphicFrameLocks noGrp="1"/>
          </p:cNvGraphicFramePr>
          <p:nvPr/>
        </p:nvGraphicFramePr>
        <p:xfrm>
          <a:off x="6455488" y="2170035"/>
          <a:ext cx="5379397" cy="1737360"/>
        </p:xfrm>
        <a:graphic>
          <a:graphicData uri="http://schemas.openxmlformats.org/drawingml/2006/table">
            <a:tbl>
              <a:tblPr/>
              <a:tblGrid>
                <a:gridCol w="1085691">
                  <a:extLst>
                    <a:ext uri="{9D8B030D-6E8A-4147-A177-3AD203B41FA5}">
                      <a16:colId xmlns:a16="http://schemas.microsoft.com/office/drawing/2014/main" val="827290739"/>
                    </a:ext>
                  </a:extLst>
                </a:gridCol>
                <a:gridCol w="1351722">
                  <a:extLst>
                    <a:ext uri="{9D8B030D-6E8A-4147-A177-3AD203B41FA5}">
                      <a16:colId xmlns:a16="http://schemas.microsoft.com/office/drawing/2014/main" val="3421672781"/>
                    </a:ext>
                  </a:extLst>
                </a:gridCol>
                <a:gridCol w="1643270">
                  <a:extLst>
                    <a:ext uri="{9D8B030D-6E8A-4147-A177-3AD203B41FA5}">
                      <a16:colId xmlns:a16="http://schemas.microsoft.com/office/drawing/2014/main" val="2242017253"/>
                    </a:ext>
                  </a:extLst>
                </a:gridCol>
                <a:gridCol w="1298714">
                  <a:extLst>
                    <a:ext uri="{9D8B030D-6E8A-4147-A177-3AD203B41FA5}">
                      <a16:colId xmlns:a16="http://schemas.microsoft.com/office/drawing/2014/main" val="198199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933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863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0344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Securities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6226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453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ONINS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Direct 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ONLINE_INS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1405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431438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9F3C7F06-360B-2D4D-BE6F-D1D3DCCCAE3C}"/>
              </a:ext>
            </a:extLst>
          </p:cNvPr>
          <p:cNvSpPr txBox="1"/>
          <p:nvPr/>
        </p:nvSpPr>
        <p:spPr>
          <a:xfrm>
            <a:off x="6379958" y="4197986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Company/Category</a:t>
            </a:r>
            <a:r>
              <a:rPr lang="ko-KR" altLang="en-US" sz="1200" b="1"/>
              <a:t xml:space="preserve"> 매핑 기준</a:t>
            </a:r>
            <a:r>
              <a:rPr lang="en-US" altLang="ko-KR" sz="1200" b="1"/>
              <a:t xml:space="preserve"> </a:t>
            </a:r>
            <a:endParaRPr lang="en-US" altLang="ko-KR" sz="10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655B29-ABB0-1E45-A89E-4E8FF6793A59}"/>
              </a:ext>
            </a:extLst>
          </p:cNvPr>
          <p:cNvGraphicFramePr>
            <a:graphicFrameLocks noGrp="1"/>
          </p:cNvGraphicFramePr>
          <p:nvPr/>
        </p:nvGraphicFramePr>
        <p:xfrm>
          <a:off x="6447631" y="4765576"/>
          <a:ext cx="5379397" cy="1859280"/>
        </p:xfrm>
        <a:graphic>
          <a:graphicData uri="http://schemas.openxmlformats.org/drawingml/2006/table">
            <a:tbl>
              <a:tblPr/>
              <a:tblGrid>
                <a:gridCol w="1404316">
                  <a:extLst>
                    <a:ext uri="{9D8B030D-6E8A-4147-A177-3AD203B41FA5}">
                      <a16:colId xmlns:a16="http://schemas.microsoft.com/office/drawing/2014/main" val="941285692"/>
                    </a:ext>
                  </a:extLst>
                </a:gridCol>
                <a:gridCol w="2181949">
                  <a:extLst>
                    <a:ext uri="{9D8B030D-6E8A-4147-A177-3AD203B41FA5}">
                      <a16:colId xmlns:a16="http://schemas.microsoft.com/office/drawing/2014/main" val="553686033"/>
                    </a:ext>
                  </a:extLst>
                </a:gridCol>
                <a:gridCol w="1793132">
                  <a:extLst>
                    <a:ext uri="{9D8B030D-6E8A-4147-A177-3AD203B41FA5}">
                      <a16:colId xmlns:a16="http://schemas.microsoft.com/office/drawing/2014/main" val="36736634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company_code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상품 범위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 xml:space="preserve">대표 </a:t>
                      </a:r>
                      <a:r>
                        <a:rPr lang="en-US" sz="1000" b="1"/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999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적금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대출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en-US" sz="1000"/>
                        <a:t>IRP, CMA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DEPOSIT, SAVING, LOAN, PENSION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589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신용카드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체크카드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포인트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멤버십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CARD, POINT, LIFESTYLE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76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ETF, </a:t>
                      </a:r>
                      <a:r>
                        <a:rPr lang="ko-KR" altLang="en-US" sz="1000"/>
                        <a:t>펀드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랩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포트폴리오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ETF, FUND, WM, PENSION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96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종신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건강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암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실손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연금보험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980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ONLINE_INS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모바일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원데이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펫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여행보험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DIRECT_INSURANCE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5640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검진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코칭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건강 리포트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화상진료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3768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9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2/11)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8027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category_master</a:t>
            </a:r>
            <a:r>
              <a:rPr lang="ko-KR" altLang="en-US" b="1"/>
              <a:t>는 상품을 추천할 때 사용하는 상품군 기준 테이블로</a:t>
            </a:r>
            <a:r>
              <a:rPr lang="en-US" altLang="ko-KR" b="1"/>
              <a:t>,</a:t>
            </a:r>
            <a:r>
              <a:rPr lang="ko-KR" altLang="en-US" b="1"/>
              <a:t xml:space="preserve"> 특히 </a:t>
            </a:r>
            <a:r>
              <a:rPr lang="en-US" b="1"/>
              <a:t>recommend_rule.category_code, cross_sell_rule.base_category, cross_sell_rule.target_category</a:t>
            </a:r>
            <a:r>
              <a:rPr lang="ko-KR" altLang="en-US" b="1"/>
              <a:t>와 연결되는 기준값으로 사용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카테고리 마스터 </a:t>
            </a:r>
            <a:r>
              <a:rPr lang="en-US" altLang="ko-KR" sz="1200" b="1"/>
              <a:t>(Category_master)</a:t>
            </a:r>
            <a:r>
              <a:rPr lang="ko-KR" altLang="en-US" sz="1200" b="1"/>
              <a:t xml:space="preserve"> 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고객 등급</a:t>
            </a:r>
            <a:r>
              <a:rPr lang="en-US" altLang="ko-KR" sz="1000"/>
              <a:t>/</a:t>
            </a:r>
            <a:r>
              <a:rPr lang="ko-KR" altLang="en-US" sz="1000"/>
              <a:t>점수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추천 규칙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category_code </a:t>
            </a:r>
            <a:r>
              <a:rPr lang="ko-KR" altLang="en-US" sz="1000"/>
              <a:t>매칭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해당 카테고리의 상품 추천</a:t>
            </a:r>
            <a:endParaRPr lang="en-KR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5875683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카테고리 구조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1DFDB7-7894-9F41-92FF-EED3CA1F1B0E}"/>
              </a:ext>
            </a:extLst>
          </p:cNvPr>
          <p:cNvGraphicFramePr>
            <a:graphicFrameLocks noGrp="1"/>
          </p:cNvGraphicFramePr>
          <p:nvPr/>
        </p:nvGraphicFramePr>
        <p:xfrm>
          <a:off x="5989308" y="2105561"/>
          <a:ext cx="5959182" cy="4351344"/>
        </p:xfrm>
        <a:graphic>
          <a:graphicData uri="http://schemas.openxmlformats.org/drawingml/2006/table">
            <a:tbl>
              <a:tblPr/>
              <a:tblGrid>
                <a:gridCol w="1986394">
                  <a:extLst>
                    <a:ext uri="{9D8B030D-6E8A-4147-A177-3AD203B41FA5}">
                      <a16:colId xmlns:a16="http://schemas.microsoft.com/office/drawing/2014/main" val="449774652"/>
                    </a:ext>
                  </a:extLst>
                </a:gridCol>
                <a:gridCol w="1986394">
                  <a:extLst>
                    <a:ext uri="{9D8B030D-6E8A-4147-A177-3AD203B41FA5}">
                      <a16:colId xmlns:a16="http://schemas.microsoft.com/office/drawing/2014/main" val="1845658954"/>
                    </a:ext>
                  </a:extLst>
                </a:gridCol>
                <a:gridCol w="1986394">
                  <a:extLst>
                    <a:ext uri="{9D8B030D-6E8A-4147-A177-3AD203B41FA5}">
                      <a16:colId xmlns:a16="http://schemas.microsoft.com/office/drawing/2014/main" val="131050435"/>
                    </a:ext>
                  </a:extLst>
                </a:gridCol>
              </a:tblGrid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category_code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category_name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주요 사용 계열사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98756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DEPOSIT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37997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SAVING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842028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LOAN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대출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894320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PENSION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연금</a:t>
                      </a:r>
                      <a:r>
                        <a:rPr lang="en-US" altLang="ko-KR" sz="1000"/>
                        <a:t>/</a:t>
                      </a:r>
                      <a:r>
                        <a:rPr lang="en-US" sz="1000"/>
                        <a:t>IRP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BANK, SEC, INS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539218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297003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POINT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포인트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리워드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332509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LIFESTYLE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생활혜택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78727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690409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FUND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펀드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18038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WM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자산관리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1740340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480649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DIRECT_INS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온라인보험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ONLINE_INS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529860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694399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WELLNESS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웰니스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473940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TELEMED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화상진료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상담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6065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72328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카테고리 마스터 구조 </a:t>
            </a:r>
            <a:endParaRPr lang="en-US" altLang="ko-KR" sz="10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DDB228-6275-A545-8807-969D1085F65F}"/>
              </a:ext>
            </a:extLst>
          </p:cNvPr>
          <p:cNvGraphicFramePr>
            <a:graphicFrameLocks noGrp="1"/>
          </p:cNvGraphicFramePr>
          <p:nvPr/>
        </p:nvGraphicFramePr>
        <p:xfrm>
          <a:off x="369061" y="4169650"/>
          <a:ext cx="4680018" cy="1981200"/>
        </p:xfrm>
        <a:graphic>
          <a:graphicData uri="http://schemas.openxmlformats.org/drawingml/2006/table">
            <a:tbl>
              <a:tblPr/>
              <a:tblGrid>
                <a:gridCol w="2340009">
                  <a:extLst>
                    <a:ext uri="{9D8B030D-6E8A-4147-A177-3AD203B41FA5}">
                      <a16:colId xmlns:a16="http://schemas.microsoft.com/office/drawing/2014/main" val="2993209401"/>
                    </a:ext>
                  </a:extLst>
                </a:gridCol>
                <a:gridCol w="2340009">
                  <a:extLst>
                    <a:ext uri="{9D8B030D-6E8A-4147-A177-3AD203B41FA5}">
                      <a16:colId xmlns:a16="http://schemas.microsoft.com/office/drawing/2014/main" val="18754232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65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263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SAVING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2683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065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694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FUND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펀드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146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3693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629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373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3/11)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Base Product_Pool</a:t>
            </a:r>
            <a:r>
              <a:rPr lang="ko-KR" altLang="en-US" b="1"/>
              <a:t xml:space="preserve">은 </a:t>
            </a:r>
            <a:r>
              <a:rPr lang="en-US" b="1"/>
              <a:t>product_master</a:t>
            </a:r>
            <a:r>
              <a:rPr lang="ko-KR" altLang="en-US" b="1"/>
              <a:t xml:space="preserve">에 바로 </a:t>
            </a:r>
            <a:r>
              <a:rPr lang="en-US" altLang="ko-KR" b="1"/>
              <a:t>10,000</a:t>
            </a:r>
            <a:r>
              <a:rPr lang="ko-KR" altLang="en-US" b="1"/>
              <a:t>개를 넣기 전에</a:t>
            </a:r>
            <a:r>
              <a:rPr lang="en-US" altLang="ko-KR" b="1"/>
              <a:t xml:space="preserve">, </a:t>
            </a:r>
            <a:r>
              <a:rPr lang="ko-KR" altLang="en-US" b="1"/>
              <a:t>실제 금융상품</a:t>
            </a:r>
            <a:r>
              <a:rPr lang="en-US" altLang="ko-KR" b="1"/>
              <a:t>/</a:t>
            </a:r>
            <a:r>
              <a:rPr lang="ko-KR" altLang="en-US" b="1"/>
              <a:t xml:space="preserve">서비스 기준 상품명 </a:t>
            </a:r>
            <a:r>
              <a:rPr lang="en-US" altLang="ko-KR" b="1"/>
              <a:t>1,000</a:t>
            </a:r>
            <a:r>
              <a:rPr lang="ko-KR" altLang="en-US" b="1"/>
              <a:t xml:space="preserve">개를 먼저 만들어서 저장하는 임시 기준 테이블 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Base Product Pool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 xml:space="preserve">기존 </a:t>
            </a:r>
            <a:r>
              <a:rPr lang="en-US" altLang="ko-KR" sz="1000"/>
              <a:t>120</a:t>
            </a:r>
            <a:r>
              <a:rPr lang="ko-KR" altLang="en-US" sz="1000"/>
              <a:t>개 상품명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 xml:space="preserve">신규 추천 상품명 </a:t>
            </a:r>
            <a:r>
              <a:rPr lang="en-US" altLang="ko-KR" sz="1000"/>
              <a:t>880</a:t>
            </a:r>
            <a:r>
              <a:rPr lang="ko-KR" altLang="en-US" sz="1000"/>
              <a:t>개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Base Product Pool 1,000</a:t>
            </a:r>
            <a:r>
              <a:rPr lang="ko-KR" altLang="en-US" sz="1000"/>
              <a:t>개</a:t>
            </a:r>
            <a:endParaRPr lang="en-KR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243509" y="3173846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권장 분배 구조 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6829839" y="1630201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Base Product Pool </a:t>
            </a:r>
            <a:r>
              <a:rPr lang="ko-KR" altLang="en-US" sz="1200" b="1"/>
              <a:t xml:space="preserve">구조 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A44CAD-9C64-6D4E-A2F6-123E610B3783}"/>
              </a:ext>
            </a:extLst>
          </p:cNvPr>
          <p:cNvGraphicFramePr>
            <a:graphicFrameLocks noGrp="1"/>
          </p:cNvGraphicFramePr>
          <p:nvPr/>
        </p:nvGraphicFramePr>
        <p:xfrm>
          <a:off x="6935856" y="2076566"/>
          <a:ext cx="4197626" cy="2194560"/>
        </p:xfrm>
        <a:graphic>
          <a:graphicData uri="http://schemas.openxmlformats.org/drawingml/2006/table">
            <a:tbl>
              <a:tblPr/>
              <a:tblGrid>
                <a:gridCol w="2098813">
                  <a:extLst>
                    <a:ext uri="{9D8B030D-6E8A-4147-A177-3AD203B41FA5}">
                      <a16:colId xmlns:a16="http://schemas.microsoft.com/office/drawing/2014/main" val="3440076465"/>
                    </a:ext>
                  </a:extLst>
                </a:gridCol>
                <a:gridCol w="2098813">
                  <a:extLst>
                    <a:ext uri="{9D8B030D-6E8A-4147-A177-3AD203B41FA5}">
                      <a16:colId xmlns:a16="http://schemas.microsoft.com/office/drawing/2014/main" val="34458659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132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base_product_name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기준 상품명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569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company_code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 / CARD / SEC / INS / ONINS / HLT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9680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category_code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DEPOSIT / CARD / ETF / INSURANCE </a:t>
                      </a:r>
                      <a:r>
                        <a:rPr lang="ko-KR" altLang="en-US" sz="1000"/>
                        <a:t>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771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base_grade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 / GOLD / SILVER / BASIC / 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9268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base_risk_level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LOW / MID /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204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product_theme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성격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42196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3D90D1-06FF-8C42-AFA2-89C227B19F8E}"/>
              </a:ext>
            </a:extLst>
          </p:cNvPr>
          <p:cNvGraphicFramePr>
            <a:graphicFrameLocks noGrp="1"/>
          </p:cNvGraphicFramePr>
          <p:nvPr/>
        </p:nvGraphicFramePr>
        <p:xfrm>
          <a:off x="380418" y="3612631"/>
          <a:ext cx="4483131" cy="2743200"/>
        </p:xfrm>
        <a:graphic>
          <a:graphicData uri="http://schemas.openxmlformats.org/drawingml/2006/table">
            <a:tbl>
              <a:tblPr/>
              <a:tblGrid>
                <a:gridCol w="1494377">
                  <a:extLst>
                    <a:ext uri="{9D8B030D-6E8A-4147-A177-3AD203B41FA5}">
                      <a16:colId xmlns:a16="http://schemas.microsoft.com/office/drawing/2014/main" val="2396856097"/>
                    </a:ext>
                  </a:extLst>
                </a:gridCol>
                <a:gridCol w="1494377">
                  <a:extLst>
                    <a:ext uri="{9D8B030D-6E8A-4147-A177-3AD203B41FA5}">
                      <a16:colId xmlns:a16="http://schemas.microsoft.com/office/drawing/2014/main" val="3748293308"/>
                    </a:ext>
                  </a:extLst>
                </a:gridCol>
                <a:gridCol w="1494377">
                  <a:extLst>
                    <a:ext uri="{9D8B030D-6E8A-4147-A177-3AD203B41FA5}">
                      <a16:colId xmlns:a16="http://schemas.microsoft.com/office/drawing/2014/main" val="32297128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계열사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건수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주요 상품군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516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적금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대출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en-US" sz="1000"/>
                        <a:t>IRP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6065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신용카드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체크카드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포인트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멤버십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671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ETF, </a:t>
                      </a:r>
                      <a:r>
                        <a:rPr lang="ko-KR" altLang="en-US" sz="1000"/>
                        <a:t>펀드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en-US" sz="1000"/>
                        <a:t xml:space="preserve">WM, </a:t>
                      </a:r>
                      <a:r>
                        <a:rPr lang="ko-KR" altLang="en-US" sz="1000"/>
                        <a:t>포트폴리오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196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종신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건강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암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실손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연금보험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8620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ONINS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모바일보험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원데이보험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펫보험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73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건강검진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en-US" sz="1000"/>
                        <a:t xml:space="preserve">AI </a:t>
                      </a:r>
                      <a:r>
                        <a:rPr lang="ko-KR" altLang="en-US" sz="1000"/>
                        <a:t>리포트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코칭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화상진료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122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합계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84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593703E-F5AF-1340-A590-6DE014AEE122}"/>
              </a:ext>
            </a:extLst>
          </p:cNvPr>
          <p:cNvSpPr txBox="1"/>
          <p:nvPr/>
        </p:nvSpPr>
        <p:spPr>
          <a:xfrm>
            <a:off x="6935856" y="44404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신규 상품명 생성용 </a:t>
            </a:r>
            <a:r>
              <a:rPr lang="en-US" altLang="ko-KR" sz="1200" b="1"/>
              <a:t>Pool</a:t>
            </a:r>
            <a:r>
              <a:rPr lang="ko-KR" altLang="en-US" sz="1200" b="1"/>
              <a:t xml:space="preserve"> 테이블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8EBFA0-F6C4-914B-BDA6-D64C3485E7F7}"/>
              </a:ext>
            </a:extLst>
          </p:cNvPr>
          <p:cNvSpPr txBox="1"/>
          <p:nvPr/>
        </p:nvSpPr>
        <p:spPr>
          <a:xfrm>
            <a:off x="6935856" y="4891856"/>
            <a:ext cx="4197626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/>
              <a:t>CREATE TABLE product_name_seed</a:t>
            </a:r>
            <a:br>
              <a:rPr lang="en-US" sz="1000"/>
            </a:br>
            <a:r>
              <a:rPr lang="en-US" sz="1000"/>
              <a:t>(</a:t>
            </a:r>
            <a:br>
              <a:rPr lang="en-US" sz="1000"/>
            </a:br>
            <a:r>
              <a:rPr lang="en-US" sz="1000"/>
              <a:t>seed_id BIGINT AUTO_INCREMENT PRIMARY KEY,</a:t>
            </a:r>
            <a:br>
              <a:rPr lang="en-US" sz="1000"/>
            </a:br>
            <a:r>
              <a:rPr lang="en-US" sz="1000"/>
              <a:t>company_code VARCHAR(30),</a:t>
            </a:r>
            <a:br>
              <a:rPr lang="en-US" sz="1000"/>
            </a:br>
            <a:r>
              <a:rPr lang="en-US" sz="1000"/>
              <a:t>category_code VARCHAR(30),</a:t>
            </a:r>
            <a:br>
              <a:rPr lang="en-US" sz="1000"/>
            </a:br>
            <a:r>
              <a:rPr lang="en-US" sz="1000"/>
              <a:t>keyword_name VARCHAR(100),</a:t>
            </a:r>
            <a:br>
              <a:rPr lang="en-US" sz="1000"/>
            </a:br>
            <a:r>
              <a:rPr lang="en-US" sz="1000"/>
              <a:t>theme_name VARCHAR(100),</a:t>
            </a:r>
            <a:br>
              <a:rPr lang="en-US" sz="1000"/>
            </a:br>
            <a:r>
              <a:rPr lang="en-US" sz="1000"/>
              <a:t>suffix_name VARCHAR(100),</a:t>
            </a:r>
            <a:br>
              <a:rPr lang="en-US" sz="1000"/>
            </a:br>
            <a:r>
              <a:rPr lang="en-US" sz="1000"/>
              <a:t>base_grade VARCHAR(20),</a:t>
            </a:r>
            <a:br>
              <a:rPr lang="en-US" sz="1000"/>
            </a:br>
            <a:r>
              <a:rPr lang="en-US" sz="1000"/>
              <a:t>risk_level VARCHAR(20)</a:t>
            </a:r>
            <a:br>
              <a:rPr lang="en-US" sz="1000"/>
            </a:br>
            <a:r>
              <a:rPr lang="en-US" sz="1000"/>
              <a:t>) ENGINE=InnoDB;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158910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4/11)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Product Variant</a:t>
            </a:r>
            <a:r>
              <a:rPr lang="ko-KR" altLang="en-US" b="1"/>
              <a:t xml:space="preserve">는 </a:t>
            </a:r>
            <a:r>
              <a:rPr lang="en-US" b="1"/>
              <a:t>base_product_pool</a:t>
            </a:r>
            <a:r>
              <a:rPr lang="ko-KR" altLang="en-US" b="1"/>
              <a:t xml:space="preserve">에 등록된 </a:t>
            </a:r>
            <a:r>
              <a:rPr lang="en-US" altLang="ko-KR" b="1"/>
              <a:t>1,000</a:t>
            </a:r>
            <a:r>
              <a:rPr lang="ko-KR" altLang="en-US" b="1"/>
              <a:t>개 기준 상품명을 기반으로</a:t>
            </a:r>
            <a:r>
              <a:rPr lang="en-US" altLang="ko-KR" b="1"/>
              <a:t xml:space="preserve">, </a:t>
            </a:r>
            <a:r>
              <a:rPr lang="en-US" b="1"/>
              <a:t>Variant 10</a:t>
            </a:r>
            <a:r>
              <a:rPr lang="ko-KR" altLang="en-US" b="1"/>
              <a:t xml:space="preserve">개를 조합하여 최종 </a:t>
            </a:r>
            <a:r>
              <a:rPr lang="en-US" b="1"/>
              <a:t>product_master</a:t>
            </a:r>
            <a:r>
              <a:rPr lang="ko-KR" altLang="en-US" b="1"/>
              <a:t xml:space="preserve">에 </a:t>
            </a:r>
            <a:r>
              <a:rPr lang="en-US" altLang="ko-KR" b="1"/>
              <a:t>10,000</a:t>
            </a:r>
            <a:r>
              <a:rPr lang="ko-KR" altLang="en-US" b="1"/>
              <a:t>개 추천 대상 상품을 생성하는 것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Product Variant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base_product_pool 1,000</a:t>
            </a:r>
            <a:r>
              <a:rPr lang="ko-KR" altLang="en-US" sz="1000"/>
              <a:t>개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product_variant 10</a:t>
            </a:r>
            <a:r>
              <a:rPr lang="ko-KR" altLang="en-US" sz="1000"/>
              <a:t>개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product_master 10,000</a:t>
            </a:r>
            <a:r>
              <a:rPr lang="ko-KR" altLang="en-US" sz="1000"/>
              <a:t>개</a:t>
            </a:r>
            <a:endParaRPr lang="en-KR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7057566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Product Variant </a:t>
            </a:r>
            <a:r>
              <a:rPr lang="ko-KR" altLang="en-US" sz="1200" b="1"/>
              <a:t>테이블 생성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08838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Product Variant </a:t>
            </a:r>
            <a:r>
              <a:rPr lang="ko-KR" altLang="en-US" sz="1200" b="1"/>
              <a:t xml:space="preserve">구조 </a:t>
            </a:r>
            <a:endParaRPr lang="en-US" altLang="ko-KR" sz="10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318896-03C8-1545-B5B2-32D2F7CAF317}"/>
              </a:ext>
            </a:extLst>
          </p:cNvPr>
          <p:cNvSpPr txBox="1"/>
          <p:nvPr/>
        </p:nvSpPr>
        <p:spPr>
          <a:xfrm>
            <a:off x="7123826" y="2028319"/>
            <a:ext cx="4197626" cy="1954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/>
              <a:t>CREATE TABLE product_variant</a:t>
            </a:r>
            <a:br>
              <a:rPr lang="en-US" sz="1100"/>
            </a:br>
            <a:r>
              <a:rPr lang="en-US" sz="1100"/>
              <a:t>(</a:t>
            </a:r>
            <a:br>
              <a:rPr lang="en-US" sz="1100"/>
            </a:br>
            <a:r>
              <a:rPr lang="en-US" sz="1100"/>
              <a:t>variant_id BIGINT AUTO_INCREMENT PRIMARY KEY,</a:t>
            </a:r>
            <a:br>
              <a:rPr lang="en-US" sz="1100"/>
            </a:br>
            <a:r>
              <a:rPr lang="en-US" sz="1100"/>
              <a:t>variant_code VARCHAR(30) NOT NULL,</a:t>
            </a:r>
            <a:br>
              <a:rPr lang="en-US" sz="1100"/>
            </a:br>
            <a:r>
              <a:rPr lang="en-US" sz="1100"/>
              <a:t>variant_name VARCHAR(100) NOT NULL,</a:t>
            </a:r>
            <a:br>
              <a:rPr lang="en-US" sz="1100"/>
            </a:br>
            <a:r>
              <a:rPr lang="en-US" sz="1100"/>
              <a:t>variant_desc VARCHAR(300),</a:t>
            </a:r>
            <a:br>
              <a:rPr lang="en-US" sz="1100"/>
            </a:br>
            <a:r>
              <a:rPr lang="en-US" sz="1100"/>
              <a:t>score_bonus DECIMAL(8,2) DEFAULT 0,</a:t>
            </a:r>
            <a:br>
              <a:rPr lang="en-US" sz="1100"/>
            </a:br>
            <a:r>
              <a:rPr lang="en-US" sz="1100"/>
              <a:t>priority_bonus INT DEFAULT 0,</a:t>
            </a:r>
            <a:br>
              <a:rPr lang="en-US" sz="1100"/>
            </a:br>
            <a:r>
              <a:rPr lang="en-US" sz="1100"/>
              <a:t>active_flag CHAR(1) DEFAULT 'Y',</a:t>
            </a:r>
            <a:br>
              <a:rPr lang="en-US" sz="1100"/>
            </a:br>
            <a:r>
              <a:rPr lang="en-US" sz="1100"/>
              <a:t>created_at DATETIME DEFAULT CURRENT_TIMESTAMP</a:t>
            </a:r>
            <a:br>
              <a:rPr lang="en-US" sz="1100"/>
            </a:br>
            <a:r>
              <a:rPr lang="en-US" sz="1100"/>
              <a:t>) ENGINE=InnoDB;</a:t>
            </a:r>
            <a:endParaRPr lang="en-KR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F99B96-B808-B346-BC20-9C5897BED6DA}"/>
              </a:ext>
            </a:extLst>
          </p:cNvPr>
          <p:cNvSpPr txBox="1"/>
          <p:nvPr/>
        </p:nvSpPr>
        <p:spPr>
          <a:xfrm>
            <a:off x="2938669" y="2105561"/>
            <a:ext cx="270675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PB 프리미엄 정기예금</a:t>
            </a:r>
          </a:p>
          <a:p>
            <a:r>
              <a:rPr lang="en-KR" sz="1000"/>
              <a:t>×</a:t>
            </a:r>
          </a:p>
          <a:p>
            <a:r>
              <a:rPr lang="en-KR" sz="1000"/>
              <a:t>AI 추천형</a:t>
            </a:r>
          </a:p>
          <a:p>
            <a:r>
              <a:rPr lang="en-KR" sz="1000"/>
              <a:t>=</a:t>
            </a:r>
          </a:p>
          <a:p>
            <a:r>
              <a:rPr lang="en-KR" sz="1000"/>
              <a:t>PB 프리미엄 정기예금 AI 추천형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734ABC-4248-C34E-A9DF-341DCF1B73C1}"/>
              </a:ext>
            </a:extLst>
          </p:cNvPr>
          <p:cNvGraphicFramePr>
            <a:graphicFrameLocks noGrp="1"/>
          </p:cNvGraphicFramePr>
          <p:nvPr/>
        </p:nvGraphicFramePr>
        <p:xfrm>
          <a:off x="360584" y="3707445"/>
          <a:ext cx="5684892" cy="1005840"/>
        </p:xfrm>
        <a:graphic>
          <a:graphicData uri="http://schemas.openxmlformats.org/drawingml/2006/table">
            <a:tbl>
              <a:tblPr/>
              <a:tblGrid>
                <a:gridCol w="1293744">
                  <a:extLst>
                    <a:ext uri="{9D8B030D-6E8A-4147-A177-3AD203B41FA5}">
                      <a16:colId xmlns:a16="http://schemas.microsoft.com/office/drawing/2014/main" val="2994190313"/>
                    </a:ext>
                  </a:extLst>
                </a:gridCol>
                <a:gridCol w="1484243">
                  <a:extLst>
                    <a:ext uri="{9D8B030D-6E8A-4147-A177-3AD203B41FA5}">
                      <a16:colId xmlns:a16="http://schemas.microsoft.com/office/drawing/2014/main" val="3991234019"/>
                    </a:ext>
                  </a:extLst>
                </a:gridCol>
                <a:gridCol w="2906905">
                  <a:extLst>
                    <a:ext uri="{9D8B030D-6E8A-4147-A177-3AD203B41FA5}">
                      <a16:colId xmlns:a16="http://schemas.microsoft.com/office/drawing/2014/main" val="300998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variant_id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variant_name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825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PB </a:t>
                      </a:r>
                      <a:r>
                        <a:rPr lang="ko-KR" altLang="en-US" sz="1000"/>
                        <a:t xml:space="preserve">프리미엄 정기예금 </a:t>
                      </a:r>
                      <a:r>
                        <a:rPr lang="en-US" altLang="ko-KR" sz="1000"/>
                        <a:t>6</a:t>
                      </a:r>
                      <a:r>
                        <a:rPr lang="ko-KR" altLang="en-US" sz="1000"/>
                        <a:t>개월형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922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PB </a:t>
                      </a:r>
                      <a:r>
                        <a:rPr lang="ko-KR" altLang="en-US" sz="1000"/>
                        <a:t xml:space="preserve">프리미엄 정기예금 </a:t>
                      </a:r>
                      <a:r>
                        <a:rPr lang="en-US" altLang="ko-KR" sz="1000"/>
                        <a:t>12</a:t>
                      </a:r>
                      <a:r>
                        <a:rPr lang="ko-KR" altLang="en-US" sz="1000"/>
                        <a:t>개월형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234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PB </a:t>
                      </a:r>
                      <a:r>
                        <a:rPr lang="ko-KR" altLang="en-US" sz="1000"/>
                        <a:t xml:space="preserve">프리미엄 정기예금 </a:t>
                      </a:r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>우대형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031419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8C79D1B-94A2-0849-BC78-728A2AD94C36}"/>
              </a:ext>
            </a:extLst>
          </p:cNvPr>
          <p:cNvSpPr txBox="1"/>
          <p:nvPr/>
        </p:nvSpPr>
        <p:spPr>
          <a:xfrm>
            <a:off x="7057566" y="4157357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Product Variant </a:t>
            </a:r>
            <a:r>
              <a:rPr lang="ko-KR" altLang="en-US" sz="1200" b="1"/>
              <a:t>유형</a:t>
            </a:r>
            <a:endParaRPr lang="en-US" altLang="ko-KR" sz="10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EA62EB-DF3D-4E4A-8633-D9241403227F}"/>
              </a:ext>
            </a:extLst>
          </p:cNvPr>
          <p:cNvGraphicFramePr>
            <a:graphicFrameLocks noGrp="1"/>
          </p:cNvGraphicFramePr>
          <p:nvPr/>
        </p:nvGraphicFramePr>
        <p:xfrm>
          <a:off x="7123826" y="4496489"/>
          <a:ext cx="4197626" cy="2225040"/>
        </p:xfrm>
        <a:graphic>
          <a:graphicData uri="http://schemas.openxmlformats.org/drawingml/2006/table">
            <a:tbl>
              <a:tblPr/>
              <a:tblGrid>
                <a:gridCol w="2098813">
                  <a:extLst>
                    <a:ext uri="{9D8B030D-6E8A-4147-A177-3AD203B41FA5}">
                      <a16:colId xmlns:a16="http://schemas.microsoft.com/office/drawing/2014/main" val="4119945626"/>
                    </a:ext>
                  </a:extLst>
                </a:gridCol>
                <a:gridCol w="2098813">
                  <a:extLst>
                    <a:ext uri="{9D8B030D-6E8A-4147-A177-3AD203B41FA5}">
                      <a16:colId xmlns:a16="http://schemas.microsoft.com/office/drawing/2014/main" val="39596064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variant_type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916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STANDARD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0766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PREMIUM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프리미엄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733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>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6929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MOBILE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모바일 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0971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EVENT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이벤트형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058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</a:t>
                      </a:r>
                      <a:r>
                        <a:rPr lang="ko-KR" altLang="en-US" sz="1000"/>
                        <a:t>센터 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07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SENIOR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시니어 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457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YOUTH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청년 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209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039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5/11)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Product</a:t>
            </a:r>
            <a:r>
              <a:rPr lang="ko-KR" altLang="en-US" b="1"/>
              <a:t xml:space="preserve"> </a:t>
            </a:r>
            <a:r>
              <a:rPr lang="en-US" altLang="ko-KR" b="1"/>
              <a:t>Master</a:t>
            </a:r>
            <a:r>
              <a:rPr lang="ko-KR" altLang="en-US" b="1"/>
              <a:t xml:space="preserve">는 </a:t>
            </a:r>
            <a:r>
              <a:rPr lang="en-US" altLang="ko-KR" b="1"/>
              <a:t>10,000</a:t>
            </a:r>
            <a:r>
              <a:rPr lang="ko-KR" altLang="en-US" b="1"/>
              <a:t xml:space="preserve">개 상품에 대해 추천 모델 </a:t>
            </a:r>
            <a:r>
              <a:rPr lang="en-US" b="1"/>
              <a:t xml:space="preserve">Feature </a:t>
            </a:r>
            <a:r>
              <a:rPr lang="ko-KR" altLang="en-US" b="1"/>
              <a:t>역할을 하는 옵션 데이터를 생성하는 것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Product Master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고객에게 추천 가능한 상품과 서비스를</a:t>
            </a:r>
            <a:br>
              <a:rPr lang="ko-KR" altLang="en-US" sz="1000"/>
            </a:br>
            <a:r>
              <a:rPr lang="ko-KR" altLang="en-US" sz="1000"/>
              <a:t>통합 표준 구조로 관리</a:t>
            </a:r>
            <a:endParaRPr lang="en-US" altLang="ko-KR" sz="1000"/>
          </a:p>
          <a:p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Base Product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Variant Rule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10,000 Product Master</a:t>
            </a:r>
            <a:endParaRPr lang="en-US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6444797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Master</a:t>
            </a:r>
            <a:r>
              <a:rPr lang="ko-KR" altLang="en-US" sz="1200" b="1"/>
              <a:t xml:space="preserve"> 구조 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598277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Product Master </a:t>
            </a:r>
            <a:r>
              <a:rPr lang="ko-KR" altLang="en-US" sz="1200" b="1"/>
              <a:t xml:space="preserve">생성 흐름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144688-A93F-044A-8D5D-18CCA89442E3}"/>
              </a:ext>
            </a:extLst>
          </p:cNvPr>
          <p:cNvGraphicFramePr>
            <a:graphicFrameLocks noGrp="1"/>
          </p:cNvGraphicFramePr>
          <p:nvPr/>
        </p:nvGraphicFramePr>
        <p:xfrm>
          <a:off x="341045" y="5097059"/>
          <a:ext cx="5267275" cy="1493520"/>
        </p:xfrm>
        <a:graphic>
          <a:graphicData uri="http://schemas.openxmlformats.org/drawingml/2006/table">
            <a:tbl>
              <a:tblPr/>
              <a:tblGrid>
                <a:gridCol w="1116074">
                  <a:extLst>
                    <a:ext uri="{9D8B030D-6E8A-4147-A177-3AD203B41FA5}">
                      <a16:colId xmlns:a16="http://schemas.microsoft.com/office/drawing/2014/main" val="3613538412"/>
                    </a:ext>
                  </a:extLst>
                </a:gridCol>
                <a:gridCol w="1091009">
                  <a:extLst>
                    <a:ext uri="{9D8B030D-6E8A-4147-A177-3AD203B41FA5}">
                      <a16:colId xmlns:a16="http://schemas.microsoft.com/office/drawing/2014/main" val="348293639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439827069"/>
                    </a:ext>
                  </a:extLst>
                </a:gridCol>
                <a:gridCol w="1999488">
                  <a:extLst>
                    <a:ext uri="{9D8B030D-6E8A-4147-A177-3AD203B41FA5}">
                      <a16:colId xmlns:a16="http://schemas.microsoft.com/office/drawing/2014/main" val="25968850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min_score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max_score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141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PB, </a:t>
                      </a:r>
                      <a:r>
                        <a:rPr lang="ko-KR" altLang="en-US" sz="1000"/>
                        <a:t>프리미엄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고액자산가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29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우량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43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 우수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383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630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관리 필요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511986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8D6042D-4559-E743-8BBF-B7F0F5CBD634}"/>
              </a:ext>
            </a:extLst>
          </p:cNvPr>
          <p:cNvSpPr txBox="1"/>
          <p:nvPr/>
        </p:nvSpPr>
        <p:spPr>
          <a:xfrm>
            <a:off x="243509" y="3912432"/>
            <a:ext cx="44626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company_master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category_master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base_product_pool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variant </a:t>
            </a:r>
            <a:r>
              <a:rPr lang="ko-KR" altLang="en-US" sz="1000"/>
              <a:t>조합 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product_master </a:t>
            </a:r>
            <a:r>
              <a:rPr lang="ko-KR" altLang="en-US" sz="1000"/>
              <a:t>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product_option </a:t>
            </a:r>
            <a:r>
              <a:rPr lang="ko-KR" altLang="en-US" sz="1000"/>
              <a:t>생성</a:t>
            </a:r>
            <a:endParaRPr lang="en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6BF423-F5C4-3945-AB51-F4EA0317D8A4}"/>
              </a:ext>
            </a:extLst>
          </p:cNvPr>
          <p:cNvGraphicFramePr>
            <a:graphicFrameLocks noGrp="1"/>
          </p:cNvGraphicFramePr>
          <p:nvPr/>
        </p:nvGraphicFramePr>
        <p:xfrm>
          <a:off x="6583682" y="2058669"/>
          <a:ext cx="5357608" cy="4351335"/>
        </p:xfrm>
        <a:graphic>
          <a:graphicData uri="http://schemas.openxmlformats.org/drawingml/2006/table">
            <a:tbl>
              <a:tblPr/>
              <a:tblGrid>
                <a:gridCol w="2678804">
                  <a:extLst>
                    <a:ext uri="{9D8B030D-6E8A-4147-A177-3AD203B41FA5}">
                      <a16:colId xmlns:a16="http://schemas.microsoft.com/office/drawing/2014/main" val="877786667"/>
                    </a:ext>
                  </a:extLst>
                </a:gridCol>
                <a:gridCol w="2678804">
                  <a:extLst>
                    <a:ext uri="{9D8B030D-6E8A-4147-A177-3AD203B41FA5}">
                      <a16:colId xmlns:a16="http://schemas.microsoft.com/office/drawing/2014/main" val="1096220075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7073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product_id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 xml:space="preserve">상품 </a:t>
                      </a:r>
                      <a:r>
                        <a:rPr lang="en-US" sz="1000"/>
                        <a:t>PK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39285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company_id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그룹사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019626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category_id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카테고리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76345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product_code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코드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96837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product_name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상품명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89135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description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설명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819394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target_grade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대상 고객 등급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129183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min_score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최소 추천 점수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228839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max_score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최대 추천 점수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777917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risk_level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위험도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23308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priority_rank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우선순위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490006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active_flag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사용 여부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80698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start_date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시작일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575166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end_date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종료일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7828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968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6/11)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Product</a:t>
            </a:r>
            <a:r>
              <a:rPr lang="ko-KR" altLang="en-US" b="1"/>
              <a:t xml:space="preserve"> </a:t>
            </a:r>
            <a:r>
              <a:rPr lang="en-US" altLang="ko-KR" b="1"/>
              <a:t xml:space="preserve">Options </a:t>
            </a:r>
            <a:r>
              <a:rPr lang="ko-KR" altLang="en-US" b="1"/>
              <a:t xml:space="preserve">은 단순 부가정보가 아니라 </a:t>
            </a:r>
            <a:r>
              <a:rPr lang="en-US" b="1"/>
              <a:t xml:space="preserve">AI </a:t>
            </a:r>
            <a:r>
              <a:rPr lang="ko-KR" altLang="en-US" b="1"/>
              <a:t xml:space="preserve">추천 시뮬레이션에서 </a:t>
            </a:r>
            <a:r>
              <a:rPr lang="en-US" b="1"/>
              <a:t>Feature Store</a:t>
            </a:r>
            <a:r>
              <a:rPr lang="ko-KR" altLang="en-US" b="1"/>
              <a:t>처럼 사용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Product Options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product_master 10,000</a:t>
            </a:r>
            <a:r>
              <a:rPr lang="ko-KR" altLang="en-US" sz="1000"/>
              <a:t>개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 xml:space="preserve">상품별 옵션 </a:t>
            </a:r>
            <a:r>
              <a:rPr lang="en-US" altLang="ko-KR" sz="1000"/>
              <a:t>3~6</a:t>
            </a:r>
            <a:r>
              <a:rPr lang="ko-KR" altLang="en-US" sz="1000"/>
              <a:t>개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 xml:space="preserve">product_option </a:t>
            </a:r>
            <a:r>
              <a:rPr lang="ko-KR" altLang="en-US" sz="1000"/>
              <a:t xml:space="preserve">약 </a:t>
            </a:r>
            <a:r>
              <a:rPr lang="en-US" altLang="ko-KR" sz="1000"/>
              <a:t>30,000~60,000</a:t>
            </a:r>
            <a:r>
              <a:rPr lang="ko-KR" altLang="en-US" sz="1000"/>
              <a:t>건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endParaRPr lang="en-US" sz="1000"/>
          </a:p>
          <a:p>
            <a:r>
              <a:rPr lang="ko-KR" altLang="en-US" sz="1000"/>
              <a:t xml:space="preserve">상품 </a:t>
            </a:r>
            <a:r>
              <a:rPr lang="en-US" altLang="ko-KR" sz="1000"/>
              <a:t>1</a:t>
            </a:r>
            <a:r>
              <a:rPr lang="ko-KR" altLang="en-US" sz="1000"/>
              <a:t xml:space="preserve">개 당 </a:t>
            </a:r>
            <a:r>
              <a:rPr lang="en-US" altLang="ko-KR" sz="1000"/>
              <a:t>5</a:t>
            </a:r>
            <a:r>
              <a:rPr lang="ko-KR" altLang="en-US" sz="1000"/>
              <a:t>개 기준</a:t>
            </a:r>
            <a:r>
              <a:rPr lang="en-US" altLang="ko-KR" sz="1000"/>
              <a:t>,</a:t>
            </a:r>
            <a:r>
              <a:rPr lang="ko-KR" altLang="en-US" sz="1000"/>
              <a:t xml:space="preserve"> </a:t>
            </a:r>
            <a:r>
              <a:rPr lang="en-US" altLang="ko-KR" sz="1000"/>
              <a:t>10,000</a:t>
            </a:r>
            <a:r>
              <a:rPr lang="ko-KR" altLang="en-US" sz="1000"/>
              <a:t xml:space="preserve">개 </a:t>
            </a:r>
            <a:r>
              <a:rPr lang="en-US" altLang="ko-KR" sz="1000"/>
              <a:t>× 5</a:t>
            </a:r>
            <a:r>
              <a:rPr lang="ko-KR" altLang="en-US" sz="1000"/>
              <a:t xml:space="preserve">개 </a:t>
            </a:r>
            <a:r>
              <a:rPr lang="en-US" altLang="ko-KR" sz="1000"/>
              <a:t xml:space="preserve">= </a:t>
            </a:r>
            <a:r>
              <a:rPr lang="ko-KR" altLang="en-US" sz="1000"/>
              <a:t xml:space="preserve">약 </a:t>
            </a:r>
            <a:r>
              <a:rPr lang="en-US" altLang="ko-KR" sz="1000"/>
              <a:t>50,000</a:t>
            </a:r>
            <a:r>
              <a:rPr lang="ko-KR" altLang="en-US" sz="1000"/>
              <a:t>건</a:t>
            </a:r>
            <a:endParaRPr lang="en-KR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6779271" y="1594736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Option</a:t>
            </a:r>
            <a:r>
              <a:rPr lang="ko-KR" altLang="en-US" sz="1200" b="1"/>
              <a:t xml:space="preserve"> 생성 방식 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8" y="362506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Product Options </a:t>
            </a:r>
            <a:r>
              <a:rPr lang="ko-KR" altLang="en-US" sz="1200" b="1"/>
              <a:t xml:space="preserve">구조 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A44825-2B39-4042-BC7E-A75EA82E6292}"/>
              </a:ext>
            </a:extLst>
          </p:cNvPr>
          <p:cNvGraphicFramePr>
            <a:graphicFrameLocks noGrp="1"/>
          </p:cNvGraphicFramePr>
          <p:nvPr/>
        </p:nvGraphicFramePr>
        <p:xfrm>
          <a:off x="6877878" y="2105561"/>
          <a:ext cx="5070612" cy="2712720"/>
        </p:xfrm>
        <a:graphic>
          <a:graphicData uri="http://schemas.openxmlformats.org/drawingml/2006/table">
            <a:tbl>
              <a:tblPr/>
              <a:tblGrid>
                <a:gridCol w="1690204">
                  <a:extLst>
                    <a:ext uri="{9D8B030D-6E8A-4147-A177-3AD203B41FA5}">
                      <a16:colId xmlns:a16="http://schemas.microsoft.com/office/drawing/2014/main" val="1418368587"/>
                    </a:ext>
                  </a:extLst>
                </a:gridCol>
                <a:gridCol w="1690204">
                  <a:extLst>
                    <a:ext uri="{9D8B030D-6E8A-4147-A177-3AD203B41FA5}">
                      <a16:colId xmlns:a16="http://schemas.microsoft.com/office/drawing/2014/main" val="804677882"/>
                    </a:ext>
                  </a:extLst>
                </a:gridCol>
                <a:gridCol w="1690204">
                  <a:extLst>
                    <a:ext uri="{9D8B030D-6E8A-4147-A177-3AD203B41FA5}">
                      <a16:colId xmlns:a16="http://schemas.microsoft.com/office/drawing/2014/main" val="33464878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상품군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option_name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option_value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63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interest_rate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3.80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6985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min_deposit_amount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86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annual_fee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30000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9914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reward_type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cashback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802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expected_return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7.5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033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volatility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539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monthly_premium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125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coverage_type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cancer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696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health_sync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wearable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2875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service_channel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mobile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269723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8F8EA2C-F10A-9048-92C8-BCAAAF9FBEEF}"/>
              </a:ext>
            </a:extLst>
          </p:cNvPr>
          <p:cNvSpPr txBox="1"/>
          <p:nvPr/>
        </p:nvSpPr>
        <p:spPr>
          <a:xfrm>
            <a:off x="6877878" y="5052107"/>
            <a:ext cx="50706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product_master</a:t>
            </a:r>
          </a:p>
          <a:p>
            <a:r>
              <a:rPr lang="en-KR" sz="1000"/>
              <a:t>→ company_master JOIN</a:t>
            </a:r>
          </a:p>
          <a:p>
            <a:r>
              <a:rPr lang="en-KR" sz="1000"/>
              <a:t>→ category_master JOIN</a:t>
            </a:r>
          </a:p>
          <a:p>
            <a:r>
              <a:rPr lang="en-KR" sz="1000"/>
              <a:t>→ product_option_template JOIN</a:t>
            </a:r>
          </a:p>
          <a:p>
            <a:r>
              <a:rPr lang="en-KR" sz="1000"/>
              <a:t>→ 상품군별 option_value 자동 생성</a:t>
            </a:r>
          </a:p>
          <a:p>
            <a:r>
              <a:rPr lang="en-KR" sz="1000"/>
              <a:t>→ product_option INSERT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321D62-7E89-F04E-A322-C4D06AD9448D}"/>
              </a:ext>
            </a:extLst>
          </p:cNvPr>
          <p:cNvGraphicFramePr>
            <a:graphicFrameLocks noGrp="1"/>
          </p:cNvGraphicFramePr>
          <p:nvPr/>
        </p:nvGraphicFramePr>
        <p:xfrm>
          <a:off x="243508" y="4109877"/>
          <a:ext cx="5852492" cy="1737360"/>
        </p:xfrm>
        <a:graphic>
          <a:graphicData uri="http://schemas.openxmlformats.org/drawingml/2006/table">
            <a:tbl>
              <a:tblPr/>
              <a:tblGrid>
                <a:gridCol w="2926246">
                  <a:extLst>
                    <a:ext uri="{9D8B030D-6E8A-4147-A177-3AD203B41FA5}">
                      <a16:colId xmlns:a16="http://schemas.microsoft.com/office/drawing/2014/main" val="2072302280"/>
                    </a:ext>
                  </a:extLst>
                </a:gridCol>
                <a:gridCol w="2926246">
                  <a:extLst>
                    <a:ext uri="{9D8B030D-6E8A-4147-A177-3AD203B41FA5}">
                      <a16:colId xmlns:a16="http://schemas.microsoft.com/office/drawing/2014/main" val="14434631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상품군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주요 옵션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637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금리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최소가입금액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가입기간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우대조건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911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연회비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캐시백률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마일리지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주요혜택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867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예상수익률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변동성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투자지역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투자성향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675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월보험료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보장유형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가입연령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보장금액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529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ONLINE_INS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간편가입여부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단기보장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모바일가입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보험료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4640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건강연동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서비스채널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검진유형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코칭주기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4654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66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7/11)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Recommend_rule</a:t>
            </a:r>
            <a:r>
              <a:rPr lang="ko-KR" altLang="en-US" b="1"/>
              <a:t>에 고객 등급</a:t>
            </a:r>
            <a:r>
              <a:rPr lang="en-US" altLang="ko-KR" b="1"/>
              <a:t xml:space="preserve">, </a:t>
            </a:r>
            <a:r>
              <a:rPr lang="ko-KR" altLang="en-US" b="1"/>
              <a:t>점수</a:t>
            </a:r>
            <a:r>
              <a:rPr lang="en-US" altLang="ko-KR" b="1"/>
              <a:t xml:space="preserve">, </a:t>
            </a:r>
            <a:r>
              <a:rPr lang="ko-KR" altLang="en-US" b="1"/>
              <a:t>건강점수</a:t>
            </a:r>
            <a:r>
              <a:rPr lang="en-US" altLang="ko-KR" b="1"/>
              <a:t xml:space="preserve">, </a:t>
            </a:r>
            <a:r>
              <a:rPr lang="ko-KR" altLang="en-US" b="1"/>
              <a:t>카테고리 기준 추천 조건을 등록하는 것으로</a:t>
            </a:r>
            <a:r>
              <a:rPr lang="en-US" altLang="ko-KR" b="1"/>
              <a:t>,</a:t>
            </a:r>
            <a:r>
              <a:rPr lang="ko-KR" altLang="en-US" b="1"/>
              <a:t xml:space="preserve">  </a:t>
            </a:r>
            <a:r>
              <a:rPr lang="en-US" b="1"/>
              <a:t xml:space="preserve">Rule Engine </a:t>
            </a:r>
            <a:r>
              <a:rPr lang="ko-KR" altLang="en-US" b="1"/>
              <a:t>역할을 하며</a:t>
            </a:r>
            <a:r>
              <a:rPr lang="en-US" altLang="ko-KR" b="1"/>
              <a:t xml:space="preserve">, </a:t>
            </a:r>
            <a:r>
              <a:rPr lang="en-US" b="1"/>
              <a:t>product_master</a:t>
            </a:r>
            <a:r>
              <a:rPr lang="ko-KR" altLang="en-US" b="1"/>
              <a:t xml:space="preserve">에서 어떤 상품군을 추천할지 결정하는 기준이 되는 구조 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추천 규칙 </a:t>
            </a:r>
            <a:r>
              <a:rPr lang="en-US" altLang="ko-KR" sz="1200" b="1"/>
              <a:t xml:space="preserve">(Recommend Rule)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 xml:space="preserve">고객 </a:t>
            </a:r>
            <a:r>
              <a:rPr lang="en-US" altLang="ko-KR" sz="1000"/>
              <a:t>dynamic_grade</a:t>
            </a:r>
          </a:p>
          <a:p>
            <a:r>
              <a:rPr lang="en-US" altLang="ko-KR" sz="1000"/>
              <a:t xml:space="preserve">+ </a:t>
            </a:r>
            <a:r>
              <a:rPr lang="ko-KR" altLang="en-US" sz="1000"/>
              <a:t xml:space="preserve">고객 </a:t>
            </a:r>
            <a:r>
              <a:rPr lang="en-US" altLang="ko-KR" sz="1000"/>
              <a:t>dynamic_score</a:t>
            </a:r>
          </a:p>
          <a:p>
            <a:r>
              <a:rPr lang="en-US" altLang="ko-KR" sz="1000"/>
              <a:t xml:space="preserve">+ </a:t>
            </a:r>
            <a:r>
              <a:rPr lang="ko-KR" altLang="en-US" sz="1000"/>
              <a:t>건강 점수</a:t>
            </a:r>
          </a:p>
          <a:p>
            <a:r>
              <a:rPr lang="en-US" altLang="ko-KR" sz="1000"/>
              <a:t>+ category_code</a:t>
            </a:r>
          </a:p>
          <a:p>
            <a:endParaRPr lang="en-US" altLang="ko-KR" sz="1000"/>
          </a:p>
          <a:p>
            <a:pPr marL="228600" indent="-228600">
              <a:buFont typeface="+mj-lt"/>
              <a:buAutoNum type="arabicParenR" startAt="2"/>
            </a:pPr>
            <a:r>
              <a:rPr lang="en-US" altLang="ko-KR" sz="1000"/>
              <a:t xml:space="preserve">recommend_rule </a:t>
            </a:r>
            <a:r>
              <a:rPr lang="ko-KR" altLang="en-US" sz="1000"/>
              <a:t>매칭</a:t>
            </a:r>
          </a:p>
          <a:p>
            <a:pPr marL="228600" indent="-228600">
              <a:buFont typeface="+mj-lt"/>
              <a:buAutoNum type="arabicParenR" startAt="2"/>
            </a:pPr>
            <a:r>
              <a:rPr lang="en-US" altLang="ko-KR" sz="1000"/>
              <a:t xml:space="preserve">product_master </a:t>
            </a:r>
            <a:r>
              <a:rPr lang="ko-KR" altLang="en-US" sz="1000"/>
              <a:t>후보 조회</a:t>
            </a:r>
          </a:p>
          <a:p>
            <a:pPr marL="228600" indent="-228600">
              <a:buFont typeface="+mj-lt"/>
              <a:buAutoNum type="arabicParenR" startAt="2"/>
            </a:pPr>
            <a:r>
              <a:rPr lang="en-US" altLang="ko-KR" sz="1000"/>
              <a:t xml:space="preserve">priority_rank </a:t>
            </a:r>
            <a:r>
              <a:rPr lang="ko-KR" altLang="en-US" sz="1000"/>
              <a:t>기준 추천</a:t>
            </a:r>
            <a:endParaRPr lang="en-KR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3266767" y="1659261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추천 규칙 설계 기준 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Recommend Rule </a:t>
            </a:r>
            <a:r>
              <a:rPr lang="ko-KR" altLang="en-US" sz="1200" b="1"/>
              <a:t xml:space="preserve">구조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A25752-2C5E-2C49-BB08-8D4E591DD5B8}"/>
              </a:ext>
            </a:extLst>
          </p:cNvPr>
          <p:cNvGraphicFramePr>
            <a:graphicFrameLocks noGrp="1"/>
          </p:cNvGraphicFramePr>
          <p:nvPr/>
        </p:nvGraphicFramePr>
        <p:xfrm>
          <a:off x="323848" y="4165045"/>
          <a:ext cx="4871004" cy="2225040"/>
        </p:xfrm>
        <a:graphic>
          <a:graphicData uri="http://schemas.openxmlformats.org/drawingml/2006/table">
            <a:tbl>
              <a:tblPr/>
              <a:tblGrid>
                <a:gridCol w="2435502">
                  <a:extLst>
                    <a:ext uri="{9D8B030D-6E8A-4147-A177-3AD203B41FA5}">
                      <a16:colId xmlns:a16="http://schemas.microsoft.com/office/drawing/2014/main" val="3503628927"/>
                    </a:ext>
                  </a:extLst>
                </a:gridCol>
                <a:gridCol w="2435502">
                  <a:extLst>
                    <a:ext uri="{9D8B030D-6E8A-4147-A177-3AD203B41FA5}">
                      <a16:colId xmlns:a16="http://schemas.microsoft.com/office/drawing/2014/main" val="1123758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964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대상 고객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55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액션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7460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min_score / max_score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 추천 점수 범위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621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vip_required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>필수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0355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health_min_score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건강점수 최소 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2610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category_code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대상 상품 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1986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priority_rank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규칙 우선순위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2303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사용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3792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4CAEE2-3621-B343-8E01-37CCFE6E9EDF}"/>
              </a:ext>
            </a:extLst>
          </p:cNvPr>
          <p:cNvGraphicFramePr>
            <a:graphicFrameLocks noGrp="1"/>
          </p:cNvGraphicFramePr>
          <p:nvPr/>
        </p:nvGraphicFramePr>
        <p:xfrm>
          <a:off x="3266767" y="2071984"/>
          <a:ext cx="4220306" cy="1493520"/>
        </p:xfrm>
        <a:graphic>
          <a:graphicData uri="http://schemas.openxmlformats.org/drawingml/2006/table">
            <a:tbl>
              <a:tblPr/>
              <a:tblGrid>
                <a:gridCol w="1141766">
                  <a:extLst>
                    <a:ext uri="{9D8B030D-6E8A-4147-A177-3AD203B41FA5}">
                      <a16:colId xmlns:a16="http://schemas.microsoft.com/office/drawing/2014/main" val="2608162996"/>
                    </a:ext>
                  </a:extLst>
                </a:gridCol>
                <a:gridCol w="3078540">
                  <a:extLst>
                    <a:ext uri="{9D8B030D-6E8A-4147-A177-3AD203B41FA5}">
                      <a16:colId xmlns:a16="http://schemas.microsoft.com/office/drawing/2014/main" val="34608351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 방향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271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PB, WM, </a:t>
                      </a:r>
                      <a:r>
                        <a:rPr lang="ko-KR" altLang="en-US" sz="1000"/>
                        <a:t>종신보험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>카드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프리미엄 검진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9789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ETF, </a:t>
                      </a:r>
                      <a:r>
                        <a:rPr lang="ko-KR" altLang="en-US" sz="1000"/>
                        <a:t>펀드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프리미엄 보험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en-US" sz="1000"/>
                        <a:t xml:space="preserve">Travel </a:t>
                      </a:r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7744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 xml:space="preserve">배당 </a:t>
                      </a:r>
                      <a:r>
                        <a:rPr lang="en-US" sz="1000"/>
                        <a:t xml:space="preserve">ETF, </a:t>
                      </a:r>
                      <a:r>
                        <a:rPr lang="ko-KR" altLang="en-US" sz="1000"/>
                        <a:t>건강보험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생활혜택 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9307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청년 적금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체크카드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간편보험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생활형 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033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건강관리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실손보험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웰니스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538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6761584-20D5-0542-A322-99354B1AA421}"/>
              </a:ext>
            </a:extLst>
          </p:cNvPr>
          <p:cNvSpPr txBox="1"/>
          <p:nvPr/>
        </p:nvSpPr>
        <p:spPr>
          <a:xfrm>
            <a:off x="7686262" y="1659261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Action Code</a:t>
            </a:r>
            <a:r>
              <a:rPr lang="ko-KR" altLang="en-US" sz="1200" b="1"/>
              <a:t xml:space="preserve"> 표준 </a:t>
            </a:r>
            <a:endParaRPr lang="en-US" altLang="ko-KR" sz="10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5DE384-1306-B448-978A-DE78C65ADEF2}"/>
              </a:ext>
            </a:extLst>
          </p:cNvPr>
          <p:cNvGraphicFramePr>
            <a:graphicFrameLocks noGrp="1"/>
          </p:cNvGraphicFramePr>
          <p:nvPr/>
        </p:nvGraphicFramePr>
        <p:xfrm>
          <a:off x="7726018" y="2045811"/>
          <a:ext cx="4346714" cy="3200400"/>
        </p:xfrm>
        <a:graphic>
          <a:graphicData uri="http://schemas.openxmlformats.org/drawingml/2006/table">
            <a:tbl>
              <a:tblPr/>
              <a:tblGrid>
                <a:gridCol w="2173357">
                  <a:extLst>
                    <a:ext uri="{9D8B030D-6E8A-4147-A177-3AD203B41FA5}">
                      <a16:colId xmlns:a16="http://schemas.microsoft.com/office/drawing/2014/main" val="1250727728"/>
                    </a:ext>
                  </a:extLst>
                </a:gridCol>
                <a:gridCol w="2173357">
                  <a:extLst>
                    <a:ext uri="{9D8B030D-6E8A-4147-A177-3AD203B41FA5}">
                      <a16:colId xmlns:a16="http://schemas.microsoft.com/office/drawing/2014/main" val="1395500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87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RECOMMEND_PB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PB/</a:t>
                      </a:r>
                      <a:r>
                        <a:rPr lang="ko-KR" altLang="en-US" sz="1000"/>
                        <a:t>프리미엄 금융상품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739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RECOMMEND_SAVING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적금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5580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RECOMMEND_LOAN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0328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486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RECOMMEND_INVEST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8380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RECOMMEND_WM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자산관리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4564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7559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RECOMMEND_DIRECT_INS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온라인 간편보험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795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83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RECOMMEND_WELLNESS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웰니스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3399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RECOMMEND_TELEMED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화상진료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상담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754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RECOMMEND_CROSS_SELL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교차판매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634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643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7/11)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Recommend_rule</a:t>
            </a:r>
            <a:r>
              <a:rPr lang="ko-KR" altLang="en-US" b="1"/>
              <a:t>에 고객 등급</a:t>
            </a:r>
            <a:r>
              <a:rPr lang="en-US" altLang="ko-KR" b="1"/>
              <a:t xml:space="preserve">, </a:t>
            </a:r>
            <a:r>
              <a:rPr lang="ko-KR" altLang="en-US" b="1"/>
              <a:t>점수</a:t>
            </a:r>
            <a:r>
              <a:rPr lang="en-US" altLang="ko-KR" b="1"/>
              <a:t xml:space="preserve">, </a:t>
            </a:r>
            <a:r>
              <a:rPr lang="ko-KR" altLang="en-US" b="1"/>
              <a:t>건강점수</a:t>
            </a:r>
            <a:r>
              <a:rPr lang="en-US" altLang="ko-KR" b="1"/>
              <a:t xml:space="preserve">, </a:t>
            </a:r>
            <a:r>
              <a:rPr lang="ko-KR" altLang="en-US" b="1"/>
              <a:t>카테고리 기준 추천 조건을 등록하는 것으로</a:t>
            </a:r>
            <a:r>
              <a:rPr lang="en-US" altLang="ko-KR" b="1"/>
              <a:t>,</a:t>
            </a:r>
            <a:r>
              <a:rPr lang="ko-KR" altLang="en-US" b="1"/>
              <a:t xml:space="preserve">  </a:t>
            </a:r>
            <a:r>
              <a:rPr lang="en-US" b="1"/>
              <a:t xml:space="preserve">Rule Engine </a:t>
            </a:r>
            <a:r>
              <a:rPr lang="ko-KR" altLang="en-US" b="1"/>
              <a:t>역할을 하며</a:t>
            </a:r>
            <a:r>
              <a:rPr lang="en-US" altLang="ko-KR" b="1"/>
              <a:t xml:space="preserve">, </a:t>
            </a:r>
            <a:r>
              <a:rPr lang="en-US" b="1"/>
              <a:t>product_master</a:t>
            </a:r>
            <a:r>
              <a:rPr lang="ko-KR" altLang="en-US" b="1"/>
              <a:t xml:space="preserve">에서 어떤 상품군을 추천할지 결정하는 기준이 되는 구조 </a:t>
            </a:r>
            <a:endParaRPr lang="en-KR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AC3462-5322-E54E-91A9-5EDAC673F645}"/>
              </a:ext>
            </a:extLst>
          </p:cNvPr>
          <p:cNvSpPr txBox="1"/>
          <p:nvPr/>
        </p:nvSpPr>
        <p:spPr>
          <a:xfrm>
            <a:off x="243508" y="2145310"/>
            <a:ext cx="36188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 xml:space="preserve">규칙 </a:t>
            </a:r>
            <a:r>
              <a:rPr lang="en-US" altLang="ko-KR" sz="1000" b="1"/>
              <a:t>1.</a:t>
            </a:r>
            <a:r>
              <a:rPr lang="ko-KR" altLang="en-US" sz="1000" b="1"/>
              <a:t xml:space="preserve"> 고객 등급 기반 </a:t>
            </a:r>
            <a:endParaRPr lang="en-US" altLang="ko-KR" sz="1000" b="1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099118C-F5EA-844A-9209-8948D475A0A8}"/>
              </a:ext>
            </a:extLst>
          </p:cNvPr>
          <p:cNvGraphicFramePr>
            <a:graphicFrameLocks noGrp="1"/>
          </p:cNvGraphicFramePr>
          <p:nvPr/>
        </p:nvGraphicFramePr>
        <p:xfrm>
          <a:off x="341044" y="2479174"/>
          <a:ext cx="4182188" cy="1493520"/>
        </p:xfrm>
        <a:graphic>
          <a:graphicData uri="http://schemas.openxmlformats.org/drawingml/2006/table">
            <a:tbl>
              <a:tblPr/>
              <a:tblGrid>
                <a:gridCol w="2091094">
                  <a:extLst>
                    <a:ext uri="{9D8B030D-6E8A-4147-A177-3AD203B41FA5}">
                      <a16:colId xmlns:a16="http://schemas.microsoft.com/office/drawing/2014/main" val="2039277485"/>
                    </a:ext>
                  </a:extLst>
                </a:gridCol>
                <a:gridCol w="2091094">
                  <a:extLst>
                    <a:ext uri="{9D8B030D-6E8A-4147-A177-3AD203B41FA5}">
                      <a16:colId xmlns:a16="http://schemas.microsoft.com/office/drawing/2014/main" val="3238292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 방향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46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PB / WM / VIP </a:t>
                      </a:r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244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ETF / </a:t>
                      </a:r>
                      <a:r>
                        <a:rPr lang="ko-KR" altLang="en-US" sz="1000"/>
                        <a:t>투자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570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생활금융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5799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 xml:space="preserve">적금 </a:t>
                      </a:r>
                      <a:r>
                        <a:rPr lang="en-US" altLang="ko-KR" sz="1000"/>
                        <a:t xml:space="preserve">/ </a:t>
                      </a:r>
                      <a:r>
                        <a:rPr lang="ko-KR" altLang="en-US" sz="1000"/>
                        <a:t>체크카드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749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40544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D8FE39F-C865-1443-A117-F03F96D2C772}"/>
              </a:ext>
            </a:extLst>
          </p:cNvPr>
          <p:cNvSpPr txBox="1"/>
          <p:nvPr/>
        </p:nvSpPr>
        <p:spPr>
          <a:xfrm>
            <a:off x="243508" y="4522750"/>
            <a:ext cx="36188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 xml:space="preserve">규칙 </a:t>
            </a:r>
            <a:r>
              <a:rPr lang="en-US" altLang="ko-KR" sz="1000" b="1"/>
              <a:t>2.</a:t>
            </a:r>
            <a:r>
              <a:rPr lang="ko-KR" altLang="en-US" sz="1000" b="1"/>
              <a:t xml:space="preserve"> 점수 기반 </a:t>
            </a:r>
            <a:endParaRPr lang="en-US" altLang="ko-KR" sz="1000" b="1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C6CB249-1972-BA44-ADF1-BF34F12ED5A2}"/>
              </a:ext>
            </a:extLst>
          </p:cNvPr>
          <p:cNvGraphicFramePr>
            <a:graphicFrameLocks noGrp="1"/>
          </p:cNvGraphicFramePr>
          <p:nvPr/>
        </p:nvGraphicFramePr>
        <p:xfrm>
          <a:off x="341044" y="4937278"/>
          <a:ext cx="4182188" cy="1493520"/>
        </p:xfrm>
        <a:graphic>
          <a:graphicData uri="http://schemas.openxmlformats.org/drawingml/2006/table">
            <a:tbl>
              <a:tblPr/>
              <a:tblGrid>
                <a:gridCol w="2091094">
                  <a:extLst>
                    <a:ext uri="{9D8B030D-6E8A-4147-A177-3AD203B41FA5}">
                      <a16:colId xmlns:a16="http://schemas.microsoft.com/office/drawing/2014/main" val="2164509884"/>
                    </a:ext>
                  </a:extLst>
                </a:gridCol>
                <a:gridCol w="2091094">
                  <a:extLst>
                    <a:ext uri="{9D8B030D-6E8A-4147-A177-3AD203B41FA5}">
                      <a16:colId xmlns:a16="http://schemas.microsoft.com/office/drawing/2014/main" val="42353907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3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90~100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프리미엄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995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80~89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108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70~79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6917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60~69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997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0~59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CARE</a:t>
                      </a:r>
                      <a:r>
                        <a:rPr lang="ko-KR" altLang="en-US" sz="1000"/>
                        <a:t>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8539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F33DDFA-E929-344D-B68F-C4BA7BC6EC40}"/>
              </a:ext>
            </a:extLst>
          </p:cNvPr>
          <p:cNvSpPr txBox="1"/>
          <p:nvPr/>
        </p:nvSpPr>
        <p:spPr>
          <a:xfrm>
            <a:off x="5242228" y="2145310"/>
            <a:ext cx="36188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 xml:space="preserve">규칙 </a:t>
            </a:r>
            <a:r>
              <a:rPr lang="en-US" altLang="ko-KR" sz="1000" b="1"/>
              <a:t>3.</a:t>
            </a:r>
            <a:r>
              <a:rPr lang="ko-KR" altLang="en-US" sz="1000" b="1"/>
              <a:t xml:space="preserve"> 건강 점수 기반 </a:t>
            </a:r>
            <a:endParaRPr lang="en-US" altLang="ko-KR" sz="1000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F2DA76-451A-9C44-BB26-CA2D72B650E0}"/>
              </a:ext>
            </a:extLst>
          </p:cNvPr>
          <p:cNvSpPr txBox="1"/>
          <p:nvPr/>
        </p:nvSpPr>
        <p:spPr>
          <a:xfrm>
            <a:off x="5242229" y="4522750"/>
            <a:ext cx="21217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 xml:space="preserve">규칙 </a:t>
            </a:r>
            <a:r>
              <a:rPr lang="en-US" altLang="ko-KR" sz="1000" b="1"/>
              <a:t>4.</a:t>
            </a:r>
            <a:r>
              <a:rPr lang="ko-KR" altLang="en-US" sz="1000" b="1"/>
              <a:t xml:space="preserve"> 교차 판매 기반 </a:t>
            </a:r>
            <a:endParaRPr lang="en-US" altLang="ko-KR" sz="10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8884BC-C96C-C646-92FA-AD2EEB0AAB2B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추천 규칙 </a:t>
            </a:r>
            <a:r>
              <a:rPr lang="en-US" altLang="ko-KR" sz="1200" b="1"/>
              <a:t>(Recommend Rule)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EF7CF4-EB36-5B44-849D-CCA4B6288268}"/>
              </a:ext>
            </a:extLst>
          </p:cNvPr>
          <p:cNvGraphicFramePr>
            <a:graphicFrameLocks noGrp="1"/>
          </p:cNvGraphicFramePr>
          <p:nvPr/>
        </p:nvGraphicFramePr>
        <p:xfrm>
          <a:off x="5339764" y="2479174"/>
          <a:ext cx="4182188" cy="1005840"/>
        </p:xfrm>
        <a:graphic>
          <a:graphicData uri="http://schemas.openxmlformats.org/drawingml/2006/table">
            <a:tbl>
              <a:tblPr/>
              <a:tblGrid>
                <a:gridCol w="2091094">
                  <a:extLst>
                    <a:ext uri="{9D8B030D-6E8A-4147-A177-3AD203B41FA5}">
                      <a16:colId xmlns:a16="http://schemas.microsoft.com/office/drawing/2014/main" val="4268090198"/>
                    </a:ext>
                  </a:extLst>
                </a:gridCol>
                <a:gridCol w="2091094">
                  <a:extLst>
                    <a:ext uri="{9D8B030D-6E8A-4147-A177-3AD203B41FA5}">
                      <a16:colId xmlns:a16="http://schemas.microsoft.com/office/drawing/2014/main" val="1156054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363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웰니스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137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55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중간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207706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7050EDCB-EFD1-3241-B3F5-268C8A68890D}"/>
              </a:ext>
            </a:extLst>
          </p:cNvPr>
          <p:cNvSpPr txBox="1"/>
          <p:nvPr/>
        </p:nvSpPr>
        <p:spPr>
          <a:xfrm>
            <a:off x="5242228" y="4926420"/>
            <a:ext cx="18535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건강검진 이용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보험 추천</a:t>
            </a:r>
          </a:p>
        </p:txBody>
      </p:sp>
    </p:spTree>
    <p:extLst>
      <p:ext uri="{BB962C8B-B14F-4D97-AF65-F5344CB8AC3E}">
        <p14:creationId xmlns:p14="http://schemas.microsoft.com/office/powerpoint/2010/main" val="1396880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8/11)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Cross_sell_rule</a:t>
            </a:r>
            <a:r>
              <a:rPr lang="ko-KR" altLang="en-US" b="1"/>
              <a:t>에 기준 카테고리 → 추천 카테고리 관계를 등록하는 것으로</a:t>
            </a:r>
            <a:r>
              <a:rPr lang="en-US" altLang="ko-KR" b="1"/>
              <a:t>,</a:t>
            </a:r>
            <a:r>
              <a:rPr lang="ko-KR" altLang="en-US" b="1"/>
              <a:t xml:space="preserve">  </a:t>
            </a:r>
            <a:r>
              <a:rPr lang="en-US" b="1"/>
              <a:t xml:space="preserve">HEALTHCARE </a:t>
            </a:r>
            <a:r>
              <a:rPr lang="ko-KR" altLang="en-US" b="1"/>
              <a:t xml:space="preserve">이용 고객에게 </a:t>
            </a:r>
            <a:r>
              <a:rPr lang="en-US" b="1"/>
              <a:t>INSURANCE</a:t>
            </a:r>
            <a:r>
              <a:rPr lang="ko-KR" altLang="en-US" b="1"/>
              <a:t>를 추천하거나</a:t>
            </a:r>
            <a:r>
              <a:rPr lang="en-US" altLang="ko-KR" b="1"/>
              <a:t xml:space="preserve">, </a:t>
            </a:r>
            <a:r>
              <a:rPr lang="en-US" b="1"/>
              <a:t xml:space="preserve">CARD </a:t>
            </a:r>
            <a:r>
              <a:rPr lang="ko-KR" altLang="en-US" b="1"/>
              <a:t xml:space="preserve">이용 고객에게 </a:t>
            </a:r>
            <a:r>
              <a:rPr lang="en-US" b="1"/>
              <a:t>DIRECT_INS</a:t>
            </a:r>
            <a:r>
              <a:rPr lang="ko-KR" altLang="en-US" b="1"/>
              <a:t>를 추천하는 구조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교차 판매 </a:t>
            </a:r>
            <a:r>
              <a:rPr lang="en-US" altLang="ko-KR" sz="1200" b="1"/>
              <a:t xml:space="preserve">(Cross_Sell_Rule)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고객이 관심을 보인 상품</a:t>
            </a:r>
            <a:r>
              <a:rPr lang="en-US" altLang="ko-KR" sz="1000"/>
              <a:t>/</a:t>
            </a:r>
            <a:r>
              <a:rPr lang="ko-KR" altLang="en-US" sz="1000"/>
              <a:t>서비스 카테고리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base_category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 xml:space="preserve">cross_sell_rule </a:t>
            </a:r>
            <a:r>
              <a:rPr lang="ko-KR" altLang="en-US" sz="1000"/>
              <a:t>매칭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 xml:space="preserve">target_category </a:t>
            </a:r>
            <a:r>
              <a:rPr lang="ko-KR" altLang="en-US" sz="1000"/>
              <a:t>상품 추천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상품 클릭</a:t>
            </a:r>
            <a:r>
              <a:rPr lang="en-US" altLang="ko-KR" sz="1000"/>
              <a:t>/</a:t>
            </a:r>
            <a:r>
              <a:rPr lang="ko-KR" altLang="en-US" sz="1000"/>
              <a:t>가입 이력 생성</a:t>
            </a:r>
            <a:endParaRPr lang="en-KR" sz="10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Cross_Sell_Rule </a:t>
            </a:r>
            <a:r>
              <a:rPr lang="ko-KR" altLang="en-US" sz="1200" b="1"/>
              <a:t xml:space="preserve">생성 방식 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761584-20D5-0542-A322-99354B1AA421}"/>
              </a:ext>
            </a:extLst>
          </p:cNvPr>
          <p:cNvSpPr txBox="1"/>
          <p:nvPr/>
        </p:nvSpPr>
        <p:spPr>
          <a:xfrm>
            <a:off x="6446850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추천 설계 기준 </a:t>
            </a:r>
            <a:endParaRPr lang="en-US" altLang="ko-KR" sz="1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1A17D-1C12-7C4B-AB69-B24CD1EE118A}"/>
              </a:ext>
            </a:extLst>
          </p:cNvPr>
          <p:cNvSpPr txBox="1"/>
          <p:nvPr/>
        </p:nvSpPr>
        <p:spPr>
          <a:xfrm>
            <a:off x="3680228" y="2105561"/>
            <a:ext cx="23652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 xml:space="preserve">예시 </a:t>
            </a:r>
            <a:endParaRPr lang="en-US" altLang="ko-KR" sz="1000"/>
          </a:p>
          <a:p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건강검진 이용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HEALTHCARE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INSURANCE 추천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프리미엄 건강보험 추천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11318A-20E4-E24E-A9A7-A84D1C9CE758}"/>
              </a:ext>
            </a:extLst>
          </p:cNvPr>
          <p:cNvGraphicFramePr>
            <a:graphicFrameLocks noGrp="1"/>
          </p:cNvGraphicFramePr>
          <p:nvPr/>
        </p:nvGraphicFramePr>
        <p:xfrm>
          <a:off x="6532194" y="1947065"/>
          <a:ext cx="5416296" cy="3200400"/>
        </p:xfrm>
        <a:graphic>
          <a:graphicData uri="http://schemas.openxmlformats.org/drawingml/2006/table">
            <a:tbl>
              <a:tblPr/>
              <a:tblGrid>
                <a:gridCol w="1304544">
                  <a:extLst>
                    <a:ext uri="{9D8B030D-6E8A-4147-A177-3AD203B41FA5}">
                      <a16:colId xmlns:a16="http://schemas.microsoft.com/office/drawing/2014/main" val="1448545756"/>
                    </a:ext>
                  </a:extLst>
                </a:gridCol>
                <a:gridCol w="1548384">
                  <a:extLst>
                    <a:ext uri="{9D8B030D-6E8A-4147-A177-3AD203B41FA5}">
                      <a16:colId xmlns:a16="http://schemas.microsoft.com/office/drawing/2014/main" val="1637868316"/>
                    </a:ext>
                  </a:extLst>
                </a:gridCol>
                <a:gridCol w="2563368">
                  <a:extLst>
                    <a:ext uri="{9D8B030D-6E8A-4147-A177-3AD203B41FA5}">
                      <a16:colId xmlns:a16="http://schemas.microsoft.com/office/drawing/2014/main" val="3393083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base_category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target_category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 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544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건강검진 고객에게 건강보험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9158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WELLNESS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운동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식단 관리 고객에게 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8275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TELEMED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DIRECT_INS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비대면 상담 고객에게 간편보험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9887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DIRECT_INS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고객에게 모바일 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9832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LIFESTYLE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고객에게 생활혜택 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5503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 고객에게 펀드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1033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안정형 고객에게 투자상품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6765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SAVING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 고객에게 생활카드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3276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LOAN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대출 고객에게 보장성 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0282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 고객에게 연금상품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0137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 고객에게 헬스케어 서비스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5792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DIRECT_INS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WELLNESS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온라인보험 고객에게 건강관리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877518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FF5BE0-2FE6-1C41-89D6-46FA4789C3B9}"/>
              </a:ext>
            </a:extLst>
          </p:cNvPr>
          <p:cNvGraphicFramePr>
            <a:graphicFrameLocks noGrp="1"/>
          </p:cNvGraphicFramePr>
          <p:nvPr/>
        </p:nvGraphicFramePr>
        <p:xfrm>
          <a:off x="328853" y="4281379"/>
          <a:ext cx="5108778" cy="1737360"/>
        </p:xfrm>
        <a:graphic>
          <a:graphicData uri="http://schemas.openxmlformats.org/drawingml/2006/table">
            <a:tbl>
              <a:tblPr/>
              <a:tblGrid>
                <a:gridCol w="1341451">
                  <a:extLst>
                    <a:ext uri="{9D8B030D-6E8A-4147-A177-3AD203B41FA5}">
                      <a16:colId xmlns:a16="http://schemas.microsoft.com/office/drawing/2014/main" val="952226636"/>
                    </a:ext>
                  </a:extLst>
                </a:gridCol>
                <a:gridCol w="1438656">
                  <a:extLst>
                    <a:ext uri="{9D8B030D-6E8A-4147-A177-3AD203B41FA5}">
                      <a16:colId xmlns:a16="http://schemas.microsoft.com/office/drawing/2014/main" val="3885169123"/>
                    </a:ext>
                  </a:extLst>
                </a:gridCol>
                <a:gridCol w="2328671">
                  <a:extLst>
                    <a:ext uri="{9D8B030D-6E8A-4147-A177-3AD203B41FA5}">
                      <a16:colId xmlns:a16="http://schemas.microsoft.com/office/drawing/2014/main" val="25301945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base_category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target_category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051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고객에게 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437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건강검진 고객에게 건강보험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628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 고객에게 펀드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324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 고객에게 연금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972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 가입자에게 헬스케어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0040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LOAN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대출 고객에게 생활카드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11921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5E79C78-B571-FF45-A482-69CA7FDBAD06}"/>
              </a:ext>
            </a:extLst>
          </p:cNvPr>
          <p:cNvSpPr txBox="1"/>
          <p:nvPr/>
        </p:nvSpPr>
        <p:spPr>
          <a:xfrm>
            <a:off x="6446850" y="5669403"/>
            <a:ext cx="43339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고객이 AI 건강 리포트 조회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상품 카테고리 = HEALTHCARE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cross_sell_rule에서 HEALTHCARE 기준 조회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target_category = INSURANCE / DIRECT_INS / WELLNESS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보험/온라인보험/웰니스 상품 후보 조회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priority_rank 기준 추천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3A2970-5557-3A41-975A-CF106C6BCFC1}"/>
              </a:ext>
            </a:extLst>
          </p:cNvPr>
          <p:cNvSpPr txBox="1"/>
          <p:nvPr/>
        </p:nvSpPr>
        <p:spPr>
          <a:xfrm>
            <a:off x="6446850" y="5367233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프로세스</a:t>
            </a:r>
            <a:endParaRPr lang="en-US" altLang="ko-KR" sz="1000" b="1"/>
          </a:p>
        </p:txBody>
      </p:sp>
    </p:spTree>
    <p:extLst>
      <p:ext uri="{BB962C8B-B14F-4D97-AF65-F5344CB8AC3E}">
        <p14:creationId xmlns:p14="http://schemas.microsoft.com/office/powerpoint/2010/main" val="1891320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9/11)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campaign_master</a:t>
            </a:r>
            <a:r>
              <a:rPr lang="ko-KR" altLang="en-US" b="1"/>
              <a:t>에 고객 등급별 배너</a:t>
            </a:r>
            <a:r>
              <a:rPr lang="en-US" altLang="ko-KR" b="1"/>
              <a:t>/</a:t>
            </a:r>
            <a:r>
              <a:rPr lang="ko-KR" altLang="en-US" b="1"/>
              <a:t>마케팅 캠페인을 등록하는 것으로</a:t>
            </a:r>
            <a:r>
              <a:rPr lang="en-US" altLang="ko-KR" b="1"/>
              <a:t>,</a:t>
            </a:r>
            <a:r>
              <a:rPr lang="ko-KR" altLang="en-US" b="1"/>
              <a:t xml:space="preserve">  추천 결과를 대시보드</a:t>
            </a:r>
            <a:r>
              <a:rPr lang="en-US" altLang="ko-KR" b="1"/>
              <a:t xml:space="preserve">, </a:t>
            </a:r>
            <a:r>
              <a:rPr lang="ko-KR" altLang="en-US" b="1"/>
              <a:t>앱 메인</a:t>
            </a:r>
            <a:r>
              <a:rPr lang="en-US" altLang="ko-KR" b="1"/>
              <a:t xml:space="preserve">, </a:t>
            </a:r>
            <a:r>
              <a:rPr lang="ko-KR" altLang="en-US" b="1"/>
              <a:t>상품 상세 화면 등에 노출하기 위한 기준 데이터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Campaign_master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0727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 xml:space="preserve">고객 </a:t>
            </a:r>
            <a:r>
              <a:rPr lang="en-US" altLang="ko-KR" sz="1000" dirty="0" err="1"/>
              <a:t>dynamic_grade</a:t>
            </a:r>
            <a:endParaRPr lang="en-US" altLang="ko-KR" sz="1000" dirty="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 dirty="0" err="1"/>
              <a:t>campaign_master.target_grade</a:t>
            </a:r>
            <a:r>
              <a:rPr lang="en-US" altLang="ko-KR" sz="1000" dirty="0"/>
              <a:t xml:space="preserve"> </a:t>
            </a:r>
            <a:r>
              <a:rPr lang="ko-KR" altLang="en-US" sz="1000" dirty="0"/>
              <a:t>매칭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배너</a:t>
            </a:r>
            <a:r>
              <a:rPr lang="en-US" altLang="ko-KR" sz="1000" dirty="0"/>
              <a:t>/</a:t>
            </a:r>
            <a:r>
              <a:rPr lang="ko-KR" altLang="en-US" sz="1000" dirty="0"/>
              <a:t>추천 메시지 노출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 dirty="0" err="1"/>
              <a:t>customer_dashboard_log</a:t>
            </a:r>
            <a:r>
              <a:rPr lang="ko-KR" altLang="en-US" sz="1000" dirty="0"/>
              <a:t>에 클릭 이력 저장</a:t>
            </a:r>
            <a:endParaRPr lang="en-KR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 xml:space="preserve">campaign_master </a:t>
            </a:r>
            <a:r>
              <a:rPr lang="ko-KR" altLang="en-US" sz="1200" b="1"/>
              <a:t xml:space="preserve">생성 방식 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761584-20D5-0542-A322-99354B1AA421}"/>
              </a:ext>
            </a:extLst>
          </p:cNvPr>
          <p:cNvSpPr txBox="1"/>
          <p:nvPr/>
        </p:nvSpPr>
        <p:spPr>
          <a:xfrm>
            <a:off x="6446850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등급 캠페인 규칙 </a:t>
            </a:r>
            <a:endParaRPr lang="en-US" altLang="ko-KR" sz="1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1A17D-1C12-7C4B-AB69-B24CD1EE118A}"/>
              </a:ext>
            </a:extLst>
          </p:cNvPr>
          <p:cNvSpPr txBox="1"/>
          <p:nvPr/>
        </p:nvSpPr>
        <p:spPr>
          <a:xfrm>
            <a:off x="3680228" y="2105561"/>
            <a:ext cx="23652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 xml:space="preserve">예시 </a:t>
            </a:r>
            <a:endParaRPr lang="en-US" altLang="ko-KR" sz="1000"/>
          </a:p>
          <a:p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VIP </a:t>
            </a:r>
            <a:r>
              <a:rPr lang="ko-KR" altLang="en-US" sz="1000"/>
              <a:t>고객 로그인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VIP </a:t>
            </a:r>
            <a:r>
              <a:rPr lang="ko-KR" altLang="en-US" sz="1000"/>
              <a:t>전용 자산관리 캠페인 노출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VIP PB </a:t>
            </a:r>
            <a:r>
              <a:rPr lang="ko-KR" altLang="en-US" sz="1000"/>
              <a:t xml:space="preserve">증권랩 </a:t>
            </a:r>
            <a:r>
              <a:rPr lang="en-US" altLang="ko-KR" sz="1000"/>
              <a:t xml:space="preserve">/ </a:t>
            </a:r>
            <a:r>
              <a:rPr lang="ko-KR" altLang="en-US" sz="1000"/>
              <a:t xml:space="preserve">종신보험 </a:t>
            </a:r>
            <a:r>
              <a:rPr lang="en-US" altLang="ko-KR" sz="1000"/>
              <a:t xml:space="preserve">/ </a:t>
            </a:r>
            <a:r>
              <a:rPr lang="ko-KR" altLang="en-US" sz="1000"/>
              <a:t>프리미엄 검진 추천</a:t>
            </a:r>
            <a:endParaRPr lang="en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DD5209-F6DA-1648-9756-941E6B23DE4E}"/>
              </a:ext>
            </a:extLst>
          </p:cNvPr>
          <p:cNvGraphicFramePr>
            <a:graphicFrameLocks noGrp="1"/>
          </p:cNvGraphicFramePr>
          <p:nvPr/>
        </p:nvGraphicFramePr>
        <p:xfrm>
          <a:off x="243509" y="4173515"/>
          <a:ext cx="5060010" cy="1249680"/>
        </p:xfrm>
        <a:graphic>
          <a:graphicData uri="http://schemas.openxmlformats.org/drawingml/2006/table">
            <a:tbl>
              <a:tblPr/>
              <a:tblGrid>
                <a:gridCol w="1686670">
                  <a:extLst>
                    <a:ext uri="{9D8B030D-6E8A-4147-A177-3AD203B41FA5}">
                      <a16:colId xmlns:a16="http://schemas.microsoft.com/office/drawing/2014/main" val="1321350311"/>
                    </a:ext>
                  </a:extLst>
                </a:gridCol>
                <a:gridCol w="1190973">
                  <a:extLst>
                    <a:ext uri="{9D8B030D-6E8A-4147-A177-3AD203B41FA5}">
                      <a16:colId xmlns:a16="http://schemas.microsoft.com/office/drawing/2014/main" val="658080259"/>
                    </a:ext>
                  </a:extLst>
                </a:gridCol>
                <a:gridCol w="2182367">
                  <a:extLst>
                    <a:ext uri="{9D8B030D-6E8A-4147-A177-3AD203B41FA5}">
                      <a16:colId xmlns:a16="http://schemas.microsoft.com/office/drawing/2014/main" val="2377861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campaign_name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banner_title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053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>자산관리 캠페인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 xml:space="preserve">고객 전용 </a:t>
                      </a:r>
                      <a:r>
                        <a:rPr lang="en-US" sz="1000"/>
                        <a:t xml:space="preserve">PB </a:t>
                      </a:r>
                      <a:r>
                        <a:rPr lang="ko-KR" altLang="en-US" sz="1000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6538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 연계 보험 캠페인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건강점수 기반 맞춤 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6873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청년 금융 시작 캠페인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청년 고객을 위한 첫 금융 패키지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0584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글로벌 투자 캠페인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 xml:space="preserve">글로벌 </a:t>
                      </a:r>
                      <a:r>
                        <a:rPr lang="en-US" sz="1000"/>
                        <a:t xml:space="preserve">ETF </a:t>
                      </a:r>
                      <a:r>
                        <a:rPr lang="ko-KR" altLang="en-US" sz="1000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345770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C411CA-E07A-E645-97D4-423351B67A9A}"/>
              </a:ext>
            </a:extLst>
          </p:cNvPr>
          <p:cNvGraphicFramePr>
            <a:graphicFrameLocks noGrp="1"/>
          </p:cNvGraphicFramePr>
          <p:nvPr/>
        </p:nvGraphicFramePr>
        <p:xfrm>
          <a:off x="6559296" y="2066687"/>
          <a:ext cx="4794504" cy="1493520"/>
        </p:xfrm>
        <a:graphic>
          <a:graphicData uri="http://schemas.openxmlformats.org/drawingml/2006/table">
            <a:tbl>
              <a:tblPr/>
              <a:tblGrid>
                <a:gridCol w="1560576">
                  <a:extLst>
                    <a:ext uri="{9D8B030D-6E8A-4147-A177-3AD203B41FA5}">
                      <a16:colId xmlns:a16="http://schemas.microsoft.com/office/drawing/2014/main" val="4040393369"/>
                    </a:ext>
                  </a:extLst>
                </a:gridCol>
                <a:gridCol w="3233928">
                  <a:extLst>
                    <a:ext uri="{9D8B030D-6E8A-4147-A177-3AD203B41FA5}">
                      <a16:colId xmlns:a16="http://schemas.microsoft.com/office/drawing/2014/main" val="14637934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캠페인 방향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15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PB, WM, </a:t>
                      </a:r>
                      <a:r>
                        <a:rPr lang="ko-KR" altLang="en-US" sz="1000"/>
                        <a:t>상속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프리미엄 검진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en-US" sz="1000"/>
                        <a:t xml:space="preserve">VIP </a:t>
                      </a:r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22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ETF, </a:t>
                      </a:r>
                      <a:r>
                        <a:rPr lang="ko-KR" altLang="en-US" sz="1000"/>
                        <a:t>펀드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프리미엄 보험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여행카드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739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생활혜택 카드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건강보험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 xml:space="preserve">배당 </a:t>
                      </a:r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9512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청년 적금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체크카드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간편보험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생활형 금융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797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 리포트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웰니스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실손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건강보험</a:t>
                      </a:r>
                      <a:r>
                        <a:rPr lang="en-US" altLang="ko-KR" sz="1000"/>
                        <a:t xml:space="preserve">, </a:t>
                      </a:r>
                      <a:r>
                        <a:rPr lang="ko-KR" altLang="en-US" sz="1000"/>
                        <a:t>화상진료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80801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D2DA1EC-3FF8-D64F-A39A-5A604FB8DDCC}"/>
              </a:ext>
            </a:extLst>
          </p:cNvPr>
          <p:cNvSpPr txBox="1"/>
          <p:nvPr/>
        </p:nvSpPr>
        <p:spPr>
          <a:xfrm>
            <a:off x="6446850" y="403501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캠페인 </a:t>
            </a:r>
            <a:r>
              <a:rPr lang="en-US" altLang="ko-KR" sz="1200" b="1"/>
              <a:t>Seed</a:t>
            </a:r>
            <a:r>
              <a:rPr lang="ko-KR" altLang="en-US" sz="1200" b="1"/>
              <a:t xml:space="preserve"> 테이블 </a:t>
            </a:r>
            <a:endParaRPr lang="en-US" altLang="ko-KR" sz="1000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7B9C71-4552-034C-A7FB-0C1F41DAAE13}"/>
              </a:ext>
            </a:extLst>
          </p:cNvPr>
          <p:cNvSpPr txBox="1"/>
          <p:nvPr/>
        </p:nvSpPr>
        <p:spPr>
          <a:xfrm>
            <a:off x="6559296" y="4396524"/>
            <a:ext cx="4197626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/>
              <a:t>DROP TABLE IF EXISTS campaign_seed;</a:t>
            </a:r>
          </a:p>
          <a:p>
            <a:endParaRPr lang="en-US" sz="1100"/>
          </a:p>
          <a:p>
            <a:r>
              <a:rPr lang="en-US" sz="1100"/>
              <a:t>CREATE TABLE campaign_seed</a:t>
            </a:r>
          </a:p>
          <a:p>
            <a:r>
              <a:rPr lang="en-US" sz="1100"/>
              <a:t>(</a:t>
            </a:r>
          </a:p>
          <a:p>
            <a:r>
              <a:rPr lang="en-US" sz="1100"/>
              <a:t xml:space="preserve">    seed_id        BIGINT AUTO_INCREMENT PRIMARY KEY,</a:t>
            </a:r>
          </a:p>
          <a:p>
            <a:r>
              <a:rPr lang="en-US" sz="1100"/>
              <a:t xml:space="preserve">    target_grade   VARCHAR(20),</a:t>
            </a:r>
          </a:p>
          <a:p>
            <a:r>
              <a:rPr lang="en-US" sz="1100"/>
              <a:t xml:space="preserve">    theme_name     VARCHAR(100),</a:t>
            </a:r>
          </a:p>
          <a:p>
            <a:r>
              <a:rPr lang="en-US" sz="1100"/>
              <a:t xml:space="preserve">    banner_keyword VARCHAR(100),</a:t>
            </a:r>
          </a:p>
          <a:p>
            <a:r>
              <a:rPr lang="en-US" sz="1100"/>
              <a:t xml:space="preserve">    campaign_desc  VARCHAR(300)</a:t>
            </a:r>
          </a:p>
          <a:p>
            <a:r>
              <a:rPr lang="en-US" sz="1100"/>
              <a:t>) ENGINE=InnoDB;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4209062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10/11)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customer_recommend_history</a:t>
            </a:r>
            <a:r>
              <a:rPr lang="ko-KR" altLang="en-US" b="1" dirty="0"/>
              <a:t xml:space="preserve">는 </a:t>
            </a:r>
            <a:r>
              <a:rPr lang="en-US" b="1" dirty="0"/>
              <a:t xml:space="preserve">AI </a:t>
            </a:r>
            <a:r>
              <a:rPr lang="ko-KR" altLang="en-US" b="1" dirty="0"/>
              <a:t>추천 엔진이 고객의 등급</a:t>
            </a:r>
            <a:r>
              <a:rPr lang="en-US" altLang="ko-KR" b="1" dirty="0"/>
              <a:t xml:space="preserve">, </a:t>
            </a:r>
            <a:r>
              <a:rPr lang="ko-KR" altLang="en-US" b="1" dirty="0"/>
              <a:t>점수</a:t>
            </a:r>
            <a:r>
              <a:rPr lang="en-US" altLang="ko-KR" b="1" dirty="0"/>
              <a:t xml:space="preserve">, </a:t>
            </a:r>
            <a:r>
              <a:rPr lang="ko-KR" altLang="en-US" b="1" dirty="0"/>
              <a:t xml:space="preserve">행동 및 건강 데이터를 기반으로 어떤 상품을 언제 </a:t>
            </a:r>
            <a:r>
              <a:rPr lang="ko-KR" altLang="en-US" b="1" dirty="0" err="1"/>
              <a:t>추천했는지와</a:t>
            </a:r>
            <a:r>
              <a:rPr lang="ko-KR" altLang="en-US" b="1" dirty="0"/>
              <a:t xml:space="preserve"> 그 결과</a:t>
            </a:r>
            <a:r>
              <a:rPr lang="en-US" altLang="ko-KR" b="1" dirty="0"/>
              <a:t>(</a:t>
            </a:r>
            <a:r>
              <a:rPr lang="ko-KR" altLang="en-US" b="1" dirty="0"/>
              <a:t>클릭</a:t>
            </a:r>
            <a:r>
              <a:rPr lang="en-US" altLang="ko-KR" b="1" dirty="0"/>
              <a:t>·</a:t>
            </a:r>
            <a:r>
              <a:rPr lang="ko-KR" altLang="en-US" b="1" dirty="0"/>
              <a:t>구매 여부</a:t>
            </a:r>
            <a:r>
              <a:rPr lang="en-US" altLang="ko-KR" b="1" dirty="0"/>
              <a:t>)</a:t>
            </a:r>
            <a:r>
              <a:rPr lang="ko-KR" altLang="en-US" b="1" dirty="0"/>
              <a:t>를 저장하는 추천 이력 테이블</a:t>
            </a:r>
            <a:endParaRPr lang="en-KR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8" y="1602445"/>
            <a:ext cx="3618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 xml:space="preserve">추천 이력 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Customer_recommend_history</a:t>
            </a:r>
            <a:r>
              <a:rPr lang="en-US" altLang="ko-KR" sz="1200" b="1" dirty="0"/>
              <a:t xml:space="preserve">) </a:t>
            </a:r>
            <a:r>
              <a:rPr lang="ko-KR" altLang="en-US" sz="1200" b="1" dirty="0"/>
              <a:t>생성</a:t>
            </a:r>
            <a:endParaRPr lang="en-US" altLang="ko-KR" sz="1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 err="1"/>
              <a:t>Customer_recommend_history</a:t>
            </a:r>
            <a:r>
              <a:rPr lang="en-US" altLang="ko-KR" sz="1200" b="1" dirty="0"/>
              <a:t xml:space="preserve"> </a:t>
            </a:r>
            <a:r>
              <a:rPr lang="ko-KR" altLang="en-US" sz="1200" b="1" dirty="0"/>
              <a:t>생성 흐름</a:t>
            </a:r>
            <a:endParaRPr lang="en-US" altLang="ko-KR" sz="1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761584-20D5-0542-A322-99354B1AA421}"/>
              </a:ext>
            </a:extLst>
          </p:cNvPr>
          <p:cNvSpPr txBox="1"/>
          <p:nvPr/>
        </p:nvSpPr>
        <p:spPr>
          <a:xfrm>
            <a:off x="4814084" y="162870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추천 이력 목적 </a:t>
            </a:r>
            <a:endParaRPr lang="en-US" altLang="ko-KR" sz="10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D11D45-5175-B64D-BC07-611BF32C3585}"/>
              </a:ext>
            </a:extLst>
          </p:cNvPr>
          <p:cNvSpPr txBox="1"/>
          <p:nvPr/>
        </p:nvSpPr>
        <p:spPr>
          <a:xfrm>
            <a:off x="243509" y="4252153"/>
            <a:ext cx="343671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고객 데이터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고객 등급 계산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추천 규칙 매칭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상품 선택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추천 생성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클릭</a:t>
            </a:r>
            <a:r>
              <a:rPr lang="en-US" altLang="ko-KR" sz="1000" dirty="0"/>
              <a:t>/</a:t>
            </a:r>
            <a:r>
              <a:rPr lang="ko-KR" altLang="en-US" sz="1000" dirty="0"/>
              <a:t>구매 확률 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 dirty="0" err="1"/>
              <a:t>customer_recommend_history</a:t>
            </a:r>
            <a:r>
              <a:rPr lang="en-US" sz="1000" dirty="0"/>
              <a:t xml:space="preserve"> </a:t>
            </a:r>
            <a:r>
              <a:rPr lang="ko-KR" altLang="en-US" sz="1000" dirty="0"/>
              <a:t>저장</a:t>
            </a:r>
            <a:endParaRPr lang="en-KR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38E5D8-5EA2-E04F-BD50-78295B2FBF11}"/>
              </a:ext>
            </a:extLst>
          </p:cNvPr>
          <p:cNvSpPr txBox="1"/>
          <p:nvPr/>
        </p:nvSpPr>
        <p:spPr>
          <a:xfrm>
            <a:off x="243510" y="2105561"/>
            <a:ext cx="30727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고객 맞춤형 추천 결과를 저장하고</a:t>
            </a:r>
            <a:r>
              <a:rPr lang="en-US" altLang="ko-KR" sz="1000"/>
              <a:t>,</a:t>
            </a:r>
            <a:r>
              <a:rPr lang="ko-KR" altLang="en-US" sz="1000"/>
              <a:t xml:space="preserve"> 추천 성과를 분석하며</a:t>
            </a:r>
            <a:r>
              <a:rPr lang="en-US" altLang="ko-KR" sz="1000"/>
              <a:t>,</a:t>
            </a:r>
            <a:r>
              <a:rPr lang="ko-KR" altLang="en-US" sz="1000"/>
              <a:t xml:space="preserve"> </a:t>
            </a:r>
            <a:r>
              <a:rPr lang="en-US" altLang="ko-KR" sz="1000"/>
              <a:t xml:space="preserve">AI </a:t>
            </a:r>
            <a:r>
              <a:rPr lang="ko-KR" altLang="en-US" sz="1000"/>
              <a:t>모델 학습 데이터를 생성하는 것</a:t>
            </a:r>
            <a:endParaRPr lang="en-KR" sz="10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371D2C8-9A66-5D40-B336-F188568F4238}"/>
              </a:ext>
            </a:extLst>
          </p:cNvPr>
          <p:cNvGraphicFramePr>
            <a:graphicFrameLocks noGrp="1"/>
          </p:cNvGraphicFramePr>
          <p:nvPr/>
        </p:nvGraphicFramePr>
        <p:xfrm>
          <a:off x="4864608" y="2008025"/>
          <a:ext cx="3260618" cy="1981200"/>
        </p:xfrm>
        <a:graphic>
          <a:graphicData uri="http://schemas.openxmlformats.org/drawingml/2006/table">
            <a:tbl>
              <a:tblPr/>
              <a:tblGrid>
                <a:gridCol w="1214564">
                  <a:extLst>
                    <a:ext uri="{9D8B030D-6E8A-4147-A177-3AD203B41FA5}">
                      <a16:colId xmlns:a16="http://schemas.microsoft.com/office/drawing/2014/main" val="3413583673"/>
                    </a:ext>
                  </a:extLst>
                </a:gridCol>
                <a:gridCol w="2046054">
                  <a:extLst>
                    <a:ext uri="{9D8B030D-6E8A-4147-A177-3AD203B41FA5}">
                      <a16:colId xmlns:a16="http://schemas.microsoft.com/office/drawing/2014/main" val="38191503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977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이력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고객별 추천 결과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979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성과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 xml:space="preserve">클릭률 </a:t>
                      </a:r>
                      <a:r>
                        <a:rPr lang="en-US" altLang="ko-KR" sz="1000"/>
                        <a:t xml:space="preserve">/ </a:t>
                      </a:r>
                      <a:r>
                        <a:rPr lang="ko-KR" altLang="en-US" sz="1000"/>
                        <a:t>구매율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023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AI </a:t>
                      </a:r>
                      <a:r>
                        <a:rPr lang="ko-KR" altLang="en-US" sz="1000"/>
                        <a:t>학습 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 xml:space="preserve">추천 모델 학습용 </a:t>
                      </a:r>
                      <a:r>
                        <a:rPr lang="en-US" sz="1000"/>
                        <a:t xml:space="preserve">Label </a:t>
                      </a:r>
                      <a:r>
                        <a:rPr lang="ko-KR" altLang="en-US" sz="1000"/>
                        <a:t>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1921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캠페인 최적화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효과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0943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교차판매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</a:t>
                      </a:r>
                      <a:r>
                        <a:rPr lang="en-US" altLang="ko-KR" sz="1000"/>
                        <a:t>·</a:t>
                      </a:r>
                      <a:r>
                        <a:rPr lang="ko-KR" altLang="en-US" sz="1000"/>
                        <a:t>보험</a:t>
                      </a:r>
                      <a:r>
                        <a:rPr lang="en-US" altLang="ko-KR" sz="1000"/>
                        <a:t>·</a:t>
                      </a:r>
                      <a:r>
                        <a:rPr lang="ko-KR" altLang="en-US" sz="1000"/>
                        <a:t>헬스 연계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7923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실시간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 행동 기반 재추천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6805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대시보드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현황 시각화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857244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333A37B-2E3E-3948-A8AF-52A994D0ACB5}"/>
              </a:ext>
            </a:extLst>
          </p:cNvPr>
          <p:cNvSpPr txBox="1"/>
          <p:nvPr/>
        </p:nvSpPr>
        <p:spPr>
          <a:xfrm>
            <a:off x="4814084" y="4266221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Action_code</a:t>
            </a:r>
            <a:r>
              <a:rPr lang="ko-KR" altLang="en-US" sz="1200" b="1"/>
              <a:t xml:space="preserve"> 유형</a:t>
            </a:r>
            <a:endParaRPr lang="en-US" altLang="ko-KR" sz="1000" b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5197871-4A92-624E-9307-CDF9F286D665}"/>
              </a:ext>
            </a:extLst>
          </p:cNvPr>
          <p:cNvGraphicFramePr>
            <a:graphicFrameLocks noGrp="1"/>
          </p:cNvGraphicFramePr>
          <p:nvPr/>
        </p:nvGraphicFramePr>
        <p:xfrm>
          <a:off x="4864608" y="4671854"/>
          <a:ext cx="3260618" cy="1981200"/>
        </p:xfrm>
        <a:graphic>
          <a:graphicData uri="http://schemas.openxmlformats.org/drawingml/2006/table">
            <a:tbl>
              <a:tblPr/>
              <a:tblGrid>
                <a:gridCol w="2154797">
                  <a:extLst>
                    <a:ext uri="{9D8B030D-6E8A-4147-A177-3AD203B41FA5}">
                      <a16:colId xmlns:a16="http://schemas.microsoft.com/office/drawing/2014/main" val="228834120"/>
                    </a:ext>
                  </a:extLst>
                </a:gridCol>
                <a:gridCol w="1105821">
                  <a:extLst>
                    <a:ext uri="{9D8B030D-6E8A-4147-A177-3AD203B41FA5}">
                      <a16:colId xmlns:a16="http://schemas.microsoft.com/office/drawing/2014/main" val="1872596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523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RECOMMEND_PB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PB </a:t>
                      </a:r>
                      <a:r>
                        <a:rPr lang="ko-KR" altLang="en-US" sz="1000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696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RECOMMEND_SAVING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예적금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367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RECOMMEND_INVEST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6884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39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5143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7123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RECOMMEND_WELLNESS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웰니스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744158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BD67ABC-0F14-114C-89CC-8AC65F48604E}"/>
              </a:ext>
            </a:extLst>
          </p:cNvPr>
          <p:cNvGraphicFramePr>
            <a:graphicFrameLocks noGrp="1"/>
          </p:cNvGraphicFramePr>
          <p:nvPr/>
        </p:nvGraphicFramePr>
        <p:xfrm>
          <a:off x="8665466" y="2008025"/>
          <a:ext cx="3260618" cy="1737360"/>
        </p:xfrm>
        <a:graphic>
          <a:graphicData uri="http://schemas.openxmlformats.org/drawingml/2006/table">
            <a:tbl>
              <a:tblPr/>
              <a:tblGrid>
                <a:gridCol w="1630309">
                  <a:extLst>
                    <a:ext uri="{9D8B030D-6E8A-4147-A177-3AD203B41FA5}">
                      <a16:colId xmlns:a16="http://schemas.microsoft.com/office/drawing/2014/main" val="1655955341"/>
                    </a:ext>
                  </a:extLst>
                </a:gridCol>
                <a:gridCol w="1630309">
                  <a:extLst>
                    <a:ext uri="{9D8B030D-6E8A-4147-A177-3AD203B41FA5}">
                      <a16:colId xmlns:a16="http://schemas.microsoft.com/office/drawing/2014/main" val="3726423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146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성과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CTR/CVR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76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AI </a:t>
                      </a:r>
                      <a:r>
                        <a:rPr lang="ko-KR" altLang="en-US" sz="1000"/>
                        <a:t>학습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Label </a:t>
                      </a:r>
                      <a:r>
                        <a:rPr lang="ko-KR" altLang="en-US" sz="1000"/>
                        <a:t>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42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반응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158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마케팅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캠페인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743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대시보드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실시간 시각화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173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재추천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행동 기반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705898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5DD5E5B-91A2-F247-842A-668FA5F85673}"/>
              </a:ext>
            </a:extLst>
          </p:cNvPr>
          <p:cNvSpPr txBox="1"/>
          <p:nvPr/>
        </p:nvSpPr>
        <p:spPr>
          <a:xfrm>
            <a:off x="8619891" y="1604355"/>
            <a:ext cx="21217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 xml:space="preserve">추천 이력 활용 영역 </a:t>
            </a:r>
            <a:endParaRPr lang="en-US" altLang="ko-KR" sz="1200" b="1"/>
          </a:p>
        </p:txBody>
      </p:sp>
    </p:spTree>
    <p:extLst>
      <p:ext uri="{BB962C8B-B14F-4D97-AF65-F5344CB8AC3E}">
        <p14:creationId xmlns:p14="http://schemas.microsoft.com/office/powerpoint/2010/main" val="388190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11/11)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customer_dashboard_log</a:t>
            </a:r>
            <a:r>
              <a:rPr lang="ko-KR" altLang="en-US" b="1" dirty="0"/>
              <a:t>는 고객의 화면 행동을 저장하는 테이블</a:t>
            </a:r>
            <a:endParaRPr lang="en-KR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8" y="1602445"/>
            <a:ext cx="37310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클릭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 xml:space="preserve">구매 로그 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Customer_dashboard_log</a:t>
            </a:r>
            <a:r>
              <a:rPr lang="en-US" altLang="ko-KR" sz="1200" b="1" dirty="0"/>
              <a:t xml:space="preserve">) </a:t>
            </a:r>
            <a:r>
              <a:rPr lang="ko-KR" altLang="en-US" sz="1200" b="1" dirty="0"/>
              <a:t>생성</a:t>
            </a:r>
            <a:endParaRPr lang="en-US" altLang="ko-KR" sz="10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 dirty="0" err="1"/>
              <a:t>customer_recommend_history</a:t>
            </a:r>
            <a:endParaRPr lang="en-US" sz="1000" dirty="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추천 노출 로그 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 dirty="0" err="1"/>
              <a:t>clicked_flag</a:t>
            </a:r>
            <a:r>
              <a:rPr lang="en-US" sz="1000" dirty="0"/>
              <a:t xml:space="preserve">='Y' </a:t>
            </a:r>
            <a:r>
              <a:rPr lang="ko-KR" altLang="en-US" sz="1000" dirty="0"/>
              <a:t>기준 상품 클릭 로그 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 dirty="0" err="1"/>
              <a:t>purchased_flag</a:t>
            </a:r>
            <a:r>
              <a:rPr lang="en-US" sz="1000" dirty="0"/>
              <a:t xml:space="preserve">='Y' </a:t>
            </a:r>
            <a:r>
              <a:rPr lang="ko-KR" altLang="en-US" sz="1000" dirty="0"/>
              <a:t>기준 구매 관심 로그 생성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등급별 캠페인 배너 클릭 로그 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 dirty="0" err="1"/>
              <a:t>customer_dashboard_log</a:t>
            </a:r>
            <a:r>
              <a:rPr lang="en-US" sz="1000" dirty="0"/>
              <a:t xml:space="preserve"> </a:t>
            </a:r>
            <a:r>
              <a:rPr lang="ko-KR" altLang="en-US" sz="1000" dirty="0"/>
              <a:t>적재</a:t>
            </a:r>
            <a:endParaRPr lang="en-KR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 err="1"/>
              <a:t>Customer_dashboard_log</a:t>
            </a:r>
            <a:r>
              <a:rPr lang="en-US" altLang="ko-KR" sz="1200" b="1" dirty="0"/>
              <a:t xml:space="preserve"> </a:t>
            </a:r>
            <a:r>
              <a:rPr lang="ko-KR" altLang="en-US" sz="1200" b="1" dirty="0"/>
              <a:t xml:space="preserve">생성 방식  </a:t>
            </a:r>
            <a:endParaRPr lang="en-US" altLang="ko-KR" sz="1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761584-20D5-0542-A322-99354B1AA421}"/>
              </a:ext>
            </a:extLst>
          </p:cNvPr>
          <p:cNvSpPr txBox="1"/>
          <p:nvPr/>
        </p:nvSpPr>
        <p:spPr>
          <a:xfrm>
            <a:off x="6446850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클릭</a:t>
            </a:r>
            <a:r>
              <a:rPr lang="en-US" altLang="ko-KR" sz="1200" b="1"/>
              <a:t>/</a:t>
            </a:r>
            <a:r>
              <a:rPr lang="ko-KR" altLang="en-US" sz="1200" b="1"/>
              <a:t xml:space="preserve">구매 로그 생성 기준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F86EB4-68C5-C244-B4DA-A6893F09E8C1}"/>
              </a:ext>
            </a:extLst>
          </p:cNvPr>
          <p:cNvGraphicFramePr>
            <a:graphicFrameLocks noGrp="1"/>
          </p:cNvGraphicFramePr>
          <p:nvPr/>
        </p:nvGraphicFramePr>
        <p:xfrm>
          <a:off x="355543" y="5165299"/>
          <a:ext cx="3124200" cy="1493520"/>
        </p:xfrm>
        <a:graphic>
          <a:graphicData uri="http://schemas.openxmlformats.org/drawingml/2006/table">
            <a:tbl>
              <a:tblPr/>
              <a:tblGrid>
                <a:gridCol w="1562100">
                  <a:extLst>
                    <a:ext uri="{9D8B030D-6E8A-4147-A177-3AD203B41FA5}">
                      <a16:colId xmlns:a16="http://schemas.microsoft.com/office/drawing/2014/main" val="3708112483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282445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318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메인 대시보드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0151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상세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980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 리포트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346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FINANCE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 리포트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3186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CAMPAIGN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캠페인 배너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36877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A133AC2-76AF-1A4F-A622-D984BF049DFD}"/>
              </a:ext>
            </a:extLst>
          </p:cNvPr>
          <p:cNvSpPr txBox="1"/>
          <p:nvPr/>
        </p:nvSpPr>
        <p:spPr>
          <a:xfrm>
            <a:off x="243509" y="4146790"/>
            <a:ext cx="326061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1) 추천 이력이 있는 고객 기준 로그 생성</a:t>
            </a:r>
          </a:p>
          <a:p>
            <a:r>
              <a:rPr lang="en-KR" sz="1000"/>
              <a:t>2) 일부는 banner_click='Y'</a:t>
            </a:r>
          </a:p>
          <a:p>
            <a:r>
              <a:rPr lang="en-KR" sz="1000"/>
              <a:t>3) 일부는 product_click='Y'</a:t>
            </a:r>
          </a:p>
          <a:p>
            <a:r>
              <a:rPr lang="en-KR" sz="1000"/>
              <a:t>4) product_click='Y'이면 click_product_id 입력</a:t>
            </a:r>
          </a:p>
          <a:p>
            <a:r>
              <a:rPr lang="en-KR" sz="1000"/>
              <a:t>5) session_id는 고객별/시간별로 생성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3B6D28-E214-4549-8AFA-E8C66576B45C}"/>
              </a:ext>
            </a:extLst>
          </p:cNvPr>
          <p:cNvSpPr txBox="1"/>
          <p:nvPr/>
        </p:nvSpPr>
        <p:spPr>
          <a:xfrm>
            <a:off x="6446849" y="5039636"/>
            <a:ext cx="538960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MAIN</a:t>
            </a:r>
            <a:r>
              <a:rPr lang="ko-KR" altLang="en-US" sz="1000"/>
              <a:t xml:space="preserve"> 조회 로그 </a:t>
            </a:r>
            <a:r>
              <a:rPr lang="en-US" altLang="ko-KR" sz="1000"/>
              <a:t>–</a:t>
            </a:r>
            <a:r>
              <a:rPr lang="ko-KR" altLang="en-US" sz="1000"/>
              <a:t xml:space="preserve"> 추천 이력이 발생하면</a:t>
            </a:r>
            <a:r>
              <a:rPr lang="en-US" altLang="ko-KR" sz="1000"/>
              <a:t>,</a:t>
            </a:r>
            <a:r>
              <a:rPr lang="ko-KR" altLang="en-US" sz="1000"/>
              <a:t xml:space="preserve"> 고객이 메인 대시보드에서 추천을 본것으로 가정 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 xml:space="preserve">상품 클릭 로그 </a:t>
            </a:r>
            <a:r>
              <a:rPr lang="en-US" altLang="ko-KR" sz="1000"/>
              <a:t>–</a:t>
            </a:r>
            <a:r>
              <a:rPr lang="ko-KR" altLang="en-US" sz="1000"/>
              <a:t xml:space="preserve"> </a:t>
            </a:r>
            <a:r>
              <a:rPr lang="en-US" altLang="ko-KR" sz="1000"/>
              <a:t xml:space="preserve">clicked_flag = ‘Y’ </a:t>
            </a:r>
            <a:r>
              <a:rPr lang="ko-KR" altLang="en-US" sz="1000"/>
              <a:t xml:space="preserve">인 추천이력은 상품 상세 페이지 클릭으로 변환 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구매</a:t>
            </a:r>
            <a:r>
              <a:rPr lang="en-US" altLang="ko-KR" sz="1000"/>
              <a:t>/</a:t>
            </a:r>
            <a:r>
              <a:rPr lang="ko-KR" altLang="en-US" sz="1000"/>
              <a:t xml:space="preserve">가입 관심 로그 </a:t>
            </a:r>
            <a:r>
              <a:rPr lang="en-US" altLang="ko-KR" sz="1000"/>
              <a:t>–</a:t>
            </a:r>
            <a:r>
              <a:rPr lang="ko-KR" altLang="en-US" sz="1000"/>
              <a:t xml:space="preserve"> </a:t>
            </a:r>
            <a:r>
              <a:rPr lang="en-US" altLang="ko-KR" sz="1000"/>
              <a:t>purchased_flag = ‘Y’</a:t>
            </a:r>
            <a:r>
              <a:rPr lang="ko-KR" altLang="en-US" sz="1000"/>
              <a:t xml:space="preserve">는 </a:t>
            </a:r>
            <a:r>
              <a:rPr lang="en-US" altLang="ko-KR" sz="1000"/>
              <a:t>page_type=’PURCHASE’</a:t>
            </a:r>
            <a:r>
              <a:rPr lang="ko-KR" altLang="en-US" sz="1000"/>
              <a:t xml:space="preserve">로 저장 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 xml:space="preserve">캠페인 배너 클릭 로그 </a:t>
            </a:r>
            <a:r>
              <a:rPr lang="en-US" altLang="ko-KR" sz="1000"/>
              <a:t>–</a:t>
            </a:r>
            <a:r>
              <a:rPr lang="ko-KR" altLang="en-US" sz="1000"/>
              <a:t xml:space="preserve"> 고객 등급과 캠페인 등급을 매칭해 일부 고객이 배너를 클릭한 것으로 생성 </a:t>
            </a:r>
            <a:endParaRPr lang="en-KR" sz="1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22B1CA-BB64-3E43-8A85-247C9A3E2F28}"/>
              </a:ext>
            </a:extLst>
          </p:cNvPr>
          <p:cNvSpPr txBox="1"/>
          <p:nvPr/>
        </p:nvSpPr>
        <p:spPr>
          <a:xfrm>
            <a:off x="6446850" y="4577677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클릭</a:t>
            </a:r>
            <a:r>
              <a:rPr lang="en-US" altLang="ko-KR" sz="1200" b="1"/>
              <a:t>/</a:t>
            </a:r>
            <a:r>
              <a:rPr lang="ko-KR" altLang="en-US" sz="1200" b="1"/>
              <a:t xml:space="preserve">구매 로그 유형 </a:t>
            </a:r>
            <a:endParaRPr lang="en-US" altLang="ko-KR" sz="1000" b="1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1269974-074C-4841-BBAE-AFA0C7C67CD7}"/>
              </a:ext>
            </a:extLst>
          </p:cNvPr>
          <p:cNvGraphicFramePr>
            <a:graphicFrameLocks noGrp="1"/>
          </p:cNvGraphicFramePr>
          <p:nvPr/>
        </p:nvGraphicFramePr>
        <p:xfrm>
          <a:off x="6547104" y="2064404"/>
          <a:ext cx="4876800" cy="1219200"/>
        </p:xfrm>
        <a:graphic>
          <a:graphicData uri="http://schemas.openxmlformats.org/drawingml/2006/table">
            <a:tbl>
              <a:tblPr/>
              <a:tblGrid>
                <a:gridCol w="1625600">
                  <a:extLst>
                    <a:ext uri="{9D8B030D-6E8A-4147-A177-3AD203B41FA5}">
                      <a16:colId xmlns:a16="http://schemas.microsoft.com/office/drawing/2014/main" val="1999997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8586079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92987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로그 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생성 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예상 건수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045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MAIN </a:t>
                      </a:r>
                      <a:r>
                        <a:rPr lang="ko-KR" altLang="en-US" sz="1000"/>
                        <a:t>조회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추천 노출 고객 전체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 xml:space="preserve">약 </a:t>
                      </a:r>
                      <a:r>
                        <a:rPr lang="en-US" altLang="ko-KR" sz="1000"/>
                        <a:t>100</a:t>
                      </a:r>
                      <a:r>
                        <a:rPr lang="ko-KR" altLang="en-US" sz="1000"/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276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PRODUCT </a:t>
                      </a:r>
                      <a:r>
                        <a:rPr lang="ko-KR" altLang="en-US" sz="1000"/>
                        <a:t>클릭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/>
                        <a:t>clicked_flag = 'Y'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 xml:space="preserve">약 </a:t>
                      </a:r>
                      <a:r>
                        <a:rPr lang="en-US" altLang="ko-KR" sz="1000"/>
                        <a:t>15</a:t>
                      </a:r>
                      <a:r>
                        <a:rPr lang="ko-KR" altLang="en-US" sz="1000"/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2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PURCHASE </a:t>
                      </a:r>
                      <a:r>
                        <a:rPr lang="ko-KR" altLang="en-US" sz="1000"/>
                        <a:t>관심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/>
                        <a:t>purchased_flag = 'Y'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 xml:space="preserve">약 </a:t>
                      </a:r>
                      <a:r>
                        <a:rPr lang="en-US" altLang="ko-KR" sz="1000"/>
                        <a:t>2~3</a:t>
                      </a:r>
                      <a:r>
                        <a:rPr lang="ko-KR" altLang="en-US" sz="1000"/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5367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 xml:space="preserve">CAMPAIGN </a:t>
                      </a:r>
                      <a:r>
                        <a:rPr lang="ko-KR" altLang="en-US" sz="1000"/>
                        <a:t>배너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일부 추천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 xml:space="preserve">약 </a:t>
                      </a:r>
                      <a:r>
                        <a:rPr lang="en-US" altLang="ko-KR" sz="1000"/>
                        <a:t>10~20</a:t>
                      </a:r>
                      <a:r>
                        <a:rPr lang="ko-KR" altLang="en-US" sz="1000"/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41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0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 -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예시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603083-BD48-7F47-8379-1CF1DC380AE1}"/>
              </a:ext>
            </a:extLst>
          </p:cNvPr>
          <p:cNvSpPr txBox="1"/>
          <p:nvPr/>
        </p:nvSpPr>
        <p:spPr>
          <a:xfrm>
            <a:off x="353729" y="1408767"/>
            <a:ext cx="60976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최종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 xml:space="preserve"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종합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 xml:space="preserve"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점수를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 xml:space="preserve"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통해서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 xml:space="preserve"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제공할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 xml:space="preserve"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수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 xml:space="preserve"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있는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 xml:space="preserve"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 xml:space="preserve">서비스 </a:t>
            </a:r>
            <a:r>
              <a:rPr lang="en-US" altLang="ko-KR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–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 xml:space="preserve"> </a:t>
            </a:r>
            <a:r>
              <a:rPr lang="en-US" altLang="ko-KR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Client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 xml:space="preserve"> 마다 </a:t>
            </a:r>
            <a:r>
              <a:rPr lang="en-US" altLang="ko-KR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Main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 xml:space="preserve"> 화면이 달라짐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 </a:t>
            </a:r>
            <a:endParaRPr lang="ko-KR" altLang="en-US" sz="1200">
              <a:effectLst/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31B84-0123-9244-88CB-9A127DB93A80}"/>
              </a:ext>
            </a:extLst>
          </p:cNvPr>
          <p:cNvSpPr txBox="1"/>
          <p:nvPr/>
        </p:nvSpPr>
        <p:spPr>
          <a:xfrm>
            <a:off x="353729" y="2587039"/>
            <a:ext cx="22198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1.</a:t>
            </a:r>
            <a:r>
              <a:rPr lang="ko-KR" altLang="en-US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 xml:space="preserve"> 개인 맞춤 추천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5BE117-380A-794C-AA09-B155E29A599C}"/>
              </a:ext>
            </a:extLst>
          </p:cNvPr>
          <p:cNvSpPr txBox="1"/>
          <p:nvPr/>
        </p:nvSpPr>
        <p:spPr>
          <a:xfrm>
            <a:off x="353729" y="4521608"/>
            <a:ext cx="30380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2</a:t>
            </a:r>
            <a:r>
              <a:rPr lang="en-US" altLang="ko-KR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lang="ko-KR" altLang="en-US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 xml:space="preserve"> 금융 상품 추천 </a:t>
            </a:r>
          </a:p>
        </p:txBody>
      </p:sp>
      <p:sp>
        <p:nvSpPr>
          <p:cNvPr id="12" name="Chevron 11">
            <a:extLst>
              <a:ext uri="{FF2B5EF4-FFF2-40B4-BE49-F238E27FC236}">
                <a16:creationId xmlns:a16="http://schemas.microsoft.com/office/drawing/2014/main" id="{8CC9BAE5-9B12-6C42-95E9-59E17E24A8DA}"/>
              </a:ext>
            </a:extLst>
          </p:cNvPr>
          <p:cNvSpPr/>
          <p:nvPr/>
        </p:nvSpPr>
        <p:spPr>
          <a:xfrm>
            <a:off x="2215848" y="5282311"/>
            <a:ext cx="357704" cy="53414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B7C5FA-37AC-3D47-9E27-6254AC5572D2}"/>
              </a:ext>
            </a:extLst>
          </p:cNvPr>
          <p:cNvSpPr txBox="1"/>
          <p:nvPr/>
        </p:nvSpPr>
        <p:spPr>
          <a:xfrm>
            <a:off x="6451333" y="2594800"/>
            <a:ext cx="2224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3.</a:t>
            </a:r>
            <a:r>
              <a:rPr lang="ko-KR" altLang="en-US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 xml:space="preserve"> 건강관리 서비스</a:t>
            </a:r>
          </a:p>
        </p:txBody>
      </p:sp>
      <p:sp>
        <p:nvSpPr>
          <p:cNvPr id="16" name="Chevron 15">
            <a:extLst>
              <a:ext uri="{FF2B5EF4-FFF2-40B4-BE49-F238E27FC236}">
                <a16:creationId xmlns:a16="http://schemas.microsoft.com/office/drawing/2014/main" id="{7052F4F5-AF16-0642-9361-9EC03B86F0C7}"/>
              </a:ext>
            </a:extLst>
          </p:cNvPr>
          <p:cNvSpPr/>
          <p:nvPr/>
        </p:nvSpPr>
        <p:spPr>
          <a:xfrm>
            <a:off x="8318109" y="3068402"/>
            <a:ext cx="357704" cy="53414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4DFF22-3763-D042-BC5D-4CC07F1E3106}"/>
              </a:ext>
            </a:extLst>
          </p:cNvPr>
          <p:cNvSpPr txBox="1"/>
          <p:nvPr/>
        </p:nvSpPr>
        <p:spPr>
          <a:xfrm>
            <a:off x="6433170" y="4587303"/>
            <a:ext cx="2331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4.</a:t>
            </a:r>
            <a:r>
              <a:rPr lang="ko-KR" altLang="en-US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 xml:space="preserve"> </a:t>
            </a:r>
            <a:r>
              <a:rPr lang="en-US" altLang="ko-KR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VIP</a:t>
            </a:r>
            <a:r>
              <a:rPr lang="ko-KR" altLang="en-US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 xml:space="preserve"> 고객 자동 선별</a:t>
            </a:r>
          </a:p>
        </p:txBody>
      </p:sp>
      <p:sp>
        <p:nvSpPr>
          <p:cNvPr id="20" name="Chevron 19">
            <a:extLst>
              <a:ext uri="{FF2B5EF4-FFF2-40B4-BE49-F238E27FC236}">
                <a16:creationId xmlns:a16="http://schemas.microsoft.com/office/drawing/2014/main" id="{27E99B91-3DD4-6740-88D6-2ED6ADE9AFE5}"/>
              </a:ext>
            </a:extLst>
          </p:cNvPr>
          <p:cNvSpPr/>
          <p:nvPr/>
        </p:nvSpPr>
        <p:spPr>
          <a:xfrm>
            <a:off x="8345070" y="5282311"/>
            <a:ext cx="357704" cy="53414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928FEE4-B155-E241-AEDD-8FB712969050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709516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775368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조회 정보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970897E1-9237-7548-9003-EC044F64DD0D}"/>
              </a:ext>
            </a:extLst>
          </p:cNvPr>
          <p:cNvSpPr txBox="1"/>
          <p:nvPr/>
        </p:nvSpPr>
        <p:spPr>
          <a:xfrm>
            <a:off x="243509" y="707150"/>
            <a:ext cx="8520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 xml:space="preserve">GCP </a:t>
            </a:r>
            <a:r>
              <a:rPr lang="ko-KR" altLang="en-US" b="1"/>
              <a:t xml:space="preserve">예측 결과를 </a:t>
            </a:r>
            <a:r>
              <a:rPr lang="en-US" b="1"/>
              <a:t>DynamoDB</a:t>
            </a:r>
            <a:r>
              <a:rPr lang="ko-KR" altLang="en-US" b="1"/>
              <a:t xml:space="preserve">에 저장한 뒤 </a:t>
            </a:r>
            <a:r>
              <a:rPr lang="en-US" b="1"/>
              <a:t>Aurora DB</a:t>
            </a:r>
            <a:r>
              <a:rPr lang="ko-KR" altLang="en-US" b="1"/>
              <a:t>에서 고객 등급별 상품</a:t>
            </a:r>
            <a:r>
              <a:rPr lang="en-US" altLang="ko-KR" b="1"/>
              <a:t>·</a:t>
            </a:r>
            <a:r>
              <a:rPr lang="ko-KR" altLang="en-US" b="1"/>
              <a:t>서비스를 조회하여 개인화 추천 데이터를 생성</a:t>
            </a:r>
            <a:endParaRPr lang="en-KR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018D5E-3B42-9042-BA9B-65486E27235C}"/>
              </a:ext>
            </a:extLst>
          </p:cNvPr>
          <p:cNvSpPr txBox="1"/>
          <p:nvPr/>
        </p:nvSpPr>
        <p:spPr>
          <a:xfrm>
            <a:off x="10211691" y="1574589"/>
            <a:ext cx="18455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GCP AI </a:t>
            </a:r>
            <a:r>
              <a:rPr lang="ko-KR" altLang="en-US" sz="1000"/>
              <a:t>예측 결과 수신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DynamoDB </a:t>
            </a:r>
            <a:r>
              <a:rPr lang="ko-KR" altLang="en-US" sz="1000"/>
              <a:t>저장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Aurora </a:t>
            </a:r>
            <a:r>
              <a:rPr lang="ko-KR" altLang="en-US" sz="1000"/>
              <a:t>상품</a:t>
            </a:r>
            <a:r>
              <a:rPr lang="en-US" altLang="ko-KR" sz="1000"/>
              <a:t>/</a:t>
            </a:r>
            <a:r>
              <a:rPr lang="ko-KR" altLang="en-US" sz="1000"/>
              <a:t>서비스 조회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Redis </a:t>
            </a:r>
            <a:r>
              <a:rPr lang="ko-KR" altLang="en-US" sz="1000"/>
              <a:t>캐시 생성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ECS Main Dashboard </a:t>
            </a:r>
            <a:r>
              <a:rPr lang="ko-KR" altLang="en-US" sz="1000"/>
              <a:t>제공</a:t>
            </a:r>
            <a:endParaRPr lang="en-KR" sz="1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66FC6D-C4E9-E14F-AF01-CE4251137050}"/>
              </a:ext>
            </a:extLst>
          </p:cNvPr>
          <p:cNvSpPr txBox="1"/>
          <p:nvPr/>
        </p:nvSpPr>
        <p:spPr>
          <a:xfrm>
            <a:off x="361223" y="2993210"/>
            <a:ext cx="20334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dynamic_score</a:t>
            </a:r>
          </a:p>
          <a:p>
            <a:r>
              <a:rPr lang="en-KR" sz="1000"/>
              <a:t>signup_prob</a:t>
            </a:r>
          </a:p>
          <a:p>
            <a:r>
              <a:rPr lang="en-KR" sz="1000"/>
              <a:t>rec_prob</a:t>
            </a:r>
          </a:p>
          <a:p>
            <a:r>
              <a:rPr lang="en-KR" sz="1000"/>
              <a:t>행동점수</a:t>
            </a:r>
          </a:p>
        </p:txBody>
      </p:sp>
      <p:sp>
        <p:nvSpPr>
          <p:cNvPr id="26" name="Chevron 25">
            <a:extLst>
              <a:ext uri="{FF2B5EF4-FFF2-40B4-BE49-F238E27FC236}">
                <a16:creationId xmlns:a16="http://schemas.microsoft.com/office/drawing/2014/main" id="{D819CBD6-2B74-2F40-80A3-B2AF39FA5B5B}"/>
              </a:ext>
            </a:extLst>
          </p:cNvPr>
          <p:cNvSpPr/>
          <p:nvPr/>
        </p:nvSpPr>
        <p:spPr>
          <a:xfrm>
            <a:off x="2215848" y="3082014"/>
            <a:ext cx="357704" cy="53414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507B42-D023-924F-B3D8-614C37B19438}"/>
              </a:ext>
            </a:extLst>
          </p:cNvPr>
          <p:cNvSpPr txBox="1"/>
          <p:nvPr/>
        </p:nvSpPr>
        <p:spPr>
          <a:xfrm>
            <a:off x="3027621" y="3082014"/>
            <a:ext cx="192715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자산관리 상담 추천 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카드 리워드 추천 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투자 입문 추천</a:t>
            </a:r>
            <a:endParaRPr lang="en-KR" sz="1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A0A77E-F615-724E-AD01-65B36BBCEB35}"/>
              </a:ext>
            </a:extLst>
          </p:cNvPr>
          <p:cNvSpPr txBox="1"/>
          <p:nvPr/>
        </p:nvSpPr>
        <p:spPr>
          <a:xfrm>
            <a:off x="361223" y="5041553"/>
            <a:ext cx="13718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예금</a:t>
            </a:r>
          </a:p>
          <a:p>
            <a:r>
              <a:rPr lang="en-KR" sz="1000"/>
              <a:t>카드</a:t>
            </a:r>
          </a:p>
          <a:p>
            <a:r>
              <a:rPr lang="en-KR" sz="1000"/>
              <a:t>ETF</a:t>
            </a:r>
          </a:p>
          <a:p>
            <a:r>
              <a:rPr lang="en-KR" sz="1000"/>
              <a:t>보험</a:t>
            </a:r>
          </a:p>
          <a:p>
            <a:r>
              <a:rPr lang="en-KR" sz="1000"/>
              <a:t>대출</a:t>
            </a:r>
          </a:p>
          <a:p>
            <a:r>
              <a:rPr lang="en-KR" sz="1000"/>
              <a:t>연금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085FF4-17AD-2949-AF9E-D2DEA290389D}"/>
              </a:ext>
            </a:extLst>
          </p:cNvPr>
          <p:cNvSpPr txBox="1"/>
          <p:nvPr/>
        </p:nvSpPr>
        <p:spPr>
          <a:xfrm>
            <a:off x="361223" y="6150850"/>
            <a:ext cx="25388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/>
              <a:t xml:space="preserve">Aurora DB </a:t>
            </a:r>
            <a:r>
              <a:rPr lang="ko-KR" altLang="en-US" sz="1000" b="1"/>
              <a:t xml:space="preserve">상품 </a:t>
            </a:r>
            <a:r>
              <a:rPr lang="en-US" sz="1000" b="1"/>
              <a:t xml:space="preserve">Master </a:t>
            </a:r>
            <a:r>
              <a:rPr lang="ko-KR" altLang="en-US" sz="1000" b="1"/>
              <a:t>조회</a:t>
            </a:r>
            <a:endParaRPr lang="en-KR" sz="1000" b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CE1D7B-7DF6-A44F-8981-979CE9976CB0}"/>
              </a:ext>
            </a:extLst>
          </p:cNvPr>
          <p:cNvSpPr txBox="1"/>
          <p:nvPr/>
        </p:nvSpPr>
        <p:spPr>
          <a:xfrm>
            <a:off x="1787478" y="4988247"/>
            <a:ext cx="12401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고객 등급별 추천</a:t>
            </a:r>
            <a:r>
              <a:rPr lang="en-US" altLang="ko-KR" sz="1000"/>
              <a:t>.</a:t>
            </a:r>
            <a:endParaRPr lang="en-KR" sz="10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E509EC-2393-0B40-BAB1-C9E79DEDFB94}"/>
              </a:ext>
            </a:extLst>
          </p:cNvPr>
          <p:cNvSpPr txBox="1"/>
          <p:nvPr/>
        </p:nvSpPr>
        <p:spPr>
          <a:xfrm>
            <a:off x="3027621" y="5282311"/>
            <a:ext cx="23599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VIP → PB 예금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GOLD → ETF 포트폴리오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BASIC → 생활 할인 카드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C5285E-094A-BE4F-BF3D-1A4F0F751F9C}"/>
              </a:ext>
            </a:extLst>
          </p:cNvPr>
          <p:cNvSpPr txBox="1"/>
          <p:nvPr/>
        </p:nvSpPr>
        <p:spPr>
          <a:xfrm>
            <a:off x="361223" y="3771033"/>
            <a:ext cx="8001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/>
              <a:t xml:space="preserve">AI </a:t>
            </a:r>
            <a:r>
              <a:rPr lang="ko-KR" altLang="en-US" sz="1000" b="1"/>
              <a:t>점수</a:t>
            </a:r>
            <a:endParaRPr lang="en-KR" sz="1000" b="1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FEB6A8-83AF-1C4C-B718-FCBF0A1B1314}"/>
              </a:ext>
            </a:extLst>
          </p:cNvPr>
          <p:cNvSpPr txBox="1"/>
          <p:nvPr/>
        </p:nvSpPr>
        <p:spPr>
          <a:xfrm>
            <a:off x="1733107" y="2751382"/>
            <a:ext cx="14912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고객별 맞춤 액션 추천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957168-D6A3-7D45-A22A-E760DDBA042F}"/>
              </a:ext>
            </a:extLst>
          </p:cNvPr>
          <p:cNvSpPr txBox="1"/>
          <p:nvPr/>
        </p:nvSpPr>
        <p:spPr>
          <a:xfrm>
            <a:off x="6518895" y="3092940"/>
            <a:ext cx="14767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health_score</a:t>
            </a:r>
          </a:p>
          <a:p>
            <a:r>
              <a:rPr lang="en-KR" sz="1000"/>
              <a:t>health_prediction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946517-0915-7A4E-8F93-A7881BC222E0}"/>
              </a:ext>
            </a:extLst>
          </p:cNvPr>
          <p:cNvSpPr txBox="1"/>
          <p:nvPr/>
        </p:nvSpPr>
        <p:spPr>
          <a:xfrm>
            <a:off x="6490800" y="3771033"/>
            <a:ext cx="19058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/>
              <a:t xml:space="preserve">Health Score </a:t>
            </a:r>
            <a:r>
              <a:rPr lang="ko-KR" altLang="en-US" sz="1000" b="1"/>
              <a:t>기반</a:t>
            </a:r>
            <a:endParaRPr lang="en-KR" sz="1000" b="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CA71E0-FF92-004F-8714-2370DD79559A}"/>
              </a:ext>
            </a:extLst>
          </p:cNvPr>
          <p:cNvSpPr txBox="1"/>
          <p:nvPr/>
        </p:nvSpPr>
        <p:spPr>
          <a:xfrm>
            <a:off x="9206211" y="3015996"/>
            <a:ext cx="16719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종합 건강검진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식단 코칭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운동 프로그램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스트레스 케어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0C0807B-B351-1F44-B56D-29986037832B}"/>
              </a:ext>
            </a:extLst>
          </p:cNvPr>
          <p:cNvSpPr txBox="1"/>
          <p:nvPr/>
        </p:nvSpPr>
        <p:spPr>
          <a:xfrm>
            <a:off x="6518895" y="5188686"/>
            <a:ext cx="16719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vip_prob</a:t>
            </a:r>
          </a:p>
          <a:p>
            <a:r>
              <a:rPr lang="en-KR" sz="1000"/>
              <a:t>dynamic_score</a:t>
            </a:r>
          </a:p>
          <a:p>
            <a:r>
              <a:rPr lang="en-KR" sz="1000"/>
              <a:t>grade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10837C-02D6-E245-9B80-839051CDDAB4}"/>
              </a:ext>
            </a:extLst>
          </p:cNvPr>
          <p:cNvSpPr txBox="1"/>
          <p:nvPr/>
        </p:nvSpPr>
        <p:spPr>
          <a:xfrm>
            <a:off x="6518895" y="5996961"/>
            <a:ext cx="12004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>예측값</a:t>
            </a:r>
            <a:endParaRPr lang="en-KR" sz="1000" b="1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D39143-EE56-A44E-804A-44066D97EE88}"/>
              </a:ext>
            </a:extLst>
          </p:cNvPr>
          <p:cNvSpPr txBox="1"/>
          <p:nvPr/>
        </p:nvSpPr>
        <p:spPr>
          <a:xfrm>
            <a:off x="7563573" y="4988246"/>
            <a:ext cx="20950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 xml:space="preserve">VIP / GOLD / BASIC </a:t>
            </a:r>
            <a:r>
              <a:rPr lang="ko-KR" altLang="en-US" sz="1000"/>
              <a:t>자동 분류</a:t>
            </a:r>
            <a:endParaRPr lang="en-KR" sz="10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1FCADF-1F0B-2E4C-8063-DE2418EBC76D}"/>
              </a:ext>
            </a:extLst>
          </p:cNvPr>
          <p:cNvSpPr txBox="1"/>
          <p:nvPr/>
        </p:nvSpPr>
        <p:spPr>
          <a:xfrm>
            <a:off x="9206211" y="5279994"/>
            <a:ext cx="1755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 xml:space="preserve">PB </a:t>
            </a:r>
            <a:r>
              <a:rPr lang="ko-KR" altLang="en-US" sz="1000"/>
              <a:t xml:space="preserve">센터 연결 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 xml:space="preserve">전담 매니저 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프리미엄 상품 노출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16926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20" grpId="0" animBg="1"/>
      <p:bldP spid="26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 xml:space="preserve"> 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추천 이력 정보 저장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928FEE4-B155-E241-AEDD-8FB712969050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709516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775368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조회 정보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970897E1-9237-7548-9003-EC044F64DD0D}"/>
              </a:ext>
            </a:extLst>
          </p:cNvPr>
          <p:cNvSpPr txBox="1"/>
          <p:nvPr/>
        </p:nvSpPr>
        <p:spPr>
          <a:xfrm>
            <a:off x="243509" y="707150"/>
            <a:ext cx="9261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 xml:space="preserve">GCP </a:t>
            </a:r>
            <a:r>
              <a:rPr lang="ko-KR" altLang="en-US" b="1"/>
              <a:t xml:space="preserve">예측 결과를 </a:t>
            </a:r>
            <a:r>
              <a:rPr lang="en-US" b="1"/>
              <a:t>DynamoDB</a:t>
            </a:r>
            <a:r>
              <a:rPr lang="ko-KR" altLang="en-US" b="1"/>
              <a:t xml:space="preserve">에 저장한 뒤 </a:t>
            </a:r>
            <a:r>
              <a:rPr lang="en-US" b="1"/>
              <a:t>Aurora DB</a:t>
            </a:r>
            <a:r>
              <a:rPr lang="ko-KR" altLang="en-US" b="1"/>
              <a:t>에서 고객 등급별 상품</a:t>
            </a:r>
            <a:r>
              <a:rPr lang="en-US" altLang="ko-KR" b="1"/>
              <a:t>·</a:t>
            </a:r>
            <a:r>
              <a:rPr lang="ko-KR" altLang="en-US" b="1"/>
              <a:t>서비스를 조회하여 개인화 추천 데이터를 생성하고</a:t>
            </a:r>
            <a:r>
              <a:rPr lang="en-US" altLang="ko-KR" b="1"/>
              <a:t xml:space="preserve">, </a:t>
            </a:r>
            <a:r>
              <a:rPr lang="ko-KR" altLang="en-US" b="1"/>
              <a:t xml:space="preserve">이를 </a:t>
            </a:r>
            <a:r>
              <a:rPr lang="en-US" b="1"/>
              <a:t>ElastiCache(Redis)</a:t>
            </a:r>
            <a:r>
              <a:rPr lang="ko-KR" altLang="en-US" b="1"/>
              <a:t xml:space="preserve">에 캐시하는 구조 </a:t>
            </a:r>
            <a:endParaRPr lang="en-KR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018D5E-3B42-9042-BA9B-65486E27235C}"/>
              </a:ext>
            </a:extLst>
          </p:cNvPr>
          <p:cNvSpPr txBox="1"/>
          <p:nvPr/>
        </p:nvSpPr>
        <p:spPr>
          <a:xfrm>
            <a:off x="10211691" y="1574589"/>
            <a:ext cx="18455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GCP AI </a:t>
            </a:r>
            <a:r>
              <a:rPr lang="ko-KR" altLang="en-US" sz="1000"/>
              <a:t>예측 결과 수신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DynamoDB </a:t>
            </a:r>
            <a:r>
              <a:rPr lang="ko-KR" altLang="en-US" sz="1000"/>
              <a:t>저장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Aurora </a:t>
            </a:r>
            <a:r>
              <a:rPr lang="ko-KR" altLang="en-US" sz="1000"/>
              <a:t>상품</a:t>
            </a:r>
            <a:r>
              <a:rPr lang="en-US" altLang="ko-KR" sz="1000"/>
              <a:t>/</a:t>
            </a:r>
            <a:r>
              <a:rPr lang="ko-KR" altLang="en-US" sz="1000"/>
              <a:t>서비스 조회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Redis </a:t>
            </a:r>
            <a:r>
              <a:rPr lang="ko-KR" altLang="en-US" sz="1000"/>
              <a:t>캐시 생성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ECS Main Dashboard </a:t>
            </a:r>
            <a:r>
              <a:rPr lang="ko-KR" altLang="en-US" sz="1000"/>
              <a:t>제공</a:t>
            </a:r>
            <a:endParaRPr lang="en-KR" sz="10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1C3786-CB21-7949-9E09-DB1CC396469A}"/>
              </a:ext>
            </a:extLst>
          </p:cNvPr>
          <p:cNvSpPr txBox="1"/>
          <p:nvPr/>
        </p:nvSpPr>
        <p:spPr>
          <a:xfrm>
            <a:off x="243509" y="1370233"/>
            <a:ext cx="326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 xml:space="preserve">Redis – </a:t>
            </a:r>
            <a:r>
              <a:rPr lang="ko-KR" altLang="en-US" sz="1200" b="1"/>
              <a:t>메인 페이지</a:t>
            </a:r>
            <a:r>
              <a:rPr lang="en-US" altLang="ko-KR" sz="1200" b="1"/>
              <a:t xml:space="preserve">, </a:t>
            </a:r>
            <a:r>
              <a:rPr lang="ko-KR" altLang="en-US" sz="1200" b="1"/>
              <a:t>응답 추천 캐시</a:t>
            </a:r>
            <a:endParaRPr lang="en-US" altLang="ko-KR" sz="1200" b="1"/>
          </a:p>
          <a:p>
            <a:r>
              <a:rPr lang="en-US" altLang="ko-KR" sz="1200" b="1"/>
              <a:t xml:space="preserve">(ECS Main </a:t>
            </a:r>
            <a:r>
              <a:rPr lang="ko-KR" altLang="en-US" sz="1200" b="1"/>
              <a:t xml:space="preserve">페이지 </a:t>
            </a:r>
            <a:r>
              <a:rPr lang="en-US" altLang="ko-KR" sz="1200" b="1"/>
              <a:t>0.01</a:t>
            </a:r>
            <a:r>
              <a:rPr lang="ko-KR" altLang="en-US" sz="1200" b="1"/>
              <a:t>초 응답</a:t>
            </a:r>
            <a:r>
              <a:rPr lang="en-US" altLang="ko-KR" sz="1200" b="1"/>
              <a:t xml:space="preserve">) </a:t>
            </a:r>
            <a:endParaRPr lang="en-US" altLang="ko-KR" sz="1000" b="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57B571-9611-6142-990E-F1114938829F}"/>
              </a:ext>
            </a:extLst>
          </p:cNvPr>
          <p:cNvSpPr txBox="1"/>
          <p:nvPr/>
        </p:nvSpPr>
        <p:spPr>
          <a:xfrm>
            <a:off x="359564" y="1949576"/>
            <a:ext cx="3144563" cy="46628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dirty="0"/>
              <a:t>{</a:t>
            </a:r>
            <a:br>
              <a:rPr lang="en-US" sz="1100" dirty="0"/>
            </a:br>
            <a:r>
              <a:rPr lang="en-US" sz="1100" dirty="0"/>
              <a:t>  "customer": "G001",</a:t>
            </a:r>
            <a:br>
              <a:rPr lang="en-US" sz="1100" dirty="0"/>
            </a:br>
            <a:r>
              <a:rPr lang="en-US" sz="1100" dirty="0"/>
              <a:t>  "grade": "VIP",</a:t>
            </a:r>
            <a:br>
              <a:rPr lang="en-US" sz="1100" dirty="0"/>
            </a:br>
            <a:r>
              <a:rPr lang="en-US" sz="1100" dirty="0"/>
              <a:t>  "score": 92.4,</a:t>
            </a:r>
            <a:br>
              <a:rPr lang="en-US" sz="1100" dirty="0"/>
            </a:br>
            <a:r>
              <a:rPr lang="en-US" sz="1100" dirty="0"/>
              <a:t>  "recommendations": [</a:t>
            </a:r>
            <a:br>
              <a:rPr lang="en-US" sz="1100" dirty="0"/>
            </a:br>
            <a:r>
              <a:rPr lang="en-US" sz="1100" dirty="0"/>
              <a:t>    {</a:t>
            </a:r>
            <a:br>
              <a:rPr lang="en-US" sz="1100" dirty="0"/>
            </a:br>
            <a:r>
              <a:rPr lang="en-US" sz="1100" dirty="0"/>
              <a:t>      "company": "</a:t>
            </a:r>
            <a:r>
              <a:rPr lang="en-US" sz="1100" dirty="0" err="1"/>
              <a:t>LifeSync</a:t>
            </a:r>
            <a:r>
              <a:rPr lang="en-US" sz="1100" dirty="0"/>
              <a:t xml:space="preserve"> Bank",</a:t>
            </a:r>
            <a:br>
              <a:rPr lang="en-US" sz="1100" dirty="0"/>
            </a:br>
            <a:r>
              <a:rPr lang="en-US" sz="1100" dirty="0"/>
              <a:t xml:space="preserve">      "product": "PB </a:t>
            </a:r>
            <a:r>
              <a:rPr lang="ko-KR" altLang="en-US" sz="1100" dirty="0"/>
              <a:t xml:space="preserve">프리미엄 정기예금 </a:t>
            </a:r>
            <a:r>
              <a:rPr lang="en-US" sz="1100" dirty="0"/>
              <a:t xml:space="preserve">VIP </a:t>
            </a:r>
            <a:r>
              <a:rPr lang="ko-KR" altLang="en-US" sz="1100" dirty="0"/>
              <a:t>전용</a:t>
            </a:r>
            <a:r>
              <a:rPr lang="en-US" altLang="ko-KR" sz="1100" dirty="0"/>
              <a:t>"</a:t>
            </a:r>
            <a:br>
              <a:rPr lang="en-US" altLang="ko-KR" sz="1100" dirty="0"/>
            </a:br>
            <a:r>
              <a:rPr lang="en-US" altLang="ko-KR" sz="1100" dirty="0"/>
              <a:t>    },</a:t>
            </a:r>
            <a:br>
              <a:rPr lang="en-US" altLang="ko-KR" sz="1100" dirty="0"/>
            </a:br>
            <a:r>
              <a:rPr lang="en-US" altLang="ko-KR" sz="1100" dirty="0"/>
              <a:t>    {</a:t>
            </a:r>
            <a:br>
              <a:rPr lang="en-US" altLang="ko-KR" sz="1100" dirty="0"/>
            </a:br>
            <a:r>
              <a:rPr lang="en-US" altLang="ko-KR" sz="1100" dirty="0"/>
              <a:t>      "</a:t>
            </a:r>
            <a:r>
              <a:rPr lang="en-US" sz="1100" dirty="0"/>
              <a:t>company": "</a:t>
            </a:r>
            <a:r>
              <a:rPr lang="en-US" sz="1100" dirty="0" err="1"/>
              <a:t>LifeSync</a:t>
            </a:r>
            <a:r>
              <a:rPr lang="en-US" sz="1100" dirty="0"/>
              <a:t xml:space="preserve"> Card",</a:t>
            </a:r>
            <a:br>
              <a:rPr lang="en-US" sz="1100" dirty="0"/>
            </a:br>
            <a:r>
              <a:rPr lang="en-US" sz="1100" dirty="0"/>
              <a:t xml:space="preserve">      "product": "VIP Infinite Card VIP </a:t>
            </a:r>
            <a:r>
              <a:rPr lang="ko-KR" altLang="en-US" sz="1100" dirty="0"/>
              <a:t>전용</a:t>
            </a:r>
            <a:r>
              <a:rPr lang="en-US" altLang="ko-KR" sz="1100" dirty="0"/>
              <a:t>"</a:t>
            </a:r>
            <a:br>
              <a:rPr lang="en-US" altLang="ko-KR" sz="1100" dirty="0"/>
            </a:br>
            <a:r>
              <a:rPr lang="en-US" altLang="ko-KR" sz="1100" dirty="0"/>
              <a:t>    },</a:t>
            </a:r>
            <a:br>
              <a:rPr lang="en-US" altLang="ko-KR" sz="1100" dirty="0"/>
            </a:br>
            <a:r>
              <a:rPr lang="en-US" altLang="ko-KR" sz="1100" dirty="0"/>
              <a:t>    {</a:t>
            </a:r>
            <a:br>
              <a:rPr lang="en-US" altLang="ko-KR" sz="1100" dirty="0"/>
            </a:br>
            <a:r>
              <a:rPr lang="en-US" altLang="ko-KR" sz="1100" dirty="0"/>
              <a:t>      "</a:t>
            </a:r>
            <a:r>
              <a:rPr lang="en-US" sz="1100" dirty="0"/>
              <a:t>company": "</a:t>
            </a:r>
            <a:r>
              <a:rPr lang="en-US" sz="1100" dirty="0" err="1"/>
              <a:t>LifeSync</a:t>
            </a:r>
            <a:r>
              <a:rPr lang="en-US" sz="1100" dirty="0"/>
              <a:t xml:space="preserve"> Healthcare",</a:t>
            </a:r>
            <a:br>
              <a:rPr lang="en-US" sz="1100" dirty="0"/>
            </a:br>
            <a:r>
              <a:rPr lang="en-US" sz="1100" dirty="0"/>
              <a:t xml:space="preserve">      "product": "VIP </a:t>
            </a:r>
            <a:r>
              <a:rPr lang="ko-KR" altLang="en-US" sz="1100" dirty="0" err="1"/>
              <a:t>라이프케어</a:t>
            </a:r>
            <a:r>
              <a:rPr lang="ko-KR" altLang="en-US" sz="1100" dirty="0"/>
              <a:t xml:space="preserve"> </a:t>
            </a:r>
            <a:r>
              <a:rPr lang="en-US" sz="1100" dirty="0"/>
              <a:t xml:space="preserve">VIP </a:t>
            </a:r>
            <a:r>
              <a:rPr lang="ko-KR" altLang="en-US" sz="1100" dirty="0"/>
              <a:t>전용</a:t>
            </a:r>
            <a:r>
              <a:rPr lang="en-US" altLang="ko-KR" sz="1100" dirty="0"/>
              <a:t>"</a:t>
            </a:r>
            <a:br>
              <a:rPr lang="en-US" altLang="ko-KR" sz="1100" dirty="0"/>
            </a:br>
            <a:r>
              <a:rPr lang="en-US" altLang="ko-KR" sz="1100" dirty="0"/>
              <a:t>    },</a:t>
            </a:r>
            <a:br>
              <a:rPr lang="en-US" altLang="ko-KR" sz="1100" dirty="0"/>
            </a:br>
            <a:r>
              <a:rPr lang="en-US" altLang="ko-KR" sz="1100" dirty="0"/>
              <a:t>    {</a:t>
            </a:r>
            <a:br>
              <a:rPr lang="en-US" altLang="ko-KR" sz="1100" dirty="0"/>
            </a:br>
            <a:r>
              <a:rPr lang="en-US" altLang="ko-KR" sz="1100" dirty="0"/>
              <a:t>      "</a:t>
            </a:r>
            <a:r>
              <a:rPr lang="en-US" sz="1100" dirty="0"/>
              <a:t>company": "</a:t>
            </a:r>
            <a:r>
              <a:rPr lang="en-US" sz="1100" dirty="0" err="1"/>
              <a:t>LifeSync</a:t>
            </a:r>
            <a:r>
              <a:rPr lang="en-US" sz="1100" dirty="0"/>
              <a:t xml:space="preserve"> Insurance",</a:t>
            </a:r>
            <a:br>
              <a:rPr lang="en-US" sz="1100" dirty="0"/>
            </a:br>
            <a:r>
              <a:rPr lang="en-US" sz="1100" dirty="0"/>
              <a:t>      "product": "</a:t>
            </a:r>
            <a:r>
              <a:rPr lang="ko-KR" altLang="en-US" sz="1100" dirty="0"/>
              <a:t xml:space="preserve">입원비 보장 보험 </a:t>
            </a:r>
            <a:r>
              <a:rPr lang="en-US" sz="1100" dirty="0"/>
              <a:t xml:space="preserve">VIP </a:t>
            </a:r>
            <a:r>
              <a:rPr lang="ko-KR" altLang="en-US" sz="1100" dirty="0"/>
              <a:t>전용</a:t>
            </a:r>
            <a:r>
              <a:rPr lang="en-US" altLang="ko-KR" sz="1100" dirty="0"/>
              <a:t>"</a:t>
            </a:r>
            <a:br>
              <a:rPr lang="en-US" altLang="ko-KR" sz="1100" dirty="0"/>
            </a:br>
            <a:r>
              <a:rPr lang="en-US" altLang="ko-KR" sz="1100" dirty="0"/>
              <a:t>    },</a:t>
            </a:r>
            <a:br>
              <a:rPr lang="en-US" altLang="ko-KR" sz="1100" dirty="0"/>
            </a:br>
            <a:r>
              <a:rPr lang="en-US" altLang="ko-KR" sz="1100" dirty="0"/>
              <a:t>    {</a:t>
            </a:r>
            <a:br>
              <a:rPr lang="en-US" altLang="ko-KR" sz="1100" dirty="0"/>
            </a:br>
            <a:r>
              <a:rPr lang="en-US" altLang="ko-KR" sz="1100" dirty="0"/>
              <a:t>      "</a:t>
            </a:r>
            <a:r>
              <a:rPr lang="en-US" sz="1100" dirty="0"/>
              <a:t>company": "</a:t>
            </a:r>
            <a:r>
              <a:rPr lang="en-US" sz="1100" dirty="0" err="1"/>
              <a:t>LifeSync</a:t>
            </a:r>
            <a:r>
              <a:rPr lang="en-US" sz="1100" dirty="0"/>
              <a:t xml:space="preserve"> Securities",</a:t>
            </a:r>
            <a:br>
              <a:rPr lang="en-US" sz="1100" dirty="0"/>
            </a:br>
            <a:r>
              <a:rPr lang="en-US" sz="1100" dirty="0"/>
              <a:t>      "product": "</a:t>
            </a:r>
            <a:r>
              <a:rPr lang="ko-KR" altLang="en-US" sz="1100" dirty="0" err="1"/>
              <a:t>로보어드바이저</a:t>
            </a:r>
            <a:r>
              <a:rPr lang="ko-KR" altLang="en-US" sz="1100" dirty="0"/>
              <a:t xml:space="preserve"> 랩 </a:t>
            </a:r>
            <a:r>
              <a:rPr lang="en-US" sz="1100" dirty="0"/>
              <a:t xml:space="preserve">VIP </a:t>
            </a:r>
            <a:r>
              <a:rPr lang="ko-KR" altLang="en-US" sz="1100" dirty="0"/>
              <a:t>전용</a:t>
            </a:r>
            <a:r>
              <a:rPr lang="en-US" altLang="ko-KR" sz="1100" dirty="0"/>
              <a:t>"</a:t>
            </a:r>
            <a:br>
              <a:rPr lang="en-US" altLang="ko-KR" sz="1100" dirty="0"/>
            </a:br>
            <a:r>
              <a:rPr lang="en-US" altLang="ko-KR" sz="1100" dirty="0"/>
              <a:t>    }</a:t>
            </a:r>
            <a:br>
              <a:rPr lang="en-US" altLang="ko-KR" sz="1100" dirty="0"/>
            </a:br>
            <a:r>
              <a:rPr lang="en-US" altLang="ko-KR" sz="1100" dirty="0"/>
              <a:t>  ]</a:t>
            </a:r>
            <a:br>
              <a:rPr lang="en-US" altLang="ko-KR" sz="1100" dirty="0"/>
            </a:br>
            <a:r>
              <a:rPr lang="en-US" altLang="ko-KR" sz="1100" dirty="0"/>
              <a:t xml:space="preserve">} </a:t>
            </a:r>
            <a:endParaRPr lang="en-KR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572CA6-339A-014A-B2FE-4EA47CACC36A}"/>
              </a:ext>
            </a:extLst>
          </p:cNvPr>
          <p:cNvSpPr txBox="1"/>
          <p:nvPr/>
        </p:nvSpPr>
        <p:spPr>
          <a:xfrm>
            <a:off x="4356139" y="2629805"/>
            <a:ext cx="54006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 xml:space="preserve">Aurora – </a:t>
            </a:r>
            <a:r>
              <a:rPr lang="ko-KR" altLang="en-US" sz="1200" b="1" dirty="0"/>
              <a:t xml:space="preserve">고객 추천 이력 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customer_recommend_history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 xml:space="preserve"> </a:t>
            </a:r>
            <a:endParaRPr lang="en-US" altLang="ko-KR" sz="10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9A939B-DA1F-B44F-BEAB-4CD5F863A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828341"/>
              </p:ext>
            </p:extLst>
          </p:nvPr>
        </p:nvGraphicFramePr>
        <p:xfrm>
          <a:off x="3805083" y="3081564"/>
          <a:ext cx="8386920" cy="3078480"/>
        </p:xfrm>
        <a:graphic>
          <a:graphicData uri="http://schemas.openxmlformats.org/drawingml/2006/table">
            <a:tbl>
              <a:tblPr/>
              <a:tblGrid>
                <a:gridCol w="747252">
                  <a:extLst>
                    <a:ext uri="{9D8B030D-6E8A-4147-A177-3AD203B41FA5}">
                      <a16:colId xmlns:a16="http://schemas.microsoft.com/office/drawing/2014/main" val="2852235636"/>
                    </a:ext>
                  </a:extLst>
                </a:gridCol>
                <a:gridCol w="930132">
                  <a:extLst>
                    <a:ext uri="{9D8B030D-6E8A-4147-A177-3AD203B41FA5}">
                      <a16:colId xmlns:a16="http://schemas.microsoft.com/office/drawing/2014/main" val="3472787428"/>
                    </a:ext>
                  </a:extLst>
                </a:gridCol>
                <a:gridCol w="838692">
                  <a:extLst>
                    <a:ext uri="{9D8B030D-6E8A-4147-A177-3AD203B41FA5}">
                      <a16:colId xmlns:a16="http://schemas.microsoft.com/office/drawing/2014/main" val="2255740578"/>
                    </a:ext>
                  </a:extLst>
                </a:gridCol>
                <a:gridCol w="838692">
                  <a:extLst>
                    <a:ext uri="{9D8B030D-6E8A-4147-A177-3AD203B41FA5}">
                      <a16:colId xmlns:a16="http://schemas.microsoft.com/office/drawing/2014/main" val="1483331482"/>
                    </a:ext>
                  </a:extLst>
                </a:gridCol>
                <a:gridCol w="838692">
                  <a:extLst>
                    <a:ext uri="{9D8B030D-6E8A-4147-A177-3AD203B41FA5}">
                      <a16:colId xmlns:a16="http://schemas.microsoft.com/office/drawing/2014/main" val="787582519"/>
                    </a:ext>
                  </a:extLst>
                </a:gridCol>
                <a:gridCol w="838692">
                  <a:extLst>
                    <a:ext uri="{9D8B030D-6E8A-4147-A177-3AD203B41FA5}">
                      <a16:colId xmlns:a16="http://schemas.microsoft.com/office/drawing/2014/main" val="3931763747"/>
                    </a:ext>
                  </a:extLst>
                </a:gridCol>
                <a:gridCol w="838692">
                  <a:extLst>
                    <a:ext uri="{9D8B030D-6E8A-4147-A177-3AD203B41FA5}">
                      <a16:colId xmlns:a16="http://schemas.microsoft.com/office/drawing/2014/main" val="1460164279"/>
                    </a:ext>
                  </a:extLst>
                </a:gridCol>
                <a:gridCol w="838692">
                  <a:extLst>
                    <a:ext uri="{9D8B030D-6E8A-4147-A177-3AD203B41FA5}">
                      <a16:colId xmlns:a16="http://schemas.microsoft.com/office/drawing/2014/main" val="2971015898"/>
                    </a:ext>
                  </a:extLst>
                </a:gridCol>
                <a:gridCol w="838692">
                  <a:extLst>
                    <a:ext uri="{9D8B030D-6E8A-4147-A177-3AD203B41FA5}">
                      <a16:colId xmlns:a16="http://schemas.microsoft.com/office/drawing/2014/main" val="2866338676"/>
                    </a:ext>
                  </a:extLst>
                </a:gridCol>
                <a:gridCol w="838692">
                  <a:extLst>
                    <a:ext uri="{9D8B030D-6E8A-4147-A177-3AD203B41FA5}">
                      <a16:colId xmlns:a16="http://schemas.microsoft.com/office/drawing/2014/main" val="21351252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hist_id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global_id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dynamic_grade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dynamic_score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recommended_at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clicked_flag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purchased_flag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402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RECOMMEND_PB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2026-04-27 13:31:00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8450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2100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RECOMMEND_CARD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2026-04-27 13:31:00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957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8100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RECOMMEND_HEALTH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2026-04-27 13:31:00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6171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6200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RECOMMEND_INSURANCE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2026-04-27 13:31:00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987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RECOMMEND_WM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2026-04-27 13:31:00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1601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854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메인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대시보드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2837F3-037D-914E-8BE2-1D8C84432038}"/>
              </a:ext>
            </a:extLst>
          </p:cNvPr>
          <p:cNvSpPr txBox="1"/>
          <p:nvPr/>
        </p:nvSpPr>
        <p:spPr>
          <a:xfrm>
            <a:off x="9530385" y="3679308"/>
            <a:ext cx="256129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Life Score 87</a:t>
            </a:r>
          </a:p>
          <a:p>
            <a:endParaRPr lang="en-KR" sz="1000"/>
          </a:p>
          <a:p>
            <a:r>
              <a:rPr lang="en-KR" sz="1000"/>
              <a:t>VIP 후보입니다</a:t>
            </a:r>
          </a:p>
          <a:p>
            <a:r>
              <a:rPr lang="en-KR" sz="1000"/>
              <a:t>ETF 추천드립니다</a:t>
            </a:r>
          </a:p>
          <a:p>
            <a:r>
              <a:rPr lang="en-KR" sz="1000"/>
              <a:t>건강검진 예약하시겠어요?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2EC4D-008A-0647-A6E9-7F214A70F7A9}"/>
              </a:ext>
            </a:extLst>
          </p:cNvPr>
          <p:cNvSpPr txBox="1"/>
          <p:nvPr/>
        </p:nvSpPr>
        <p:spPr>
          <a:xfrm>
            <a:off x="9572404" y="5859276"/>
            <a:ext cx="256129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김철수님,</a:t>
            </a:r>
          </a:p>
          <a:p>
            <a:r>
              <a:rPr lang="en-KR" sz="1000"/>
              <a:t>전담 PB 상담 대상입니다.</a:t>
            </a:r>
          </a:p>
          <a:p>
            <a:endParaRPr lang="en-KR" sz="1000"/>
          </a:p>
          <a:p>
            <a:r>
              <a:rPr lang="en-KR" sz="1000"/>
              <a:t>ETF 추천드립니다.</a:t>
            </a:r>
          </a:p>
          <a:p>
            <a:r>
              <a:rPr lang="en-KR" sz="1000"/>
              <a:t>건강검진 예약도 가능해요.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065D40-7A72-D542-8A9F-B59EDFD30C6A}"/>
              </a:ext>
            </a:extLst>
          </p:cNvPr>
          <p:cNvSpPr txBox="1"/>
          <p:nvPr/>
        </p:nvSpPr>
        <p:spPr>
          <a:xfrm>
            <a:off x="9530384" y="4895296"/>
            <a:ext cx="25612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건강 점수 82점 (Good)</a:t>
            </a:r>
          </a:p>
          <a:p>
            <a:r>
              <a:rPr lang="en-KR" sz="1000"/>
              <a:t>최근 스트레스 높음</a:t>
            </a:r>
          </a:p>
          <a:p>
            <a:r>
              <a:rPr lang="en-KR" sz="1000"/>
              <a:t>건강검진 예약하시겠어요?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88FBAE7-CFC0-E749-9661-FF69C0930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24687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호출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CBA5561-2752-7447-AEC6-A7146B7A002D}"/>
              </a:ext>
            </a:extLst>
          </p:cNvPr>
          <p:cNvSpPr txBox="1"/>
          <p:nvPr/>
        </p:nvSpPr>
        <p:spPr>
          <a:xfrm>
            <a:off x="6763005" y="3679308"/>
            <a:ext cx="2240318" cy="27084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1"/>
              <a:t xml:space="preserve">상단 </a:t>
            </a:r>
          </a:p>
          <a:p>
            <a:endParaRPr lang="en-US" sz="1000" b="1"/>
          </a:p>
          <a:p>
            <a:r>
              <a:rPr lang="ko-KR" altLang="en-US" sz="1000"/>
              <a:t xml:space="preserve">고객 등급 </a:t>
            </a:r>
            <a:r>
              <a:rPr lang="en-US" sz="1000"/>
              <a:t>VIP</a:t>
            </a:r>
          </a:p>
          <a:p>
            <a:r>
              <a:rPr lang="ko-KR" altLang="en-US" sz="1000"/>
              <a:t xml:space="preserve">점수 </a:t>
            </a:r>
            <a:r>
              <a:rPr lang="en-US" altLang="ko-KR" sz="1000"/>
              <a:t>92.4</a:t>
            </a:r>
            <a:endParaRPr lang="en-US" sz="1000"/>
          </a:p>
          <a:p>
            <a:endParaRPr lang="en-US" sz="1000"/>
          </a:p>
          <a:p>
            <a:endParaRPr lang="en-US" sz="1000"/>
          </a:p>
          <a:p>
            <a:endParaRPr lang="en-US" sz="1000"/>
          </a:p>
          <a:p>
            <a:r>
              <a:rPr lang="en-US" sz="1000" b="1"/>
              <a:t xml:space="preserve">중간 </a:t>
            </a:r>
          </a:p>
          <a:p>
            <a:endParaRPr lang="en-US" sz="1000"/>
          </a:p>
          <a:p>
            <a:r>
              <a:rPr lang="ko-KR" altLang="en-US" sz="1000"/>
              <a:t>이번달 맞춤 추천</a:t>
            </a:r>
            <a:endParaRPr lang="en-US" altLang="ko-KR" sz="1000"/>
          </a:p>
          <a:p>
            <a:endParaRPr lang="en-US" sz="1000"/>
          </a:p>
          <a:p>
            <a:endParaRPr lang="en-US" sz="1000"/>
          </a:p>
          <a:p>
            <a:r>
              <a:rPr lang="en-US" sz="1000" b="1"/>
              <a:t>하단</a:t>
            </a:r>
          </a:p>
          <a:p>
            <a:endParaRPr lang="en-US" sz="10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[</a:t>
            </a:r>
            <a:r>
              <a:rPr lang="ko-KR" altLang="en-US" sz="1000"/>
              <a:t>은행</a:t>
            </a:r>
            <a:r>
              <a:rPr lang="en-US" altLang="ko-KR" sz="1000"/>
              <a:t xml:space="preserve">] PB </a:t>
            </a:r>
            <a:r>
              <a:rPr lang="ko-KR" altLang="en-US" sz="1000"/>
              <a:t>프리미엄 정기예금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[</a:t>
            </a:r>
            <a:r>
              <a:rPr lang="ko-KR" altLang="en-US" sz="1000"/>
              <a:t>카드</a:t>
            </a:r>
            <a:r>
              <a:rPr lang="en-US" altLang="ko-KR" sz="1000"/>
              <a:t>] Black Signature Card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[</a:t>
            </a:r>
            <a:r>
              <a:rPr lang="ko-KR" altLang="en-US" sz="1000"/>
              <a:t>헬스케어</a:t>
            </a:r>
            <a:r>
              <a:rPr lang="en-US" altLang="ko-KR" sz="1000"/>
              <a:t xml:space="preserve">] VIP </a:t>
            </a:r>
            <a:r>
              <a:rPr lang="ko-KR" altLang="en-US" sz="1000"/>
              <a:t>종합 건강검진</a:t>
            </a:r>
            <a:endParaRPr lang="en-KR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A6238-B930-0148-A86F-CC0549965D1A}"/>
              </a:ext>
            </a:extLst>
          </p:cNvPr>
          <p:cNvSpPr txBox="1"/>
          <p:nvPr/>
        </p:nvSpPr>
        <p:spPr>
          <a:xfrm>
            <a:off x="3246738" y="3679308"/>
            <a:ext cx="2873364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/>
              <a:t>{</a:t>
            </a:r>
          </a:p>
          <a:p>
            <a:r>
              <a:rPr lang="en-US" sz="1000" b="1" dirty="0"/>
              <a:t xml:space="preserve"> "customer":"</a:t>
            </a:r>
            <a:r>
              <a:rPr lang="en-US" altLang="ko-KR" sz="1000" dirty="0"/>
              <a:t xml:space="preserve"> G000000001</a:t>
            </a:r>
            <a:r>
              <a:rPr lang="en-US" sz="1000" b="1" dirty="0"/>
              <a:t>",</a:t>
            </a:r>
          </a:p>
          <a:p>
            <a:r>
              <a:rPr lang="en-US" sz="1000" b="1" dirty="0"/>
              <a:t xml:space="preserve"> "</a:t>
            </a:r>
            <a:r>
              <a:rPr lang="en-US" sz="1000" b="1" dirty="0" err="1"/>
              <a:t>grade":"VIP</a:t>
            </a:r>
            <a:r>
              <a:rPr lang="en-US" sz="1000" b="1" dirty="0"/>
              <a:t>",</a:t>
            </a:r>
          </a:p>
          <a:p>
            <a:r>
              <a:rPr lang="en-US" sz="1000" b="1" dirty="0"/>
              <a:t xml:space="preserve"> "score":92.4,</a:t>
            </a:r>
          </a:p>
          <a:p>
            <a:r>
              <a:rPr lang="en-US" sz="1000" b="1" dirty="0"/>
              <a:t xml:space="preserve"> "recommendations":[</a:t>
            </a:r>
          </a:p>
          <a:p>
            <a:r>
              <a:rPr lang="en-US" sz="1000" b="1" dirty="0"/>
              <a:t xml:space="preserve">   {"company":"</a:t>
            </a:r>
            <a:r>
              <a:rPr lang="ko-KR" altLang="en-US" sz="1000" b="1" dirty="0"/>
              <a:t>은행</a:t>
            </a:r>
            <a:r>
              <a:rPr lang="en-US" altLang="ko-KR" sz="1000" b="1" dirty="0"/>
              <a:t>","</a:t>
            </a:r>
            <a:r>
              <a:rPr lang="en-US" sz="1000" b="1" dirty="0" err="1"/>
              <a:t>product":"PB</a:t>
            </a:r>
            <a:r>
              <a:rPr lang="en-US" sz="1000" b="1" dirty="0"/>
              <a:t xml:space="preserve"> </a:t>
            </a:r>
            <a:r>
              <a:rPr lang="ko-KR" altLang="en-US" sz="1000" b="1" dirty="0"/>
              <a:t>정기예금</a:t>
            </a:r>
            <a:r>
              <a:rPr lang="en-US" altLang="ko-KR" sz="1000" b="1" dirty="0"/>
              <a:t>"},</a:t>
            </a:r>
          </a:p>
          <a:p>
            <a:r>
              <a:rPr lang="en-US" altLang="ko-KR" sz="1000" b="1" dirty="0"/>
              <a:t xml:space="preserve">   {"</a:t>
            </a:r>
            <a:r>
              <a:rPr lang="en-US" sz="1000" b="1" dirty="0"/>
              <a:t>company":"</a:t>
            </a:r>
            <a:r>
              <a:rPr lang="ko-KR" altLang="en-US" sz="1000" b="1" dirty="0"/>
              <a:t>카드</a:t>
            </a:r>
            <a:r>
              <a:rPr lang="en-US" altLang="ko-KR" sz="1000" b="1" dirty="0"/>
              <a:t>","</a:t>
            </a:r>
            <a:r>
              <a:rPr lang="en-US" sz="1000" b="1" dirty="0" err="1"/>
              <a:t>product":"VIP</a:t>
            </a:r>
            <a:r>
              <a:rPr lang="en-US" sz="1000" b="1" dirty="0"/>
              <a:t xml:space="preserve"> </a:t>
            </a:r>
            <a:r>
              <a:rPr lang="ko-KR" altLang="en-US" sz="1000" b="1" dirty="0"/>
              <a:t>카드</a:t>
            </a:r>
            <a:r>
              <a:rPr lang="en-US" altLang="ko-KR" sz="1000" b="1" dirty="0"/>
              <a:t>"},</a:t>
            </a:r>
          </a:p>
          <a:p>
            <a:r>
              <a:rPr lang="en-US" altLang="ko-KR" sz="1000" b="1" dirty="0"/>
              <a:t xml:space="preserve">   {"</a:t>
            </a:r>
            <a:r>
              <a:rPr lang="en-US" sz="1000" b="1" dirty="0"/>
              <a:t>company":"</a:t>
            </a:r>
            <a:r>
              <a:rPr lang="ko-KR" altLang="en-US" sz="1000" b="1" dirty="0"/>
              <a:t>보험</a:t>
            </a:r>
            <a:r>
              <a:rPr lang="en-US" altLang="ko-KR" sz="1000" b="1" dirty="0"/>
              <a:t>","</a:t>
            </a:r>
            <a:r>
              <a:rPr lang="en-US" sz="1000" b="1" dirty="0"/>
              <a:t>product":"</a:t>
            </a:r>
            <a:r>
              <a:rPr lang="ko-KR" altLang="en-US" sz="1000" b="1" dirty="0"/>
              <a:t>프리미엄 건강보험</a:t>
            </a:r>
            <a:r>
              <a:rPr lang="en-US" altLang="ko-KR" sz="1000" b="1" dirty="0"/>
              <a:t>"}</a:t>
            </a:r>
          </a:p>
          <a:p>
            <a:r>
              <a:rPr lang="en-US" altLang="ko-KR" sz="1000" b="1" dirty="0"/>
              <a:t xml:space="preserve"> ]</a:t>
            </a:r>
          </a:p>
          <a:p>
            <a:r>
              <a:rPr lang="en-US" altLang="ko-KR" sz="1000" b="1" dirty="0"/>
              <a:t>}</a:t>
            </a:r>
            <a:endParaRPr lang="en-KR" sz="1000" dirty="0"/>
          </a:p>
        </p:txBody>
      </p:sp>
      <p:sp>
        <p:nvSpPr>
          <p:cNvPr id="11" name="Google Shape;274;g3d6e2211149_2_228">
            <a:extLst>
              <a:ext uri="{FF2B5EF4-FFF2-40B4-BE49-F238E27FC236}">
                <a16:creationId xmlns:a16="http://schemas.microsoft.com/office/drawing/2014/main" id="{E4442000-DA59-8D4F-A7B0-7FACB62FE0FB}"/>
              </a:ext>
            </a:extLst>
          </p:cNvPr>
          <p:cNvSpPr txBox="1"/>
          <p:nvPr/>
        </p:nvSpPr>
        <p:spPr>
          <a:xfrm>
            <a:off x="3246738" y="3212952"/>
            <a:ext cx="287336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Dashboard 화면 예시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8958B-432F-EE4F-AFCA-10E9B38F7B42}"/>
              </a:ext>
            </a:extLst>
          </p:cNvPr>
          <p:cNvSpPr txBox="1"/>
          <p:nvPr/>
        </p:nvSpPr>
        <p:spPr>
          <a:xfrm>
            <a:off x="367604" y="3679308"/>
            <a:ext cx="26108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사용자 앱</a:t>
            </a:r>
            <a:r>
              <a:rPr lang="en-US" altLang="ko-KR" sz="1000"/>
              <a:t>(</a:t>
            </a:r>
            <a:r>
              <a:rPr lang="ko-KR" altLang="en-US" sz="1000"/>
              <a:t>브라우저</a:t>
            </a:r>
            <a:r>
              <a:rPr lang="en-US" altLang="ko-KR" sz="1000"/>
              <a:t>)</a:t>
            </a:r>
            <a:r>
              <a:rPr lang="ko-KR" altLang="en-US" sz="1000"/>
              <a:t xml:space="preserve"> 접속</a:t>
            </a:r>
            <a:br>
              <a:rPr lang="ko-KR" altLang="en-US" sz="1000"/>
            </a:b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 xml:space="preserve">ECS -&gt; EC2 </a:t>
            </a:r>
            <a:r>
              <a:rPr lang="ko-KR" altLang="en-US" sz="1000"/>
              <a:t>앱 서비스</a:t>
            </a:r>
            <a:br>
              <a:rPr lang="en-US" sz="1000"/>
            </a:b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 xml:space="preserve">Redis </a:t>
            </a:r>
            <a:r>
              <a:rPr lang="ko-KR" altLang="en-US" sz="1000"/>
              <a:t xml:space="preserve">우선 조회 </a:t>
            </a:r>
            <a:r>
              <a:rPr lang="en-US" altLang="ko-KR" sz="1000"/>
              <a:t xml:space="preserve">-&gt; </a:t>
            </a:r>
            <a:r>
              <a:rPr lang="ko-KR" altLang="en-US" sz="1000"/>
              <a:t>즉시 응답</a:t>
            </a:r>
            <a:br>
              <a:rPr lang="ko-KR" altLang="en-US" sz="1000"/>
            </a:b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 xml:space="preserve">없으면 </a:t>
            </a:r>
            <a:r>
              <a:rPr lang="en-US" sz="1000"/>
              <a:t xml:space="preserve">Aurora + DynamoDB </a:t>
            </a:r>
            <a:r>
              <a:rPr lang="ko-KR" altLang="en-US" sz="1000"/>
              <a:t>조회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JSON</a:t>
            </a:r>
            <a:r>
              <a:rPr lang="ko-KR" altLang="en-US" sz="1000"/>
              <a:t xml:space="preserve"> 반환</a:t>
            </a:r>
            <a:br>
              <a:rPr lang="ko-KR" altLang="en-US" sz="1000"/>
            </a:b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캐시 저장</a:t>
            </a:r>
            <a:endParaRPr lang="en-KR" sz="1000"/>
          </a:p>
        </p:txBody>
      </p:sp>
      <p:sp>
        <p:nvSpPr>
          <p:cNvPr id="14" name="Google Shape;274;g3d6e2211149_2_228">
            <a:extLst>
              <a:ext uri="{FF2B5EF4-FFF2-40B4-BE49-F238E27FC236}">
                <a16:creationId xmlns:a16="http://schemas.microsoft.com/office/drawing/2014/main" id="{A86B5A9F-9B04-7444-9024-062B1FD97D28}"/>
              </a:ext>
            </a:extLst>
          </p:cNvPr>
          <p:cNvSpPr txBox="1"/>
          <p:nvPr/>
        </p:nvSpPr>
        <p:spPr>
          <a:xfrm>
            <a:off x="367604" y="3212952"/>
            <a:ext cx="287336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 xml:space="preserve">Dashboard 처리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274;g3d6e2211149_2_228">
            <a:extLst>
              <a:ext uri="{FF2B5EF4-FFF2-40B4-BE49-F238E27FC236}">
                <a16:creationId xmlns:a16="http://schemas.microsoft.com/office/drawing/2014/main" id="{B207D0BB-4A54-FB4B-8117-8690829EAED9}"/>
              </a:ext>
            </a:extLst>
          </p:cNvPr>
          <p:cNvSpPr txBox="1"/>
          <p:nvPr/>
        </p:nvSpPr>
        <p:spPr>
          <a:xfrm>
            <a:off x="9530384" y="3192558"/>
            <a:ext cx="287336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Dashboard 메시지 예시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74;g3d6e2211149_2_228">
            <a:extLst>
              <a:ext uri="{FF2B5EF4-FFF2-40B4-BE49-F238E27FC236}">
                <a16:creationId xmlns:a16="http://schemas.microsoft.com/office/drawing/2014/main" id="{DE211A17-A27B-4044-A0CB-CA1031F3E0C1}"/>
              </a:ext>
            </a:extLst>
          </p:cNvPr>
          <p:cNvSpPr txBox="1"/>
          <p:nvPr/>
        </p:nvSpPr>
        <p:spPr>
          <a:xfrm>
            <a:off x="6699040" y="3212952"/>
            <a:ext cx="2240318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Dashboard 화면 구성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243;g3d6e2211149_2_228">
            <a:extLst>
              <a:ext uri="{FF2B5EF4-FFF2-40B4-BE49-F238E27FC236}">
                <a16:creationId xmlns:a16="http://schemas.microsoft.com/office/drawing/2014/main" id="{DEE26160-C1BC-6D47-AC44-F43F358232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56" y="1189142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50;g3d6e2211149_2_228">
            <a:extLst>
              <a:ext uri="{FF2B5EF4-FFF2-40B4-BE49-F238E27FC236}">
                <a16:creationId xmlns:a16="http://schemas.microsoft.com/office/drawing/2014/main" id="{782929F3-B492-9641-B3F8-82B5EA8AA94B}"/>
              </a:ext>
            </a:extLst>
          </p:cNvPr>
          <p:cNvSpPr/>
          <p:nvPr/>
        </p:nvSpPr>
        <p:spPr>
          <a:xfrm>
            <a:off x="1385467" y="897750"/>
            <a:ext cx="6246105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19" name="Google Shape;251;g3d6e2211149_2_228" descr="VPC group icon. ">
            <a:extLst>
              <a:ext uri="{FF2B5EF4-FFF2-40B4-BE49-F238E27FC236}">
                <a16:creationId xmlns:a16="http://schemas.microsoft.com/office/drawing/2014/main" id="{57F80027-679F-6242-9088-92F82D6BB55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5469" y="89382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52;g3d6e2211149_2_228">
            <a:extLst>
              <a:ext uri="{FF2B5EF4-FFF2-40B4-BE49-F238E27FC236}">
                <a16:creationId xmlns:a16="http://schemas.microsoft.com/office/drawing/2014/main" id="{2FC82B84-689A-D843-AB6D-802AF23C08CB}"/>
              </a:ext>
            </a:extLst>
          </p:cNvPr>
          <p:cNvSpPr/>
          <p:nvPr/>
        </p:nvSpPr>
        <p:spPr>
          <a:xfrm>
            <a:off x="1503674" y="1392550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1" name="Google Shape;253;g3d6e2211149_2_228" descr="Public subnet group icon. ">
            <a:extLst>
              <a:ext uri="{FF2B5EF4-FFF2-40B4-BE49-F238E27FC236}">
                <a16:creationId xmlns:a16="http://schemas.microsoft.com/office/drawing/2014/main" id="{C3A045A9-9078-9F4B-A28D-25987315E71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02240" y="139090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FA5EFEFC-01A7-D843-A5D7-586B4BD09E7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9686" y="17191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55;g3d6e2211149_2_228">
            <a:extLst>
              <a:ext uri="{FF2B5EF4-FFF2-40B4-BE49-F238E27FC236}">
                <a16:creationId xmlns:a16="http://schemas.microsoft.com/office/drawing/2014/main" id="{30EFBCD7-063C-1D4E-BB58-B99ADE0FB7B0}"/>
              </a:ext>
            </a:extLst>
          </p:cNvPr>
          <p:cNvSpPr txBox="1"/>
          <p:nvPr/>
        </p:nvSpPr>
        <p:spPr>
          <a:xfrm>
            <a:off x="991268" y="216605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24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42A63947-5046-D843-B5E9-D46E13D5020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39757" y="1874866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84;g3d6e2211149_2_228">
            <a:extLst>
              <a:ext uri="{FF2B5EF4-FFF2-40B4-BE49-F238E27FC236}">
                <a16:creationId xmlns:a16="http://schemas.microsoft.com/office/drawing/2014/main" id="{51B2C3DB-7EAD-244C-B1C5-A3F3C795B13F}"/>
              </a:ext>
            </a:extLst>
          </p:cNvPr>
          <p:cNvCxnSpPr>
            <a:stCxn id="26" idx="3"/>
            <a:endCxn id="24" idx="1"/>
          </p:cNvCxnSpPr>
          <p:nvPr/>
        </p:nvCxnSpPr>
        <p:spPr>
          <a:xfrm>
            <a:off x="2210486" y="2091758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6" name="Google Shape;285;g3d6e2211149_2_228" descr="AWS WAF service icon.">
            <a:extLst>
              <a:ext uri="{FF2B5EF4-FFF2-40B4-BE49-F238E27FC236}">
                <a16:creationId xmlns:a16="http://schemas.microsoft.com/office/drawing/2014/main" id="{07191040-89F6-4749-8701-75030B6C7FE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60211" y="1866620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86;g3d6e2211149_2_228">
            <a:extLst>
              <a:ext uri="{FF2B5EF4-FFF2-40B4-BE49-F238E27FC236}">
                <a16:creationId xmlns:a16="http://schemas.microsoft.com/office/drawing/2014/main" id="{43D69FC3-4301-8545-A8C6-BE52E46A8AFE}"/>
              </a:ext>
            </a:extLst>
          </p:cNvPr>
          <p:cNvSpPr txBox="1"/>
          <p:nvPr/>
        </p:nvSpPr>
        <p:spPr>
          <a:xfrm>
            <a:off x="1676608" y="2358779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28" name="Google Shape;287;g3d6e2211149_2_228">
            <a:extLst>
              <a:ext uri="{FF2B5EF4-FFF2-40B4-BE49-F238E27FC236}">
                <a16:creationId xmlns:a16="http://schemas.microsoft.com/office/drawing/2014/main" id="{2F4579F3-4DC9-3A46-A5CF-5C07FC329411}"/>
              </a:ext>
            </a:extLst>
          </p:cNvPr>
          <p:cNvSpPr txBox="1"/>
          <p:nvPr/>
        </p:nvSpPr>
        <p:spPr>
          <a:xfrm>
            <a:off x="2120774" y="2330282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29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F4E1B84B-0BB8-974D-8CD7-8A4B55912F1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55445" y="161077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97;g3d6e2211149_2_228">
            <a:extLst>
              <a:ext uri="{FF2B5EF4-FFF2-40B4-BE49-F238E27FC236}">
                <a16:creationId xmlns:a16="http://schemas.microsoft.com/office/drawing/2014/main" id="{BD310097-8170-F646-8C63-6A28907A86D4}"/>
              </a:ext>
            </a:extLst>
          </p:cNvPr>
          <p:cNvSpPr txBox="1"/>
          <p:nvPr/>
        </p:nvSpPr>
        <p:spPr>
          <a:xfrm>
            <a:off x="4351799" y="164505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31" name="Google Shape;298;g3d6e2211149_2_228">
            <a:extLst>
              <a:ext uri="{FF2B5EF4-FFF2-40B4-BE49-F238E27FC236}">
                <a16:creationId xmlns:a16="http://schemas.microsoft.com/office/drawing/2014/main" id="{467EF76B-21CB-4442-8334-F8680BEA9068}"/>
              </a:ext>
            </a:extLst>
          </p:cNvPr>
          <p:cNvCxnSpPr/>
          <p:nvPr/>
        </p:nvCxnSpPr>
        <p:spPr>
          <a:xfrm>
            <a:off x="3055931" y="2106007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" name="Google Shape;303;g3d6e2211149_2_228">
            <a:extLst>
              <a:ext uri="{FF2B5EF4-FFF2-40B4-BE49-F238E27FC236}">
                <a16:creationId xmlns:a16="http://schemas.microsoft.com/office/drawing/2014/main" id="{A707F5A2-B3E4-CA40-A698-59ED82EC04CD}"/>
              </a:ext>
            </a:extLst>
          </p:cNvPr>
          <p:cNvSpPr txBox="1"/>
          <p:nvPr/>
        </p:nvSpPr>
        <p:spPr>
          <a:xfrm>
            <a:off x="2901238" y="2022031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3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072FDAE-4EA8-F74D-AECF-7CA0AE9EBA1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55445" y="21133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05;g3d6e2211149_2_228">
            <a:extLst>
              <a:ext uri="{FF2B5EF4-FFF2-40B4-BE49-F238E27FC236}">
                <a16:creationId xmlns:a16="http://schemas.microsoft.com/office/drawing/2014/main" id="{29F74442-9911-5543-868C-CE5208F9A9A4}"/>
              </a:ext>
            </a:extLst>
          </p:cNvPr>
          <p:cNvSpPr txBox="1"/>
          <p:nvPr/>
        </p:nvSpPr>
        <p:spPr>
          <a:xfrm>
            <a:off x="4351799" y="21476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35" name="Google Shape;306;g3d6e2211149_2_228">
            <a:extLst>
              <a:ext uri="{FF2B5EF4-FFF2-40B4-BE49-F238E27FC236}">
                <a16:creationId xmlns:a16="http://schemas.microsoft.com/office/drawing/2014/main" id="{645AAAEC-A1D7-D84C-B1B4-D47EA30E9EDE}"/>
              </a:ext>
            </a:extLst>
          </p:cNvPr>
          <p:cNvSpPr/>
          <p:nvPr/>
        </p:nvSpPr>
        <p:spPr>
          <a:xfrm>
            <a:off x="3505147" y="1584425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65D803E8-8DA2-BD4A-8D39-595BEF070DD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07404" y="1688009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41;g3d6e2211149_2_228">
            <a:extLst>
              <a:ext uri="{FF2B5EF4-FFF2-40B4-BE49-F238E27FC236}">
                <a16:creationId xmlns:a16="http://schemas.microsoft.com/office/drawing/2014/main" id="{FBDAC893-02C4-7A4A-9985-D2A7597BDB7F}"/>
              </a:ext>
            </a:extLst>
          </p:cNvPr>
          <p:cNvSpPr/>
          <p:nvPr/>
        </p:nvSpPr>
        <p:spPr>
          <a:xfrm>
            <a:off x="3316534" y="1235651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8" name="Google Shape;342;g3d6e2211149_2_228" descr="Private subnet group icon. ">
            <a:extLst>
              <a:ext uri="{FF2B5EF4-FFF2-40B4-BE49-F238E27FC236}">
                <a16:creationId xmlns:a16="http://schemas.microsoft.com/office/drawing/2014/main" id="{FCE8A8C3-1C83-DC42-9A57-570EF2279BE1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331203" y="1254709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47;g3d6e2211149_2_228" descr="AWS Auto Scaling service icon.">
            <a:extLst>
              <a:ext uri="{FF2B5EF4-FFF2-40B4-BE49-F238E27FC236}">
                <a16:creationId xmlns:a16="http://schemas.microsoft.com/office/drawing/2014/main" id="{F63A86DA-1691-C547-A15D-A35980725D6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379347" y="2321551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366;g3d6e2211149_2_228">
            <a:extLst>
              <a:ext uri="{FF2B5EF4-FFF2-40B4-BE49-F238E27FC236}">
                <a16:creationId xmlns:a16="http://schemas.microsoft.com/office/drawing/2014/main" id="{7F44D3CB-AB24-C547-A4DF-B9F756C08373}"/>
              </a:ext>
            </a:extLst>
          </p:cNvPr>
          <p:cNvCxnSpPr>
            <a:stCxn id="17" idx="3"/>
          </p:cNvCxnSpPr>
          <p:nvPr/>
        </p:nvCxnSpPr>
        <p:spPr>
          <a:xfrm>
            <a:off x="481193" y="1406955"/>
            <a:ext cx="676500" cy="54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268;g3d6e2211149_2_228">
            <a:extLst>
              <a:ext uri="{FF2B5EF4-FFF2-40B4-BE49-F238E27FC236}">
                <a16:creationId xmlns:a16="http://schemas.microsoft.com/office/drawing/2014/main" id="{1FFB8D81-7B91-BA4D-9500-C8D4A60DC347}"/>
              </a:ext>
            </a:extLst>
          </p:cNvPr>
          <p:cNvSpPr/>
          <p:nvPr/>
        </p:nvSpPr>
        <p:spPr>
          <a:xfrm>
            <a:off x="5641839" y="1229180"/>
            <a:ext cx="1844894" cy="1107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44" name="Google Shape;269;g3d6e2211149_2_228" descr="Private subnet group icon. ">
            <a:extLst>
              <a:ext uri="{FF2B5EF4-FFF2-40B4-BE49-F238E27FC236}">
                <a16:creationId xmlns:a16="http://schemas.microsoft.com/office/drawing/2014/main" id="{EDA66F19-A1C8-F94A-A9D3-CDDFB8DEE31B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648584" y="1232218"/>
            <a:ext cx="381000" cy="29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275;g3d6e2211149_2_228" descr="Amazon Aurora service icon.">
            <a:extLst>
              <a:ext uri="{FF2B5EF4-FFF2-40B4-BE49-F238E27FC236}">
                <a16:creationId xmlns:a16="http://schemas.microsoft.com/office/drawing/2014/main" id="{2375B420-75E4-6145-BBF0-E037788D82B1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856547" y="1562295"/>
            <a:ext cx="519585" cy="51958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276;g3d6e2211149_2_228">
            <a:extLst>
              <a:ext uri="{FF2B5EF4-FFF2-40B4-BE49-F238E27FC236}">
                <a16:creationId xmlns:a16="http://schemas.microsoft.com/office/drawing/2014/main" id="{0B2174CE-8F96-5742-90B7-3FAA1CB71A17}"/>
              </a:ext>
            </a:extLst>
          </p:cNvPr>
          <p:cNvSpPr txBox="1"/>
          <p:nvPr/>
        </p:nvSpPr>
        <p:spPr>
          <a:xfrm>
            <a:off x="5681019" y="2044638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47" name="Google Shape;277;g3d6e2211149_2_228" descr="Amazon DynamoDB service icon.">
            <a:extLst>
              <a:ext uri="{FF2B5EF4-FFF2-40B4-BE49-F238E27FC236}">
                <a16:creationId xmlns:a16="http://schemas.microsoft.com/office/drawing/2014/main" id="{58FB63D1-828B-A640-AFC6-2A2008A17153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114524" y="1263628"/>
            <a:ext cx="429045" cy="42904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78;g3d6e2211149_2_228">
            <a:extLst>
              <a:ext uri="{FF2B5EF4-FFF2-40B4-BE49-F238E27FC236}">
                <a16:creationId xmlns:a16="http://schemas.microsoft.com/office/drawing/2014/main" id="{3A3CAE22-4E0F-D54E-844A-28E2CA5FE026}"/>
              </a:ext>
            </a:extLst>
          </p:cNvPr>
          <p:cNvSpPr txBox="1"/>
          <p:nvPr/>
        </p:nvSpPr>
        <p:spPr>
          <a:xfrm>
            <a:off x="4707814" y="1669848"/>
            <a:ext cx="122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49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665C9830-2855-E846-A1A7-E913EEAD7735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780628" y="1562318"/>
            <a:ext cx="519539" cy="51953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280;g3d6e2211149_2_228">
            <a:extLst>
              <a:ext uri="{FF2B5EF4-FFF2-40B4-BE49-F238E27FC236}">
                <a16:creationId xmlns:a16="http://schemas.microsoft.com/office/drawing/2014/main" id="{DCAE1932-99D5-3749-925D-DD64F5336CD8}"/>
              </a:ext>
            </a:extLst>
          </p:cNvPr>
          <p:cNvSpPr txBox="1"/>
          <p:nvPr/>
        </p:nvSpPr>
        <p:spPr>
          <a:xfrm>
            <a:off x="6530573" y="2040336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cxnSp>
        <p:nvCxnSpPr>
          <p:cNvPr id="53" name="Google Shape;272;g3d6e2211149_2_228">
            <a:extLst>
              <a:ext uri="{FF2B5EF4-FFF2-40B4-BE49-F238E27FC236}">
                <a16:creationId xmlns:a16="http://schemas.microsoft.com/office/drawing/2014/main" id="{12521B9A-943B-BF48-BCB1-A53D11DBD043}"/>
              </a:ext>
            </a:extLst>
          </p:cNvPr>
          <p:cNvCxnSpPr>
            <a:cxnSpLocks/>
            <a:stCxn id="34" idx="1"/>
            <a:endCxn id="47" idx="1"/>
          </p:cNvCxnSpPr>
          <p:nvPr/>
        </p:nvCxnSpPr>
        <p:spPr>
          <a:xfrm flipV="1">
            <a:off x="4351799" y="1478151"/>
            <a:ext cx="762725" cy="85410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" name="Google Shape;272;g3d6e2211149_2_228">
            <a:extLst>
              <a:ext uri="{FF2B5EF4-FFF2-40B4-BE49-F238E27FC236}">
                <a16:creationId xmlns:a16="http://schemas.microsoft.com/office/drawing/2014/main" id="{1769D892-5D66-2D4F-B66D-128ACAB69E80}"/>
              </a:ext>
            </a:extLst>
          </p:cNvPr>
          <p:cNvCxnSpPr>
            <a:cxnSpLocks/>
            <a:stCxn id="34" idx="1"/>
          </p:cNvCxnSpPr>
          <p:nvPr/>
        </p:nvCxnSpPr>
        <p:spPr>
          <a:xfrm flipV="1">
            <a:off x="4351799" y="1914425"/>
            <a:ext cx="1474753" cy="41783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5CFDC94D-A927-7B4B-9BC6-4979B998BD62}"/>
              </a:ext>
            </a:extLst>
          </p:cNvPr>
          <p:cNvCxnSpPr>
            <a:cxnSpLocks/>
            <a:stCxn id="35" idx="2"/>
            <a:endCxn id="50" idx="2"/>
          </p:cNvCxnSpPr>
          <p:nvPr/>
        </p:nvCxnSpPr>
        <p:spPr>
          <a:xfrm rot="5400000" flipH="1" flipV="1">
            <a:off x="5558115" y="1027168"/>
            <a:ext cx="171089" cy="2874826"/>
          </a:xfrm>
          <a:prstGeom prst="bentConnector3">
            <a:avLst>
              <a:gd name="adj1" fmla="val -212004"/>
            </a:avLst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1" name="Google Shape;303;g3d6896b4338_0_0">
            <a:extLst>
              <a:ext uri="{FF2B5EF4-FFF2-40B4-BE49-F238E27FC236}">
                <a16:creationId xmlns:a16="http://schemas.microsoft.com/office/drawing/2014/main" id="{16B14CF9-CBB4-B74A-8661-B5AE966228A9}"/>
              </a:ext>
            </a:extLst>
          </p:cNvPr>
          <p:cNvSpPr/>
          <p:nvPr/>
        </p:nvSpPr>
        <p:spPr>
          <a:xfrm>
            <a:off x="7155515" y="242314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51B252A7-0802-324C-BDB7-71C2926B7B7C}"/>
              </a:ext>
            </a:extLst>
          </p:cNvPr>
          <p:cNvSpPr/>
          <p:nvPr/>
        </p:nvSpPr>
        <p:spPr>
          <a:xfrm>
            <a:off x="4832585" y="114079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303;g3d6896b4338_0_0">
            <a:extLst>
              <a:ext uri="{FF2B5EF4-FFF2-40B4-BE49-F238E27FC236}">
                <a16:creationId xmlns:a16="http://schemas.microsoft.com/office/drawing/2014/main" id="{25AB1473-6288-BA43-B33D-0BB4C743F4CE}"/>
              </a:ext>
            </a:extLst>
          </p:cNvPr>
          <p:cNvSpPr/>
          <p:nvPr/>
        </p:nvSpPr>
        <p:spPr>
          <a:xfrm>
            <a:off x="5264982" y="21265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3838362-2BDD-D64E-B6F0-42C9199DA073}"/>
              </a:ext>
            </a:extLst>
          </p:cNvPr>
          <p:cNvSpPr txBox="1"/>
          <p:nvPr/>
        </p:nvSpPr>
        <p:spPr>
          <a:xfrm>
            <a:off x="3222974" y="5705387"/>
            <a:ext cx="13610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Dashboard</a:t>
            </a:r>
          </a:p>
          <a:p>
            <a:endParaRPr lang="en-KR" sz="1000"/>
          </a:p>
          <a:p>
            <a:r>
              <a:rPr lang="en-KR" sz="1000"/>
              <a:t>① 개인 맞춤 추천</a:t>
            </a:r>
          </a:p>
          <a:p>
            <a:r>
              <a:rPr lang="en-KR" sz="1000"/>
              <a:t>② 금융상품 추천</a:t>
            </a:r>
          </a:p>
          <a:p>
            <a:r>
              <a:rPr lang="en-KR" sz="1000"/>
              <a:t>③ 건강관리 추천</a:t>
            </a:r>
          </a:p>
          <a:p>
            <a:r>
              <a:rPr lang="en-KR" sz="1000"/>
              <a:t>④ VIP 전용 영역</a:t>
            </a:r>
          </a:p>
        </p:txBody>
      </p:sp>
    </p:spTree>
    <p:extLst>
      <p:ext uri="{BB962C8B-B14F-4D97-AF65-F5344CB8AC3E}">
        <p14:creationId xmlns:p14="http://schemas.microsoft.com/office/powerpoint/2010/main" val="3026824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메인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대시보드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클릭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구매 로그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 xml:space="preserve"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88FBAE7-CFC0-E749-9661-FF69C0930059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호출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14" name="Google Shape;274;g3d6e2211149_2_228">
            <a:extLst>
              <a:ext uri="{FF2B5EF4-FFF2-40B4-BE49-F238E27FC236}">
                <a16:creationId xmlns:a16="http://schemas.microsoft.com/office/drawing/2014/main" id="{A86B5A9F-9B04-7444-9024-062B1FD97D28}"/>
              </a:ext>
            </a:extLst>
          </p:cNvPr>
          <p:cNvSpPr txBox="1"/>
          <p:nvPr/>
        </p:nvSpPr>
        <p:spPr>
          <a:xfrm>
            <a:off x="367604" y="3212952"/>
            <a:ext cx="287336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추천 이력 기반 클릭 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구매 로그 생성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243;g3d6e2211149_2_228">
            <a:extLst>
              <a:ext uri="{FF2B5EF4-FFF2-40B4-BE49-F238E27FC236}">
                <a16:creationId xmlns:a16="http://schemas.microsoft.com/office/drawing/2014/main" id="{DEE26160-C1BC-6D47-AC44-F43F358232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56" y="1189142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50;g3d6e2211149_2_228">
            <a:extLst>
              <a:ext uri="{FF2B5EF4-FFF2-40B4-BE49-F238E27FC236}">
                <a16:creationId xmlns:a16="http://schemas.microsoft.com/office/drawing/2014/main" id="{782929F3-B492-9641-B3F8-82B5EA8AA94B}"/>
              </a:ext>
            </a:extLst>
          </p:cNvPr>
          <p:cNvSpPr/>
          <p:nvPr/>
        </p:nvSpPr>
        <p:spPr>
          <a:xfrm>
            <a:off x="1385467" y="897750"/>
            <a:ext cx="6246105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19" name="Google Shape;251;g3d6e2211149_2_228" descr="VPC group icon. ">
            <a:extLst>
              <a:ext uri="{FF2B5EF4-FFF2-40B4-BE49-F238E27FC236}">
                <a16:creationId xmlns:a16="http://schemas.microsoft.com/office/drawing/2014/main" id="{57F80027-679F-6242-9088-92F82D6BB55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5469" y="89382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52;g3d6e2211149_2_228">
            <a:extLst>
              <a:ext uri="{FF2B5EF4-FFF2-40B4-BE49-F238E27FC236}">
                <a16:creationId xmlns:a16="http://schemas.microsoft.com/office/drawing/2014/main" id="{2FC82B84-689A-D843-AB6D-802AF23C08CB}"/>
              </a:ext>
            </a:extLst>
          </p:cNvPr>
          <p:cNvSpPr/>
          <p:nvPr/>
        </p:nvSpPr>
        <p:spPr>
          <a:xfrm>
            <a:off x="1503674" y="1392550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1" name="Google Shape;253;g3d6e2211149_2_228" descr="Public subnet group icon. ">
            <a:extLst>
              <a:ext uri="{FF2B5EF4-FFF2-40B4-BE49-F238E27FC236}">
                <a16:creationId xmlns:a16="http://schemas.microsoft.com/office/drawing/2014/main" id="{C3A045A9-9078-9F4B-A28D-25987315E71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02240" y="139090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FA5EFEFC-01A7-D843-A5D7-586B4BD09E7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9686" y="17191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55;g3d6e2211149_2_228">
            <a:extLst>
              <a:ext uri="{FF2B5EF4-FFF2-40B4-BE49-F238E27FC236}">
                <a16:creationId xmlns:a16="http://schemas.microsoft.com/office/drawing/2014/main" id="{30EFBCD7-063C-1D4E-BB58-B99ADE0FB7B0}"/>
              </a:ext>
            </a:extLst>
          </p:cNvPr>
          <p:cNvSpPr txBox="1"/>
          <p:nvPr/>
        </p:nvSpPr>
        <p:spPr>
          <a:xfrm>
            <a:off x="991268" y="216605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24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42A63947-5046-D843-B5E9-D46E13D5020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39757" y="1874866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84;g3d6e2211149_2_228">
            <a:extLst>
              <a:ext uri="{FF2B5EF4-FFF2-40B4-BE49-F238E27FC236}">
                <a16:creationId xmlns:a16="http://schemas.microsoft.com/office/drawing/2014/main" id="{51B2C3DB-7EAD-244C-B1C5-A3F3C795B13F}"/>
              </a:ext>
            </a:extLst>
          </p:cNvPr>
          <p:cNvCxnSpPr>
            <a:stCxn id="26" idx="3"/>
            <a:endCxn id="24" idx="1"/>
          </p:cNvCxnSpPr>
          <p:nvPr/>
        </p:nvCxnSpPr>
        <p:spPr>
          <a:xfrm>
            <a:off x="2210486" y="2091758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6" name="Google Shape;285;g3d6e2211149_2_228" descr="AWS WAF service icon.">
            <a:extLst>
              <a:ext uri="{FF2B5EF4-FFF2-40B4-BE49-F238E27FC236}">
                <a16:creationId xmlns:a16="http://schemas.microsoft.com/office/drawing/2014/main" id="{07191040-89F6-4749-8701-75030B6C7FE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60211" y="1866620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86;g3d6e2211149_2_228">
            <a:extLst>
              <a:ext uri="{FF2B5EF4-FFF2-40B4-BE49-F238E27FC236}">
                <a16:creationId xmlns:a16="http://schemas.microsoft.com/office/drawing/2014/main" id="{43D69FC3-4301-8545-A8C6-BE52E46A8AFE}"/>
              </a:ext>
            </a:extLst>
          </p:cNvPr>
          <p:cNvSpPr txBox="1"/>
          <p:nvPr/>
        </p:nvSpPr>
        <p:spPr>
          <a:xfrm>
            <a:off x="1676608" y="2358779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28" name="Google Shape;287;g3d6e2211149_2_228">
            <a:extLst>
              <a:ext uri="{FF2B5EF4-FFF2-40B4-BE49-F238E27FC236}">
                <a16:creationId xmlns:a16="http://schemas.microsoft.com/office/drawing/2014/main" id="{2F4579F3-4DC9-3A46-A5CF-5C07FC329411}"/>
              </a:ext>
            </a:extLst>
          </p:cNvPr>
          <p:cNvSpPr txBox="1"/>
          <p:nvPr/>
        </p:nvSpPr>
        <p:spPr>
          <a:xfrm>
            <a:off x="2120774" y="2330282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29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F4E1B84B-0BB8-974D-8CD7-8A4B55912F1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55445" y="161077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97;g3d6e2211149_2_228">
            <a:extLst>
              <a:ext uri="{FF2B5EF4-FFF2-40B4-BE49-F238E27FC236}">
                <a16:creationId xmlns:a16="http://schemas.microsoft.com/office/drawing/2014/main" id="{BD310097-8170-F646-8C63-6A28907A86D4}"/>
              </a:ext>
            </a:extLst>
          </p:cNvPr>
          <p:cNvSpPr txBox="1"/>
          <p:nvPr/>
        </p:nvSpPr>
        <p:spPr>
          <a:xfrm>
            <a:off x="4351799" y="164505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31" name="Google Shape;298;g3d6e2211149_2_228">
            <a:extLst>
              <a:ext uri="{FF2B5EF4-FFF2-40B4-BE49-F238E27FC236}">
                <a16:creationId xmlns:a16="http://schemas.microsoft.com/office/drawing/2014/main" id="{467EF76B-21CB-4442-8334-F8680BEA9068}"/>
              </a:ext>
            </a:extLst>
          </p:cNvPr>
          <p:cNvCxnSpPr/>
          <p:nvPr/>
        </p:nvCxnSpPr>
        <p:spPr>
          <a:xfrm>
            <a:off x="3055931" y="2106007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" name="Google Shape;303;g3d6e2211149_2_228">
            <a:extLst>
              <a:ext uri="{FF2B5EF4-FFF2-40B4-BE49-F238E27FC236}">
                <a16:creationId xmlns:a16="http://schemas.microsoft.com/office/drawing/2014/main" id="{A707F5A2-B3E4-CA40-A698-59ED82EC04CD}"/>
              </a:ext>
            </a:extLst>
          </p:cNvPr>
          <p:cNvSpPr txBox="1"/>
          <p:nvPr/>
        </p:nvSpPr>
        <p:spPr>
          <a:xfrm>
            <a:off x="2901238" y="2022031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3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072FDAE-4EA8-F74D-AECF-7CA0AE9EBA1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55445" y="21133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05;g3d6e2211149_2_228">
            <a:extLst>
              <a:ext uri="{FF2B5EF4-FFF2-40B4-BE49-F238E27FC236}">
                <a16:creationId xmlns:a16="http://schemas.microsoft.com/office/drawing/2014/main" id="{29F74442-9911-5543-868C-CE5208F9A9A4}"/>
              </a:ext>
            </a:extLst>
          </p:cNvPr>
          <p:cNvSpPr txBox="1"/>
          <p:nvPr/>
        </p:nvSpPr>
        <p:spPr>
          <a:xfrm>
            <a:off x="4351799" y="21476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35" name="Google Shape;306;g3d6e2211149_2_228">
            <a:extLst>
              <a:ext uri="{FF2B5EF4-FFF2-40B4-BE49-F238E27FC236}">
                <a16:creationId xmlns:a16="http://schemas.microsoft.com/office/drawing/2014/main" id="{645AAAEC-A1D7-D84C-B1B4-D47EA30E9EDE}"/>
              </a:ext>
            </a:extLst>
          </p:cNvPr>
          <p:cNvSpPr/>
          <p:nvPr/>
        </p:nvSpPr>
        <p:spPr>
          <a:xfrm>
            <a:off x="3505147" y="1584425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65D803E8-8DA2-BD4A-8D39-595BEF070DD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07404" y="1688009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41;g3d6e2211149_2_228">
            <a:extLst>
              <a:ext uri="{FF2B5EF4-FFF2-40B4-BE49-F238E27FC236}">
                <a16:creationId xmlns:a16="http://schemas.microsoft.com/office/drawing/2014/main" id="{FBDAC893-02C4-7A4A-9985-D2A7597BDB7F}"/>
              </a:ext>
            </a:extLst>
          </p:cNvPr>
          <p:cNvSpPr/>
          <p:nvPr/>
        </p:nvSpPr>
        <p:spPr>
          <a:xfrm>
            <a:off x="3316534" y="1235651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8" name="Google Shape;342;g3d6e2211149_2_228" descr="Private subnet group icon. ">
            <a:extLst>
              <a:ext uri="{FF2B5EF4-FFF2-40B4-BE49-F238E27FC236}">
                <a16:creationId xmlns:a16="http://schemas.microsoft.com/office/drawing/2014/main" id="{FCE8A8C3-1C83-DC42-9A57-570EF2279BE1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331203" y="1254709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47;g3d6e2211149_2_228" descr="AWS Auto Scaling service icon.">
            <a:extLst>
              <a:ext uri="{FF2B5EF4-FFF2-40B4-BE49-F238E27FC236}">
                <a16:creationId xmlns:a16="http://schemas.microsoft.com/office/drawing/2014/main" id="{F63A86DA-1691-C547-A15D-A35980725D6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379347" y="2321551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366;g3d6e2211149_2_228">
            <a:extLst>
              <a:ext uri="{FF2B5EF4-FFF2-40B4-BE49-F238E27FC236}">
                <a16:creationId xmlns:a16="http://schemas.microsoft.com/office/drawing/2014/main" id="{7F44D3CB-AB24-C547-A4DF-B9F756C08373}"/>
              </a:ext>
            </a:extLst>
          </p:cNvPr>
          <p:cNvCxnSpPr>
            <a:stCxn id="17" idx="3"/>
          </p:cNvCxnSpPr>
          <p:nvPr/>
        </p:nvCxnSpPr>
        <p:spPr>
          <a:xfrm>
            <a:off x="481193" y="1406955"/>
            <a:ext cx="676500" cy="54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268;g3d6e2211149_2_228">
            <a:extLst>
              <a:ext uri="{FF2B5EF4-FFF2-40B4-BE49-F238E27FC236}">
                <a16:creationId xmlns:a16="http://schemas.microsoft.com/office/drawing/2014/main" id="{1FFB8D81-7B91-BA4D-9500-C8D4A60DC347}"/>
              </a:ext>
            </a:extLst>
          </p:cNvPr>
          <p:cNvSpPr/>
          <p:nvPr/>
        </p:nvSpPr>
        <p:spPr>
          <a:xfrm>
            <a:off x="5641839" y="1229180"/>
            <a:ext cx="1844894" cy="1107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44" name="Google Shape;269;g3d6e2211149_2_228" descr="Private subnet group icon. ">
            <a:extLst>
              <a:ext uri="{FF2B5EF4-FFF2-40B4-BE49-F238E27FC236}">
                <a16:creationId xmlns:a16="http://schemas.microsoft.com/office/drawing/2014/main" id="{EDA66F19-A1C8-F94A-A9D3-CDDFB8DEE31B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648584" y="1232218"/>
            <a:ext cx="381000" cy="29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275;g3d6e2211149_2_228" descr="Amazon Aurora service icon.">
            <a:extLst>
              <a:ext uri="{FF2B5EF4-FFF2-40B4-BE49-F238E27FC236}">
                <a16:creationId xmlns:a16="http://schemas.microsoft.com/office/drawing/2014/main" id="{2375B420-75E4-6145-BBF0-E037788D82B1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856547" y="1562295"/>
            <a:ext cx="519585" cy="51958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276;g3d6e2211149_2_228">
            <a:extLst>
              <a:ext uri="{FF2B5EF4-FFF2-40B4-BE49-F238E27FC236}">
                <a16:creationId xmlns:a16="http://schemas.microsoft.com/office/drawing/2014/main" id="{0B2174CE-8F96-5742-90B7-3FAA1CB71A17}"/>
              </a:ext>
            </a:extLst>
          </p:cNvPr>
          <p:cNvSpPr txBox="1"/>
          <p:nvPr/>
        </p:nvSpPr>
        <p:spPr>
          <a:xfrm>
            <a:off x="5681019" y="2044638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47" name="Google Shape;277;g3d6e2211149_2_228" descr="Amazon DynamoDB service icon.">
            <a:extLst>
              <a:ext uri="{FF2B5EF4-FFF2-40B4-BE49-F238E27FC236}">
                <a16:creationId xmlns:a16="http://schemas.microsoft.com/office/drawing/2014/main" id="{58FB63D1-828B-A640-AFC6-2A2008A17153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114524" y="1263628"/>
            <a:ext cx="429045" cy="42904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78;g3d6e2211149_2_228">
            <a:extLst>
              <a:ext uri="{FF2B5EF4-FFF2-40B4-BE49-F238E27FC236}">
                <a16:creationId xmlns:a16="http://schemas.microsoft.com/office/drawing/2014/main" id="{3A3CAE22-4E0F-D54E-844A-28E2CA5FE026}"/>
              </a:ext>
            </a:extLst>
          </p:cNvPr>
          <p:cNvSpPr txBox="1"/>
          <p:nvPr/>
        </p:nvSpPr>
        <p:spPr>
          <a:xfrm>
            <a:off x="4707814" y="1669848"/>
            <a:ext cx="122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49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665C9830-2855-E846-A1A7-E913EEAD7735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780628" y="1562318"/>
            <a:ext cx="519539" cy="51953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280;g3d6e2211149_2_228">
            <a:extLst>
              <a:ext uri="{FF2B5EF4-FFF2-40B4-BE49-F238E27FC236}">
                <a16:creationId xmlns:a16="http://schemas.microsoft.com/office/drawing/2014/main" id="{DCAE1932-99D5-3749-925D-DD64F5336CD8}"/>
              </a:ext>
            </a:extLst>
          </p:cNvPr>
          <p:cNvSpPr txBox="1"/>
          <p:nvPr/>
        </p:nvSpPr>
        <p:spPr>
          <a:xfrm>
            <a:off x="6530573" y="2040336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cxnSp>
        <p:nvCxnSpPr>
          <p:cNvPr id="53" name="Google Shape;272;g3d6e2211149_2_228">
            <a:extLst>
              <a:ext uri="{FF2B5EF4-FFF2-40B4-BE49-F238E27FC236}">
                <a16:creationId xmlns:a16="http://schemas.microsoft.com/office/drawing/2014/main" id="{12521B9A-943B-BF48-BCB1-A53D11DBD043}"/>
              </a:ext>
            </a:extLst>
          </p:cNvPr>
          <p:cNvCxnSpPr>
            <a:cxnSpLocks/>
            <a:stCxn id="34" idx="1"/>
            <a:endCxn id="47" idx="1"/>
          </p:cNvCxnSpPr>
          <p:nvPr/>
        </p:nvCxnSpPr>
        <p:spPr>
          <a:xfrm flipV="1">
            <a:off x="4351799" y="1478151"/>
            <a:ext cx="762725" cy="85410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" name="Google Shape;272;g3d6e2211149_2_228">
            <a:extLst>
              <a:ext uri="{FF2B5EF4-FFF2-40B4-BE49-F238E27FC236}">
                <a16:creationId xmlns:a16="http://schemas.microsoft.com/office/drawing/2014/main" id="{1769D892-5D66-2D4F-B66D-128ACAB69E80}"/>
              </a:ext>
            </a:extLst>
          </p:cNvPr>
          <p:cNvCxnSpPr>
            <a:cxnSpLocks/>
            <a:stCxn id="34" idx="1"/>
          </p:cNvCxnSpPr>
          <p:nvPr/>
        </p:nvCxnSpPr>
        <p:spPr>
          <a:xfrm flipV="1">
            <a:off x="4351799" y="1914425"/>
            <a:ext cx="1474753" cy="41783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5CFDC94D-A927-7B4B-9BC6-4979B998BD62}"/>
              </a:ext>
            </a:extLst>
          </p:cNvPr>
          <p:cNvCxnSpPr>
            <a:cxnSpLocks/>
            <a:stCxn id="35" idx="2"/>
            <a:endCxn id="50" idx="2"/>
          </p:cNvCxnSpPr>
          <p:nvPr/>
        </p:nvCxnSpPr>
        <p:spPr>
          <a:xfrm rot="5400000" flipH="1" flipV="1">
            <a:off x="5558115" y="1027168"/>
            <a:ext cx="171089" cy="2874826"/>
          </a:xfrm>
          <a:prstGeom prst="bentConnector3">
            <a:avLst>
              <a:gd name="adj1" fmla="val -212004"/>
            </a:avLst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1" name="Google Shape;303;g3d6896b4338_0_0">
            <a:extLst>
              <a:ext uri="{FF2B5EF4-FFF2-40B4-BE49-F238E27FC236}">
                <a16:creationId xmlns:a16="http://schemas.microsoft.com/office/drawing/2014/main" id="{16B14CF9-CBB4-B74A-8661-B5AE966228A9}"/>
              </a:ext>
            </a:extLst>
          </p:cNvPr>
          <p:cNvSpPr/>
          <p:nvPr/>
        </p:nvSpPr>
        <p:spPr>
          <a:xfrm>
            <a:off x="7155515" y="242314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51B252A7-0802-324C-BDB7-71C2926B7B7C}"/>
              </a:ext>
            </a:extLst>
          </p:cNvPr>
          <p:cNvSpPr/>
          <p:nvPr/>
        </p:nvSpPr>
        <p:spPr>
          <a:xfrm>
            <a:off x="4832585" y="114079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303;g3d6896b4338_0_0">
            <a:extLst>
              <a:ext uri="{FF2B5EF4-FFF2-40B4-BE49-F238E27FC236}">
                <a16:creationId xmlns:a16="http://schemas.microsoft.com/office/drawing/2014/main" id="{25AB1473-6288-BA43-B33D-0BB4C743F4CE}"/>
              </a:ext>
            </a:extLst>
          </p:cNvPr>
          <p:cNvSpPr/>
          <p:nvPr/>
        </p:nvSpPr>
        <p:spPr>
          <a:xfrm>
            <a:off x="5264982" y="21265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0BE8483-0EB6-C14C-B250-F6D855747FFB}"/>
              </a:ext>
            </a:extLst>
          </p:cNvPr>
          <p:cNvSpPr txBox="1"/>
          <p:nvPr/>
        </p:nvSpPr>
        <p:spPr>
          <a:xfrm>
            <a:off x="351055" y="3600798"/>
            <a:ext cx="29654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고객 로그인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Redis 추천 조회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대시보드 추천 노출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상품 클릭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상품 상세 조회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가입/구매 진행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Aurora 로그 저장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AI 분석 및 재학습</a:t>
            </a:r>
          </a:p>
        </p:txBody>
      </p:sp>
      <p:sp>
        <p:nvSpPr>
          <p:cNvPr id="55" name="Google Shape;274;g3d6e2211149_2_228">
            <a:extLst>
              <a:ext uri="{FF2B5EF4-FFF2-40B4-BE49-F238E27FC236}">
                <a16:creationId xmlns:a16="http://schemas.microsoft.com/office/drawing/2014/main" id="{B7E05138-B011-764F-8F7F-5C283576E384}"/>
              </a:ext>
            </a:extLst>
          </p:cNvPr>
          <p:cNvSpPr txBox="1"/>
          <p:nvPr/>
        </p:nvSpPr>
        <p:spPr>
          <a:xfrm>
            <a:off x="3828300" y="3212952"/>
            <a:ext cx="48524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추천 노출 로그 저장 </a:t>
            </a:r>
            <a:r>
              <a:rPr lang="en-US" altLang="ko-KR" sz="1200" b="1" dirty="0">
                <a:solidFill>
                  <a:schemeClr val="dk1"/>
                </a:solidFill>
              </a:rPr>
              <a:t xml:space="preserve"> (</a:t>
            </a:r>
            <a:r>
              <a:rPr lang="en-US" altLang="ko-KR" sz="1200" b="1" dirty="0" err="1">
                <a:solidFill>
                  <a:schemeClr val="dk1"/>
                </a:solidFill>
              </a:rPr>
              <a:t>Customer_dashboard_log</a:t>
            </a:r>
            <a:r>
              <a:rPr lang="en-US" altLang="ko-KR" sz="1200" b="1" dirty="0">
                <a:solidFill>
                  <a:schemeClr val="dk1"/>
                </a:solidFill>
              </a:rPr>
              <a:t>)</a:t>
            </a:r>
            <a:endParaRPr sz="12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FBD436-1B30-2746-B4E0-EE7B1D71DE65}"/>
              </a:ext>
            </a:extLst>
          </p:cNvPr>
          <p:cNvGraphicFramePr>
            <a:graphicFrameLocks noGrp="1"/>
          </p:cNvGraphicFramePr>
          <p:nvPr/>
        </p:nvGraphicFramePr>
        <p:xfrm>
          <a:off x="3898503" y="3609178"/>
          <a:ext cx="7956336" cy="640080"/>
        </p:xfrm>
        <a:graphic>
          <a:graphicData uri="http://schemas.openxmlformats.org/drawingml/2006/table">
            <a:tbl>
              <a:tblPr/>
              <a:tblGrid>
                <a:gridCol w="675200">
                  <a:extLst>
                    <a:ext uri="{9D8B030D-6E8A-4147-A177-3AD203B41FA5}">
                      <a16:colId xmlns:a16="http://schemas.microsoft.com/office/drawing/2014/main" val="2430410573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3842316188"/>
                    </a:ext>
                  </a:extLst>
                </a:gridCol>
                <a:gridCol w="829056">
                  <a:extLst>
                    <a:ext uri="{9D8B030D-6E8A-4147-A177-3AD203B41FA5}">
                      <a16:colId xmlns:a16="http://schemas.microsoft.com/office/drawing/2014/main" val="4008539032"/>
                    </a:ext>
                  </a:extLst>
                </a:gridCol>
                <a:gridCol w="1085088">
                  <a:extLst>
                    <a:ext uri="{9D8B030D-6E8A-4147-A177-3AD203B41FA5}">
                      <a16:colId xmlns:a16="http://schemas.microsoft.com/office/drawing/2014/main" val="213114438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89704645"/>
                    </a:ext>
                  </a:extLst>
                </a:gridCol>
                <a:gridCol w="1256500">
                  <a:extLst>
                    <a:ext uri="{9D8B030D-6E8A-4147-A177-3AD203B41FA5}">
                      <a16:colId xmlns:a16="http://schemas.microsoft.com/office/drawing/2014/main" val="3802240671"/>
                    </a:ext>
                  </a:extLst>
                </a:gridCol>
                <a:gridCol w="994542">
                  <a:extLst>
                    <a:ext uri="{9D8B030D-6E8A-4147-A177-3AD203B41FA5}">
                      <a16:colId xmlns:a16="http://schemas.microsoft.com/office/drawing/2014/main" val="3498873938"/>
                    </a:ext>
                  </a:extLst>
                </a:gridCol>
                <a:gridCol w="994542">
                  <a:extLst>
                    <a:ext uri="{9D8B030D-6E8A-4147-A177-3AD203B41FA5}">
                      <a16:colId xmlns:a16="http://schemas.microsoft.com/office/drawing/2014/main" val="18919132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log_id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banner_click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product_click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click_product_id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session_id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view_time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598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/>
                        <a:t>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S-20260512001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2026-05-12 09:00:00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363908"/>
                  </a:ext>
                </a:extLst>
              </a:tr>
            </a:tbl>
          </a:graphicData>
        </a:graphic>
      </p:graphicFrame>
      <p:sp>
        <p:nvSpPr>
          <p:cNvPr id="56" name="Google Shape;274;g3d6e2211149_2_228">
            <a:extLst>
              <a:ext uri="{FF2B5EF4-FFF2-40B4-BE49-F238E27FC236}">
                <a16:creationId xmlns:a16="http://schemas.microsoft.com/office/drawing/2014/main" id="{B9525D0B-918E-A546-AA48-76AC2D116F48}"/>
              </a:ext>
            </a:extLst>
          </p:cNvPr>
          <p:cNvSpPr txBox="1"/>
          <p:nvPr/>
        </p:nvSpPr>
        <p:spPr>
          <a:xfrm>
            <a:off x="3828300" y="4551194"/>
            <a:ext cx="4632948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chemeClr val="dk1"/>
                </a:solidFill>
              </a:rPr>
              <a:t xml:space="preserve">고객 상품 클릭 </a:t>
            </a:r>
            <a:r>
              <a:rPr lang="en-US" altLang="ko-KR" sz="1200" b="1" dirty="0">
                <a:solidFill>
                  <a:schemeClr val="dk1"/>
                </a:solidFill>
              </a:rPr>
              <a:t>(</a:t>
            </a:r>
            <a:r>
              <a:rPr lang="en-US" altLang="ko-KR" sz="1200" b="1" dirty="0" err="1">
                <a:solidFill>
                  <a:schemeClr val="dk1"/>
                </a:solidFill>
              </a:rPr>
              <a:t>Customer_dashboard_log</a:t>
            </a:r>
            <a:r>
              <a:rPr lang="en-US" altLang="ko-KR" sz="1200" b="1" dirty="0">
                <a:solidFill>
                  <a:schemeClr val="dk1"/>
                </a:solidFill>
              </a:rPr>
              <a:t>)</a:t>
            </a:r>
            <a:endParaRPr sz="12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B46373-C748-8D40-AFA8-8DB571BC2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994087"/>
              </p:ext>
            </p:extLst>
          </p:nvPr>
        </p:nvGraphicFramePr>
        <p:xfrm>
          <a:off x="3898502" y="4941945"/>
          <a:ext cx="7956336" cy="487680"/>
        </p:xfrm>
        <a:graphic>
          <a:graphicData uri="http://schemas.openxmlformats.org/drawingml/2006/table">
            <a:tbl>
              <a:tblPr/>
              <a:tblGrid>
                <a:gridCol w="1326056">
                  <a:extLst>
                    <a:ext uri="{9D8B030D-6E8A-4147-A177-3AD203B41FA5}">
                      <a16:colId xmlns:a16="http://schemas.microsoft.com/office/drawing/2014/main" val="3310614796"/>
                    </a:ext>
                  </a:extLst>
                </a:gridCol>
                <a:gridCol w="1326056">
                  <a:extLst>
                    <a:ext uri="{9D8B030D-6E8A-4147-A177-3AD203B41FA5}">
                      <a16:colId xmlns:a16="http://schemas.microsoft.com/office/drawing/2014/main" val="3322615230"/>
                    </a:ext>
                  </a:extLst>
                </a:gridCol>
                <a:gridCol w="1326056">
                  <a:extLst>
                    <a:ext uri="{9D8B030D-6E8A-4147-A177-3AD203B41FA5}">
                      <a16:colId xmlns:a16="http://schemas.microsoft.com/office/drawing/2014/main" val="4263952578"/>
                    </a:ext>
                  </a:extLst>
                </a:gridCol>
                <a:gridCol w="1326056">
                  <a:extLst>
                    <a:ext uri="{9D8B030D-6E8A-4147-A177-3AD203B41FA5}">
                      <a16:colId xmlns:a16="http://schemas.microsoft.com/office/drawing/2014/main" val="2858751576"/>
                    </a:ext>
                  </a:extLst>
                </a:gridCol>
                <a:gridCol w="1326056">
                  <a:extLst>
                    <a:ext uri="{9D8B030D-6E8A-4147-A177-3AD203B41FA5}">
                      <a16:colId xmlns:a16="http://schemas.microsoft.com/office/drawing/2014/main" val="3662308648"/>
                    </a:ext>
                  </a:extLst>
                </a:gridCol>
                <a:gridCol w="1326056">
                  <a:extLst>
                    <a:ext uri="{9D8B030D-6E8A-4147-A177-3AD203B41FA5}">
                      <a16:colId xmlns:a16="http://schemas.microsoft.com/office/drawing/2014/main" val="10375698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/>
                        <a:t>log_id</a:t>
                      </a:r>
                      <a:endParaRPr 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product_click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click_product_id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session_id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773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S-20260512001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393320"/>
                  </a:ext>
                </a:extLst>
              </a:tr>
            </a:tbl>
          </a:graphicData>
        </a:graphic>
      </p:graphicFrame>
      <p:sp>
        <p:nvSpPr>
          <p:cNvPr id="57" name="Google Shape;274;g3d6e2211149_2_228">
            <a:extLst>
              <a:ext uri="{FF2B5EF4-FFF2-40B4-BE49-F238E27FC236}">
                <a16:creationId xmlns:a16="http://schemas.microsoft.com/office/drawing/2014/main" id="{82B125EE-5310-1C4A-A5EC-95D17FC0E134}"/>
              </a:ext>
            </a:extLst>
          </p:cNvPr>
          <p:cNvSpPr txBox="1"/>
          <p:nvPr/>
        </p:nvSpPr>
        <p:spPr>
          <a:xfrm>
            <a:off x="3828300" y="5718272"/>
            <a:ext cx="48524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가입 </a:t>
            </a:r>
            <a:r>
              <a:rPr lang="en-US" altLang="ko-KR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구매 로그 저장 </a:t>
            </a:r>
            <a:r>
              <a:rPr lang="en-US" altLang="ko-KR" sz="1200" b="1" dirty="0">
                <a:solidFill>
                  <a:schemeClr val="dk1"/>
                </a:solidFill>
              </a:rPr>
              <a:t>(</a:t>
            </a:r>
            <a:r>
              <a:rPr lang="en-US" altLang="ko-KR" sz="1200" b="1" dirty="0" err="1">
                <a:solidFill>
                  <a:schemeClr val="dk1"/>
                </a:solidFill>
              </a:rPr>
              <a:t>Customer_dashboard_log</a:t>
            </a:r>
            <a:r>
              <a:rPr lang="en-US" altLang="ko-KR" sz="1200" b="1" dirty="0">
                <a:solidFill>
                  <a:schemeClr val="dk1"/>
                </a:solidFill>
              </a:rPr>
              <a:t>)</a:t>
            </a:r>
            <a:endParaRPr sz="12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12CBC8-4870-8D43-9CE4-6FD72D137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825569"/>
              </p:ext>
            </p:extLst>
          </p:nvPr>
        </p:nvGraphicFramePr>
        <p:xfrm>
          <a:off x="3898502" y="6151687"/>
          <a:ext cx="7956335" cy="487680"/>
        </p:xfrm>
        <a:graphic>
          <a:graphicData uri="http://schemas.openxmlformats.org/drawingml/2006/table">
            <a:tbl>
              <a:tblPr/>
              <a:tblGrid>
                <a:gridCol w="1591267">
                  <a:extLst>
                    <a:ext uri="{9D8B030D-6E8A-4147-A177-3AD203B41FA5}">
                      <a16:colId xmlns:a16="http://schemas.microsoft.com/office/drawing/2014/main" val="3850890079"/>
                    </a:ext>
                  </a:extLst>
                </a:gridCol>
                <a:gridCol w="1591267">
                  <a:extLst>
                    <a:ext uri="{9D8B030D-6E8A-4147-A177-3AD203B41FA5}">
                      <a16:colId xmlns:a16="http://schemas.microsoft.com/office/drawing/2014/main" val="4008370576"/>
                    </a:ext>
                  </a:extLst>
                </a:gridCol>
                <a:gridCol w="1591267">
                  <a:extLst>
                    <a:ext uri="{9D8B030D-6E8A-4147-A177-3AD203B41FA5}">
                      <a16:colId xmlns:a16="http://schemas.microsoft.com/office/drawing/2014/main" val="1834745046"/>
                    </a:ext>
                  </a:extLst>
                </a:gridCol>
                <a:gridCol w="1591267">
                  <a:extLst>
                    <a:ext uri="{9D8B030D-6E8A-4147-A177-3AD203B41FA5}">
                      <a16:colId xmlns:a16="http://schemas.microsoft.com/office/drawing/2014/main" val="3666265895"/>
                    </a:ext>
                  </a:extLst>
                </a:gridCol>
                <a:gridCol w="1591267">
                  <a:extLst>
                    <a:ext uri="{9D8B030D-6E8A-4147-A177-3AD203B41FA5}">
                      <a16:colId xmlns:a16="http://schemas.microsoft.com/office/drawing/2014/main" val="22530636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log_id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product_click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click_product_id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842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PURCHASE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 dirty="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3132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101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11583</TotalTime>
  <Words>20768</Words>
  <Application>Microsoft Office PowerPoint</Application>
  <PresentationFormat>와이드스크린</PresentationFormat>
  <Paragraphs>6213</Paragraphs>
  <Slides>99</Slides>
  <Notes>99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99</vt:i4>
      </vt:variant>
    </vt:vector>
  </HeadingPairs>
  <TitlesOfParts>
    <vt:vector size="110" baseType="lpstr">
      <vt:lpstr>Apple SD Gothic Neo</vt:lpstr>
      <vt:lpstr>나눔스퀘어라운드 Regular</vt:lpstr>
      <vt:lpstr>Arial</vt:lpstr>
      <vt:lpstr>Calibri</vt:lpstr>
      <vt:lpstr>Courier New</vt:lpstr>
      <vt:lpstr>Helvetica Neue</vt:lpstr>
      <vt:lpstr>Open Sans</vt:lpstr>
      <vt:lpstr>Roboto</vt:lpstr>
      <vt:lpstr>Wingdings</vt:lpstr>
      <vt:lpstr>Office Theme</vt:lpstr>
      <vt:lpstr>Office Theme</vt:lpstr>
      <vt:lpstr>PowerPoint 프레젠테이션</vt:lpstr>
      <vt:lpstr>하이브리드 + 멀티 클라우드 네트워크 구성도</vt:lpstr>
      <vt:lpstr>AWS Cloud 아키텍처 구성도 (Hybrid + Multi Cloud)</vt:lpstr>
      <vt:lpstr>GCP Cloud 아키텍처 구성도</vt:lpstr>
      <vt:lpstr>인프라 구축 프로세스 (AWS + GCP)</vt:lpstr>
      <vt:lpstr>CI/CD 파이프라인 프로세스 (전체)</vt:lpstr>
      <vt:lpstr>CI/CD 파이프라인 프로세스 – LifeSync 360 Service </vt:lpstr>
      <vt:lpstr>CI/CD 파이프라인 프로세스 – Wearable EC2 </vt:lpstr>
      <vt:lpstr>CI/CD 파이프라인 프로세스 – Group VM</vt:lpstr>
      <vt:lpstr>CI/CD 파이프라인 프로세스 – Legacy System (Local VM)</vt:lpstr>
      <vt:lpstr>CI/CD 파이프라인 프로세스 – Data</vt:lpstr>
      <vt:lpstr>CI/CD 파이프라인 프로세스 – Data (Glue, EMR)</vt:lpstr>
      <vt:lpstr>데이터 파이프라인 (전체)</vt:lpstr>
      <vt:lpstr>데이터 구조</vt:lpstr>
      <vt:lpstr>데이터 구조</vt:lpstr>
      <vt:lpstr>데이터 구조 – On-prem ERD</vt:lpstr>
      <vt:lpstr>데이터 구조</vt:lpstr>
      <vt:lpstr>데이터 구조</vt:lpstr>
      <vt:lpstr>데이터 구조</vt:lpstr>
      <vt:lpstr>데이터 구조</vt:lpstr>
      <vt:lpstr>데이터 파이프라인 (사전 구축 사항)</vt:lpstr>
      <vt:lpstr>데이터 파이프라인 (사전 구축 사항)</vt:lpstr>
      <vt:lpstr>데이터 파이프라인 (사전 구축 사항)</vt:lpstr>
      <vt:lpstr>데이터 파이프라인 (사전 구축 사항)</vt:lpstr>
      <vt:lpstr>데이터 파이프라인 (사전 구축 사항)</vt:lpstr>
      <vt:lpstr>데이터 처리 프로세스 (회원 가입 – 1/3) </vt:lpstr>
      <vt:lpstr>데이터 처리 프로세스 (회원 가입 – 2/3) </vt:lpstr>
      <vt:lpstr>데이터 처리 프로세스 (회원 가입 – 3/3) </vt:lpstr>
      <vt:lpstr>데이터 처리 프로세스 (로그인) </vt:lpstr>
      <vt:lpstr>데이터 처리 프로세스 (동의 건이 없는 경우) </vt:lpstr>
      <vt:lpstr>데이터 처리 프로세스 (동의 건이 1개 이상 있는 경우 ) </vt:lpstr>
      <vt:lpstr>데이터 처리 프로세스 (데이터 수집) </vt:lpstr>
      <vt:lpstr>데이터 처리 프로세스 (데이터 수집 - 은행) </vt:lpstr>
      <vt:lpstr>데이터 처리 프로세스 (데이터 수집 - 카드) </vt:lpstr>
      <vt:lpstr>데이터 처리 프로세스 (데이터 수집 - 증권) </vt:lpstr>
      <vt:lpstr>데이터 처리 프로세스 (데이터 수집 - 보험) </vt:lpstr>
      <vt:lpstr>데이터 처리 프로세스 (데이터 수집 – 온라인 보험) </vt:lpstr>
      <vt:lpstr>데이터 처리 프로세스 (데이터 수집 – 헬스케어) </vt:lpstr>
      <vt:lpstr>데이터 처리 프로세스 (데이터 수집 – 병원) </vt:lpstr>
      <vt:lpstr>데이터 처리 프로세스 (데이터 수집 – Wearable) </vt:lpstr>
      <vt:lpstr>데이터 처리 프로세스 (데이터 전송) </vt:lpstr>
      <vt:lpstr>데이터 처리 프로세스 (데이터 전송 – 그룹사 Batch) </vt:lpstr>
      <vt:lpstr>데이터 처리 프로세스 (데이터 전송 – Wearable 실시간) </vt:lpstr>
      <vt:lpstr>데이터 처리 프로세스 (데이터 전송 – Wearable 실시간) </vt:lpstr>
      <vt:lpstr>데이터 처리 프로세스 (데이터 전송 – Wearable 실시간) </vt:lpstr>
      <vt:lpstr>데이터 처리 프로세스 (데이터 정형화) </vt:lpstr>
      <vt:lpstr>데이터 처리 프로세스 (데이터 정형화 - Raw) </vt:lpstr>
      <vt:lpstr>데이터 처리 프로세스 (데이터 정형화 – Processed) </vt:lpstr>
      <vt:lpstr>데이터 처리 프로세스 (데이터 정형화 - Curated) </vt:lpstr>
      <vt:lpstr>데이터 처리 프로세스 (데이터 정형화 – Curated – 데이터셋) </vt:lpstr>
      <vt:lpstr>데이터 처리 프로세스 (데이터 정형화 – Curated – 데이터셋) </vt:lpstr>
      <vt:lpstr>데이터 처리 프로세스 (Customer 360 Score 규칙 – 1/3) </vt:lpstr>
      <vt:lpstr>데이터 처리 프로세스 (Customer 360 Score 규칙 – 2/3) </vt:lpstr>
      <vt:lpstr>데이터 처리 프로세스 (Customer 360 Score 규칙 – 3/3) </vt:lpstr>
      <vt:lpstr>데이터 처리 프로세스 (AI Feature Table 규칙 – 1/3) </vt:lpstr>
      <vt:lpstr>데이터 처리 프로세스 (AI Feature Table 규칙 – 2/3) </vt:lpstr>
      <vt:lpstr>데이터 처리 프로세스 (AI Feature Table 규칙 – 3/3) </vt:lpstr>
      <vt:lpstr>데이터 처리 프로세스 (VIP Mart 규칙 – 1/3) </vt:lpstr>
      <vt:lpstr>데이터 처리 프로세스 (VIP Mart 규칙 – 2/3) </vt:lpstr>
      <vt:lpstr>데이터 처리 프로세스 (VIP Mart 규칙 – 3/3) </vt:lpstr>
      <vt:lpstr>데이터 처리 프로세스 (Recommendation 규칙 – 1/3) </vt:lpstr>
      <vt:lpstr>데이터 처리 프로세스 (Recommendation 규칙 – 2/3) </vt:lpstr>
      <vt:lpstr>데이터 처리 프로세스 (Recommendation 규칙 – 3/3) </vt:lpstr>
      <vt:lpstr>데이터 처리 프로세스 (Health Mart 규칙 – 1/4) </vt:lpstr>
      <vt:lpstr>데이터 처리 프로세스 (Health Mart 규칙 – 2/4) </vt:lpstr>
      <vt:lpstr>데이터 처리 프로세스 (Health Mart 규칙 – 3/4) </vt:lpstr>
      <vt:lpstr>데이터 처리 프로세스 (Health Mart 규칙 – 4/4) </vt:lpstr>
      <vt:lpstr>데이터 처리 프로세스 (데이터 전송 -&gt; GCP) </vt:lpstr>
      <vt:lpstr>데이터 처리 프로세스 (데이터 적재) </vt:lpstr>
      <vt:lpstr>데이터 처리 프로세스 (학습용 데이터셋 생성 – 1/3) </vt:lpstr>
      <vt:lpstr>데이터 처리 프로세스 (학습용 데이터셋 생성 – 2/3) </vt:lpstr>
      <vt:lpstr>데이터 처리 프로세스 (학습용 데이터셋 생성 – 3/3) </vt:lpstr>
      <vt:lpstr>데이터 처리 프로세스 (AI 모델 학습) </vt:lpstr>
      <vt:lpstr>데이터 처리 프로세스 (AI 모델 학습) </vt:lpstr>
      <vt:lpstr>데이터 처리 프로세스 (결과 도출 – 1/4) </vt:lpstr>
      <vt:lpstr>데이터 처리 프로세스 (결과 도출 – 2/4) </vt:lpstr>
      <vt:lpstr>데이터 처리 프로세스 (결과 도출 – 3/4) </vt:lpstr>
      <vt:lpstr>데이터 처리 프로세스 (결과 도출 – 4/4) </vt:lpstr>
      <vt:lpstr>데이터 처리 프로세스 (고객 가치 점수 도출 – 1/2) </vt:lpstr>
      <vt:lpstr>데이터 처리 프로세스 (고객 가치 점수 도출 – 2/2) </vt:lpstr>
      <vt:lpstr>데이터 처리 프로세스 (결과 전달 -&gt; AWS – 1/2) </vt:lpstr>
      <vt:lpstr>데이터 처리 프로세스 (결과 전달 -&gt; AWS – 2/2) </vt:lpstr>
      <vt:lpstr>데이터 처리 프로세스 (결과 저장) </vt:lpstr>
      <vt:lpstr>데이터 처리 프로세스 (결과 적용 – 1/11) </vt:lpstr>
      <vt:lpstr>데이터 처리 프로세스 (결과 적용 – 2/11) </vt:lpstr>
      <vt:lpstr>데이터 처리 프로세스 (결과 적용 – 3/11) </vt:lpstr>
      <vt:lpstr>데이터 처리 프로세스 (결과 적용 – 4/11) </vt:lpstr>
      <vt:lpstr>데이터 처리 프로세스 (결과 적용 – 5/11) </vt:lpstr>
      <vt:lpstr>데이터 처리 프로세스 (결과 적용 – 6/11) </vt:lpstr>
      <vt:lpstr>데이터 처리 프로세스 (결과 적용 – 7/11) </vt:lpstr>
      <vt:lpstr>데이터 처리 프로세스 (결과 적용 – 7/11) </vt:lpstr>
      <vt:lpstr>데이터 처리 프로세스 (결과 적용 – 8/11) </vt:lpstr>
      <vt:lpstr>데이터 처리 프로세스 (결과 적용 – 9/11) </vt:lpstr>
      <vt:lpstr>데이터 처리 프로세스 (결과 적용 – 10/11) </vt:lpstr>
      <vt:lpstr>데이터 처리 프로세스 (결과 적용 – 11/11) </vt:lpstr>
      <vt:lpstr>데이터 처리 프로세스 (결과 적용 - 예시) </vt:lpstr>
      <vt:lpstr>데이터 처리 프로세스 (결과 적용 – 추천 이력 정보 저장) </vt:lpstr>
      <vt:lpstr>데이터 처리 프로세스 (메인 - 대시보드) </vt:lpstr>
      <vt:lpstr>데이터 처리 프로세스 (메인 – 대시보드 – 클릭/구매 로그)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멀티 클라우드 네트워크 구성도</dc:title>
  <dc:creator>Calvin Heo</dc:creator>
  <cp:lastModifiedBy>campus3 S026</cp:lastModifiedBy>
  <cp:revision>327</cp:revision>
  <dcterms:created xsi:type="dcterms:W3CDTF">2023-09-08T07:40:16Z</dcterms:created>
  <dcterms:modified xsi:type="dcterms:W3CDTF">2026-06-02T01:08:12Z</dcterms:modified>
</cp:coreProperties>
</file>